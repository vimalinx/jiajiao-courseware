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</p:sldIdLst>
  <p:notesMasterIdLst>
    <p:notesMasterId r:id="rId9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notesMaster" Target="notesMasters/notesMaster1.xml"/><Relationship Id="rId95" Type="http://schemas.openxmlformats.org/officeDocument/2006/relationships/presProps" Target="presProps.xml"/><Relationship Id="rId96" Type="http://schemas.openxmlformats.org/officeDocument/2006/relationships/viewProps" Target="viewProps.xml"/><Relationship Id="rId97" Type="http://schemas.openxmlformats.org/officeDocument/2006/relationships/theme" Target="theme/theme1.xml"/><Relationship Id="rId9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5-1.png"/><Relationship Id="rId2" Type="http://schemas.openxmlformats.org/officeDocument/2006/relationships/image" Target="../media/image-7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D42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932688"/>
            <a:ext cx="146304" cy="146304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84225" y="786384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spc="300" kern="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标准课件 · 节级精细讲解（教师用）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09905" y="1463040"/>
            <a:ext cx="100584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数学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609905" y="2724912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初中 · 每章每节精细讲解课件 ｜ 人教版（2022年版课标新修订教材，主用版本）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09905" y="3675888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609905" y="4407408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册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124505" y="3675888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3124505" y="4407408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节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639105" y="3675888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5639105" y="4407408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节级教案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153705" y="3675888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分步例题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8153705" y="4407408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每节配齐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09905" y="521208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核心素养：数学抽象 · 逻辑推理 · 数学建模 · 直观想象 · 数学运算 · 数据分析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609905" y="626364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练习答案仅存教师手册（course.json），放映页零答案 ｜ 制作依据：九科教辅规范包 v1.0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学科身份与课件结构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人教版（2022年版课标新修订教材，主用版本）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94510"/>
            <a:ext cx="5340096" cy="3977640"/>
          </a:xfrm>
          <a:prstGeom prst="roundRect">
            <a:avLst>
              <a:gd name="adj" fmla="val 137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242609" y="1794510"/>
            <a:ext cx="5340096" cy="3977640"/>
          </a:xfrm>
          <a:prstGeom prst="roundRect">
            <a:avLst>
              <a:gd name="adj" fmla="val 137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84225" y="1995678"/>
            <a:ext cx="1097188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学科身份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84225" y="2361438"/>
            <a:ext cx="4791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教材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84225" y="2590038"/>
            <a:ext cx="47914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人教版（2022年版课标新修订教材，主用版本）（六册（七至九年级上下））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84225" y="3038094"/>
            <a:ext cx="4791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依据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4225" y="3266694"/>
            <a:ext cx="47914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2022 年版义务教育课程标准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84225" y="3714750"/>
            <a:ext cx="4791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核心素养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84225" y="3943350"/>
            <a:ext cx="47914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数学抽象、逻辑推理、数学建模、直观想象、数学运算、数据分析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84225" y="4391406"/>
            <a:ext cx="4791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课件定位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84225" y="4620006"/>
            <a:ext cx="47914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每节四页组：讲解→例题→练习→（图示）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84225" y="5068062"/>
            <a:ext cx="4791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答案隔离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84225" y="5296662"/>
            <a:ext cx="47914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练习答案仅存教师手册，放映页零答案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516929" y="1995678"/>
            <a:ext cx="1097188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每节页面组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516929" y="234315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6900977" y="2343150"/>
            <a:ext cx="437997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讲解页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A55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导入情境 → 讲解正文（可直接照讲）→ 核心术语与易错提示。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516929" y="318439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6900977" y="3184398"/>
            <a:ext cx="437997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例题页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A55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典型例题分步解析，每步注明依据；教师带学生逐步揭示。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6516929" y="402564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6900977" y="4025646"/>
            <a:ext cx="437997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练习页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A55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独立练习（答案在教师手册）；可先作答再对照自评。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6516929" y="486689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6900977" y="4866894"/>
            <a:ext cx="437997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图示页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A55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本章学科专业图示，按原始比例嵌入，标注教学示意。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数学 · 节级精细课件 ｜ 九科教辅规范包 v1.0 ｜ 2 / 92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知识体系总览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先见森林，再进细节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09905" y="1693926"/>
            <a:ext cx="1097188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七年级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19633" y="2004822"/>
            <a:ext cx="10862158" cy="2512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第一章 有理数与有理数的运算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19633" y="2256040"/>
            <a:ext cx="10862158" cy="2512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第二章 整式与一元一次方程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19633" y="2507258"/>
            <a:ext cx="10862158" cy="2512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第三章 几何图形初步与相交线平行线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09905" y="2758476"/>
            <a:ext cx="1097188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19633" y="3069372"/>
            <a:ext cx="10862158" cy="2512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第四章 三角形与全等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19633" y="3320590"/>
            <a:ext cx="10862158" cy="2512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第五章 轴对称与整式乘法因式分解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19633" y="3571808"/>
            <a:ext cx="10862158" cy="2512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第六章 分式与实数、一次函数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09905" y="3823026"/>
            <a:ext cx="1097188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九年级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19633" y="4133922"/>
            <a:ext cx="10862158" cy="2512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第七章 一元二次方程与二次函数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19633" y="4385140"/>
            <a:ext cx="10862158" cy="2512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第八章 圆与旋转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719633" y="4636358"/>
            <a:ext cx="10862158" cy="2512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第九章 相似、锐角三角函数与统计概率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数学 · 节级精细课件 ｜ 九科教辅规范包 v1.0 ｜ 3 / 92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D42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204350" y="274320"/>
            <a:ext cx="2377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0" b="1" dirty="0">
                <a:solidFill>
                  <a:srgbClr val="4F6C8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0000" dirty="0"/>
          </a:p>
        </p:txBody>
      </p:sp>
      <p:sp>
        <p:nvSpPr>
          <p:cNvPr id="3" name="Shape 1"/>
          <p:cNvSpPr/>
          <p:nvPr/>
        </p:nvSpPr>
        <p:spPr>
          <a:xfrm>
            <a:off x="609905" y="822960"/>
            <a:ext cx="146304" cy="146304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4" name="Text 2"/>
          <p:cNvSpPr/>
          <p:nvPr/>
        </p:nvSpPr>
        <p:spPr>
          <a:xfrm>
            <a:off x="884225" y="676656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七年级 · 数与代数 ｜ 考查：绝对值与混合运算为计算题基本盘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609905" y="137160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第一章　有理数与有理数的运算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09905" y="237744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数系第一次扩张：负数进入运算世界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792785" y="3200400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有理数、数轴与绝对值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92785" y="3584448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有理数四则与乘方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09905" y="5806440"/>
            <a:ext cx="10971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 2 节 ｜ 每节：讲解 → 例题 → 练习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　有理数、数轴与绝对值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七年级 第一章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天气预报里说今天最低气温 −3℃，最高 5℃——−3 这个数在数轴上站在 0 的哪一边？离 0 有多远？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3548329"/>
          </a:xfrm>
          <a:prstGeom prst="roundRect">
            <a:avLst>
              <a:gd name="adj" fmla="val 154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32740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先看一组相反意义的量：收入 5 元记作 +5，支出 3 元记作 −3。像这样为了表示具有相反意义的量，我们把数系从正数和 0 扩张到负数——0 既不是正数也不是负数，它是正负的分界点。把所有数排到规定了原点、正方向、单位长度的直线上，数轴就建成了：数变成了点，越往右越大，大小关系一眼看出。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绝对值的本义是距离：数轴上表示一个数的点到原点的距离，叫这个数的绝对值。所以 |−3|=3、|3|=3、|0|=0，距离不可能为负，这叫绝对值的非负性。由数轴上的位置推出比较法则：正数都大于 0，负数都小于 0；两个负数比较大小，绝对值大的反而小——原点左侧，离原点越远越靠左，数就越小。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高频错误有三类，逐一纠正：把绝对值当成“去掉负号”，遇到 |5−7| 这类先算括号内、再求距离就不会错；以为 0 没有相反数（0 的相反数是 0）；给有理数分类时漏掉 0——按“正数、负数、零”或“整数、分数”两套标准逐栏数，才能不重不漏。绝对值的一切应用都要回到“数轴上的距离”这个本源。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499616"/>
          </a:xfrm>
          <a:prstGeom prst="roundRect">
            <a:avLst>
              <a:gd name="adj" fmla="val 304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数轴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相反数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866937" y="2681478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绝对值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702345" y="3321558"/>
            <a:ext cx="2879446" cy="1719072"/>
          </a:xfrm>
          <a:prstGeom prst="roundRect">
            <a:avLst>
              <a:gd name="adj" fmla="val 2660"/>
            </a:avLst>
          </a:prstGeom>
          <a:solidFill>
            <a:srgbClr val="F2E3DC"/>
          </a:solidFill>
          <a:ln/>
        </p:spPr>
      </p:sp>
      <p:sp>
        <p:nvSpPr>
          <p:cNvPr id="15" name="Text 13"/>
          <p:cNvSpPr/>
          <p:nvPr/>
        </p:nvSpPr>
        <p:spPr>
          <a:xfrm>
            <a:off x="8866937" y="339471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866937" y="3669030"/>
            <a:ext cx="2550262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0 既不是正数也不是负数</a:t>
            </a:r>
            <a:endParaRPr lang="en-US" sz="1150" dirty="0"/>
          </a:p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把绝对值当“去掉负号”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数学 · 节级精细课件 ｜ 九科教辅规范包 v1.0 ｜ 5 / 92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　有理数、数轴与绝对值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在数轴上表示 −7 与 −4，求它们的绝对值，并比较 −7 与 −4 的大小。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285C94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第一步：画数轴（三要素：原点、正方向、单位长度），把 −7、−4 标在原点左侧，−7 在 −4 更左边。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285C94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第二步：按绝对值的几何意义求值：−7 到原点的距离是 7，故 |−7|=7；−4 到原点的距离是 4，故 |−4|=4。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285C94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第三步：套用法则“两个负数比较大小，绝对值大的反而小”：因为 7＞4，所以 −7＜−4。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|−7|=7，|−4|=4，−7＜−4。检验：数轴上 −7 位于 −4 左侧，数轴上越左的数越小，与法则结论一致。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数学 · 节级精细课件 ｜ 九科教辅规范包 v1.0 ｜ 6 / 92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　有理数、数轴与绝对值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比较 −2/3 与 −3/4 的大小，并写出每一步依据。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042895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134335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已知 |x−2|=3，求 x 的值。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4949647"/>
            <a:ext cx="10971886" cy="585216"/>
          </a:xfrm>
          <a:prstGeom prst="roundRect">
            <a:avLst>
              <a:gd name="adj" fmla="val 7813"/>
            </a:avLst>
          </a:prstGeom>
          <a:solidFill>
            <a:srgbClr val="F2E3DC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004511"/>
            <a:ext cx="1056955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变式挑战（选做）　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在数轴上表示 −2.5 与 1，求这两个数的绝对值，并比较 −2.5 与 1 的大小。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提示：先画数轴描点：负数在原点左侧，正数在右侧；绝对值就是数一数到原点隔几个单位。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2" name="Text 10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数学 · 节级精细课件 ｜ 九科教辅规范包 v1.0 ｜ 7 / 92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　有理数、数轴与绝对值 · 图示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学科专业图示（教学示意）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12214"/>
            <a:ext cx="10971886" cy="4176522"/>
          </a:xfrm>
          <a:prstGeom prst="roundRect">
            <a:avLst>
              <a:gd name="adj" fmla="val 13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pic>
        <p:nvPicPr>
          <p:cNvPr id="6" name="Image 0" descr="/home/vimalinx/MakeMoney/JiaJiao/课件/assets/math/math-7-1-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5900" y="1876806"/>
            <a:ext cx="5614650" cy="38473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062265" y="1895094"/>
            <a:ext cx="3290926" cy="38107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数轴与绝对值几何意义</a:t>
            </a: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数轴-6..6，标出 -3、2 的点，从 -3、2 画到原点的弧线箭头并标注 3、2；原点 0 加粗；标题《绝对值=到原点的距离》。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数学 · 节级精细课件 ｜ 九科教辅规范包 v1.0 ｜ 8 / 92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　有理数四则与乘方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七年级 第一章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先口算两个式子——−3² 与 (−3)² 相等吗？很多同学都栽在这一对“孪生兄弟”上。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3548329"/>
          </a:xfrm>
          <a:prstGeom prst="roundRect">
            <a:avLst>
              <a:gd name="adj" fmla="val 154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32740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开场就出这道“坑题”：−3² 与 (−3)² 一样吗？先写下答案再学。学生会给出五花八门的答案，这正说明乘方的符号法则是本节突破口。乘方是相同因数连乘的简写：n 个 a 相乘记作 aⁿ，a 叫底数、n 叫指数。带着“先定符号、再算绝对值”这条主线，把加减乘除乘方的法则串成一套。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符号法则的推导依据：负因数的个数为奇数时积为负、偶数时积为正，所以负数的奇次幂为负、偶次幂为正。混合运算顺序：先乘方，再乘除，后加减，有括号先算括号；乘除统一成“同号得正、异号得负，再把绝对值相乘除”。运算律在有理数范围依然成立：交换律、结合律用于凑整，分配律是简算的工具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误区显式纠正：−3² 读作“3 的平方的相反数”，底数是 3，等于 −9；(−3)² 的底数是 −3，等于 9——负号在不在括号里，底数就不一样。适用边界：乘方只表示同一底数连乘，2³ 不等于 2×3；分配律每一项都要乘，(a+b)c=ac+bc 漏乘第二项是最高频错误；连续除法先化成乘倒数。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133856"/>
          </a:xfrm>
          <a:prstGeom prst="roundRect">
            <a:avLst>
              <a:gd name="adj" fmla="val 40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乘方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运算律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702345" y="2955798"/>
            <a:ext cx="2879446" cy="1719072"/>
          </a:xfrm>
          <a:prstGeom prst="roundRect">
            <a:avLst>
              <a:gd name="adj" fmla="val 2660"/>
            </a:avLst>
          </a:prstGeom>
          <a:solidFill>
            <a:srgbClr val="F2E3DC"/>
          </a:solidFill>
          <a:ln/>
        </p:spPr>
      </p:sp>
      <p:sp>
        <p:nvSpPr>
          <p:cNvPr id="14" name="Text 12"/>
          <p:cNvSpPr/>
          <p:nvPr/>
        </p:nvSpPr>
        <p:spPr>
          <a:xfrm>
            <a:off x="8866937" y="302895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866937" y="3303270"/>
            <a:ext cx="2550262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−3² 读作 (−3)²</a:t>
            </a:r>
            <a:endParaRPr lang="en-US" sz="1150" dirty="0"/>
          </a:p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分配律漏乘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数学 · 节级精细课件 ｜ 九科教辅规范包 v1.0 ｜ 9 / 92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　有理数四则与乘方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计算：(−2)² × 3 + (−6) ÷ (−3)。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285C94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第一步：先算乘方（混合运算顺序：先乘方，再乘除，后加减）：(−2)²=4，依据是负数的偶次幂为正。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285C94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第二步：算乘除，依据乘除法则“同号得正，异号得负，再把绝对值相乘除”：4×3=12；(−6)÷(−3)=+2。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285C94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第三步：最后算加法：12+2=14。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结果为 14。验算：按同级运算从左到右复核——(−2)²=4，4×3=12；(−6)÷(−3) 符号为正、6÷3=2；12+2=14，两遍一致。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数学 · 节级精细课件 ｜ 九科教辅规范包 v1.0 ｜ 10 / 92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　有理数四则与乘方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计算 −3² − (−3)³ ÷ 9，并写出每一步的依据。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042895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134335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计算 (−12) × (1/3 − 1/4 + 1/6)，要求用运算律简算并写出所用运算律。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4949647"/>
            <a:ext cx="10971886" cy="585216"/>
          </a:xfrm>
          <a:prstGeom prst="roundRect">
            <a:avLst>
              <a:gd name="adj" fmla="val 7813"/>
            </a:avLst>
          </a:prstGeom>
          <a:solidFill>
            <a:srgbClr val="F2E3DC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004511"/>
            <a:ext cx="1056955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变式挑战（选做）　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计算：−2⁴ ÷ (−2)² − (−3) × 2。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提示：先定两处乘方：−2⁴ 的底数是 2（负号在括号外），(−2)² 的底数是 −2；再按先乘除后加减收尾。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2" name="Text 10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数学 · 节级精细课件 ｜ 九科教辅规范包 v1.0 ｜ 11 / 92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第一章 · 有理数与有理数的运算 · 小结与出口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先复述小结，再独立完成出口题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09905" y="1693926"/>
            <a:ext cx="1097188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本节小结（学生能复述）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747065" y="2023110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数轴把数变成点，绝对值是到原点的距离；两个负数比大小，绝对值大的反而小。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47065" y="2407158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乘方先定符号看指数奇偶；混合运算按“乘方—乘除—加减”顺序，负号在不在括号里决定底数是谁。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09905" y="2882646"/>
            <a:ext cx="10971886" cy="960120"/>
          </a:xfrm>
          <a:prstGeom prst="roundRect">
            <a:avLst>
              <a:gd name="adj" fmla="val 4762"/>
            </a:avLst>
          </a:prstGeom>
          <a:solidFill>
            <a:srgbClr val="E4EAF1"/>
          </a:solidFill>
          <a:ln/>
        </p:spPr>
      </p:sp>
      <p:sp>
        <p:nvSpPr>
          <p:cNvPr id="9" name="Text 7"/>
          <p:cNvSpPr/>
          <p:nvPr/>
        </p:nvSpPr>
        <p:spPr>
          <a:xfrm>
            <a:off x="811073" y="295579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章出口自检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11073" y="3230118"/>
            <a:ext cx="1056955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计算 −2² + (−2)³ × (1/2) − |−5| 并写每步依据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数学 · 节级精细课件 ｜ 九科教辅规范包 v1.0 ｜ 12 / 92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D42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204350" y="274320"/>
            <a:ext cx="2377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0" b="1" dirty="0">
                <a:solidFill>
                  <a:srgbClr val="4F6C8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0000" dirty="0"/>
          </a:p>
        </p:txBody>
      </p:sp>
      <p:sp>
        <p:nvSpPr>
          <p:cNvPr id="3" name="Shape 1"/>
          <p:cNvSpPr/>
          <p:nvPr/>
        </p:nvSpPr>
        <p:spPr>
          <a:xfrm>
            <a:off x="609905" y="822960"/>
            <a:ext cx="146304" cy="146304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4" name="Text 2"/>
          <p:cNvSpPr/>
          <p:nvPr/>
        </p:nvSpPr>
        <p:spPr>
          <a:xfrm>
            <a:off x="884225" y="676656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七年级 · 数与代数 ｜ 考查：实际问题的方程建模是必考解答题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609905" y="137160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第二章　整式与一元一次方程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09905" y="237744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从字母表示数到第一个方程模型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792785" y="3200400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代数式与整式加减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92785" y="3584448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一元一次方程与实际应用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09905" y="5806440"/>
            <a:ext cx="10971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 2 节 ｜ 每节：讲解 → 例题 → 练习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　代数式与整式加减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七年级 第二章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老师买了 a 支笔又买了 2a 支，一共几支？如果其中 a 是 5x²y、2a 是 3x²y，还能直接相加吗？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3330702"/>
          </a:xfrm>
          <a:prstGeom prst="roundRect">
            <a:avLst>
              <a:gd name="adj" fmla="val 16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30563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开场追问：a 支笔加 2a 支笔是几支？a 未知也能写成 3a——字母参与运算，这就是代数式。再换成 5x²y 与 3x²y 相加：有的式子能合并，有的不能。学生尝试归类时自然会问“凭什么它能合、它不能合”，合并的资格标准就是本节的第一个概念。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类项“两同”：所含字母相同，并且相同字母的指数也相同，与系数和字母顺序无关。合并的推导依据是逆用分配律：5x²y+3x²y=(5+3)x²y，即系数相加、字母及其指数不变。整式加减两步走：先去括号，再合并同类项；括号前是“−”时，去括号后各项都变号（依据分配律）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高频错误显式纠正：负号去括号只变第一项的号，如 4x²−(3x²−5x) 应得 4x²−3x²+5x；x² 与 x 指数不同不是同类项，不能合并。适用边界：合并同类项只改系数，字母和指数一律不动；检验的法宝是代入特殊值（如 x=1）看化简前后是否相等——这个办法对一切整式恒等变形都适用。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133856"/>
          </a:xfrm>
          <a:prstGeom prst="roundRect">
            <a:avLst>
              <a:gd name="adj" fmla="val 40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同类项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系数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702345" y="2955798"/>
            <a:ext cx="2879446" cy="1060704"/>
          </a:xfrm>
          <a:prstGeom prst="roundRect">
            <a:avLst>
              <a:gd name="adj" fmla="val 4310"/>
            </a:avLst>
          </a:prstGeom>
          <a:solidFill>
            <a:srgbClr val="F2E3DC"/>
          </a:solidFill>
          <a:ln/>
        </p:spPr>
      </p:sp>
      <p:sp>
        <p:nvSpPr>
          <p:cNvPr id="14" name="Text 12"/>
          <p:cNvSpPr/>
          <p:nvPr/>
        </p:nvSpPr>
        <p:spPr>
          <a:xfrm>
            <a:off x="8866937" y="302895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866937" y="3303270"/>
            <a:ext cx="255026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去括号漏变号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数学 · 节级精细课件 ｜ 九科教辅规范包 v1.0 ｜ 14 / 92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　代数式与整式加减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化简：3a²b − 2ab + 5 − 2a²b + 3ab − 1。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285C94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第一步：找同类项（“两同”标准：字母相同且相同字母的指数相同）：3a²b 与 −2a²b；−2ab 与 3ab；5 与 −1。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285C94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第二步：合并同类项，依据逆用分配律（系数相加，字母及指数不变）：(3−2)a²b=a²b；(−2+3)ab=ab；5−1=4。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285C94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第三步：按字母次数从高到低排列书写：a²b+ab+4。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化简结果为 a²b+ab+4。检验：取 a=1，b=1，原式=3−2+5−2+3−1=6，化简式=1+1+4=6，代入相等，结果正确。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数学 · 节级精细课件 ｜ 九科教辅规范包 v1.0 ｜ 15 / 92</a:t>
            </a:r>
            <a:endParaRPr lang="en-US" sz="11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　代数式与整式加减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先化简，再求值：4x² − 2x + 1 − (3x² − 5x) − 2，其中 x = 1。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042895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134335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先化简，再求值：2(a²b − ab) − 3(a²b + ab) + 1，其中 a=2，b=−1。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4949647"/>
            <a:ext cx="10971886" cy="585216"/>
          </a:xfrm>
          <a:prstGeom prst="roundRect">
            <a:avLst>
              <a:gd name="adj" fmla="val 7813"/>
            </a:avLst>
          </a:prstGeom>
          <a:solidFill>
            <a:srgbClr val="F2E3DC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004511"/>
            <a:ext cx="1056955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变式挑战（选做）　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化简：5x²y − 3xy + 2 − 4x²y + xy − 7。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提示：先用记号把同类项标出来：x²y 一组、xy 一组、常数一组，再各组系数相加减。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2" name="Text 10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数学 · 节级精细课件 ｜ 九科教辅规范包 v1.0 ｜ 16 / 92</a:t>
            </a:r>
            <a:endParaRPr lang="en-US" sz="11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　一元一次方程与实际应用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七年级 第二章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一件衣服成本价提高 50% 标价，再打 8 折卖，居然还赚了 16 元——成本到底是多少？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3330702"/>
          </a:xfrm>
          <a:prstGeom prst="roundRect">
            <a:avLst>
              <a:gd name="adj" fmla="val 16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30563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打折销售的生活情境开场：标价、折扣、利润三个词天天见，但“提高五成再打八折到底赚不赚”，直觉经常失灵。让学生先猜再算，猜错的体验恰好说明这类问题必须建模——把语言翻译成方程，用未知数把所有量统一起来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建模本体：标价=成本×(1+提高幅度)，售价=标价×折扣，利润=售价−成本。三个关系串起来，利润就能用成本 x 一次表示，方程随之而出。解方程五步“去分母、去括号、移项、合并同类项、系数化为 1”每步有依据：移项变号源于两边同减，系数化为 1 源于两边同除。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频误区：移项不变号是第一失分点；打折后利润的基准是成本不是标价；“验”只代回方程不够，还要验实际意义（成本非负、件数为整数）。适用边界：一元一次方程只能刻画一个未知数、一次关系；打折问题里“提高幅度不够、折扣又深”会出现售价低于成本，此时利润为负，方程里就是“亏多少”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133856"/>
          </a:xfrm>
          <a:prstGeom prst="roundRect">
            <a:avLst>
              <a:gd name="adj" fmla="val 40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等式性质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移项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702345" y="2955798"/>
            <a:ext cx="2879446" cy="1060704"/>
          </a:xfrm>
          <a:prstGeom prst="roundRect">
            <a:avLst>
              <a:gd name="adj" fmla="val 4310"/>
            </a:avLst>
          </a:prstGeom>
          <a:solidFill>
            <a:srgbClr val="F2E3DC"/>
          </a:solidFill>
          <a:ln/>
        </p:spPr>
      </p:sp>
      <p:sp>
        <p:nvSpPr>
          <p:cNvPr id="14" name="Text 12"/>
          <p:cNvSpPr/>
          <p:nvPr/>
        </p:nvSpPr>
        <p:spPr>
          <a:xfrm>
            <a:off x="8866937" y="302895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866937" y="3303270"/>
            <a:ext cx="255026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移项不变号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数学 · 节级精细课件 ｜ 九科教辅规范包 v1.0 ｜ 17 / 92</a:t>
            </a:r>
            <a:endParaRPr lang="en-US" sz="11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　一元一次方程与实际应用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某商品按成本价提高 50% 标价，后因促销按标价的 8 折出售，仍获利 16 元。求这件商品的成本价。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285C94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第一步（设）：设成本价为 x 元。用字母统一表示各量，便于找等量关系。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285C94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第二步（列）：标价为 1.5x 元，售价为 1.5x×0.8 元，依据等量关系“售价−成本=利润”列方程：1.5x×0.8−x=16。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285C94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第三步（解）：先算 1.5×0.8=1.2，得 1.2x−x=16，合并同类项得 0.2x=16，两边同除以 0.2（等式性质 2）得 x=80。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55625" y="4620006"/>
            <a:ext cx="310896" cy="310896"/>
          </a:xfrm>
          <a:prstGeom prst="ellipse">
            <a:avLst/>
          </a:prstGeom>
          <a:solidFill>
            <a:srgbClr val="285C94"/>
          </a:solidFill>
          <a:ln/>
        </p:spPr>
      </p:sp>
      <p:sp>
        <p:nvSpPr>
          <p:cNvPr id="17" name="Text 15"/>
          <p:cNvSpPr/>
          <p:nvPr/>
        </p:nvSpPr>
        <p:spPr>
          <a:xfrm>
            <a:off x="655625" y="462000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85393" y="4491990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第四步（验）：代回原情境：成本 80 元，标价 120 元，售价 96 元，利润 96−80=16 元，与题意相符。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609905" y="5205222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20" name="Text 18"/>
          <p:cNvSpPr/>
          <p:nvPr/>
        </p:nvSpPr>
        <p:spPr>
          <a:xfrm>
            <a:off x="811073" y="5269230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这件商品的成本价是 80 元。检验既满足方程（1.2×80−80=16），又符合实际意义，答案成立。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数学 · 节级精细课件 ｜ 九科教辅规范包 v1.0 ｜ 18 / 92</a:t>
            </a:r>
            <a:endParaRPr lang="en-US" sz="11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　一元一次方程与实际应用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某商品按成本价提高五成标价，再按标价的九折出售，仍获利 35 元。求成本价（五成即 50%）。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042895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134335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甲、乙两地相距 240 km。一辆汽车从甲地出发，前 2 h 平均每小时行 60 km，之后因拥堵平均每小时只行 40 km，还需多少小时到达乙地？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4949647"/>
            <a:ext cx="10971886" cy="585216"/>
          </a:xfrm>
          <a:prstGeom prst="roundRect">
            <a:avLst>
              <a:gd name="adj" fmla="val 7813"/>
            </a:avLst>
          </a:prstGeom>
          <a:solidFill>
            <a:srgbClr val="F2E3DC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004511"/>
            <a:ext cx="1056955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变式挑战（选做）　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某商品按成本价提高 20% 标价，再按标价的 8 折出售，结果亏损 2 元。求这件商品的成本价。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提示：亏损说明“售价−成本”是负数：等量关系变为 1.2x×0.8−x=−2，先算出 1.2×0.8 再解。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2" name="Text 10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数学 · 节级精细课件 ｜ 九科教辅规范包 v1.0 ｜ 19 / 92</a:t>
            </a:r>
            <a:endParaRPr lang="en-US" sz="11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　一元一次方程与实际应用 · 图示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学科专业图示（教学示意）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12214"/>
            <a:ext cx="10971886" cy="4176522"/>
          </a:xfrm>
          <a:prstGeom prst="roundRect">
            <a:avLst>
              <a:gd name="adj" fmla="val 13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pic>
        <p:nvPicPr>
          <p:cNvPr id="6" name="Image 0" descr="/home/vimalinx/MakeMoney/JiaJiao/课件/assets/math/math-7-2-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5900" y="1876806"/>
            <a:ext cx="5614650" cy="38473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062265" y="1895094"/>
            <a:ext cx="3290926" cy="38107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方程建模五步流程</a:t>
            </a: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横向流程图：实际问题→设未知数→找等量关系→列方程→解方程→检验作答，箭头连接，检验一步用强调色并加注“验实际意义”。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数学 · 节级精细课件 ｜ 九科教辅规范包 v1.0 ｜ 20 / 92</a:t>
            </a:r>
            <a:endParaRPr lang="en-US" sz="11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第二章 · 整式与一元一次方程 · 小结与出口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先复述小结，再独立完成出口题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09905" y="1693926"/>
            <a:ext cx="1097188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本节小结（学生能复述）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747065" y="2023110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同类项看“两同”，合并用分配律系数相加；去括号先看括号前的符号，负号则全部变号。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47065" y="2407158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打折销售三关系式“标价=成本×(1+幅度)、售价=标价×折扣、利润=售价−成本”；五字诀设…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09905" y="2882646"/>
            <a:ext cx="10971886" cy="960120"/>
          </a:xfrm>
          <a:prstGeom prst="roundRect">
            <a:avLst>
              <a:gd name="adj" fmla="val 4762"/>
            </a:avLst>
          </a:prstGeom>
          <a:solidFill>
            <a:srgbClr val="E4EAF1"/>
          </a:solidFill>
          <a:ln/>
        </p:spPr>
      </p:sp>
      <p:sp>
        <p:nvSpPr>
          <p:cNvPr id="9" name="Text 7"/>
          <p:cNvSpPr/>
          <p:nvPr/>
        </p:nvSpPr>
        <p:spPr>
          <a:xfrm>
            <a:off x="811073" y="295579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章出口自检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11073" y="3230118"/>
            <a:ext cx="1056955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列方程解：某数的 3 倍比它大 2，写出等量关系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数学 · 节级精细课件 ｜ 九科教辅规范包 v1.0 ｜ 21 / 92</a:t>
            </a:r>
            <a:endParaRPr lang="en-US" sz="11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D42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204350" y="274320"/>
            <a:ext cx="2377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0" b="1" dirty="0">
                <a:solidFill>
                  <a:srgbClr val="4F6C8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0000" dirty="0"/>
          </a:p>
        </p:txBody>
      </p:sp>
      <p:sp>
        <p:nvSpPr>
          <p:cNvPr id="3" name="Shape 1"/>
          <p:cNvSpPr/>
          <p:nvPr/>
        </p:nvSpPr>
        <p:spPr>
          <a:xfrm>
            <a:off x="609905" y="822960"/>
            <a:ext cx="146304" cy="146304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4" name="Text 2"/>
          <p:cNvSpPr/>
          <p:nvPr/>
        </p:nvSpPr>
        <p:spPr>
          <a:xfrm>
            <a:off x="884225" y="676656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七年级 · 图形与几何 ｜ 考查：平行判定与性质互逆为证明入门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609905" y="137160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第三章　几何图形初步与相交线平行线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09905" y="237744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几何语言与推理的起点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792785" y="3200400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线与角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92785" y="3584448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3.2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相交线、平行线与命题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09905" y="5806440"/>
            <a:ext cx="10971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 2 节 ｜ 每节：讲解 → 例题 → 练习</a:t>
            </a:r>
            <a:endParaRPr lang="en-US" sz="11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　线与角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七年级 第三章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钟面上时针转过 25°18′36″，写成小数是多少度？角度的“进制”和平时计数可不一样。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3330702"/>
          </a:xfrm>
          <a:prstGeom prst="roundRect">
            <a:avLst>
              <a:gd name="adj" fmla="val 16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30563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场演示：只用“度”记录钟面指针转过的角度不够细，精确到分和秒才有工程与天文级的精度——引出度、分、秒。再让学生用尺规作一条线段等于已知线段，提醒“圆弧痕迹必须留下”：痕迹是作图过程的证据，擦掉痕迹等于没做。两件事合成本节起点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换算关系本体：1°=60′，1′=60″，1°=3600″，是六十进制。大单位化小单位乘 60，小单位化大单位除以 60——方向决定乘除。余角（两角和为 90°）与补角（两角和为 180°）的性质“同角（等角）的余角相等、补角相等”，用等量代换一步推出，是角度证明的常用依据。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高频误区：把 0.5° 写成 5′（应为 30′）——按百进制想当然是根源；认为互余互补必须相邻（只与“和”有关，位置无关）。适用边界：度分秒换算只在度、分、秒三级单位内进行；补角不一定是钝角，直角的补角还是直角；“同角的余角相等”必须以同一个角（或等角）作基准，乱配基准结论不成立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133856"/>
          </a:xfrm>
          <a:prstGeom prst="roundRect">
            <a:avLst>
              <a:gd name="adj" fmla="val 40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线段垂直平分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余角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702345" y="2955798"/>
            <a:ext cx="2879446" cy="1060704"/>
          </a:xfrm>
          <a:prstGeom prst="roundRect">
            <a:avLst>
              <a:gd name="adj" fmla="val 4310"/>
            </a:avLst>
          </a:prstGeom>
          <a:solidFill>
            <a:srgbClr val="F2E3DC"/>
          </a:solidFill>
          <a:ln/>
        </p:spPr>
      </p:sp>
      <p:sp>
        <p:nvSpPr>
          <p:cNvPr id="14" name="Text 12"/>
          <p:cNvSpPr/>
          <p:nvPr/>
        </p:nvSpPr>
        <p:spPr>
          <a:xfrm>
            <a:off x="8866937" y="302895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866937" y="3303270"/>
            <a:ext cx="255026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度分秒按百进制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数学 · 节级精细课件 ｜ 九科教辅规范包 v1.0 ｜ 23 / 92</a:t>
            </a:r>
            <a:endParaRPr lang="en-US" sz="11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　线与角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①把 32.42° 化成度、分、秒表示；②把 25°18′36″ 化成度。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285C94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第一步：①中把 0.42° 化为分，大化小乘 60（依据 1°=60′）：0.42×60=25.2′。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285C94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第二步：再把 0.2′ 化为秒（依据 1′=60″）：0.2×60=12″，故 32.42°=32°25′12″。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285C94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第三步：②中把秒化回度，小化大除以 3600（依据 1°=3600″）：36″=36÷3600°=0.01°；分化度除以 60：18′=18÷60°=0.3°。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55625" y="4620006"/>
            <a:ext cx="310896" cy="310896"/>
          </a:xfrm>
          <a:prstGeom prst="ellipse">
            <a:avLst/>
          </a:prstGeom>
          <a:solidFill>
            <a:srgbClr val="285C94"/>
          </a:solidFill>
          <a:ln/>
        </p:spPr>
      </p:sp>
      <p:sp>
        <p:nvSpPr>
          <p:cNvPr id="17" name="Text 15"/>
          <p:cNvSpPr/>
          <p:nvPr/>
        </p:nvSpPr>
        <p:spPr>
          <a:xfrm>
            <a:off x="655625" y="462000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85393" y="4491990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第四步：合并得 25°18′36″=25.31°。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609905" y="5205222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20" name="Text 18"/>
          <p:cNvSpPr/>
          <p:nvPr/>
        </p:nvSpPr>
        <p:spPr>
          <a:xfrm>
            <a:off x="811073" y="5269230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32.42°=32°25′12″；25°18′36″=25.31°。验算：0.3°+0.01°=0.31°，两次换算互为逆运算，结果自洽。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数学 · 节级精细课件 ｜ 九科教辅规范包 v1.0 ｜ 24 / 92</a:t>
            </a:r>
            <a:endParaRPr lang="en-US" sz="11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　线与角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 48.38° 化成度、分、秒；再把 66°36′ 化成度。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042895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134335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一个角的补角是它的余角的 4 倍，求这个角的度数。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4949647"/>
            <a:ext cx="10971886" cy="585216"/>
          </a:xfrm>
          <a:prstGeom prst="roundRect">
            <a:avLst>
              <a:gd name="adj" fmla="val 7813"/>
            </a:avLst>
          </a:prstGeom>
          <a:solidFill>
            <a:srgbClr val="F2E3DC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004511"/>
            <a:ext cx="1056955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变式挑战（选做）　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①把 56.25° 化成度、分、秒；②把 110°31′30″ 化成度。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提示：大化小乘 60，小化大除以 60；②先把秒化成分，再把分化成度。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2" name="Text 10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数学 · 节级精细课件 ｜ 九科教辅规范包 v1.0 ｜ 25 / 92</a:t>
            </a:r>
            <a:endParaRPr lang="en-US" sz="11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3.2　相交线、平行线与命题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七年级 第三章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两条平行线被第三条直线所截，图里藏着 F、Z、U 三种“造型”，你能在 5 秒内认出同位角吗？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3330702"/>
          </a:xfrm>
          <a:prstGeom prst="roundRect">
            <a:avLst>
              <a:gd name="adj" fmla="val 16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30563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开场玩“找造型”限时游戏：在平行线被截的图中 5 秒内找出所有 F 型、Z 型、U 型的角；把图旋转 45° 再找一遍——造型不变，学生立刻体会同位角看的是位置关系、不是摆放方向。顺势追问：“对顶角相等”能不能反过来说？由此引出命题的题设与结论。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定与性质本体：判定是“由角定线”——同位角相等（或内错角相等、同旁内角互补），两直线平行，用于证明平行；性质是“由线定角”——两直线平行，同位角相等、内错角相等、同旁内角互补，用于由平行求角度，两者互逆。命题由题设和结论组成，规范训练改写成“如果……那么……”的形式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频误区：判定与性质用反方向，整道证明题就塌了——审题先问自己“已知的是角还是平行”；“对顶角相等”是定理可直接引用，但“相等的角是对顶角”不成立。适用边界：三线八角必须在“两条直线被第三条直线所截”的图形中辨认；书写推理每步都要注明依据，不允许跳步凭感觉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133856"/>
          </a:xfrm>
          <a:prstGeom prst="roundRect">
            <a:avLst>
              <a:gd name="adj" fmla="val 40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对顶角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同位角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702345" y="2955798"/>
            <a:ext cx="2879446" cy="1060704"/>
          </a:xfrm>
          <a:prstGeom prst="roundRect">
            <a:avLst>
              <a:gd name="adj" fmla="val 4310"/>
            </a:avLst>
          </a:prstGeom>
          <a:solidFill>
            <a:srgbClr val="F2E3DC"/>
          </a:solidFill>
          <a:ln/>
        </p:spPr>
      </p:sp>
      <p:sp>
        <p:nvSpPr>
          <p:cNvPr id="14" name="Text 12"/>
          <p:cNvSpPr/>
          <p:nvPr/>
        </p:nvSpPr>
        <p:spPr>
          <a:xfrm>
            <a:off x="8866937" y="302895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866937" y="3303270"/>
            <a:ext cx="255026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判定性质用反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数学 · 节级精细课件 ｜ 九科教辅规范包 v1.0 ｜ 26 / 92</a:t>
            </a:r>
            <a:endParaRPr lang="en-US" sz="11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3.2　相交线、平行线与命题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877824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如图，直线 a∥b，直线 c 与 a、b 相交，∠1 与 ∠2 是同位角，∠1=55°。求 ∠2 的度数，并写出依据。（图见本节图示页）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919222"/>
            <a:ext cx="310896" cy="310896"/>
          </a:xfrm>
          <a:prstGeom prst="ellipse">
            <a:avLst/>
          </a:prstGeom>
          <a:solidFill>
            <a:srgbClr val="285C94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91922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79120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第一步：识别图形——两条平行线 a、b 被截线 c 所截，∠1 与 ∠2 处于截线同侧、被截线同旁，构成 F 型同位角。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577590"/>
            <a:ext cx="310896" cy="310896"/>
          </a:xfrm>
          <a:prstGeom prst="ellipse">
            <a:avLst/>
          </a:prstGeom>
          <a:solidFill>
            <a:srgbClr val="285C94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57759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44957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第二步：题目已知“线平行”（a∥b），要求角的度数，属于“由线定角”，选用平行线的性质而非判定。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4235958"/>
            <a:ext cx="310896" cy="310896"/>
          </a:xfrm>
          <a:prstGeom prst="ellipse">
            <a:avLst/>
          </a:prstGeom>
          <a:solidFill>
            <a:srgbClr val="285C94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423595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410794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第三步：依据“两直线平行，同位角相等”，得 ∠2=∠1=55°。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82117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88518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∠2=55°，依据是平行线的性质“两直线平行，同位角相等”。要点：性质由平行推角、判定由角推平行，本题不能反用。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数学 · 节级精细课件 ｜ 九科教辅规范包 v1.0 ｜ 27 / 92</a:t>
            </a:r>
            <a:endParaRPr lang="en-US" sz="11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3.2　相交线、平行线与命题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直线 a∥b，直线 c 截 a、b，∠1 与 ∠2 是内错角，∠1=70°。求 ∠2 并写出依据。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042895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134335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补全推理依据：①因为 AB∥CD，所以 ∠B=∠C（两直线平行，______）；②因为 ∠B=∠C，所以 AB∥CD（______，两直线平行）。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4949647"/>
            <a:ext cx="10971886" cy="585216"/>
          </a:xfrm>
          <a:prstGeom prst="roundRect">
            <a:avLst>
              <a:gd name="adj" fmla="val 7813"/>
            </a:avLst>
          </a:prstGeom>
          <a:solidFill>
            <a:srgbClr val="F2E3DC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004511"/>
            <a:ext cx="1056955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变式挑战（选做）　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直线 a∥b，直线 c 截 a、b，∠1 与 ∠2 是同旁内角，∠1=110°。求 ∠2 的度数，并写出依据。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提示：同旁内角在截线同侧、两被截线之间；已知平行时它们的关系是“互补”，不是相等。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2" name="Text 10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数学 · 节级精细课件 ｜ 九科教辅规范包 v1.0 ｜ 28 / 92</a:t>
            </a:r>
            <a:endParaRPr lang="en-US" sz="11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3.2　相交线、平行线与命题 · 图示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学科专业图示（教学示意）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12214"/>
            <a:ext cx="10971886" cy="4176522"/>
          </a:xfrm>
          <a:prstGeom prst="roundRect">
            <a:avLst>
              <a:gd name="adj" fmla="val 13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pic>
        <p:nvPicPr>
          <p:cNvPr id="6" name="Image 0" descr="/home/vimalinx/MakeMoney/JiaJiao/课件/assets/math/math-7-3-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59471" y="1876806"/>
            <a:ext cx="5107508" cy="38473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062265" y="1895094"/>
            <a:ext cx="3290926" cy="38107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平行线判定与性质互逆图</a:t>
            </a: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两组图：左“角的关系→线平行”（判定），右“线平行→角的关系”（性质），中间双向箭头标“互逆”；用两条平行线截线三线八角小图各配一组同位角/内错角/同旁内角标记。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数学 · 节级精细课件 ｜ 九科教辅规范包 v1.0 ｜ 29 / 92</a:t>
            </a:r>
            <a:endParaRPr lang="en-US" sz="11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第三章 · 几何图形初步与相交线平行线 · 小结与出口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先复述小结，再独立完成出口题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09905" y="1693926"/>
            <a:ext cx="1097188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本节小结（学生能复述）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747065" y="2023110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角度是六十进制：度化分乘 60、分化秒乘 60，反过来就除；方向定乘除，不按百进制。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47065" y="2407158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3.2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F 型同位角、Z 型内错角、U 型同旁内角；由角定线用判定，由线定角用性质，两者互逆不能混。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09905" y="2882646"/>
            <a:ext cx="10971886" cy="960120"/>
          </a:xfrm>
          <a:prstGeom prst="roundRect">
            <a:avLst>
              <a:gd name="adj" fmla="val 4762"/>
            </a:avLst>
          </a:prstGeom>
          <a:solidFill>
            <a:srgbClr val="E4EAF1"/>
          </a:solidFill>
          <a:ln/>
        </p:spPr>
      </p:sp>
      <p:sp>
        <p:nvSpPr>
          <p:cNvPr id="9" name="Text 7"/>
          <p:cNvSpPr/>
          <p:nvPr/>
        </p:nvSpPr>
        <p:spPr>
          <a:xfrm>
            <a:off x="811073" y="295579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章出口自检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11073" y="3230118"/>
            <a:ext cx="1056955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写出“两直线平行，内错角相等”的题设与结论并各用一次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数学 · 节级精细课件 ｜ 九科教辅规范包 v1.0 ｜ 30 / 92</a:t>
            </a:r>
            <a:endParaRPr lang="en-US" sz="11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D42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204350" y="274320"/>
            <a:ext cx="2377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0" b="1" dirty="0">
                <a:solidFill>
                  <a:srgbClr val="4F6C8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10000" dirty="0"/>
          </a:p>
        </p:txBody>
      </p:sp>
      <p:sp>
        <p:nvSpPr>
          <p:cNvPr id="3" name="Shape 1"/>
          <p:cNvSpPr/>
          <p:nvPr/>
        </p:nvSpPr>
        <p:spPr>
          <a:xfrm>
            <a:off x="609905" y="822960"/>
            <a:ext cx="146304" cy="146304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4" name="Text 2"/>
          <p:cNvSpPr/>
          <p:nvPr/>
        </p:nvSpPr>
        <p:spPr>
          <a:xfrm>
            <a:off x="884225" y="676656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 · 图形与几何 ｜ 考查：全等判定选择与证明书写是几何基本盘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609905" y="137160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第四章　三角形与全等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09905" y="237744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证明的起点：判定条件与书写规范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792785" y="3200400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4.1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三角形边角关系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92785" y="3584448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全等三角形判定与角平分线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09905" y="5806440"/>
            <a:ext cx="10971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 2 节 ｜ 每节：讲解 → 例题 → 练习</a:t>
            </a:r>
            <a:endParaRPr lang="en-US" sz="11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4.1　三角形边角关系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 第四章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4、4、9 能围成一个等腰三角形吗？动手拿三根小棒试一试，你会发现它“合不拢”。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3330702"/>
          </a:xfrm>
          <a:prstGeom prst="roundRect">
            <a:avLst>
              <a:gd name="adj" fmla="val 16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30563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动手开场：发下 4、4、9（单位 cm）三根小棒让学生围三角形——怎么都合不拢，一量 4+4=8 比 9 还短。失败的亲手操作比讲十遍更能立起三边关系。再把三角形三个内角撕下来拼在一起，恰好拼成一个平角——内角和 180° 有了直观证据，推理与实验互相印证。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本体与推导：三角形任意两边之和大于第三边，依据是“两点之间线段最短”——第三边是连接两点的第三条路径，必小于折线。速判只查“两小边之和是否大于最大边”；等价形式是两边之差小于第三边，已知 a、b 时第三边 x 满足 |a−b|＜x＜a+b。外角与相邻内角互补，所以外角等于不相邻两内角之和。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频误区：钝角三角形的高画到形外就以为画错——垂足落在对边延长线上恰恰是对的；三边关系漏了“任意”二字，只查一次就下结论。适用边界：等腰问题先分类再用三边关系筛解，两小边之和小于最大边的直接舍去；外角定理只对三角形的“外角”成立，随手画的角不能乱套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133856"/>
          </a:xfrm>
          <a:prstGeom prst="roundRect">
            <a:avLst>
              <a:gd name="adj" fmla="val 40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外角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三边关系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702345" y="2955798"/>
            <a:ext cx="2879446" cy="1060704"/>
          </a:xfrm>
          <a:prstGeom prst="roundRect">
            <a:avLst>
              <a:gd name="adj" fmla="val 4310"/>
            </a:avLst>
          </a:prstGeom>
          <a:solidFill>
            <a:srgbClr val="F2E3DC"/>
          </a:solidFill>
          <a:ln/>
        </p:spPr>
      </p:sp>
      <p:sp>
        <p:nvSpPr>
          <p:cNvPr id="14" name="Text 12"/>
          <p:cNvSpPr/>
          <p:nvPr/>
        </p:nvSpPr>
        <p:spPr>
          <a:xfrm>
            <a:off x="8866937" y="302895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866937" y="3303270"/>
            <a:ext cx="255026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钝角三角形高线位置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数学 · 节级精细课件 ｜ 九科教辅规范包 v1.0 ｜ 32 / 92</a:t>
            </a:r>
            <a:endParaRPr lang="en-US" sz="11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4.1　三角形边角关系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 △ABC 中，∠A=35°，∠B=75°。求与 ∠C 相邻的外角 ∠ACD 的度数。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285C94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第一步：先求内角。依据三角形内角和定理：∠C=180°−35°−75°=70°。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285C94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第二步：再求外角。依据外角定理“三角形的一个外角等于与它不相邻的两个内角之和”：∠ACD=∠A+∠B=35°+75°=110°。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285C94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第三步：交叉检验：∠ACD 与 ∠C 互补（邻补角定义），180°−70°=110°，两种方法结果一致。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∠ACD=110°。内角和与外角定理两条路径互相印证，计算无误。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数学 · 节级精细课件 ｜ 九科教辅规范包 v1.0 ｜ 33 / 92</a:t>
            </a:r>
            <a:endParaRPr lang="en-US" sz="11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4.1　三角形边角关系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等腰三角形的两边长分别为 4 和 9，求它的周长。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042895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134335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三角形两边长分别为 3 和 7，第三边长为整数 x。求 x 的取值范围；若这个三角形的周长是偶数，x 可以取哪些值？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4949647"/>
            <a:ext cx="10971886" cy="585216"/>
          </a:xfrm>
          <a:prstGeom prst="roundRect">
            <a:avLst>
              <a:gd name="adj" fmla="val 7813"/>
            </a:avLst>
          </a:prstGeom>
          <a:solidFill>
            <a:srgbClr val="F2E3DC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004511"/>
            <a:ext cx="1056955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变式挑战（选做）　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 △ABC 中，∠A=48°，∠B=52°。求 ∠C 及与 ∠C 相邻的外角的度数。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提示：先用内角和求 ∠C；外角既可按“180°−相邻内角”算，也可按“不相邻两内角之和”算，两种算法互相检验。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2" name="Text 10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数学 · 节级精细课件 ｜ 九科教辅规范包 v1.0 ｜ 34 / 92</a:t>
            </a:r>
            <a:endParaRPr lang="en-US" sz="11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　全等三角形判定与角平分线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 第四章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只用“三条边对应相等”能判定全等，“两边和其中一边的对角相等”行不行？剪两个纸片三角形立刻见分晓。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3330702"/>
          </a:xfrm>
          <a:prstGeom prst="roundRect">
            <a:avLst>
              <a:gd name="adj" fmla="val 16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30563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开场剪两个纸片三角形演示 SSA 的反例：固定两条边和其中一边的对角，能摆出一钝一尖两个形状不同的三角形——眼见为实，“边边角”不能判定全等。再让学生在两个全等三角形图中找公共边、公共角、对顶角，体会条件经常藏在图形里，不写在题干上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判定本体：SSS、SAS、ASA、AAS 四条有效；SAS 的角必须是两边的夹角，AAS 可由 ASA 配合内角和推出。角平分线性质：角平分线上的点到角两边的距离相等，使用前先作出两条垂线段。找条件的次序：先抄已知，再挖隐含——公共边、公共角、对顶角，最后用等式性质把已知角的和差转化成需要的夹角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高频误区：把 SSA 侥幸当判定用；书写时对应顶点不按顺序、括号里不注判定方法。适用边界：AAA 只保证形状相同、大小不一定相等，而全等要求形状大小都相同，所以判定必须至少有一组对应边参与——这一条能快速排除 AAA 和 SSA，也可用来检查自己凑的条件齐不齐。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133856"/>
          </a:xfrm>
          <a:prstGeom prst="roundRect">
            <a:avLst>
              <a:gd name="adj" fmla="val 40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SAS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角平分线性质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702345" y="2955798"/>
            <a:ext cx="2879446" cy="1060704"/>
          </a:xfrm>
          <a:prstGeom prst="roundRect">
            <a:avLst>
              <a:gd name="adj" fmla="val 4310"/>
            </a:avLst>
          </a:prstGeom>
          <a:solidFill>
            <a:srgbClr val="F2E3DC"/>
          </a:solidFill>
          <a:ln/>
        </p:spPr>
      </p:sp>
      <p:sp>
        <p:nvSpPr>
          <p:cNvPr id="14" name="Text 12"/>
          <p:cNvSpPr/>
          <p:nvPr/>
        </p:nvSpPr>
        <p:spPr>
          <a:xfrm>
            <a:off x="8866937" y="302895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866937" y="3303270"/>
            <a:ext cx="255026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误用 SSA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数学 · 节级精细课件 ｜ 九科教辅规范包 v1.0 ｜ 35 / 92</a:t>
            </a:r>
            <a:endParaRPr lang="en-US" sz="11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　全等三角形判定与角平分线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已知：AB=AD，AC=AE，∠BAD=∠CAE。求证：△ABC≌△ADE。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285C94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第一步：转化角度（关键一步）。∠BAD 与 ∠CAE 不在三角形内部，两边同加公共角 ∠DAC（等式性质），得 ∠BAD+∠DAC=∠CAE+∠DAC，即 ∠BAC=∠DAE。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285C94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第二步：凑判定条件：AB=AD（已知），∠BAC=∠DAE（已证），AC=AE（已知）——两边及其夹角对应相等。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285C94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第三步：依据 SAS 得 △ABC≌△ADE，注意对应顶点 A 对 A、B 对 D、C 对 E，书写顺序一致。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证明成立：通过加公共角把已知角转化为夹角，再用 SAS 判定全等。方法要点：隐含的公共角 ∠DAC 是打通条件的桥梁。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数学 · 节级精细课件 ｜ 九科教辅规范包 v1.0 ｜ 36 / 92</a:t>
            </a:r>
            <a:endParaRPr lang="en-US" sz="11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　全等三角形判定与角平分线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如图，线段 AD 与 BC 相交于点 O，OA=OD，OB=OC。求证：△AOB≌△DOC。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042895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134335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点 B、E、C、F 在同一条直线上，AB=DE，AC=DF，BE=CF。求证：△ABC≌△DEF。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4949647"/>
            <a:ext cx="10971886" cy="585216"/>
          </a:xfrm>
          <a:prstGeom prst="roundRect">
            <a:avLst>
              <a:gd name="adj" fmla="val 7813"/>
            </a:avLst>
          </a:prstGeom>
          <a:solidFill>
            <a:srgbClr val="F2E3DC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004511"/>
            <a:ext cx="1056955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变式挑战（选做）　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已知：AB=AC，BD=CD（D 在 BC 上）。求证：△ABD≌△ACD。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提示：两组边是已知，第三组边看图形——两个三角形有一条公共边。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2" name="Text 10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数学 · 节级精细课件 ｜ 九科教辅规范包 v1.0 ｜ 37 / 92</a:t>
            </a:r>
            <a:endParaRPr lang="en-US" sz="11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　全等三角形判定与角平分线 · 图示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学科专业图示（教学示意）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12214"/>
            <a:ext cx="10971886" cy="4176522"/>
          </a:xfrm>
          <a:prstGeom prst="roundRect">
            <a:avLst>
              <a:gd name="adj" fmla="val 13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pic>
        <p:nvPicPr>
          <p:cNvPr id="6" name="Image 0" descr="/home/vimalinx/MakeMoney/JiaJiao/课件/assets/math/math-8-4-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63762" y="1876806"/>
            <a:ext cx="5498925" cy="38473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062265" y="1895094"/>
            <a:ext cx="3290926" cy="38107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五种全等判定正误对照</a:t>
            </a: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两列表格风格图：左列 SSS/SAS/ASA/AAS 四个有效判定（绿色对勾），右列 AAA 与 SSA 两个无效（红色叉并配两个不同形状三角形反例示意）。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数学 · 节级精细课件 ｜ 九科教辅规范包 v1.0 ｜ 38 / 92</a:t>
            </a:r>
            <a:endParaRPr lang="en-US" sz="11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第四章 · 三角形与全等 · 小结与出口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先复述小结，再独立完成出口题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09905" y="1693926"/>
            <a:ext cx="1097188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本节小结（学生能复述）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747065" y="2023110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4.1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三边关系速判“两小边之和＞最大边”；外角等于不相邻两内角之和；等腰问题先分类再用三边关系筛…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47065" y="2407158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四个有效判定 SSS、SAS、ASA、AAS，SSA 与 AAA 一律无效；证全等先抄已知…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09905" y="2882646"/>
            <a:ext cx="10971886" cy="960120"/>
          </a:xfrm>
          <a:prstGeom prst="roundRect">
            <a:avLst>
              <a:gd name="adj" fmla="val 4762"/>
            </a:avLst>
          </a:prstGeom>
          <a:solidFill>
            <a:srgbClr val="E4EAF1"/>
          </a:solidFill>
          <a:ln/>
        </p:spPr>
      </p:sp>
      <p:sp>
        <p:nvSpPr>
          <p:cNvPr id="9" name="Text 7"/>
          <p:cNvSpPr/>
          <p:nvPr/>
        </p:nvSpPr>
        <p:spPr>
          <a:xfrm>
            <a:off x="811073" y="295579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章出口自检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11073" y="3230118"/>
            <a:ext cx="1056955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AB=AD、AC=AE、∠BAD=∠CAE，证 △ABC≌△ADE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数学 · 节级精细课件 ｜ 九科教辅规范包 v1.0 ｜ 39 / 92</a:t>
            </a:r>
            <a:endParaRPr lang="en-US" sz="11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1D42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204350" y="274320"/>
            <a:ext cx="2377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0" b="1" dirty="0">
                <a:solidFill>
                  <a:srgbClr val="4F6C8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10000" dirty="0"/>
          </a:p>
        </p:txBody>
      </p:sp>
      <p:sp>
        <p:nvSpPr>
          <p:cNvPr id="3" name="Shape 1"/>
          <p:cNvSpPr/>
          <p:nvPr/>
        </p:nvSpPr>
        <p:spPr>
          <a:xfrm>
            <a:off x="609905" y="822960"/>
            <a:ext cx="146304" cy="146304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4" name="Text 2"/>
          <p:cNvSpPr/>
          <p:nvPr/>
        </p:nvSpPr>
        <p:spPr>
          <a:xfrm>
            <a:off x="884225" y="676656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 · 数与代数 ｜ 考查：乘法公式与因式分解互逆意识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609905" y="137160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第五章　轴对称与整式乘法因式分解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09905" y="237744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对称变换与结构还原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792785" y="3200400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轴对称与等腰三角形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92785" y="3584448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整式乘法与因式分解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09905" y="5806440"/>
            <a:ext cx="10971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 2 节 ｜ 每节：讲解 → 例题 → 练习</a:t>
            </a:r>
            <a:endParaRPr lang="en-US" sz="11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　轴对称与等腰三角形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 第五章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等腰三角形告诉你“一个角是 100°”，另两个角是多少？如果改成 40°，答案还是一个吗？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3104388"/>
          </a:xfrm>
          <a:prstGeom prst="roundRect">
            <a:avLst>
              <a:gd name="adj" fmla="val 17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28300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开场两问：等腰三角形“一个角是 100°”，另两个角是多少？改成 40° 还是一个答案吗？先猜后算，猜错的同学恰好掉进了“这个角是顶角还是底角”的分类坑。再演示对折等腰纸片：两底角完全重合——轴对称性看得见，等腰性质从操作中长出来。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性质本体：等边对等角（两底角相等），可由全等或对折重合说明；顶角平分线、底边上的中线、底边上的高“三线合一”，前提是等腰且线在底边上。已知一角求其余角先分类：钝角（或直角）只能当顶角，否则两个底角之和超过 180°，这一步排增解。最短路径问题作对称点化折为直，依据“两点之间线段最短”。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高频误区：见角不分类直接套公式，漏掉一解；把“三线合一”用在任意三角形上；将军饮马问题凭感觉直接连 AB、不作对称点。适用边界：必须先确认“有两边相等”才能使用等腰性质；将军饮马模型要求两定点在直线同侧，异侧时直接连线即为最短，不必对称化折。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133856"/>
          </a:xfrm>
          <a:prstGeom prst="roundRect">
            <a:avLst>
              <a:gd name="adj" fmla="val 40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对称轴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三线合一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702345" y="2955798"/>
            <a:ext cx="2879446" cy="1060704"/>
          </a:xfrm>
          <a:prstGeom prst="roundRect">
            <a:avLst>
              <a:gd name="adj" fmla="val 4310"/>
            </a:avLst>
          </a:prstGeom>
          <a:solidFill>
            <a:srgbClr val="F2E3DC"/>
          </a:solidFill>
          <a:ln/>
        </p:spPr>
      </p:sp>
      <p:sp>
        <p:nvSpPr>
          <p:cNvPr id="14" name="Text 12"/>
          <p:cNvSpPr/>
          <p:nvPr/>
        </p:nvSpPr>
        <p:spPr>
          <a:xfrm>
            <a:off x="8866937" y="302895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866937" y="3303270"/>
            <a:ext cx="255026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顶角分类漏解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数学 · 节级精细课件 ｜ 九科教辅规范包 v1.0 ｜ 41 / 92</a:t>
            </a:r>
            <a:endParaRPr lang="en-US" sz="11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　轴对称与等腰三角形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等腰三角形的一个内角是 100°，求另外两个内角的度数。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285C94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第一步：先判断这个角的“身份”。若 100° 是底角，则两个底角之和为 200°，超过内角和 180°（三角形内角和定理），矛盾。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285C94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第二步：故 100° 只能是顶角。依据等腰三角形两底角相等与内角和定理，底角=(180°−100°)÷2。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285C94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第三步：计算得底角均为 40°。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另外两个内角都是 40°。要点：钝角只能当顶角，先排除增解再套公式；若把 100° 当底角就直接掉进内角和矛盾。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数学 · 节级精细课件 ｜ 九科教辅规范包 v1.0 ｜ 42 / 92</a:t>
            </a:r>
            <a:endParaRPr lang="en-US" sz="115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　轴对称与等腰三角形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等腰三角形的一个角是 40°，求另外两个角（写出完整分类）。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042895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134335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等腰三角形的周长为 20，其中一边长为 6，求其余两边的长。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4949647"/>
            <a:ext cx="10971886" cy="585216"/>
          </a:xfrm>
          <a:prstGeom prst="roundRect">
            <a:avLst>
              <a:gd name="adj" fmla="val 7813"/>
            </a:avLst>
          </a:prstGeom>
          <a:solidFill>
            <a:srgbClr val="F2E3DC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004511"/>
            <a:ext cx="1056955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变式挑战（选做）　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等腰三角形的一个角是 70°，求另外两个角的度数。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提示：70° 是锐角，顶角、底角两种身份都有可能——分两类算，再用内角和逐一检验。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2" name="Text 10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数学 · 节级精细课件 ｜ 九科教辅规范包 v1.0 ｜ 43 / 92</a:t>
            </a:r>
            <a:endParaRPr lang="en-US" sz="115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　轴对称与等腰三角形 · 图示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学科专业图示（教学示意）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12214"/>
            <a:ext cx="10971886" cy="4176522"/>
          </a:xfrm>
          <a:prstGeom prst="roundRect">
            <a:avLst>
              <a:gd name="adj" fmla="val 13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pic>
        <p:nvPicPr>
          <p:cNvPr id="6" name="Image 0" descr="/home/vimalinx/MakeMoney/JiaJiao/课件/assets/math/math-8-5-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31312" y="1876806"/>
            <a:ext cx="4763825" cy="38473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062265" y="1895094"/>
            <a:ext cx="3290926" cy="38107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将军饮马最短路径模型</a:t>
            </a: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直线 l 与同侧两点 A、B：作 A 关于 l 的对称点 A'，连 A'B 交 l 于 P，用虚线展示“化折为直”，标注 AP+PB=A'P+B'P 最小。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数学 · 节级精细课件 ｜ 九科教辅规范包 v1.0 ｜ 44 / 92</a:t>
            </a:r>
            <a:endParaRPr lang="en-US" sz="115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　整式乘法与因式分解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 第五章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不用竖式，口算 102×98——把 102 看成 100+2，你能发现什么结构？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3548329"/>
          </a:xfrm>
          <a:prstGeom prst="roundRect">
            <a:avLst>
              <a:gd name="adj" fmla="val 154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32740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开场口算 102×98，要求 3 秒报答案：把 102 看成 100+2、98 看成 100−2，结果 10000−4=9996。学生惊讶之余追问“凭什么能这么算”，平方差公式就从数感里长了出来。再画边长 a 的正方形挖去边长 b 的角、重新拼成长方形，几何解释当场完成。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公式本体：(a+b)(a−b)=a²−b²，展开后中间两项互为相反数相消；(a+b)²=a²+2ab+b²，由多项式乘法展开四项合并而来。a、b 可以是数、字母甚至多项式，认结构不认长相。因式分解与整式乘法互逆，方向相反：口诀“一提二套三查”——先提公因式，再套公式，最后查每个因式能否继续分解。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高频误区：(a+b)²=a²+b²，漏中间项 2ab——把推导重走一遍即可自纠；分解不彻底，如 x⁴−1 分到 (x²+1)(x²−1) 就停手，而 x²−1 还能套平方差。适用边界：平方差要求“平方减平方”的结构，减号必须有；提公因式要提净——系数取最大公约数、字母取最低次幂。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133856"/>
          </a:xfrm>
          <a:prstGeom prst="roundRect">
            <a:avLst>
              <a:gd name="adj" fmla="val 40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平方差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完全平方式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702345" y="2955798"/>
            <a:ext cx="2879446" cy="1060704"/>
          </a:xfrm>
          <a:prstGeom prst="roundRect">
            <a:avLst>
              <a:gd name="adj" fmla="val 4310"/>
            </a:avLst>
          </a:prstGeom>
          <a:solidFill>
            <a:srgbClr val="F2E3DC"/>
          </a:solidFill>
          <a:ln/>
        </p:spPr>
      </p:sp>
      <p:sp>
        <p:nvSpPr>
          <p:cNvPr id="14" name="Text 12"/>
          <p:cNvSpPr/>
          <p:nvPr/>
        </p:nvSpPr>
        <p:spPr>
          <a:xfrm>
            <a:off x="8866937" y="302895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866937" y="3303270"/>
            <a:ext cx="255026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(a+b)²=a²+b²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数学 · 节级精细课件 ｜ 九科教辅规范包 v1.0 ｜ 45 / 92</a:t>
            </a:r>
            <a:endParaRPr lang="en-US" sz="115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　整式乘法与因式分解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分解因式：3m³ − 27m。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285C94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第一步：提公因式（各项系数的最大公约数是 3，字母最低次幂是 m，依据提公因式法）：3m³−27m=3m(m²−9)。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285C94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第二步：套公式。m²−9=m²−3²，符合平方差公式 a²−b²=(a+b)(a−b) 的结构，得 (m+3)(m−3)。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285C94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第三步：检查彻底性：(m+3) 与 (m−3) 都不能再分解，最终结果 3m(m+3)(m−3)。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3m³−27m=3m(m+3)(m−3)。验算（乘回去）：3m(m+3)(m−3)=3m(m²−9)=3m³−27m，与原式一致。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数学 · 节级精细课件 ｜ 九科教辅规范包 v1.0 ｜ 46 / 92</a:t>
            </a:r>
            <a:endParaRPr lang="en-US" sz="115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　整式乘法与因式分解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分解因式：x³ − 16x。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042895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134335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分解因式：(x+y)² − 4(x+y) + 4。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4949647"/>
            <a:ext cx="10971886" cy="585216"/>
          </a:xfrm>
          <a:prstGeom prst="roundRect">
            <a:avLst>
              <a:gd name="adj" fmla="val 7813"/>
            </a:avLst>
          </a:prstGeom>
          <a:solidFill>
            <a:srgbClr val="F2E3DC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004511"/>
            <a:ext cx="1056955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变式挑战（选做）　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分解因式：2x² − 18。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提示：先提公因式 2，看剩下的 x²−9 是不是“平方减平方”结构。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2" name="Text 10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数学 · 节级精细课件 ｜ 九科教辅规范包 v1.0 ｜ 47 / 92</a:t>
            </a:r>
            <a:endParaRPr lang="en-US" sz="115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　整式乘法与因式分解 · 图示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学科专业图示（教学示意）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12214"/>
            <a:ext cx="10971886" cy="4176522"/>
          </a:xfrm>
          <a:prstGeom prst="roundRect">
            <a:avLst>
              <a:gd name="adj" fmla="val 13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pic>
        <p:nvPicPr>
          <p:cNvPr id="6" name="Image 0" descr="/home/vimalinx/MakeMoney/JiaJiao/课件/assets/math/math-8-5-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42014" y="1876806"/>
            <a:ext cx="6142421" cy="38473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062265" y="1895094"/>
            <a:ext cx="3290926" cy="38107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平方差公式的几何解释</a:t>
            </a: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边长 a+b 的正方形挖去边长 b 的角（左上），重新拼合为 (a+b)(a−b) 长方形；两图并排，标注面积相等 a²−b²。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数学 · 节级精细课件 ｜ 九科教辅规范包 v1.0 ｜ 48 / 92</a:t>
            </a:r>
            <a:endParaRPr lang="en-US" sz="115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第五章 · 轴对称与整式乘法因式分解 · 小结与出口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先复述小结，再独立完成出口题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09905" y="1693926"/>
            <a:ext cx="1097188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本节小结（学生能复述）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747065" y="2023110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等腰求角先分类，钝角只能是顶角；“三线合一”须等腰才成立；最短路径靠对称化折为直，依据是两…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47065" y="2407158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乘法公式认结构：平方差消中间项、完全平方多 2ab；因式分解逆着用，“一提二套三查”查彻底。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09905" y="2882646"/>
            <a:ext cx="10971886" cy="960120"/>
          </a:xfrm>
          <a:prstGeom prst="roundRect">
            <a:avLst>
              <a:gd name="adj" fmla="val 4762"/>
            </a:avLst>
          </a:prstGeom>
          <a:solidFill>
            <a:srgbClr val="E4EAF1"/>
          </a:solidFill>
          <a:ln/>
        </p:spPr>
      </p:sp>
      <p:sp>
        <p:nvSpPr>
          <p:cNvPr id="9" name="Text 7"/>
          <p:cNvSpPr/>
          <p:nvPr/>
        </p:nvSpPr>
        <p:spPr>
          <a:xfrm>
            <a:off x="811073" y="295579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章出口自检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11073" y="3230118"/>
            <a:ext cx="1056955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分解因式 2x³−8x 并说明两步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数学 · 节级精细课件 ｜ 九科教辅规范包 v1.0 ｜ 49 / 92</a:t>
            </a:r>
            <a:endParaRPr lang="en-US" sz="115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1D42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204350" y="274320"/>
            <a:ext cx="2377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0" b="1" dirty="0">
                <a:solidFill>
                  <a:srgbClr val="4F6C8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</a:t>
            </a:r>
            <a:endParaRPr lang="en-US" sz="10000" dirty="0"/>
          </a:p>
        </p:txBody>
      </p:sp>
      <p:sp>
        <p:nvSpPr>
          <p:cNvPr id="3" name="Shape 1"/>
          <p:cNvSpPr/>
          <p:nvPr/>
        </p:nvSpPr>
        <p:spPr>
          <a:xfrm>
            <a:off x="609905" y="822960"/>
            <a:ext cx="146304" cy="146304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4" name="Text 2"/>
          <p:cNvSpPr/>
          <p:nvPr/>
        </p:nvSpPr>
        <p:spPr>
          <a:xfrm>
            <a:off x="884225" y="676656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 · 数与代数 ｜ 考查：分式方程验根与一次函数图象性质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609905" y="137160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第六章　分式与实数、一次函数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09905" y="237744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字母进分母；函数登场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792785" y="3200400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6.1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二次根式、实数与分式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92785" y="3584448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一次函数的图象与应用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09905" y="5806440"/>
            <a:ext cx="10971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 2 节 ｜ 每节：讲解 → 例题 → 练习</a:t>
            </a:r>
            <a:endParaRPr lang="en-US" sz="115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6.1　二次根式、实数与分式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 第六章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解整式方程从不用“检验”，为什么解分式方程却必须验根？差就差在分母上。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3548329"/>
          </a:xfrm>
          <a:prstGeom prst="roundRect">
            <a:avLst>
              <a:gd name="adj" fmla="val 154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32740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开场对比设疑：解整式方程 x+1=2 从不检验，解分式方程却必须验根——差别只在分母。让学生先解 1/(x−1)=2/(x+1)，有的同学会解出一个看似合理、却使分母为 0 的“假根”，抓住它展开全节。再口算 √((−3)²)，多数人脱口而出 −3，又是一坑，两坑一起填。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解法本体：两边同乘最简公分母去分母化整，依据是分式基本性质与等式性质 2；公分母取各分母系数的最小公倍数与所有因式最高次幂的积。化整后按移项、合并、系数化为 1 求解；验根两步：代公分母看是否为 0，再代回原方程看左右是否相等。最简二次根式两条件：被开方数不含分母、不含能开尽方的因数。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高频误区：增根是去分母时“两边同乘了 0”的副产品，不是计算错，但必须舍去；√(a²)=|a| 不能直接写 a，符号要讨论。适用边界：验根是分式方程的必要步骤，缺检验整题扣分；√(a²) 的讨论只对被开方数为非负数有意义——负数开偶次方在实数范围内无意义，先看范围再化简。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133856"/>
          </a:xfrm>
          <a:prstGeom prst="roundRect">
            <a:avLst>
              <a:gd name="adj" fmla="val 40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最简二次根式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增根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702345" y="2955798"/>
            <a:ext cx="2879446" cy="1060704"/>
          </a:xfrm>
          <a:prstGeom prst="roundRect">
            <a:avLst>
              <a:gd name="adj" fmla="val 4310"/>
            </a:avLst>
          </a:prstGeom>
          <a:solidFill>
            <a:srgbClr val="F2E3DC"/>
          </a:solidFill>
          <a:ln/>
        </p:spPr>
      </p:sp>
      <p:sp>
        <p:nvSpPr>
          <p:cNvPr id="14" name="Text 12"/>
          <p:cNvSpPr/>
          <p:nvPr/>
        </p:nvSpPr>
        <p:spPr>
          <a:xfrm>
            <a:off x="8866937" y="302895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866937" y="3303270"/>
            <a:ext cx="255026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√(a²)=|a| 丢讨论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数学 · 节级精细课件 ｜ 九科教辅规范包 v1.0 ｜ 51 / 92</a:t>
            </a:r>
            <a:endParaRPr lang="en-US" sz="115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6.1　二次根式、实数与分式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解分式方程：1/(x−1) = 2/(x+1)。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285C94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第一步：确定最简公分母 (x−1)(x+1)，两边同乘它去分母（依据分式基本性质、等式性质 2），得整式方程 x+1=2(x−1)。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285C94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第二步：解整式方程：去括号 x+1=2x−2，移项（移项变号，依据等式性质）得 −x=−3，即 x=3。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285C94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第三步：检验增根：x=3 时 (x−1)(x+1)=2×4=8≠0，公分母不为零；代回原方程左边 1/2，右边 2/4=1/2，左右相等。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x=3。经检验 x=3 不是增根且满足原方程，是原分式方程的解。要点：分式方程的解必须带检验过程才算完整。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数学 · 节级精细课件 ｜ 九科教辅规范包 v1.0 ｜ 52 / 92</a:t>
            </a:r>
            <a:endParaRPr lang="en-US" sz="115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6.1　二次根式、实数与分式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解分式方程 2/(x−3) = 3/(x−2)，并写出完整检验过程。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042895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134335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解分式方程：x/(x−2) − 2 = 2/(x−2)，并写出完整检验。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4949647"/>
            <a:ext cx="10971886" cy="585216"/>
          </a:xfrm>
          <a:prstGeom prst="roundRect">
            <a:avLst>
              <a:gd name="adj" fmla="val 7813"/>
            </a:avLst>
          </a:prstGeom>
          <a:solidFill>
            <a:srgbClr val="F2E3DC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004511"/>
            <a:ext cx="1056955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变式挑战（选做）　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解分式方程：3/(x+2) = 2/(x−1)。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提示：最简公分母是 (x+2)(x−1)，去分母化成整式方程；解完必须双步检验。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2" name="Text 10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数学 · 节级精细课件 ｜ 九科教辅规范包 v1.0 ｜ 53 / 92</a:t>
            </a:r>
            <a:endParaRPr lang="en-US" sz="115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　一次函数的图象与应用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 第六章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两个同学分别只告诉你函数图象经过的两个点，你能不能把整条直线“还原”出来？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3330702"/>
          </a:xfrm>
          <a:prstGeom prst="roundRect">
            <a:avLst>
              <a:gd name="adj" fmla="val 16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30563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开场给两道谜题：只知道直线经过 (1,3) 和 (−1,−1) 两个点，能把整条直线“还原”吗？再出示两家的租车价目表，问行驶多少公里时费用相同——第一题练待定系数法，第二题练方案比较，本节两条主线同时上路，学生带着任务学。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本体：一次函数 y=kx+b（k≠0）有两个待定系数，图象上每个点的坐标都满足解析式，两点即可列二元一次方程组求出 k、b——设、代、解三步定型。图象语言：k 定升降（k＞0 上升、k＜0 下降），b 定 y 轴交点 (0, b)。方案比较：令两函数值相等解出分段点，交点前后“谁更省”发生对调。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高频误区：k 的意义记反（k＞0 是上升不是下降）；把 b 当成直线与 x 轴的交点（b 是 x=0 时的函数值）。适用边界：待定系数法求出的解析式必须把两点代回检验；应用题要写自变量的实际范围（时间、件数非负），方案比较的结论要按“分段点前后”分别表述，不能一句话笼统作答。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133856"/>
          </a:xfrm>
          <a:prstGeom prst="roundRect">
            <a:avLst>
              <a:gd name="adj" fmla="val 40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待定系数法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分段函数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702345" y="2955798"/>
            <a:ext cx="2879446" cy="1060704"/>
          </a:xfrm>
          <a:prstGeom prst="roundRect">
            <a:avLst>
              <a:gd name="adj" fmla="val 4310"/>
            </a:avLst>
          </a:prstGeom>
          <a:solidFill>
            <a:srgbClr val="F2E3DC"/>
          </a:solidFill>
          <a:ln/>
        </p:spPr>
      </p:sp>
      <p:sp>
        <p:nvSpPr>
          <p:cNvPr id="14" name="Text 12"/>
          <p:cNvSpPr/>
          <p:nvPr/>
        </p:nvSpPr>
        <p:spPr>
          <a:xfrm>
            <a:off x="8866937" y="302895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866937" y="3303270"/>
            <a:ext cx="255026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k 意义记反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数学 · 节级精细课件 ｜ 九科教辅规范包 v1.0 ｜ 54 / 92</a:t>
            </a:r>
            <a:endParaRPr lang="en-US" sz="115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　一次函数的图象与应用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一次函数的图象经过点 (1, 3) 和 (−1, −1)，求这个一次函数的解析式。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285C94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第一步（设）：设解析式为 y=kx+b（k≠0），因为图象是直线且没有其他信息表明是正比例函数。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285C94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第二步（代）：两点坐标代入解析式（图象上的点满足解析式），得方程组 k+b=3，−k+b=−1。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285C94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第三步（解）：两式相加（加减消元）得 2b=2，b=1；回代 k+b=3 得 k=2。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55625" y="4620006"/>
            <a:ext cx="310896" cy="310896"/>
          </a:xfrm>
          <a:prstGeom prst="ellipse">
            <a:avLst/>
          </a:prstGeom>
          <a:solidFill>
            <a:srgbClr val="285C94"/>
          </a:solidFill>
          <a:ln/>
        </p:spPr>
      </p:sp>
      <p:sp>
        <p:nvSpPr>
          <p:cNvPr id="17" name="Text 15"/>
          <p:cNvSpPr/>
          <p:nvPr/>
        </p:nvSpPr>
        <p:spPr>
          <a:xfrm>
            <a:off x="655625" y="462000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85393" y="4491990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第四步（回写与检验）：y=2x+1。把两点代回：x=1 时 2+1=3 ✓；x=−1 时 −2+1=−1 ✓。k=2＞0，图象上升，y 随 x 增大而增大。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609905" y="5205222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20" name="Text 18"/>
          <p:cNvSpPr/>
          <p:nvPr/>
        </p:nvSpPr>
        <p:spPr>
          <a:xfrm>
            <a:off x="811073" y="5269230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解析式为 y=2x+1（k=2＞0，y 随 x 增大而增大）。两点代回均满足，结果成立。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数学 · 节级精细课件 ｜ 九科教辅规范包 v1.0 ｜ 55 / 92</a:t>
            </a:r>
            <a:endParaRPr lang="en-US" sz="115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　一次函数的图象与应用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一次函数的图象经过点 (1, 5) 和 (−1, 1)，求解析式，并说明 y 随 x 增大如何变化。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042895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134335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A、B 两家租车公司收费：A 公司每天 200 元，另按每公里 2 元计费；B 公司每天 300 元，另按每公里 1 元计费。日行驶多少公里时两家费用相同？少于这个数选哪家更省？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4949647"/>
            <a:ext cx="10971886" cy="585216"/>
          </a:xfrm>
          <a:prstGeom prst="roundRect">
            <a:avLst>
              <a:gd name="adj" fmla="val 7813"/>
            </a:avLst>
          </a:prstGeom>
          <a:solidFill>
            <a:srgbClr val="F2E3DC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004511"/>
            <a:ext cx="1056955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变式挑战（选做）　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一次函数的图象经过点 (2, 1) 和 (−2, −3)，求这个一次函数的解析式。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提示：设 y=kx+b，两点代入得两个方程；先两式相加消去 k 求 b。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2" name="Text 10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数学 · 节级精细课件 ｜ 九科教辅规范包 v1.0 ｜ 56 / 92</a:t>
            </a:r>
            <a:endParaRPr lang="en-US" sz="115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　一次函数的图象与应用 · 图示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学科专业图示（教学示意）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12214"/>
            <a:ext cx="10971886" cy="4176522"/>
          </a:xfrm>
          <a:prstGeom prst="roundRect">
            <a:avLst>
              <a:gd name="adj" fmla="val 13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pic>
        <p:nvPicPr>
          <p:cNvPr id="6" name="Image 0" descr="/home/vimalinx/MakeMoney/JiaJiao/课件/assets/math/math-8-6-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88803" y="1876806"/>
            <a:ext cx="5848843" cy="38473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062265" y="1895094"/>
            <a:ext cx="3290926" cy="38107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k、b 对一次函数图象的影响</a:t>
            </a: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同一直角坐标系画 y=2x+1（蓝）、y=−2x+1（红）、y=2x−2（灰虚线），标注每条线的走向与 y 轴交点，右侧图例说明 k 决定升降、b 决定截距。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数学 · 节级精细课件 ｜ 九科教辅规范包 v1.0 ｜ 57 / 92</a:t>
            </a:r>
            <a:endParaRPr lang="en-US" sz="115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第六章 · 分式与实数、一次函数 · 小结与出口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先复述小结，再独立完成出口题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09905" y="1693926"/>
            <a:ext cx="1097188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本节小结（学生能复述）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747065" y="2023110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6.1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分式方程先去分母化整再求解，公分母可能被乘成 0，所以必须验根；√(a²)=|a|，符号要…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47065" y="2407158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待定系数三步“设、代、解”；k 定升降、b 定 y 轴交点；方案比较先令两函数相等找分段点。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09905" y="2882646"/>
            <a:ext cx="10971886" cy="960120"/>
          </a:xfrm>
          <a:prstGeom prst="roundRect">
            <a:avLst>
              <a:gd name="adj" fmla="val 4762"/>
            </a:avLst>
          </a:prstGeom>
          <a:solidFill>
            <a:srgbClr val="E4EAF1"/>
          </a:solidFill>
          <a:ln/>
        </p:spPr>
      </p:sp>
      <p:sp>
        <p:nvSpPr>
          <p:cNvPr id="9" name="Text 7"/>
          <p:cNvSpPr/>
          <p:nvPr/>
        </p:nvSpPr>
        <p:spPr>
          <a:xfrm>
            <a:off x="811073" y="295579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章出口自检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11073" y="3230118"/>
            <a:ext cx="1056955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解分式方程 1/(x−1)=2/(x+1) 并检验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数学 · 节级精细课件 ｜ 九科教辅规范包 v1.0 ｜ 58 / 92</a:t>
            </a:r>
            <a:endParaRPr lang="en-US" sz="115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1D42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204350" y="274320"/>
            <a:ext cx="2377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0" b="1" dirty="0">
                <a:solidFill>
                  <a:srgbClr val="4F6C8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</a:t>
            </a:r>
            <a:endParaRPr lang="en-US" sz="10000" dirty="0"/>
          </a:p>
        </p:txBody>
      </p:sp>
      <p:sp>
        <p:nvSpPr>
          <p:cNvPr id="3" name="Shape 1"/>
          <p:cNvSpPr/>
          <p:nvPr/>
        </p:nvSpPr>
        <p:spPr>
          <a:xfrm>
            <a:off x="609905" y="822960"/>
            <a:ext cx="146304" cy="146304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4" name="Text 2"/>
          <p:cNvSpPr/>
          <p:nvPr/>
        </p:nvSpPr>
        <p:spPr>
          <a:xfrm>
            <a:off x="884225" y="676656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九年级 · 数与代数 ｜ 考查：判别式、图象与方程关系、最值应用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609905" y="137160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第七章　一元二次方程与二次函数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09905" y="237744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降次思想与抛物线的数形结合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792785" y="3200400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7.1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一元二次方程解法与判别式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92785" y="3584448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7.2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二次函数图象性质与应用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09905" y="5806440"/>
            <a:ext cx="10971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 2 节 ｜ 每节：讲解 → 例题 → 练习</a:t>
            </a:r>
            <a:endParaRPr lang="en-US" sz="115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7.1　一元二次方程解法与判别式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九年级 第七章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x²−4x−5=0 能不能像 x²=9 那样直接开平方？不能的话，把它“拆”成两个因式相乘试试。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3330702"/>
          </a:xfrm>
          <a:prstGeom prst="roundRect">
            <a:avLst>
              <a:gd name="adj" fmla="val 16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30563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开场给两个方程：x²=9 和 x²−4x−5=0。第一个直接开平方秒杀；第二个开不了方——能把它“拆”成两个因式相乘吗？学生在尝试中自己走进因式分解法。追问“拆不开怎么办”，为配方法和公式法留下悬念，解法的选择顺序由此建立，而不是死记四种方法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本体：一元二次方程的一般形式 ax²+bx+c=0（a≠0），若 a=0 就退化成一次方程，前提必须先判。选法顺序：开方、因式分解、配方公式，由简到繁。判别式 Δ=b²−4ac 判根三情形：Δ＞0 两不等实根、Δ=0 两相等实根、Δ＜0 无实根；韦达定理 x₁+x₂=−b/a、x₁x₂=c/a。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高频误区：用公式或韦达前不化成一般形式；十字相乘常数项符号配错——拆完先乘回验算再写答案；忘记检验 a≠0。适用边界：直接开平方要求被开方数非负；Δ＜0 是“无实数根”，不是方程无意义；韦达定理只在方程有实根（Δ≥0）时使用，Δ＜0 时两根之积之和没有意义。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133856"/>
          </a:xfrm>
          <a:prstGeom prst="roundRect">
            <a:avLst>
              <a:gd name="adj" fmla="val 40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判别式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根与系数关系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702345" y="2955798"/>
            <a:ext cx="2879446" cy="1060704"/>
          </a:xfrm>
          <a:prstGeom prst="roundRect">
            <a:avLst>
              <a:gd name="adj" fmla="val 4310"/>
            </a:avLst>
          </a:prstGeom>
          <a:solidFill>
            <a:srgbClr val="F2E3DC"/>
          </a:solidFill>
          <a:ln/>
        </p:spPr>
      </p:sp>
      <p:sp>
        <p:nvSpPr>
          <p:cNvPr id="14" name="Text 12"/>
          <p:cNvSpPr/>
          <p:nvPr/>
        </p:nvSpPr>
        <p:spPr>
          <a:xfrm>
            <a:off x="8866937" y="302895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866937" y="3303270"/>
            <a:ext cx="255026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a≠0 前提漏判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数学 · 节级精细课件 ｜ 九科教辅规范包 v1.0 ｜ 60 / 92</a:t>
            </a:r>
            <a:endParaRPr lang="en-US" sz="115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7.1　一元二次方程解法与判别式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解方程 x² − 4x − 5 = 0，并用根与系数的关系检验。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285C94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第一步：观察系数可十字相乘（−5 拆成 −5 与 1，且 −5+1=−4 恰为一次项系数），因式分解得 (x−5)(x+1)=0。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285C94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第二步：依据“两个因式的积为零，则至少一个因式为零”（零乘性质），得 x−5=0 或 x+1=0，所以 x₁=5，x₂=−1。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285C94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第三步：韦达检验：x₁+x₂=5+(−1)=4，与 −b/a=−(−4)/1=4 一致；x₁x₂=5×(−1)=−5，与 c/a=−5 一致。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x₁=5，x₂=−1。两根之和、两根之积均与根与系数关系吻合，解正确。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数学 · 节级精细课件 ｜ 九科教辅规范包 v1.0 ｜ 61 / 92</a:t>
            </a:r>
            <a:endParaRPr lang="en-US" sz="115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7.1　一元二次方程解法与判别式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解方程 x² − 6x + 8 = 0，并用根与系数的关系检验。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042895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134335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关于 x 的方程 x² − 2(m−1)x + m² = 0 有两个相等的实数根，求 m 的值。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4949647"/>
            <a:ext cx="10971886" cy="585216"/>
          </a:xfrm>
          <a:prstGeom prst="roundRect">
            <a:avLst>
              <a:gd name="adj" fmla="val 7813"/>
            </a:avLst>
          </a:prstGeom>
          <a:solidFill>
            <a:srgbClr val="F2E3DC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004511"/>
            <a:ext cx="1056955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变式挑战（选做）　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解方程 2x² − 7x + 3 = 0，并用根与系数的关系检验。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提示：十字相乘试拆：首项 2x² 与末项 3，配 (2x−1)(x−3)，用“乘回去”验一次项系数是不是 −7。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2" name="Text 10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数学 · 节级精细课件 ｜ 九科教辅规范包 v1.0 ｜ 62 / 92</a:t>
            </a:r>
            <a:endParaRPr lang="en-US" sz="115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7.2　二次函数图象性质与应用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九年级 第七章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抛物线 y=x² 向右平移 2 格再向上抬 1 格，解析式怎么变？“左加右减”到底是给谁加减？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3330702"/>
          </a:xfrm>
          <a:prstGeom prst="roundRect">
            <a:avLst>
              <a:gd name="adj" fmla="val 16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30563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开场动画：抛物线 y=x² 向右平移 2 格、再向上抬 1 格，猜解析式。有同学写 y=(x+2)²+1，把图象画出来对比顶点位置——对不对一目了然。带着“到底给谁加减”的疑问进入顶点式与平移法则，先猜、再算、后验证，三步走完这个易错点。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本体：配方把 y=ax²+bx+c 化为顶点式 y=a(x−h)²+k，三要素一次读出：a 定开口与最值（a＞0 有最小值，a＜0 有最大值），对称轴 x=h，顶点 (h, k)。配方关键：括号内加并减“一次项系数一半的平方”，补偿项乘回 a。平移“左加右减、上加下减”，检验：新顶点代回解析式。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高频误区：平移方向记反——向右平移 h，x 要减 h 不是加 h；求最值忘写自变量的实际范围。适用边界：顶点式对任何二次函数都成立，但最值问题必须先看 x 的取值范围——范围不含顶点时，最值在端点处取得，不能只报顶点纵坐标；平移只改位置，不改开口方向与大小。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133856"/>
          </a:xfrm>
          <a:prstGeom prst="roundRect">
            <a:avLst>
              <a:gd name="adj" fmla="val 40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顶点式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开口方向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702345" y="2955798"/>
            <a:ext cx="2879446" cy="1060704"/>
          </a:xfrm>
          <a:prstGeom prst="roundRect">
            <a:avLst>
              <a:gd name="adj" fmla="val 4310"/>
            </a:avLst>
          </a:prstGeom>
          <a:solidFill>
            <a:srgbClr val="F2E3DC"/>
          </a:solidFill>
          <a:ln/>
        </p:spPr>
      </p:sp>
      <p:sp>
        <p:nvSpPr>
          <p:cNvPr id="14" name="Text 12"/>
          <p:cNvSpPr/>
          <p:nvPr/>
        </p:nvSpPr>
        <p:spPr>
          <a:xfrm>
            <a:off x="8866937" y="302895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866937" y="3303270"/>
            <a:ext cx="255026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平移方向记反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数学 · 节级精细课件 ｜ 九科教辅规范包 v1.0 ｜ 63 / 92</a:t>
            </a:r>
            <a:endParaRPr lang="en-US" sz="115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7.2　二次函数图象性质与应用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用配方法把 y = −2x² + 8x − 5 化为顶点式，说出三要素，并求函数的最大值。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285C94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第一步：提出二次项系数 −2（只对括号内配方）：y=−2(x²−4x)−5。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285C94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第二步：括号内加上并减去“一次项系数一半的平方”，即 (−4/2)²=4：y=−2[(x−2)²−4]−5。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285C94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第三步：把 −2 乘进补偿项：y=−2(x−2)²+8−5=−2(x−2)²+3。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55625" y="4620006"/>
            <a:ext cx="310896" cy="310896"/>
          </a:xfrm>
          <a:prstGeom prst="ellipse">
            <a:avLst/>
          </a:prstGeom>
          <a:solidFill>
            <a:srgbClr val="285C94"/>
          </a:solidFill>
          <a:ln/>
        </p:spPr>
      </p:sp>
      <p:sp>
        <p:nvSpPr>
          <p:cNvPr id="17" name="Text 15"/>
          <p:cNvSpPr/>
          <p:nvPr/>
        </p:nvSpPr>
        <p:spPr>
          <a:xfrm>
            <a:off x="655625" y="462000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85393" y="4491990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第四步：读三要素：a=−2＜0 开口向下，对称轴 x=2，顶点 (2, 3)；故当 x=2 时函数取得最大值 3。验算：展开 −2(x−2)²+3=−2x²+8x−8+3=−2x²+8x−5，与原式一致。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609905" y="5205222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20" name="Text 18"/>
          <p:cNvSpPr/>
          <p:nvPr/>
        </p:nvSpPr>
        <p:spPr>
          <a:xfrm>
            <a:off x="811073" y="5269230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顶点式 y=−2(x−2)²+3；开口向下、对称轴 x=2、顶点 (2,3)；最大值为 3。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数学 · 节级精细课件 ｜ 九科教辅规范包 v1.0 ｜ 64 / 92</a:t>
            </a:r>
            <a:endParaRPr lang="en-US" sz="115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7.2　二次函数图象性质与应用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求抛物线 y = x² − 4x + 1 的顶点坐标、对称轴，并说出最小值。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042895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134335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把抛物线 y = x² 先向左平移 3 个单位，再向下平移 2 个单位，写出所得抛物线的解析式，并指出新顶点坐标。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4949647"/>
            <a:ext cx="10971886" cy="585216"/>
          </a:xfrm>
          <a:prstGeom prst="roundRect">
            <a:avLst>
              <a:gd name="adj" fmla="val 7813"/>
            </a:avLst>
          </a:prstGeom>
          <a:solidFill>
            <a:srgbClr val="F2E3DC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004511"/>
            <a:ext cx="1056955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变式挑战（选做）　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用配方法把 y = 3x² − 6x + 1 化为顶点式，说出三要素，并求函数的最小值。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提示：先提出 3：y=3(x²−2x)+1；括号内配 (2/2)²=1，注意补偿项要乘 3 再放回去。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2" name="Text 10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数学 · 节级精细课件 ｜ 九科教辅规范包 v1.0 ｜ 65 / 92</a:t>
            </a:r>
            <a:endParaRPr lang="en-US" sz="115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7.2　二次函数图象性质与应用 · 图示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学科专业图示（教学示意）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12214"/>
            <a:ext cx="10971886" cy="4176522"/>
          </a:xfrm>
          <a:prstGeom prst="roundRect">
            <a:avLst>
              <a:gd name="adj" fmla="val 13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pic>
        <p:nvPicPr>
          <p:cNvPr id="6" name="Image 0" descr="/home/vimalinx/MakeMoney/JiaJiao/课件/assets/math/math-9-7-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85002" y="1876806"/>
            <a:ext cx="5656446" cy="38473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062265" y="1895094"/>
            <a:ext cx="3290926" cy="38107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二次函数三要素与平移</a:t>
            </a: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坐标系画 y=x²（灰虚线）与 y=(x−2)²+1（蓝实线），标出顶点 (2,1)、对称轴 x=2 虚线、开口箭头；用箭头示意先右移 2 再上移 1；标注 a&gt;0 开口向上。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数学 · 节级精细课件 ｜ 九科教辅规范包 v1.0 ｜ 66 / 92</a:t>
            </a:r>
            <a:endParaRPr lang="en-US" sz="115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第七章 · 一元二次方程与二次函数 · 小结与出口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先复述小结，再独立完成出口题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09905" y="1693926"/>
            <a:ext cx="1097188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本节小结（学生能复述）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747065" y="2023110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7.1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解一元二次方程先看形选法：开方、分解、配方公式递进；Δ 判根三情形，韦达定理拿来当免费验算。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47065" y="2407158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7.2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配方先提 a 再补“一半平方”，顶点式直读三要素；平移口诀“左加右减”作用在 x 上，最值…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09905" y="2882646"/>
            <a:ext cx="10971886" cy="960120"/>
          </a:xfrm>
          <a:prstGeom prst="roundRect">
            <a:avLst>
              <a:gd name="adj" fmla="val 4762"/>
            </a:avLst>
          </a:prstGeom>
          <a:solidFill>
            <a:srgbClr val="E4EAF1"/>
          </a:solidFill>
          <a:ln/>
        </p:spPr>
      </p:sp>
      <p:sp>
        <p:nvSpPr>
          <p:cNvPr id="9" name="Text 7"/>
          <p:cNvSpPr/>
          <p:nvPr/>
        </p:nvSpPr>
        <p:spPr>
          <a:xfrm>
            <a:off x="811073" y="295579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章出口自检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11073" y="3230118"/>
            <a:ext cx="1056955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说出 y=2(x−1)²−3 三要素并说明平移路径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数学 · 节级精细课件 ｜ 九科教辅规范包 v1.0 ｜ 67 / 92</a:t>
            </a:r>
            <a:endParaRPr lang="en-US" sz="115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1D42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204350" y="274320"/>
            <a:ext cx="2377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0" b="1" dirty="0">
                <a:solidFill>
                  <a:srgbClr val="4F6C8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08</a:t>
            </a:r>
            <a:endParaRPr lang="en-US" sz="10000" dirty="0"/>
          </a:p>
        </p:txBody>
      </p:sp>
      <p:sp>
        <p:nvSpPr>
          <p:cNvPr id="3" name="Shape 1"/>
          <p:cNvSpPr/>
          <p:nvPr/>
        </p:nvSpPr>
        <p:spPr>
          <a:xfrm>
            <a:off x="609905" y="822960"/>
            <a:ext cx="146304" cy="146304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4" name="Text 2"/>
          <p:cNvSpPr/>
          <p:nvPr/>
        </p:nvSpPr>
        <p:spPr>
          <a:xfrm>
            <a:off x="884225" y="676656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九年级 · 图形与几何 ｜ 考查：垂径定理计算与切线证明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609905" y="137160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第八章　圆与旋转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09905" y="237744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第三种全等变换与圆的性质核心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792785" y="3200400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8.1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旋转与中心对称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92785" y="3584448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8.2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圆的性质与直线圆位置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09905" y="5806440"/>
            <a:ext cx="10971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 2 节 ｜ 每节：讲解 → 例题 → 练习</a:t>
            </a:r>
            <a:endParaRPr lang="en-US" sz="115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8.1　旋转与中心对称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九年级 第八章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风车转过一个角度后与自身重合，钟表指针转过一圈的一半，这两种“转”有什么共同点？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3330702"/>
          </a:xfrm>
          <a:prstGeom prst="roundRect">
            <a:avLst>
              <a:gd name="adj" fmla="val 16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30563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场让学生用手比划两种“转”：风车绕中心转过一角、指针转过半圈——一个旋转要说清绕哪个点（中心）、朝哪个方向、转过多大角度，三要素齐了变换才被完全确定。再发方格纸，按给定中心和角度把一个三角形转出来，作图体验先行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本体：旋转三要素——旋转中心、旋转方向、旋转角。性质：对应点到旋转中心的距离相等，对应点与旋转中心连线的夹角等于旋转角，图形旋转前后形状大小不变。中心对称是旋转角为 180° 的特例：对应点连线经过对称中心且被平分；坐标系中绕原点旋转 180°，坐标变为 (−x, −y)。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高频误区：“中心对称”（两个图形之间的关系）与“中心对称图形”（图形自身转 180° 与自身重合，如平行四边形）混为一谈；旋转角看错对象——应看对应点与旋转中心连线的夹角。适用边界：旋转 180° 时方向不影响结果；只有绕原点的中心对称才有“坐标取相反数”的简捷结论，绕其他点须按定义作图。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133856"/>
          </a:xfrm>
          <a:prstGeom prst="roundRect">
            <a:avLst>
              <a:gd name="adj" fmla="val 40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旋转角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中心对称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702345" y="2955798"/>
            <a:ext cx="2879446" cy="1060704"/>
          </a:xfrm>
          <a:prstGeom prst="roundRect">
            <a:avLst>
              <a:gd name="adj" fmla="val 4310"/>
            </a:avLst>
          </a:prstGeom>
          <a:solidFill>
            <a:srgbClr val="F2E3DC"/>
          </a:solidFill>
          <a:ln/>
        </p:spPr>
      </p:sp>
      <p:sp>
        <p:nvSpPr>
          <p:cNvPr id="14" name="Text 12"/>
          <p:cNvSpPr/>
          <p:nvPr/>
        </p:nvSpPr>
        <p:spPr>
          <a:xfrm>
            <a:off x="8866937" y="302895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866937" y="3303270"/>
            <a:ext cx="255026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两概念混淆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数学 · 节级精细课件 ｜ 九科教辅规范包 v1.0 ｜ 69 / 92</a:t>
            </a:r>
            <a:endParaRPr lang="en-US" sz="115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8.1　旋转与中心对称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在平面直角坐标系中，点 A(2, −3) 绕原点 O 旋转 180°，得到点 A′。求 A′ 的坐标，并说明理由。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285C94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第一步：明确旋转三要素——旋转中心 O、旋转角 180°（方向在 180° 时结果相同）。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285C94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第二步：对接概念：绕原点旋转 180° 等价于 A 与 A′ 关于原点成中心对称（中心对称定义）。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285C94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第三步：套用中心对称坐标法则（对应点连线过原点且被平分，横、纵坐标互为相反数）：A′(−2, 3)。检验：线段 AA′ 的中点坐标为 ((2−2)/2, (−3+3)/2)=(0,0)，恰为原点 O，法则成立。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A′(−2, 3)。理由：绕原点旋转 180° 即关于原点中心对称，坐标取相反数；中点检验通过。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数学 · 节级精细课件 ｜ 九科教辅规范包 v1.0 ｜ 70 / 92</a:t>
            </a:r>
            <a:endParaRPr lang="en-US" sz="115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8.1　旋转与中心对称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求点 B(−1, 4) 绕原点旋转 180° 后的坐标，并说明为什么这个变换是中心对称变换。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042895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134335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点 M(a, b) 关于原点的对称点与它关于 y 轴的对称点恰好重合，求 b 的值，并说明此时点 M 的位置特点。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4949647"/>
            <a:ext cx="10971886" cy="585216"/>
          </a:xfrm>
          <a:prstGeom prst="roundRect">
            <a:avLst>
              <a:gd name="adj" fmla="val 7813"/>
            </a:avLst>
          </a:prstGeom>
          <a:solidFill>
            <a:srgbClr val="F2E3DC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004511"/>
            <a:ext cx="1056955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变式挑战（选做）　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点 P(−4, 5) 绕原点旋转 180° 得到点 P′。求 P′ 的坐标，并说明理由。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提示：绕原点旋转 180° 等价于关于原点中心对称——坐标怎么变？再用中点公式验证。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2" name="Text 10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数学 · 节级精细课件 ｜ 九科教辅规范包 v1.0 ｜ 71 / 92</a:t>
            </a:r>
            <a:endParaRPr lang="en-US" sz="115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8.2　圆的性质与直线圆位置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九年级 第八章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圆的半径 5，一条弦长 8，圆心到这条弦的距离是多少？不量，用定理算出来。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3330702"/>
          </a:xfrm>
          <a:prstGeom prst="roundRect">
            <a:avLst>
              <a:gd name="adj" fmla="val 16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30563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开场设问：圆的半径 5，一条弦长 8，圆心到这条弦的距离是多少？不许量，要“算”出来。学生尝试连半径、作垂线后自然构造出直角三角形——垂径定理的模型就从这道题里长出来。再追问“半径、弦心距、半弦三者的关系是什么”，勾股定理顺势登台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体：垂径定理——垂直于弦的直径平分弦，并且平分弦所对的两条弧；推导依据是圆的轴对称性（任何过圆心的直线都是对称轴）。固定模型：过圆心作弦的垂线，得“半径、弦心距、半弦”构成的直角三角形，勾股相连，任知其二可求第三。直线与圆的位置关系用 d 与 r 比较：d＞r 相离、d=r 相切、d＜r 相交。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高频误区：垂径定理漏用条件——必须“垂直”且“过圆心”，缺一不可，随意连线不享有定理；把弦心距当半径直接用。适用边界：求弦长时先取半弦（弦长除以 2）再进勾股；切线证明两条路——已知“过半径外端”就证垂直、已知“垂直”就证过半径外端，按题目已有条件选路，不能两头都假设。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133856"/>
          </a:xfrm>
          <a:prstGeom prst="roundRect">
            <a:avLst>
              <a:gd name="adj" fmla="val 40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垂径定理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切线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702345" y="2955798"/>
            <a:ext cx="2879446" cy="1060704"/>
          </a:xfrm>
          <a:prstGeom prst="roundRect">
            <a:avLst>
              <a:gd name="adj" fmla="val 4310"/>
            </a:avLst>
          </a:prstGeom>
          <a:solidFill>
            <a:srgbClr val="F2E3DC"/>
          </a:solidFill>
          <a:ln/>
        </p:spPr>
      </p:sp>
      <p:sp>
        <p:nvSpPr>
          <p:cNvPr id="14" name="Text 12"/>
          <p:cNvSpPr/>
          <p:nvPr/>
        </p:nvSpPr>
        <p:spPr>
          <a:xfrm>
            <a:off x="8866937" y="302895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866937" y="3303270"/>
            <a:ext cx="255026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垂径两条件缺一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数学 · 节级精细课件 ｜ 九科教辅规范包 v1.0 ｜ 72 / 92</a:t>
            </a:r>
            <a:endParaRPr lang="en-US" sz="115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8.2　圆的性质与直线圆位置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⊙O 的半径为 5，弦 AB = 8。求圆心 O 到弦 AB 的距离。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285C94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第一步：构造模型——过 O 作 OD⊥AB，垂足为 D（作出弦心距，激活垂径定理的前提“垂直”）。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285C94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第二步：依据垂径定理（垂直于弦的直径平分弦）：D 为 AB 中点，AD=AB/2=4。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285C94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第三步：连接 OA，在 Rt△OAD 中用勾股定理：OD=√(OA²−AD²)=√(5²−4²)=√9=3。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圆心 O 到弦 AB 的距离为 3。模型要点：“半径、弦心距、半弦”构成直角三角形，任知其二可求第三。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数学 · 节级精细课件 ｜ 九科教辅规范包 v1.0 ｜ 73 / 92</a:t>
            </a:r>
            <a:endParaRPr lang="en-US" sz="115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8.2　圆的性质与直线圆位置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⊙O 的半径为 13，弦 AB = 24。求 O 到 AB 的距离，并写出所用定理。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042895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134335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⊙O 的半径为 13，OD⊥AB，垂足为 D，且 OD=5。求弦 AB 的长。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4949647"/>
            <a:ext cx="10971886" cy="585216"/>
          </a:xfrm>
          <a:prstGeom prst="roundRect">
            <a:avLst>
              <a:gd name="adj" fmla="val 7813"/>
            </a:avLst>
          </a:prstGeom>
          <a:solidFill>
            <a:srgbClr val="F2E3DC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004511"/>
            <a:ext cx="1056955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变式挑战（选做）　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⊙O 的半径为 10，弦 AB=16。求圆心 O 到弦 AB 的距离。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提示：过 O 作 AB 的垂线段 OD：先由垂径定理得 AD，再在直角三角形里用勾股定理。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2" name="Text 10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数学 · 节级精细课件 ｜ 九科教辅规范包 v1.0 ｜ 74 / 92</a:t>
            </a:r>
            <a:endParaRPr lang="en-US" sz="115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8.2　圆的性质与直线圆位置 · 图示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学科专业图示（教学示意）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12214"/>
            <a:ext cx="10971886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pic>
        <p:nvPicPr>
          <p:cNvPr id="6" name="Image 0" descr="/home/vimalinx/MakeMoney/JiaJiao/课件/assets/math/math-9-8-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67673" y="1876806"/>
            <a:ext cx="2176703" cy="177393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147865" y="1895094"/>
            <a:ext cx="4205326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5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垂径定理模型</a:t>
            </a:r>
            <a:endParaRPr lang="en-US" sz="1500" dirty="0"/>
          </a:p>
          <a:p>
            <a:pPr indent="0" marL="0">
              <a:lnSpc>
                <a:spcPct val="118000"/>
              </a:lnSpc>
              <a:buNone/>
            </a:pPr>
            <a:endParaRPr lang="en-US" sz="15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4A55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圆 O 半径 5、弦 AB=8：作 OC⊥AB 于 D，标出 OD（弦心距）、AD=4，虚线连 OA 构成直角三角形，右侧写勾股计算 OD=3；同心标注圆心 O。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609905" y="3925062"/>
            <a:ext cx="10971886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pic>
        <p:nvPicPr>
          <p:cNvPr id="9" name="Image 1" descr="/home/vimalinx/MakeMoney/JiaJiao/课件/assets/math/math-9-8-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4615" y="4089654"/>
            <a:ext cx="2802819" cy="1773936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7147865" y="4107942"/>
            <a:ext cx="4205326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5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直线与圆三种位置关系</a:t>
            </a:r>
            <a:endParaRPr lang="en-US" sz="1500" dirty="0"/>
          </a:p>
          <a:p>
            <a:pPr indent="0" marL="0">
              <a:lnSpc>
                <a:spcPct val="118000"/>
              </a:lnSpc>
              <a:buNone/>
            </a:pPr>
            <a:endParaRPr lang="en-US" sz="15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4A55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三个小圆并排：相离（d&gt;r）、相切（d=r，标切点与切线）、相交（d&lt;r），每个圆下标注 d 与 r 的数量关系比较式。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数学 · 节级精细课件 ｜ 九科教辅规范包 v1.0 ｜ 75 / 92</a:t>
            </a:r>
            <a:endParaRPr lang="en-US" sz="115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第八章 · 圆与旋转 · 小结与出口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先复述小结，再独立完成出口题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09905" y="1693926"/>
            <a:ext cx="1097188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本节小结（学生能复述）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747065" y="2023110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8.1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旋转三要素定点定角找对应点；180° 的旋转就是中心对称，坐标绕原点对称取相反数；中心对称…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47065" y="2407158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8.2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垂径定理抓模型“半径、弦心距、半弦”勾股相连；直线与圆看 d 与 r：大于相离、等于相切、…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09905" y="2882646"/>
            <a:ext cx="10971886" cy="960120"/>
          </a:xfrm>
          <a:prstGeom prst="roundRect">
            <a:avLst>
              <a:gd name="adj" fmla="val 4762"/>
            </a:avLst>
          </a:prstGeom>
          <a:solidFill>
            <a:srgbClr val="E4EAF1"/>
          </a:solidFill>
          <a:ln/>
        </p:spPr>
      </p:sp>
      <p:sp>
        <p:nvSpPr>
          <p:cNvPr id="9" name="Text 7"/>
          <p:cNvSpPr/>
          <p:nvPr/>
        </p:nvSpPr>
        <p:spPr>
          <a:xfrm>
            <a:off x="811073" y="295579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章出口自检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11073" y="3230118"/>
            <a:ext cx="1056955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半径 5 弦 8 求弦心距并说定理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数学 · 节级精细课件 ｜ 九科教辅规范包 v1.0 ｜ 76 / 92</a:t>
            </a:r>
            <a:endParaRPr lang="en-US" sz="115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1D42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204350" y="274320"/>
            <a:ext cx="2377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0" b="1" dirty="0">
                <a:solidFill>
                  <a:srgbClr val="4F6C8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09</a:t>
            </a:r>
            <a:endParaRPr lang="en-US" sz="10000" dirty="0"/>
          </a:p>
        </p:txBody>
      </p:sp>
      <p:sp>
        <p:nvSpPr>
          <p:cNvPr id="3" name="Shape 1"/>
          <p:cNvSpPr/>
          <p:nvPr/>
        </p:nvSpPr>
        <p:spPr>
          <a:xfrm>
            <a:off x="609905" y="822960"/>
            <a:ext cx="146304" cy="146304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4" name="Text 2"/>
          <p:cNvSpPr/>
          <p:nvPr/>
        </p:nvSpPr>
        <p:spPr>
          <a:xfrm>
            <a:off x="884225" y="676656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九年级 · 统计与概率 ｜ 考查：相似判定、解直角三角形应用、树状图求概率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609905" y="137160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第九章　相似、锐角三角函数与统计概率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09905" y="237744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比例放缩、边角定量与随机世界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792785" y="3200400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9.1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图形的相似与位似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92785" y="3584448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9.2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锐角三角函数与解直角三角形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92785" y="3968496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概率初步与数据分析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09905" y="5806440"/>
            <a:ext cx="10971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 3 节 ｜ 每节：讲解 → 例题 → 练习</a:t>
            </a:r>
            <a:endParaRPr lang="en-US" sz="1150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9.1　图形的相似与位似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九年级 第九章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把一张照片放大后，形状没变、大小变了——面积是跟着边长“一次方”还是“平方”变？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3330702"/>
          </a:xfrm>
          <a:prstGeom prst="roundRect">
            <a:avLst>
              <a:gd name="adj" fmla="val 16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30563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开场把一张照片等比放大：形状没变、大小变了——放大前后的两张图是什么关系？再追问：边长按 1:2 放大，面积翻一倍还是翻四倍？多数人猜错，本节就用“平方”解开这个谜。先在标准图中热身找 A 字型与 8 字型，熟悉基本图形再谈计算。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本体：平行于三角形一边的直线截其他两边，所得三角形与原三角形相似——派生 A 字型与 8 字型两个基本图形，识别先找平行线与公共角。相似比为对应边的比；性质：对应角相等、对应边成比例，周长比等于相似比，面积比等于相似比的平方（面积=底×高，底与高各按相似比缩放）。位似是特殊的相似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高频误区：面积比开方与平方混用——这是最大失分点，记“面积比要平方，由面积比反求相似比要开方”；A 字、8 字图中对应边找错。适用边界：相似比书写统一“前比后”，对应关系按“长对长、短对短”确定；位似比 k＜0 表示反向位似，横纵坐标都要变号，不能只乘绝对值。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133856"/>
          </a:xfrm>
          <a:prstGeom prst="roundRect">
            <a:avLst>
              <a:gd name="adj" fmla="val 40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相似比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位似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702345" y="2955798"/>
            <a:ext cx="2879446" cy="1060704"/>
          </a:xfrm>
          <a:prstGeom prst="roundRect">
            <a:avLst>
              <a:gd name="adj" fmla="val 4310"/>
            </a:avLst>
          </a:prstGeom>
          <a:solidFill>
            <a:srgbClr val="F2E3DC"/>
          </a:solidFill>
          <a:ln/>
        </p:spPr>
      </p:sp>
      <p:sp>
        <p:nvSpPr>
          <p:cNvPr id="14" name="Text 12"/>
          <p:cNvSpPr/>
          <p:nvPr/>
        </p:nvSpPr>
        <p:spPr>
          <a:xfrm>
            <a:off x="8866937" y="302895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866937" y="3303270"/>
            <a:ext cx="255026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面积比开方混用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数学 · 节级精细课件 ｜ 九科教辅规范包 v1.0 ｜ 78 / 92</a:t>
            </a:r>
            <a:endParaRPr lang="en-US" sz="1150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9.1　图形的相似与位似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已知 △ABC ∽ △DEF，相似比为 2 : 3，且 △ABC 的面积为 12。求 △DEF 的面积。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285C94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第一步：依据“相似三角形的面积比等于相似比的平方”，得 S△ABC : S△DEF = 2² : 3² = 4 : 9（注意是平方，不是 2 : 3）。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285C94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第二步：设 △DEF 的面积为 S，列比例 12 : S = 4 : 9（比例基本性质：内项之积等于外项之积）。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285C94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第三步：解得 4S = 108，S = 27。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△DEF 的面积为 27。要点：相似比 2:3 时面积比 4:9，若按 12×(3/2)=18 就错在漏了平方。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数学 · 节级精细课件 ｜ 九科教辅规范包 v1.0 ｜ 79 / 92</a:t>
            </a:r>
            <a:endParaRPr lang="en-US" sz="115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9.1　图形的相似与位似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两个相似三角形的相似比为 2 : 5，其中较小三角形的面积为 8，求较大三角形的面积。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042895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134335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△ABC 中，DE∥BC，AD=2，DB=3，AE=1.6。求 EC 的长。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4949647"/>
            <a:ext cx="10971886" cy="585216"/>
          </a:xfrm>
          <a:prstGeom prst="roundRect">
            <a:avLst>
              <a:gd name="adj" fmla="val 7813"/>
            </a:avLst>
          </a:prstGeom>
          <a:solidFill>
            <a:srgbClr val="F2E3DC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004511"/>
            <a:ext cx="1056955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变式挑战（选做）　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两个相似三角形的相似比为 3 : 4，其中较小三角形的面积为 18。求较大三角形的面积。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提示：面积比是相似比的平方 9 : 16，不是 3 : 4；设大面积列比例式求解。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2" name="Text 10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数学 · 节级精细课件 ｜ 九科教辅规范包 v1.0 ｜ 80 / 92</a:t>
            </a:r>
            <a:endParaRPr lang="en-US" sz="115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9.1　图形的相似与位似 · 图示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学科专业图示（教学示意）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12214"/>
            <a:ext cx="10971886" cy="4176522"/>
          </a:xfrm>
          <a:prstGeom prst="roundRect">
            <a:avLst>
              <a:gd name="adj" fmla="val 13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pic>
        <p:nvPicPr>
          <p:cNvPr id="6" name="Image 0" descr="/home/vimalinx/MakeMoney/JiaJiao/课件/assets/math/math-9-9-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69258" y="1876806"/>
            <a:ext cx="4887933" cy="38473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062265" y="1895094"/>
            <a:ext cx="3290926" cy="38107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相似基本图形：A 字型与 8 字型</a:t>
            </a: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左右两图：左为 DE∥BC 的 A 字型（△ADE 嵌在 △ABC 顶部），右为 DE∥BC 的 8 字型（两三角形顶点相对），都标出对应角与比例线段。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数学 · 节级精细课件 ｜ 九科教辅规范包 v1.0 ｜ 81 / 92</a:t>
            </a:r>
            <a:endParaRPr lang="en-US" sz="115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9.2　锐角三角函数与解直角三角形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九年级 第九章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站在操场测旗杆，不必爬上去——一个 30° 的角、一段 30 米的距离，旗杆高度就“算”出来了。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3104388"/>
          </a:xfrm>
          <a:prstGeom prst="roundRect">
            <a:avLst>
              <a:gd name="adj" fmla="val 17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28300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开场抛任务：站在操场离旗杆 30 m，用量角器测得仰角 30°——不爬上去，旗杆高度能算出来吗？先让学生猜“除了角度还得量什么”。再在直角三角形上标出对边、邻边、斜边，三比定义登场，旗杆问题就变成“已知邻边求对边，选哪个函数”的选择题。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直角三角形中，sin A=对边/斜边，cos A=邻边/斜边，tan A=对边/邻边；定义只与角的大小有关，与三角形大小无关。特殊角值：sin30°=1/2、tan30°=√3/3、sin45°=cos45°=√2/2、tan45°=1、sin60°=√3/2、tan60°=√3。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高频误区：sin 与 cos 记混——每一步都问“要的是对边还是邻边”；仰角从竖直方向量起（错，仰角从水平线向上量到视线）。适用边界：三角函数只在直角三角形中定义，斜三角形要先构造直角三角形再解；结果按题意取近似并带单位，实际测量问题必须有完整答句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133856"/>
          </a:xfrm>
          <a:prstGeom prst="roundRect">
            <a:avLst>
              <a:gd name="adj" fmla="val 40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仰角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特殊角三角值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702345" y="2955798"/>
            <a:ext cx="2879446" cy="1060704"/>
          </a:xfrm>
          <a:prstGeom prst="roundRect">
            <a:avLst>
              <a:gd name="adj" fmla="val 4310"/>
            </a:avLst>
          </a:prstGeom>
          <a:solidFill>
            <a:srgbClr val="F2E3DC"/>
          </a:solidFill>
          <a:ln/>
        </p:spPr>
      </p:sp>
      <p:sp>
        <p:nvSpPr>
          <p:cNvPr id="14" name="Text 12"/>
          <p:cNvSpPr/>
          <p:nvPr/>
        </p:nvSpPr>
        <p:spPr>
          <a:xfrm>
            <a:off x="8866937" y="302895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866937" y="3303270"/>
            <a:ext cx="255026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sin 与 cos 记混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数学 · 节级精细课件 ｜ 九科教辅规范包 v1.0 ｜ 82 / 92</a:t>
            </a:r>
            <a:endParaRPr lang="en-US" sz="1150" dirty="0"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9.2　锐角三角函数与解直角三角形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877824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在地面上一点 A 测得某楼房顶 C 的仰角为 30°，A 到楼房底部 D 的水平距离为 30 米。求楼高 CD（结果保留根号，再取近似值，精确到 0.1 米）。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919222"/>
            <a:ext cx="310896" cy="310896"/>
          </a:xfrm>
          <a:prstGeom prst="ellipse">
            <a:avLst/>
          </a:prstGeom>
          <a:solidFill>
            <a:srgbClr val="285C94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91922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79120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第一步：构造直角三角形——楼 CD 垂直于地面，∠ADC=90°；仰角 ∠CAD=30°（从水平线 AD 向上量到视线 AC），已知 AD=30。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577590"/>
            <a:ext cx="310896" cy="310896"/>
          </a:xfrm>
          <a:prstGeom prst="ellipse">
            <a:avLst/>
          </a:prstGeom>
          <a:solidFill>
            <a:srgbClr val="285C94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57759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44957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第二步：选三角函数：已知邻边 AD、求对边 CD，依据正切定义 tan A=对边/邻边，用 tan30°=CD/AD。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4235958"/>
            <a:ext cx="310896" cy="310896"/>
          </a:xfrm>
          <a:prstGeom prst="ellipse">
            <a:avLst/>
          </a:prstGeom>
          <a:solidFill>
            <a:srgbClr val="285C94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423595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410794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第三步：代入计算：CD=AD·tan30°=30×(√3/3)=10√3≈17.3 米（特殊角值 tan30°=√3/3）。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82117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88518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楼高 CD=10√3 米≈17.3 米。要点：选函数先问“已知哪条边、求哪条边”；结果带单位并按题意取近似。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数学 · 节级精细课件 ｜ 九科教辅规范包 v1.0 ｜ 83 / 92</a:t>
            </a:r>
            <a:endParaRPr lang="en-US" sz="1150" dirty="0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9.2　锐角三角函数与解直角三角形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在同一点测得另一塔顶的仰角为 45°，水平距离 25 米，求塔高。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042895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134335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一架长 5 m 的梯子斜靠在竖直墙上，梯脚离墙 3 m。求梯顶离地面的高度，并写出梯子与地面夹角的正弦值和余弦值。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4949647"/>
            <a:ext cx="10971886" cy="585216"/>
          </a:xfrm>
          <a:prstGeom prst="roundRect">
            <a:avLst>
              <a:gd name="adj" fmla="val 7813"/>
            </a:avLst>
          </a:prstGeom>
          <a:solidFill>
            <a:srgbClr val="F2E3DC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004511"/>
            <a:ext cx="1056955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变式挑战（选做）　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在地面上一点测得塔顶的仰角为 30°，测点到塔底的水平距离为 60 米。求塔高（结果保留根号，再取近似值精确到 0.1 米）。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提示：已知邻边（水平距离）求对边（塔高），选正切；用特殊角值 tan30°=√3/3。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2" name="Text 10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数学 · 节级精细课件 ｜ 九科教辅规范包 v1.0 ｜ 84 / 92</a:t>
            </a:r>
            <a:endParaRPr lang="en-US" sz="1150" dirty="0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9.2　锐角三角函数与解直角三角形 · 图示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学科专业图示（教学示意）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12214"/>
            <a:ext cx="10971886" cy="4176522"/>
          </a:xfrm>
          <a:prstGeom prst="roundRect">
            <a:avLst>
              <a:gd name="adj" fmla="val 13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pic>
        <p:nvPicPr>
          <p:cNvPr id="6" name="Image 0" descr="/home/vimalinx/MakeMoney/JiaJiao/课件/assets/math/math-9-9-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365" y="1876806"/>
            <a:ext cx="6907720" cy="38473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062265" y="1895094"/>
            <a:ext cx="3290926" cy="38107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解直角三角形测量应用模型</a:t>
            </a: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地面水平线、建筑物 CD 垂直地面，测角仪在 A 处标仰角 α 虚线到楼顶 C，标出 AC 视线、水平距离 AD；右侧公式块：CD = AD·tanα。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数学 · 节级精细课件 ｜ 九科教辅规范包 v1.0 ｜ 85 / 92</a:t>
            </a:r>
            <a:endParaRPr lang="en-US" sz="1150" dirty="0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　概率初步与数据分析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九年级 第九章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“抛两枚硬币出现一正一反”和“出现两个正面”，凭直觉哪个概率大？很多人答错。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3330702"/>
          </a:xfrm>
          <a:prstGeom prst="roundRect">
            <a:avLst>
              <a:gd name="adj" fmla="val 16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30563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开场现场投票：“一正一反”和“两个正面”哪个概率大？不少同学凭直觉选“一正一反机会大”或认为两者各三分之一。让学生动手抛 20 次做统计，再用树状图把所有结果排开——直觉的漏洞当场现形，列举的意义从需要变成方法。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本体：等可能事件的概率 P(A)=事件 A 包含的结果数÷试验的全部等可能结果数。树状图是列举工具：第一层画第一次试验的所有可能，第二层接着画第二次，价值在于保证“不重不漏”。数据分析：平均数反映平均水平，方差是“离差平方的平均”，方差越小越稳定；比较稳定性必须结合语境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高频误区：把“一正一反”当成一种基本结果——(正,反) 与 (反,正) 是两个不同的结果；把互斥事件当独立事件连乘。适用边界：概率公式要求每个结果“等可能”，不等可能的试验（如不均匀骰子）不能直接套用；树状图层数多时可改用列表法，但同样必须不重不漏，方差比较要回到语境选指标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133856"/>
          </a:xfrm>
          <a:prstGeom prst="roundRect">
            <a:avLst>
              <a:gd name="adj" fmla="val 40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树状图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方差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702345" y="2955798"/>
            <a:ext cx="2879446" cy="1060704"/>
          </a:xfrm>
          <a:prstGeom prst="roundRect">
            <a:avLst>
              <a:gd name="adj" fmla="val 4310"/>
            </a:avLst>
          </a:prstGeom>
          <a:solidFill>
            <a:srgbClr val="F2E3DC"/>
          </a:solidFill>
          <a:ln/>
        </p:spPr>
      </p:sp>
      <p:sp>
        <p:nvSpPr>
          <p:cNvPr id="14" name="Text 12"/>
          <p:cNvSpPr/>
          <p:nvPr/>
        </p:nvSpPr>
        <p:spPr>
          <a:xfrm>
            <a:off x="8866937" y="302895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866937" y="3303270"/>
            <a:ext cx="255026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互斥当独立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数学 · 节级精细课件 ｜ 九科教辅规范包 v1.0 ｜ 86 / 92</a:t>
            </a:r>
            <a:endParaRPr lang="en-US" sz="1150" dirty="0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　概率初步与数据分析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同时抛掷两枚均匀的硬币，求“恰好一枚正面朝上、一枚反面朝上”的概率。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285C94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第一步：画树状图列举全部结果（保证等可能且不重不漏）：第一枚正、反两支，第二枚各有正、反两支，得 (正,正)、(正,反)、(反,正)、(反,反) 共 4 个基本结果。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285C94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第二步：确定所求事件包含的结果：“一正一反”对应 (正,反) 与 (反,正) 共 2 个。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285C94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第三步：依据等可能事件概率公式：P=2/4=1/2。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P(一正一反)=1/2。澄清误区：它不是 1/3——(正,反) 与 (反,正) 是两个不同的基本结果，各占 1/4。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数学 · 节级精细课件 ｜ 九科教辅规范包 v1.0 ｜ 87 / 92</a:t>
            </a:r>
            <a:endParaRPr lang="en-US" sz="1150" dirty="0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　概率初步与数据分析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袋中装有 2 个红球和 1 个白球（除颜色外完全相同），随机摸出一个不放回，再摸第二个。用树状图求“两次都摸到红球”的概率。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3042895"/>
            <a:ext cx="10971886" cy="1147801"/>
          </a:xfrm>
          <a:prstGeom prst="roundRect">
            <a:avLst>
              <a:gd name="adj" fmla="val 47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9361" y="3134335"/>
            <a:ext cx="10532974" cy="96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2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一个转盘被均分为三格，分别标 1、2、3。转动转盘两次（每次结果等可能），求两次数字之和为偶数的概率。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9905" y="4949647"/>
            <a:ext cx="10971886" cy="585216"/>
          </a:xfrm>
          <a:prstGeom prst="roundRect">
            <a:avLst>
              <a:gd name="adj" fmla="val 7813"/>
            </a:avLst>
          </a:prstGeom>
          <a:solidFill>
            <a:srgbClr val="F2E3DC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5004511"/>
            <a:ext cx="1056955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变式挑战（选做）　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抛一枚均匀的硬币两次，求“至少一次正面朝上”的概率。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提示：树状图列全 4 个结果：正正、正反、反正、反反；再数哪些符合“至少一次正面”。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12" name="Text 10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数学 · 节级精细课件 ｜ 九科教辅规范包 v1.0 ｜ 88 / 92</a:t>
            </a:r>
            <a:endParaRPr lang="en-US" sz="1150" dirty="0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　概率初步与数据分析 · 图示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学科专业图示（教学示意）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12214"/>
            <a:ext cx="10971886" cy="4176522"/>
          </a:xfrm>
          <a:prstGeom prst="roundRect">
            <a:avLst>
              <a:gd name="adj" fmla="val 13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pic>
        <p:nvPicPr>
          <p:cNvPr id="6" name="Image 0" descr="/home/vimalinx/MakeMoney/JiaJiao/课件/assets/math/math-9-9-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85002" y="1876806"/>
            <a:ext cx="5656446" cy="38473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062265" y="1895094"/>
            <a:ext cx="3290926" cy="38107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树状图求概率示例</a:t>
            </a: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同时抛两枚硬币的树状图：第一层两支（正/反），第二层各两支共四支，末端标 (正,正) 等四结果，“一正一反”两支用强调色标出，右侧写 P=2/4=1/2。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数学 · 节级精细课件 ｜ 九科教辅规范包 v1.0 ｜ 89 / 92</a:t>
            </a:r>
            <a:endParaRPr lang="en-US" sz="1150" dirty="0"/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第九章 · 相似、锐角三角函数与统计概率 · 小结与出口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先复述小结，再独立完成出口题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09905" y="1693926"/>
            <a:ext cx="1097188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本节小结（学生能复述）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747065" y="2023110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9.1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相似先找平行线定 A 字、8 字基本图形；面积比是相似比的平方，周长比才是相似比本身。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47065" y="2407158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9.2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三角函数是直角三角形三边之比，tan=对/邻；解应用题四步画图、标角、选函数、算结果带单位。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47065" y="2791206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概率=所求结果数÷等可能结果数，树状图保证不重不漏；方差小波动小才稳定，比较要结合语境。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09905" y="3266694"/>
            <a:ext cx="10971886" cy="960120"/>
          </a:xfrm>
          <a:prstGeom prst="roundRect">
            <a:avLst>
              <a:gd name="adj" fmla="val 4762"/>
            </a:avLst>
          </a:prstGeom>
          <a:solidFill>
            <a:srgbClr val="E4EAF1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3339846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章出口自检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11073" y="3614166"/>
            <a:ext cx="1056955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树状图求两枚硬币一正一反概率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数学 · 节级精细课件 ｜ 九科教辅规范包 v1.0 ｜ 90 / 92</a:t>
            </a:r>
            <a:endParaRPr lang="en-US" sz="1150" dirty="0"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考试聚焦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章章有侧重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09905" y="1712214"/>
            <a:ext cx="1097188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七年级 第一章</a:t>
            </a:r>
            <a:pPr indent="0" marL="0">
              <a:buNone/>
            </a:pPr>
            <a:r>
              <a:rPr lang="en-US" sz="12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绝对值与混合运算为计算题基本盘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09905" y="2004822"/>
            <a:ext cx="1097188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七年级 第二章</a:t>
            </a:r>
            <a:pPr indent="0" marL="0">
              <a:buNone/>
            </a:pPr>
            <a:r>
              <a:rPr lang="en-US" sz="12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实际问题的方程建模是必考解答题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09905" y="2297430"/>
            <a:ext cx="1097188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七年级 第三章</a:t>
            </a:r>
            <a:pPr indent="0" marL="0">
              <a:buNone/>
            </a:pPr>
            <a:r>
              <a:rPr lang="en-US" sz="12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平行判定与性质互逆为证明入门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09905" y="2590038"/>
            <a:ext cx="1097188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 第四章</a:t>
            </a:r>
            <a:pPr indent="0" marL="0">
              <a:buNone/>
            </a:pPr>
            <a:r>
              <a:rPr lang="en-US" sz="12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全等判定选择与证明书写是几何基本盘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09905" y="2882646"/>
            <a:ext cx="1097188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 第五章</a:t>
            </a:r>
            <a:pPr indent="0" marL="0">
              <a:buNone/>
            </a:pPr>
            <a:r>
              <a:rPr lang="en-US" sz="12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乘法公式与因式分解互逆意识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09905" y="3175254"/>
            <a:ext cx="1097188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 第六章</a:t>
            </a:r>
            <a:pPr indent="0" marL="0">
              <a:buNone/>
            </a:pPr>
            <a:r>
              <a:rPr lang="en-US" sz="12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分式方程验根与一次函数图象性质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09905" y="3467862"/>
            <a:ext cx="1097188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九年级 第七章</a:t>
            </a:r>
            <a:pPr indent="0" marL="0">
              <a:buNone/>
            </a:pPr>
            <a:r>
              <a:rPr lang="en-US" sz="12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判别式、图象与方程关系、最值应用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09905" y="3760470"/>
            <a:ext cx="1097188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九年级 第八章</a:t>
            </a:r>
            <a:pPr indent="0" marL="0">
              <a:buNone/>
            </a:pPr>
            <a:r>
              <a:rPr lang="en-US" sz="12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垂径定理计算与切线证明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09905" y="4053078"/>
            <a:ext cx="1097188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85C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九年级 第九章</a:t>
            </a:r>
            <a:pPr indent="0" marL="0">
              <a:buNone/>
            </a:pPr>
            <a:r>
              <a:rPr lang="en-US" sz="12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相似判定、解直角三角形应用、树状图求概率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数学 · 节级精细课件 ｜ 九科教辅规范包 v1.0 ｜ 91 / 92</a:t>
            </a:r>
            <a:endParaRPr lang="en-US" sz="1150" dirty="0"/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1D42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658368"/>
            <a:ext cx="146304" cy="146304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84225" y="502920"/>
            <a:ext cx="9144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学科出口自检（独立完成）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09905" y="1170432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合上课本完成以下任务；评价标准在教师手册（course.json），先独立作答再对照自评。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09905" y="1783080"/>
            <a:ext cx="10971886" cy="896112"/>
          </a:xfrm>
          <a:prstGeom prst="roundRect">
            <a:avLst>
              <a:gd name="adj" fmla="val 6122"/>
            </a:avLst>
          </a:prstGeom>
          <a:solidFill>
            <a:srgbClr val="F5F2EA"/>
          </a:solidFill>
          <a:ln/>
        </p:spPr>
      </p:sp>
      <p:sp>
        <p:nvSpPr>
          <p:cNvPr id="6" name="Text 4"/>
          <p:cNvSpPr/>
          <p:nvPr/>
        </p:nvSpPr>
        <p:spPr>
          <a:xfrm>
            <a:off x="838505" y="1938528"/>
            <a:ext cx="502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1451153" y="1874520"/>
            <a:ext cx="982888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七年级　</a:t>
            </a:r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写出“两直线平行，内错角相等”的题设与结论并各用一次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09905" y="2807208"/>
            <a:ext cx="10971886" cy="896112"/>
          </a:xfrm>
          <a:prstGeom prst="roundRect">
            <a:avLst>
              <a:gd name="adj" fmla="val 6122"/>
            </a:avLst>
          </a:prstGeom>
          <a:solidFill>
            <a:srgbClr val="F5F2EA"/>
          </a:solidFill>
          <a:ln/>
        </p:spPr>
      </p:sp>
      <p:sp>
        <p:nvSpPr>
          <p:cNvPr id="9" name="Text 7"/>
          <p:cNvSpPr/>
          <p:nvPr/>
        </p:nvSpPr>
        <p:spPr>
          <a:xfrm>
            <a:off x="838505" y="2962656"/>
            <a:ext cx="502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1451153" y="2898648"/>
            <a:ext cx="982888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　</a:t>
            </a:r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解分式方程 1/(x−1)=2/(x+1) 并检验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09905" y="3831336"/>
            <a:ext cx="10971886" cy="896112"/>
          </a:xfrm>
          <a:prstGeom prst="roundRect">
            <a:avLst>
              <a:gd name="adj" fmla="val 6122"/>
            </a:avLst>
          </a:prstGeom>
          <a:solidFill>
            <a:srgbClr val="F5F2EA"/>
          </a:solidFill>
          <a:ln/>
        </p:spPr>
      </p:sp>
      <p:sp>
        <p:nvSpPr>
          <p:cNvPr id="12" name="Text 10"/>
          <p:cNvSpPr/>
          <p:nvPr/>
        </p:nvSpPr>
        <p:spPr>
          <a:xfrm>
            <a:off x="838505" y="3986784"/>
            <a:ext cx="502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1451153" y="3922776"/>
            <a:ext cx="982888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九年级　</a:t>
            </a:r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树状图求两枚硬币一正一反概率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09905" y="5852160"/>
            <a:ext cx="109718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薄弱分支：讲解页回看对应节；例题卡壳 → 回例题页跟步骤重做；练习出错 → 找教师按提示阶梯重做。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92</Slides>
  <Notes>92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92</vt:i4>
      </vt:variant>
    </vt:vector>
  </HeadingPairs>
  <TitlesOfParts>
    <vt:vector size="9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数学·节级精细讲解课件</dc:title>
  <dc:subject>PptxGenJS Presentation</dc:subject>
  <dc:creator>Wilson</dc:creator>
  <cp:lastModifiedBy>Wilson</cp:lastModifiedBy>
  <cp:revision>1</cp:revision>
  <dcterms:created xsi:type="dcterms:W3CDTF">2026-09-19T17:56:20Z</dcterms:created>
  <dcterms:modified xsi:type="dcterms:W3CDTF">2026-09-19T17:56:20Z</dcterms:modified>
</cp:coreProperties>
</file>