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</p:sldIdLst>
  <p:notesMasterIdLst>
    <p:notesMasterId r:id="rId9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notesMaster" Target="notesMasters/notesMaster1.xml"/><Relationship Id="rId95" Type="http://schemas.openxmlformats.org/officeDocument/2006/relationships/presProps" Target="presProps.xml"/><Relationship Id="rId96" Type="http://schemas.openxmlformats.org/officeDocument/2006/relationships/viewProps" Target="viewProps.xml"/><Relationship Id="rId97" Type="http://schemas.openxmlformats.org/officeDocument/2006/relationships/theme" Target="theme/theme1.xml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42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93268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标准课件 · 节级精细讲解（教师用）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905" y="146304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09905" y="272491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初中 · 每章每节精细讲解课件 ｜ 人教版（2022年版课标新修订教材，主用版本）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905" y="36758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09905" y="44074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24505" y="36758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124505" y="44074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39105" y="36758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639105" y="44074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节级教案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53705" y="36758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分步例题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153705" y="44074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每节配齐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905" y="5212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核心素养：数学抽象 · 逻辑推理 · 数学建模 · 直观想象 · 数学运算 · 数据分析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练习答案仅存教师手册（course.json），放映页零答案 ｜ 制作依据：九科教辅规范包 v1.0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学科身份与课件结构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人教版（2022年版课标新修订教材，主用版本）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42609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4225" y="1995678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学科身份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84225" y="2361438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4225" y="2590038"/>
            <a:ext cx="4791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人教版（2022年版课标新修订教材，主用版本）（六册（七至九年级上下））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4225" y="3038094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4225" y="3266694"/>
            <a:ext cx="4791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 年版义务教育课程标准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4225" y="3714750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核心素养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4225" y="3943350"/>
            <a:ext cx="4791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数学抽象、逻辑推理、数学建模、直观想象、数学运算、数据分析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4225" y="439140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课件定位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4225" y="4620006"/>
            <a:ext cx="4791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每节四页组：讲解→例题→练习→（图示）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4225" y="5068062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答案隔离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4225" y="5296662"/>
            <a:ext cx="4791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练习答案仅存教师手册，放映页零答案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16929" y="1995678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每节页面组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16929" y="23431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0977" y="2343150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讲解页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导入情境 → 讲解正文（可直接照讲）→ 核心术语与易错提示。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16929" y="31843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0977" y="3184398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例题页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典型例题分步解析，每步注明依据；教师带学生逐步揭示。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16929" y="402564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00977" y="4025646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练习页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独立练习（答案在教师手册）；可先作答再对照自评。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16929" y="48668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00977" y="4866894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图示页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本章学科专业图示，按原始比例嵌入，标注教学示意。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2 / 92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知识体系总览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先见森林，再进细节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9633" y="2004822"/>
            <a:ext cx="10862158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有理数与有理数的运算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9633" y="2256040"/>
            <a:ext cx="10862158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整式与一元一次方程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9633" y="2507258"/>
            <a:ext cx="10862158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几何图形初步与相交线平行线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905" y="275847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9633" y="3069372"/>
            <a:ext cx="10862158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三角形与全等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9633" y="3320590"/>
            <a:ext cx="10862158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轴对称与整式乘法因式分解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9633" y="3571808"/>
            <a:ext cx="10862158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第六章 分式与实数、一次函数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905" y="38230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9633" y="4133922"/>
            <a:ext cx="10862158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一元二次方程与二次函数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9633" y="4385140"/>
            <a:ext cx="10862158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圆与旋转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9633" y="4636358"/>
            <a:ext cx="10862158" cy="251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 相似、锐角三角函数与统计概率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3 / 92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42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4F6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 · 数与代数 ｜ 考查：绝对值与混合运算为计算题基本盘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　有理数与有理数的运算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数系第一次扩张：负数进入运算世界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有理数、数轴与绝对值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有理数四则与乘方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2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有理数、数轴与绝对值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 第一章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天气预报里说今天最低气温 −3℃，最高 5℃——−3 这个数在数轴上站在 0 的哪一边？离 0 有多远？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750058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47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先看一组相反意义的量：收入 5 元记作 +5，支出 3 元记作 −3。像这样为了表示“具有相反意义的量”，我们把数系从正数和 0 扩张到负数——0 既不是正数也不是负数，它是分界点。把所有数排到一条直线上：规定原点、正方向、单位长度，这就是数轴三要素，缺一不可；数轴让“数”变成“点”，大小关系一眼看出，越往右越大。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绝对值不要背成“去掉负号”，它的本义是距离：数轴上表示一个数的点到原点的距离叫这个数的绝对值。所以 |−3|=3、|3|=3、|0|=0，距离不可能为负。由此得出比较法则：正数都大于 0，负数都小于 0，两个负数比较大小，绝对值大的反而小——因为在原点左边，离原点越远就越靠左、越小。常见错误是把 −3² 当成 (−3)²，这是下一节乘方要重点区分的。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499616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数轴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相反数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66937" y="2681478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绝对值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2345" y="332155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866937" y="339471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6937" y="366903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0 既不是正数也不是负数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把绝对值当“去掉负号”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5 / 92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有理数、数轴与绝对值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在数轴上表示 −7 与 −4，求它们的绝对值，并比较 −7 与 −4 的大小。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第一步：画数轴（三要素：原点、正方向、单位长度），把 −7、−4 标在原点左侧，−7 在 −4 更左边。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第二步：按绝对值的几何意义求值：−7 到原点的距离是 7，故 |−7|=7；−4 到原点的距离是 4，故 |−4|=4。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第三步：套用法则“两个负数比较大小，绝对值大的反而小”：因为 7＞4，所以 −7＜−4。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|−7|=7，|−4|=4，−7＜−4。检验：数轴上 −7 位于 −4 左侧，数轴上越左的数越小，与法则结论一致。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6 / 92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有理数、数轴与绝对值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 −2/3 与 −3/4 的大小，并写出每一步依据。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7 / 92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　有理数、数轴与绝对值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math/math-7-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5900" y="1876806"/>
            <a:ext cx="5614650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数轴与绝对值几何意义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数轴-6..6，标出 -3、2 的点，从 -3、2 画到原点的弧线箭头并标注 3、2；原点 0 加粗；标题《绝对值=到原点的距离》。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8 / 92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　有理数四则与乘方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 第一章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先口算两个式子——−3² 与 (−3)² 相等吗？很多同学都栽在这一对“孪生兄弟”上。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750058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47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引入乘方：n 个相同因数相乘记作 aⁿ，a 叫底数、n 叫指数。推导符号法则：负数的奇次幂为负、偶次幂为正，因为负因数个数为奇数时积为负、偶数时积为正。关键区分：−3² 读作“3 的平方的相反数”，底数是 3，结果是 −9；(−3)² 底数是 −3，结果是 9。看指数前先看负号在不在括号里。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则与乘方混合运算按“先乘方，再乘除，后加减，有括号先括号”的顺序进行；乘除统一成“先定符号，再算绝对值”：同号得正、异号得负。推导方向：乘法法则由相反数意义推得，除法可转化为乘倒数。灵活运用交换律、结合律凑整能提速，如 (−8)×(−4)×(−1.25)×0.25 先把 −8 与 −1.25 凑成 10。常见误区：分配律漏乘第二项、连续除法当成连乘处理。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乘方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运算律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719072"/>
          </a:xfrm>
          <a:prstGeom prst="roundRect">
            <a:avLst>
              <a:gd name="adj" fmla="val 266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−3² 读作 (−3)²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分配律漏乘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9 / 92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　有理数四则与乘方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计算：(−2)² × 3 + (−6) ÷ (−3)。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第一步：先算乘方（混合运算顺序：先乘方，再乘除，后加减）：(−2)²=4，依据是负数的偶次幂为正。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第二步：算乘除，依据乘除法则“同号得正，异号得负，再把绝对值相乘除”：4×3=12；(−6)÷(−3)=+2。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第三步：最后算加法：12+2=14。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结果为 14。验算：按同级运算从左到右复核——(−2)²=4，4×3=12；(−6)÷(−3) 符号为正、6÷3=2；12+2=14，两遍一致。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10 / 92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　有理数四则与乘方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 −3² − (−3)³ ÷ 9，并写出每一步的依据。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11 / 92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有理数与有理数的运算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数轴把数变成点，绝对值是到原点的距离；两个负数比大小，绝对值大的反而小。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乘方先定符号看指数奇偶；混合运算按“乘方—乘除—加减”顺序，负号在不在括号里决定底数是谁。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905" y="2882646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9" name="Text 7"/>
          <p:cNvSpPr/>
          <p:nvPr/>
        </p:nvSpPr>
        <p:spPr>
          <a:xfrm>
            <a:off x="811073" y="295579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1073" y="3230118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 −2² + (−2)³ × (1/2) − |−5| 并写每步依据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12 / 92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D42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4F6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 · 数与代数 ｜ 考查：实际问题的方程建模是必考解答题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　整式与一元一次方程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从字母表示数到第一个方程模型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代数式与整式加减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一元一次方程与实际应用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2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代数式与整式加减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 第二章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老师买了 a 支笔又买了 2a 支，一共几支？如果其中 a 是 5x²y、2a 是 3x²y，还能直接相加吗？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52374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引入：用字母表示数后，运算律依然成立。判断同类项只看“两同”：所含字母相同，并且相同字母的指数也相同，与系数、字母顺序无关——5x²y 与 3x²y 是同类项，x²y 与 xy² 不是。合并的推导依据是逆用分配律：5x²y+3x²y=(5+3)x²y，即系数相加、字母和指数不变。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整式加减两步走：先去括号，再合并同类项。去括号法则的依据是分配律：括号前是“+”，去括号后各项不变号；括号前是“−”，去括号后各项都变号，因为 a−(b+c)=a+(−1)(b+c)。常见错误有两个：一是负号去括号只变第一项的号；二是合并时把 x² 与 x 当同类项。检验习惯：代入特殊值（如 x=1）验证化简前后是否相等。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同类项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系数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去括号漏变号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14 / 92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代数式与整式加减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化简：3a²b − 2ab + 5 − 2a²b + 3ab − 1。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第一步：找同类项（“两同”标准：字母相同且相同字母的指数相同）：3a²b 与 −2a²b；−2ab 与 3ab；5 与 −1。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第二步：合并同类项，依据逆用分配律（系数相加，字母及指数不变）：(3−2)a²b=a²b；(−2+3)ab=ab；5−1=4。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第三步：按字母次数从高到低排列书写：a²b+ab+4。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化简结果为 a²b+ab+4。检验：取 a=1，b=1，原式=3−2+5−2+3−1=6，化简式=1+1+4=6，代入相等，结果正确。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15 / 92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　代数式与整式加减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先化简，再求值：4x² − 2x + 1 − (3x² − 5x) − 2，其中 x = 1。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16 / 92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一元一次方程与实际应用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 第二章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一件衣服成本价提高 50% 标价，再打 8 折卖，居然还赚了 16 元——成本到底是多少？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52374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引入：商品打折销售里藏着三个量的关系。推导等量关系：标价=成本×(1+提高的幅度)，售价=标价×折扣，利润=售价−成本。把三个式子串起来，利润就能用成本 x 一次表示出来，这正是设未知数列方程的桥梁。解方程的依据是等式性质：移项变号源于“两边同减”，系数化为 1 源于“两边同除”。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解应用题按五字诀“设、列、解、验、答”进行，最容易丢的是“验”：既要检验 x 是否满足方程（数学解），又要检验是否符合实际（实际解，如成本不能为负、人数必须为整数）。示范解法五步板演：去分母、去括号、移项、合并同类项、系数化为 1，每一步都要能说出依据。误区纠正：移项不变号是最高频失分点；打折后利润率的基准是成本而不是标价。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等式性质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移项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移项不变号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17 / 92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一元一次方程与实际应用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某商品按成本价提高 50% 标价，后因促销按标价的 8 折出售，仍获利 16 元。求这件商品的成本价。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第一步（设）：设成本价为 x 元。用字母统一表示各量，便于找等量关系。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第二步（列）：标价为 1.5x 元，售价为 1.5x×0.8 元，依据等量关系“售价−成本=利润”列方程：1.5x×0.8−x=16。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第三步（解）：先算 1.5×0.8=1.2，得 1.2x−x=16，合并同类项得 0.2x=16，两边同除以 0.2（等式性质 2）得 x=80。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5625" y="4620006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7" name="Text 15"/>
          <p:cNvSpPr/>
          <p:nvPr/>
        </p:nvSpPr>
        <p:spPr>
          <a:xfrm>
            <a:off x="655625" y="462000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85393" y="4491990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第四步（验）：代回原情境：成本 80 元，标价 120 元，售价 96 元，利润 96−80=16 元，与题意相符。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09905" y="5205222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20" name="Text 18"/>
          <p:cNvSpPr/>
          <p:nvPr/>
        </p:nvSpPr>
        <p:spPr>
          <a:xfrm>
            <a:off x="811073" y="5269230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这件商品的成本价是 80 元。检验既满足方程（1.2×80−80=16），又符合实际意义，答案成立。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18 / 92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一元一次方程与实际应用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某商品按成本价提高五成标价，再按标价的九折出售，仍获利 35 元。求成本价（五成即 50%）。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19 / 92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　一元一次方程与实际应用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math/math-7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5900" y="1876806"/>
            <a:ext cx="5614650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方程建模五步流程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横向流程图：实际问题→设未知数→找等量关系→列方程→解方程→检验作答，箭头连接，检验一步用强调色并加注“验实际意义”。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20 / 92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· 整式与一元一次方程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同类项看“两同”，合并用分配律系数相加；去括号先看括号前的符号，负号则全部变号。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打折销售三关系式“标价=成本×(1+幅度)、售价=标价×折扣、利润=售价−成本”；五字诀设…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905" y="2882646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9" name="Text 7"/>
          <p:cNvSpPr/>
          <p:nvPr/>
        </p:nvSpPr>
        <p:spPr>
          <a:xfrm>
            <a:off x="811073" y="295579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1073" y="3230118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列方程解：某数的 3 倍比它大 2，写出等量关系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21 / 92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D42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4F6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 · 图形与几何 ｜ 考查：平行判定与性质互逆为证明入门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　几何图形初步与相交线平行线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几何语言与推理的起点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线与角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相交线、平行线与命题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2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　线与角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 第三章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钟面上时针转过 25°18′36″，写成小数是多少度？角度的“进制”和平时计数可不一样。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52374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引入：角的度量单位是度、分、秒。推导换算关系：把 1° 平均分成 60 份，每份是 1′；把 1′ 平均分成 60 份，每份是 1″——六十进制，1°=60′，1′=60″，1°=3600″。大单位化小单位乘 60，小单位化大单位除以 60，方向决定乘除，绝不能按百进制想当然。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线段的表示与作图：尺规作线段等于已知线段、作角平分线都要保留作图痕迹，痕迹是推理的证据。两个常用概念：余角（和为 90°）、补角（和为 180°），性质是“同角（等角）的余角相等、补角相等”，推导只需用等量代换。常见误区：把 0.5° 写成 5′（应为 30′）；认为补角一定是钝角（直角的补角还是直角）。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线段垂直平分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余角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度分秒按百进制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23 / 92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　线与角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①把 32.42° 化成度、分、秒表示；②把 25°18′36″ 化成度。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第一步：①中把 0.42° 化为分，大化小乘 60（依据 1°=60′）：0.42×60=25.2′。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第二步：再把 0.2′ 化为秒（依据 1′=60″）：0.2×60=12″，故 32.42°=32°25′12″。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第三步：②中把秒化回度，小化大除以 3600（依据 1°=3600″）：36″=36÷3600°=0.01°；分化度除以 60：18′=18÷60°=0.3°。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5625" y="4620006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7" name="Text 15"/>
          <p:cNvSpPr/>
          <p:nvPr/>
        </p:nvSpPr>
        <p:spPr>
          <a:xfrm>
            <a:off x="655625" y="462000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85393" y="4491990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第四步：合并得 25°18′36″=25.31°。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09905" y="5205222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20" name="Text 18"/>
          <p:cNvSpPr/>
          <p:nvPr/>
        </p:nvSpPr>
        <p:spPr>
          <a:xfrm>
            <a:off x="811073" y="5269230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32.42°=32°25′12″；25°18′36″=25.31°。验算：0.3°+0.01°=0.31°，两次换算互为逆运算，结果自洽。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24 / 92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　线与角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48.38° 化成度、分、秒；再把 66°36′ 化成度。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25 / 92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相交线、平行线与命题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 第三章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两条平行线被第三条直线所截，图里藏着 F、Z、U 三种“造型”，你能在 5 秒内认出同位角吗？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750058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47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引入三线八角：两条直线被第三条直线所截，同位角成 F 型、内错角成 Z 型、同旁内角成 U 型。识别时只看角的位置关系，与图形摆放方向无关——把图旋转 45°，F 型还是 F 型。对顶角要抓住本质：两直线相交才有，且“对顶角相等”是定理，可以直接当依据使用。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行线的判定与性质是一对互逆命题：判定是“由角定线”——同位角相等（或内错角相等，或同旁内角互补），两直线平行，用来证明平行；性质是“由线定角”——两直线平行，同位角相等、内错角相等、同旁内角互补，用来由平行求角度。方向反了整道题就废了，审题先问自己：已知的是角还是平行？命题由题设和结论两部分组成，改写成“如果……那么……”的形式是规范训练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对顶角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同位角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判定性质用反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26 / 92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相交线、平行线与命题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如图，直线 a∥b，直线 c 与 a、b 相交，∠1 与 ∠2 是同位角，∠1=55°。求 ∠2 的度数，并写出依据。（图见本节图示页）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919222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9192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79120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第一步：识别图形——两条平行线 a、b 被截线 c 所截，∠1 与 ∠2 处于截线同侧、被截线同旁，构成 F 型同位角。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577590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5775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44957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第二步：题目已知“线平行”（a∥b），要求角的度数，属于“由线定角”，选用平行线的性质而非判定。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4235958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42359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410794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第三步：依据“两直线平行，同位角相等”，得 ∠2=∠1=55°。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82117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88518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∠2=55°，依据是平行线的性质“两直线平行，同位角相等”。要点：性质由平行推角、判定由角推平行，本题不能反用。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27 / 92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相交线、平行线与命题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直线 a∥b，直线 c 截 a、b，∠1 与 ∠2 是内错角，∠1=70°。求 ∠2 并写出依据。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28 / 92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　相交线、平行线与命题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math/math-7-3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9471" y="1876806"/>
            <a:ext cx="5107508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平行线判定与性质互逆图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两组图：左“角的关系→线平行”（判定），右“线平行→角的关系”（性质），中间双向箭头标“互逆”；用两条平行线截线三线八角小图各配一组同位角/内错角/同旁内角标记。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29 / 92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· 几何图形初步与相交线平行线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角度是六十进制：度化分乘 60、分化秒乘 60，反过来就除；方向定乘除，不按百进制。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F 型同位角、Z 型内错角、U 型同旁内角；由角定线用判定，由线定角用性质，两者互逆不能混。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905" y="2882646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9" name="Text 7"/>
          <p:cNvSpPr/>
          <p:nvPr/>
        </p:nvSpPr>
        <p:spPr>
          <a:xfrm>
            <a:off x="811073" y="295579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1073" y="3230118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写出“两直线平行，内错角相等”的题设与结论并各用一次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30 / 92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D42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4F6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 · 图形与几何 ｜ 考查：全等判定选择与证明书写是几何基本盘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　三角形与全等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证明的起点：判定条件与书写规范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三角形边角关系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全等三角形判定与角平分线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2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　三角形边角关系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 第四章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4、4、9 能围成一个等腰三角形吗？动手拿三根小棒试一试，你会发现它“合不拢”。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52374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引入三边关系：三角形任意两边之和大于第三边。推导依据是“两点之间线段最短”——第三边是连接两点的第三条路径，必小于折线。速判方法：只需检验“两小边之和是否大于最大边”，如 4+4=8＜9，立刻排除。由此得等价推论：两边之差小于第三边，所以已知两边 a、b 时，第三边 x 满足 |a−b|＜x＜a+b。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内外角的关系由内角和定理推出：三角形内角和为 180°，任一外角与相邻内角互补，因此外角等于与它不相邻的两个内角之和。推导：∠ACD=180°−∠C=∠A+∠B。这条“外角定理”在证明里常用来一步转化角度。常见误区：钝角三角形的高画到了三角形外部就以为画错（垂足在延长线上恰恰是对的）；把外角当成“相邻内角的对顶角”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外角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三边关系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钝角三角形高线位置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32 / 92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　三角形边角关系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△ABC 中，∠A=35°，∠B=75°。求与 ∠C 相邻的外角 ∠ACD 的度数。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第一步：先求内角。依据三角形内角和定理：∠C=180°−35°−75°=70°。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第二步：再求外角。依据外角定理“三角形的一个外角等于与它不相邻的两个内角之和”：∠ACD=∠A+∠B=35°+75°=110°。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第三步：交叉检验：∠ACD 与 ∠C 互补（邻补角定义），180°−70°=110°，两种方法结果一致。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∠ACD=110°。内角和与外角定理两条路径互相印证，计算无误。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33 / 92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　三角形边角关系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等腰三角形的两边长分别为 4 和 9，求它的周长。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34 / 92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全等三角形判定与角平分线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 第四章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只用“三条边对应相等”能判定全等，“两边和其中一边的对角相等”行不行？剪两个纸片三角形立刻见分晓。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52374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引入判定定理：SSS、SAS、ASA、AAS 四条是有效判定，而 SSA（边边角）与 AAA 不能判定全等——SSA 的反例：固定两边和其中一边的对角，能摆出两个形状不同的三角形，这就是规范的教材通行说法。使用时盯住“夹角”：SAS 的角必须是两边的夹角。角平分线性质定理：角平分线上的点到角两边的距离相等，使用前提是先作出两条垂线段。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题找条件的顺序：先抄已知，再挖隐含条件——公共边、公共角、对顶角、等角加公共角。书写规范步步有依据：判定方法写在括号里，对应顶点字母按顺序写。示范：题目同时给两组边和“一角相等”时，先检查这个角是不是夹角，不是就想办法通过等式加减把它变成夹角。误区：把 SSA 侥幸当判定用，或在两图中用不同依据硬凑。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SAS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角平分线性质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误用 SSA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35 / 92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全等三角形判定与角平分线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已知：AB=AD，AC=AE，∠BAD=∠CAE。求证：△ABC≌△ADE。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第一步：转化角度（关键一步）。∠BAD 与 ∠CAE 不在三角形内部，两边同加公共角 ∠DAC（等式性质），得 ∠BAD+∠DAC=∠CAE+∠DAC，即 ∠BAC=∠DAE。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第二步：凑判定条件：AB=AD（已知），∠BAC=∠DAE（已证），AC=AE（已知）——两边及其夹角对应相等。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第三步：依据 SAS 得 △ABC≌△ADE，注意对应顶点 A 对 A、B 对 D、C 对 E，书写顺序一致。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证明成立：通过加公共角把已知角转化为夹角，再用 SAS 判定全等。方法要点：隐含的公共角 ∠DAC 是打通条件的桥梁。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36 / 92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全等三角形判定与角平分线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如图，线段 AD 与 BC 相交于点 O，OA=OD，OB=OC。求证：△AOB≌△DOC。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37 / 92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　全等三角形判定与角平分线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math/math-8-4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3762" y="1876806"/>
            <a:ext cx="5498925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五种全等判定正误对照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两列表格风格图：左列 SSS/SAS/ASA/AAS 四个有效判定（绿色对勾），右列 AAA 与 SSA 两个无效（红色叉并配两个不同形状三角形反例示意）。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38 / 92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· 三角形与全等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三边关系速判“两小边之和＞最大边”；外角等于不相邻两内角之和；等腰问题先分类再用三边关系筛…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四个有效判定 SSS、SAS、ASA、AAS，SSA 与 AAA 一律无效；证全等先抄已知…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905" y="2882646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9" name="Text 7"/>
          <p:cNvSpPr/>
          <p:nvPr/>
        </p:nvSpPr>
        <p:spPr>
          <a:xfrm>
            <a:off x="811073" y="295579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1073" y="3230118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AB=AD、AC=AE、∠BAD=∠CAE，证 △ABC≌△ADE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39 / 92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D42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4F6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 · 数与代数 ｜ 考查：乘法公式与因式分解互逆意识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　轴对称与整式乘法因式分解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对称变换与结构还原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轴对称与等腰三角形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整式乘法与因式分解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2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轴对称与等腰三角形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 第五章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等腰三角形告诉你“一个角是 100°”，另两个角是多少？如果改成 40°，答案还是一个吗？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750058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47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等腰三角形的性质：两底角相等，推导依据是等边对等角（可由全等或轴对称说明）。顶角平分线、底边上的中线、底边上的高“三线合一”，但必须先确认三角形是等腰且线在底边上，条件不能省略。已知一角求其余角时先分类：给的角可能是顶角也可能是底角；若给的是钝角或直角，只能当顶角（两个钝角底角之和会超过 180°），这一步排增解。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轴对称的应用：最短路径问题（将军饮马）。推导思路：直线 l 同侧两点 A、B，在 l 上找点 P 使 AP+PB 最小。作 A 关于 l 的对称点 A′，则 AP=A′P（垂直平分线性质），AP+PB 转化为 A′P+PB；再依据“两点之间线段最短”，当 A′、P、B 共线时和最小，最小值就是 A′B。化折为直是把对称变换当工具，而不是无来由地添辅助线。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对称轴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三线合一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顶角分类漏解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41 / 92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轴对称与等腰三角形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等腰三角形的一个内角是 100°，求另外两个内角的度数。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第一步：先判断这个角的“身份”。若 100° 是底角，则两个底角之和为 200°，超过内角和 180°（三角形内角和定理），矛盾。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第二步：故 100° 只能是顶角。依据等腰三角形两底角相等与内角和定理，底角=(180°−100°)÷2。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第三步：计算得底角均为 40°。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另外两个内角都是 40°。要点：钝角只能当顶角，先排除增解再套公式；若把 100° 当底角就直接掉进内角和矛盾。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42 / 92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轴对称与等腰三角形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等腰三角形的一个角是 40°，求另外两个角（写出完整分类）。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43 / 92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　轴对称与等腰三角形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math/math-8-5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1312" y="1876806"/>
            <a:ext cx="4763825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将军饮马最短路径模型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直线 l 与同侧两点 A、B：作 A 关于 l 的对称点 A'，连 A'B 交 l 于 P，用虚线展示“化折为直”，标注 AP+PB=A'P+B'P 最小。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44 / 92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整式乘法与因式分解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 第五章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不用竖式，口算 102×98——把 102 看成 100+2，你能发现什么结构？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976372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702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引入：从分配律推导两个乘法公式。(a+b)(a−b)=a²−b²，推导：展开合并中间两项互为相反数相消；(a+b)²=a²+2ab+b²，推导：按多项式乘法展开共四项、中间两项合并。几何直观：边长 a 的正方形挖去边长 b 的角，重新拼成长 (a+b)、宽 (a−b) 的长方形，面积相等，这就是平方差公式的图形解释。公式认结构不认长相：a、b 可以是数、字母甚至多项式，如 (2x+3y)(2x−3y)=4x²−9y²。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因式分解与整式乘法互为逆变形，方向相反：乘法是合、分解是分。分解步骤口诀“一提二套三查”：先提公因式（每一项都含的系数与字母），再套公式，最后检查每个因式能否继续分解——分解要彻底。示范 3m³−27m：先提 3m 得 m²−9，再套平方差。最高频错误：(a+b)²=a²+b²，漏了中间项 2ab，推导过程再走一遍即可自纠。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平方差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完全平方式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(a+b)²=a²+b²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45 / 92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整式乘法与因式分解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分解因式：3m³ − 27m。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第一步：提公因式（各项系数的最大公约数是 3，字母最低次幂是 m，依据提公因式法）：3m³−27m=3m(m²−9)。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第二步：套公式。m²−9=m²−3²，符合平方差公式 a²−b²=(a+b)(a−b) 的结构，得 (m+3)(m−3)。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第三步：检查彻底性：(m+3) 与 (m−3) 都不能再分解，最终结果 3m(m+3)(m−3)。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3m³−27m=3m(m+3)(m−3)。验算（乘回去）：3m(m+3)(m−3)=3m(m²−9)=3m³−27m，与原式一致。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46 / 92</a:t>
            </a:r>
            <a:endParaRPr lang="en-US" sz="11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整式乘法与因式分解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分解因式：x³ − 16x。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47 / 92</a:t>
            </a:r>
            <a:endParaRPr lang="en-US" sz="11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　整式乘法与因式分解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math/math-8-5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2014" y="1876806"/>
            <a:ext cx="614242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平方差公式的几何解释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边长 a+b 的正方形挖去边长 b 的角（左上），重新拼合为 (a+b)(a−b) 长方形；两图并排，标注面积相等 a²−b²。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48 / 92</a:t>
            </a:r>
            <a:endParaRPr lang="en-US" sz="11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轴对称与整式乘法因式分解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等腰求角先分类，钝角只能是顶角；“三线合一”须等腰才成立；最短路径靠对称化折为直，依据是两…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乘法公式认结构：平方差消中间项、完全平方多 2ab；因式分解逆着用，“一提二套三查”查彻底。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905" y="2882646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9" name="Text 7"/>
          <p:cNvSpPr/>
          <p:nvPr/>
        </p:nvSpPr>
        <p:spPr>
          <a:xfrm>
            <a:off x="811073" y="295579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1073" y="3230118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分解因式 2x³−8x 并说明两步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49 / 92</a:t>
            </a:r>
            <a:endParaRPr lang="en-US" sz="11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D42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4F6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 · 数与代数 ｜ 考查：分式方程验根与一次函数图象性质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第六章　分式与实数、一次函数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字母进分母；函数登场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二次根式、实数与分式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一次函数的图象与应用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2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　二次根式、实数与分式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 第六章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解整式方程从不用“检验”，为什么解分式方程却必须验根？差就差在分母上。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750058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47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引入：分母中含有字母的方程叫分式方程。解法是“去分母化整”：两边同乘最简公分母，依据是分式的基本性质与等式性质 2。最简公分母取各分母系数的最小公倍数与所有因式最高次幂的积，如 1/(x−1) 与 2/(x+1) 的公分母是 (x−1)(x+1)。化成整式方程后按移项、合并、系数化为 1 求解。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为什么必须验根：去分母时对两边同乘了含未知数的式子，若求出的根恰好使公分母为 0，相当于两边乘了 0，方程被“放大”了，这个根不是原方程的解，叫增根——增根是变形过程的副产品，不是计算错。验根两步：代入最简公分母看是否为 0，再代回原方程看左右是否相等。二次根式部分同步掌握最简二次根式两条件：被开方数不含分母、不含能开尽方的因数。误区：√(a²) 直接等于 a，正确结论是 √(a²)=|a|，须讨论 a 的符号。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最简二次根式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增根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√(a²)=|a| 丢讨论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51 / 92</a:t>
            </a:r>
            <a:endParaRPr lang="en-US" sz="11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　二次根式、实数与分式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解分式方程：1/(x−1) = 2/(x+1)。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第一步：确定最简公分母 (x−1)(x+1)，两边同乘它去分母（依据分式基本性质、等式性质 2），得整式方程 x+1=2(x−1)。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第二步：解整式方程：去括号 x+1=2x−2，移项（移项变号，依据等式性质）得 −x=−3，即 x=3。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第三步：检验增根：x=3 时 (x−1)(x+1)=2×4=8≠0，公分母不为零；代回原方程左边 1/2，右边 2/4=1/2，左右相等。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x=3。经检验 x=3 不是增根且满足原方程，是原分式方程的解。要点：分式方程的解必须带检验过程才算完整。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52 / 92</a:t>
            </a:r>
            <a:endParaRPr lang="en-US" sz="11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　二次根式、实数与分式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解分式方程 2/(x−3) = 3/(x−2)，并写出完整检验过程。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53 / 92</a:t>
            </a:r>
            <a:endParaRPr lang="en-US" sz="11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一次函数的图象与应用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 第六章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两个同学分别只告诉你函数图象经过的两个点，你能不能把整条直线“还原”出来？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976372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702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引入待定系数法：一次函数 y=kx+b（k≠0）里有两个待定系数，图象上每个点都满足解析式，所以已知两点即可列二元一次方程组求出 k、b——先设式、再代入、后解组，三步定型。推导 k、b 的图象语言：k 决定升降，k＞0 直线上升（y 随 x 增大而增大），k＜0 下降；b 决定与 y 轴的交点 (0, b)，也叫截距。|k| 越大直线越陡。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应用题常用方案比较：两家的收费都写成一次函数，找“分段点”——令两个函数值相等解出 x，这一点前后谁更省钱发生对调，画两条直线交点即直观呈现。提醒三件事：自变量取实际范围（时间、件数非负）；k 的正负号与题意（每增加一件多收还是优惠）要对应；答复杂问题时在交点处比较后再下结论。误区：把 k 的意义记反、忘记 b 是 x=0 时的函数值。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待定系数法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分段函数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k 意义记反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54 / 92</a:t>
            </a:r>
            <a:endParaRPr lang="en-US" sz="11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一次函数的图象与应用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一次函数的图象经过点 (1, 3) 和 (−1, −1)，求这个一次函数的解析式。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第一步（设）：设解析式为 y=kx+b（k≠0），因为图象是直线且没有其他信息表明是正比例函数。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第二步（代）：两点坐标代入解析式（图象上的点满足解析式），得方程组 k+b=3，−k+b=−1。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第三步（解）：两式相加（加减消元）得 2b=2，b=1；回代 k+b=3 得 k=2。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5625" y="4620006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7" name="Text 15"/>
          <p:cNvSpPr/>
          <p:nvPr/>
        </p:nvSpPr>
        <p:spPr>
          <a:xfrm>
            <a:off x="655625" y="462000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85393" y="4491990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第四步（回写与检验）：y=2x+1。把两点代回：x=1 时 2+1=3 ✓；x=−1 时 −2+1=−1 ✓。k=2＞0，图象上升，y 随 x 增大而增大。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09905" y="5205222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20" name="Text 18"/>
          <p:cNvSpPr/>
          <p:nvPr/>
        </p:nvSpPr>
        <p:spPr>
          <a:xfrm>
            <a:off x="811073" y="5269230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解析式为 y=2x+1（k=2＞0，y 随 x 增大而增大）。两点代回均满足，结果成立。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55 / 92</a:t>
            </a:r>
            <a:endParaRPr lang="en-US" sz="11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一次函数的图象与应用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一次函数的图象经过点 (1, 5) 和 (−1, 1)，求解析式，并说明 y 随 x 增大如何变化。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56 / 92</a:t>
            </a:r>
            <a:endParaRPr lang="en-US" sz="11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　一次函数的图象与应用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math/math-8-6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8803" y="1876806"/>
            <a:ext cx="5848843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k、b 对一次函数图象的影响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同一直角坐标系画 y=2x+1（蓝）、y=−2x+1（红）、y=2x−2（灰虚线），标注每条线的走向与 y 轴交点，右侧图例说明 k 决定升降、b 决定截距。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57 / 92</a:t>
            </a:r>
            <a:endParaRPr lang="en-US" sz="11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第六章 · 分式与实数、一次函数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分式方程先去分母化整再求解，公分母可能被乘成 0，所以必须验根；√(a²)=|a|，符号要…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待定系数三步“设、代、解”；k 定升降、b 定 y 轴交点；方案比较先令两函数相等找分段点。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905" y="2882646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9" name="Text 7"/>
          <p:cNvSpPr/>
          <p:nvPr/>
        </p:nvSpPr>
        <p:spPr>
          <a:xfrm>
            <a:off x="811073" y="295579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1073" y="3230118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解分式方程 1/(x−1)=2/(x+1) 并检验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58 / 92</a:t>
            </a:r>
            <a:endParaRPr lang="en-US" sz="11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D42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4F6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 · 数与代数 ｜ 考查：判别式、图象与方程关系、最值应用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　一元二次方程与二次函数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降次思想与抛物线的数形结合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一元二次方程解法与判别式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二次函数图象性质与应用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2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　一元二次方程解法与判别式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 第七章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x²−4x−5=0 能不能像 x²=9 那样直接开平方？不能的话，把它“拆”成两个因式相乘试试。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750058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47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引入：只含一个未知数且最高次数为 2 的方程是一元二次方程，一般形式 ax²+bx+c=0（a≠0），前提 a≠0 必须先判——若 a=0 就退化成一次方程。解法选法顺序：形如 (x+m)²=n（n≥0）先直接开平方；能十字相乘的用因式分解法；其余用配方法推出公式法。推导求根公式：对 ax²+bx+c=0 配方，得 (x+b/2a)²=(b²−4ac)/4a²，要开方必须有 b²−4ac≥0。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判别式 Δ=b²−4ac 判根三情形：Δ＞0 两个不相等实根，Δ=0 两个相等实根，Δ＜0 无实数根。根与系数关系（韦达定理）：x₁+x₂=−b/a，x₁x₂=c/a，推导来自两根公式的加与乘。常见误区：用公式前不化成一般形式；忘记 a≠0 前提；十字相乘常数项符号配错——拆分后先乘回验算再写答案。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判别式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根与系数关系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a≠0 前提漏判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60 / 92</a:t>
            </a:r>
            <a:endParaRPr lang="en-US" sz="11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　一元二次方程解法与判别式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解方程 x² − 4x − 5 = 0，并用根与系数的关系检验。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第一步：观察系数可十字相乘（−5 拆成 −5 与 1，且 −5+1=−4 恰为一次项系数），因式分解得 (x−5)(x+1)=0。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第二步：依据“两个因式的积为零，则至少一个因式为零”（零乘性质），得 x−5=0 或 x+1=0，所以 x₁=5，x₂=−1。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第三步：韦达检验：x₁+x₂=5+(−1)=4，与 −b/a=−(−4)/1=4 一致；x₁x₂=5×(−1)=−5，与 c/a=−5 一致。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x₁=5，x₂=−1。两根之和、两根之积均与根与系数关系吻合，解正确。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61 / 92</a:t>
            </a:r>
            <a:endParaRPr lang="en-US" sz="11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　一元二次方程解法与判别式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解方程 x² − 6x + 8 = 0，并用根与系数的关系检验。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62 / 92</a:t>
            </a:r>
            <a:endParaRPr lang="en-US" sz="11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　二次函数图象性质与应用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 第七章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抛物线 y=x² 向右平移 2 格再向上抬 1 格，解析式怎么变？“左加右减”到底是给谁加减？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750058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47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引入：二次函数 y=ax²+bx+c 通过配方可化为顶点式 y=a(x−h)²+k，三要素一次读出：开口方向与大小看 a（a＞0 开口向上、有最小值；a＜0 向下、有最大值），对称轴 x=h，顶点 (h, k)。推导配方过程：提出 a、括号内加上并减去“一次项系数一半的平方”，注意 a 要乘进补偿项里，这是最易错的代数细节。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平移法则“左加右减自变量，上加下减常数项”：y=x² 右移 2 得 y=(x−2)²——对 x 而言是减；再上移 1 得 y=(x−2)²+1。检验口诀：把新顶点代回解析式必须成立。实际最值应用（如利润、抛物击靶）三步：设自变量并写取值范围、配方求最值、回答实际问题。误区：平移方向记反（向右平移 h，x 就减 h）；求最值忘了先写 x 的实际范围。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顶点式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开口方向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平移方向记反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63 / 92</a:t>
            </a:r>
            <a:endParaRPr lang="en-US" sz="11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　二次函数图象性质与应用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用配方法把 y = −2x² + 8x − 5 化为顶点式，说出三要素，并求函数的最大值。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第一步：提出二次项系数 −2（只对括号内配方）：y=−2(x²−4x)−5。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第二步：括号内加上并减去“一次项系数一半的平方”，即 (−4/2)²=4：y=−2[(x−2)²−4]−5。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第三步：把 −2 乘进补偿项：y=−2(x−2)²+8−5=−2(x−2)²+3。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5625" y="4620006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7" name="Text 15"/>
          <p:cNvSpPr/>
          <p:nvPr/>
        </p:nvSpPr>
        <p:spPr>
          <a:xfrm>
            <a:off x="655625" y="462000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85393" y="4491990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第四步：读三要素：a=−2＜0 开口向下，对称轴 x=2，顶点 (2, 3)；故当 x=2 时函数取得最大值 3。验算：展开 −2(x−2)²+3=−2x²+8x−8+3=−2x²+8x−5，与原式一致。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09905" y="5205222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20" name="Text 18"/>
          <p:cNvSpPr/>
          <p:nvPr/>
        </p:nvSpPr>
        <p:spPr>
          <a:xfrm>
            <a:off x="811073" y="5269230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顶点式 y=−2(x−2)²+3；开口向下、对称轴 x=2、顶点 (2,3)；最大值为 3。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64 / 92</a:t>
            </a:r>
            <a:endParaRPr lang="en-US" sz="11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　二次函数图象性质与应用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求抛物线 y = x² − 4x + 1 的顶点坐标、对称轴，并说出最小值。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65 / 92</a:t>
            </a:r>
            <a:endParaRPr lang="en-US" sz="11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　二次函数图象性质与应用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math/math-9-7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002" y="1876806"/>
            <a:ext cx="5656446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二次函数三要素与平移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坐标系画 y=x²（灰虚线）与 y=(x−2)²+1（蓝实线），标出顶点 (2,1)、对称轴 x=2 虚线、开口箭头；用箭头示意先右移 2 再上移 1；标注 a&gt;0 开口向上。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66 / 92</a:t>
            </a:r>
            <a:endParaRPr lang="en-US" sz="11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· 一元二次方程与二次函数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解一元二次方程先看形选法：开方、分解、配方公式递进；Δ 判根三情形，韦达定理拿来当免费验算。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配方先提 a 再补“一半平方”，顶点式直读三要素；平移口诀“左加右减”作用在 x 上，最值…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905" y="2882646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9" name="Text 7"/>
          <p:cNvSpPr/>
          <p:nvPr/>
        </p:nvSpPr>
        <p:spPr>
          <a:xfrm>
            <a:off x="811073" y="295579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1073" y="3230118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 y=2(x−1)²−3 三要素并说明平移路径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67 / 92</a:t>
            </a:r>
            <a:endParaRPr lang="en-US" sz="11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D42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4F6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 · 图形与几何 ｜ 考查：垂径定理计算与切线证明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　圆与旋转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第三种全等变换与圆的性质核心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旋转与中心对称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圆的性质与直线圆位置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2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　旋转与中心对称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 第八章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风车转过一个角度后与自身重合，钟表指针转过一圈的一半，这两种“转”有什么共同点？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750058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47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旋转三要素：旋转中心、旋转方向、旋转角——定位一个旋转变换三个缺一不可，作图时先定点、再定角、后找对应点。性质推导：对应点到旋转中心的距离相等（旋转不改变图形形状大小），对应点与旋转中心连线的夹角等于旋转角。作图示范：连 OA，以 O 为圆心、OA 为半径画弧，再按旋转角量出方向找到 A′。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中心对称是旋转角为 180° 的特例：把一个图形绕某点旋转 180° 能与另一图形重合，就叫关于该点中心对称。对应点连线经过对称中心且被平分——这是检验和作图的依据。辨析两个易混概念：“中心对称”说的是两个图形之间的关系，“中心对称图形”说的是一个图形自身绕中心转 180° 与自身重合（如平行四边形）。在坐标系里，绕原点旋转 180° 等价于关于原点中心对称，坐标变为 (−x, −y)。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旋转角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中心对称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两概念混淆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69 / 92</a:t>
            </a:r>
            <a:endParaRPr lang="en-US" sz="11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　旋转与中心对称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在平面直角坐标系中，点 A(2, −3) 绕原点 O 旋转 180°，得到点 A′。求 A′ 的坐标，并说明理由。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第一步：明确旋转三要素——旋转中心 O、旋转角 180°（方向在 180° 时结果相同）。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第二步：对接概念：绕原点旋转 180° 等价于 A 与 A′ 关于原点成中心对称（中心对称定义）。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第三步：套用中心对称坐标法则（对应点连线过原点且被平分，横、纵坐标互为相反数）：A′(−2, 3)。检验：线段 AA′ 的中点坐标为 ((2−2)/2, (−3+3)/2)=(0,0)，恰为原点 O，法则成立。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A′(−2, 3)。理由：绕原点旋转 180° 即关于原点中心对称，坐标取相反数；中点检验通过。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70 / 92</a:t>
            </a:r>
            <a:endParaRPr lang="en-US" sz="11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　旋转与中心对称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求点 B(−1, 4) 绕原点旋转 180° 后的坐标，并说明为什么这个变换是中心对称变换。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71 / 92</a:t>
            </a:r>
            <a:endParaRPr lang="en-US" sz="11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　圆的性质与直线圆位置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 第八章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圆的半径 5，一条弦长 8，圆心到这条弦的距离是多少？不量，用定理算出来。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52374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垂径定理：垂直于弦的直径平分弦，并且平分弦所对的两条弧。推导依据是圆的轴对称性——任何过圆心的直线都是对称轴。使用模型固定为“半径、弦心距、半弦”构成的直角三角形：过圆心作弦的垂线，得半弦=弦长的一半，再用勾股定理。两个条件（垂直、过圆心）缺一不可，随意连线就失去定理资格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直线与圆的位置关系用 d 与 r 比大小判定：d＞r 相离、d=r 相切（唯一公共点叫切点）、d＜r 相交。切线的判定两条路：已知“过半径外端”就证垂直（连半径证垂直），已知“垂直”就证过半径外端（作垂直证半径）——方向取决于题目给了哪个条件。误区：垂径定理只记“平分弦”忘了前提是直径垂直于弦；把弦心距直接当半径用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垂径定理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切线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垂径两条件缺一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72 / 92</a:t>
            </a:r>
            <a:endParaRPr lang="en-US" sz="11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　圆的性质与直线圆位置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⊙O 的半径为 5，弦 AB = 8。求圆心 O 到弦 AB 的距离。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第一步：构造模型——过 O 作 OD⊥AB，垂足为 D（作出弦心距，激活垂径定理的前提“垂直”）。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第二步：依据垂径定理（垂直于弦的直径平分弦）：D 为 AB 中点，AD=AB/2=4。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第三步：连接 OA，在 Rt△OAD 中用勾股定理：OD=√(OA²−AD²)=√(5²−4²)=√9=3。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圆心 O 到弦 AB 的距离为 3。模型要点：“半径、弦心距、半弦”构成直角三角形，任知其二可求第三。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73 / 92</a:t>
            </a:r>
            <a:endParaRPr lang="en-US" sz="11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　圆的性质与直线圆位置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⊙O 的半径为 13，弦 AB = 24。求 O 到 AB 的距离，并写出所用定理。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74 / 92</a:t>
            </a:r>
            <a:endParaRPr lang="en-US" sz="11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　圆的性质与直线圆位置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math/math-9-8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7673" y="1876806"/>
            <a:ext cx="2176703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垂径定理模型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 O 半径 5、弦 AB=8：作 OC⊥AB 于 D，标出 OD（弦心距）、AD=4，虚线连 OA 构成直角三角形，右侧写勾股计算 OD=3；同心标注圆心 O。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math/math-9-8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615" y="4089654"/>
            <a:ext cx="2802819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直线与圆三种位置关系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三个小圆并排：相离（d&gt;r）、相切（d=r，标切点与切线）、相交（d&lt;r），每个圆下标注 d 与 r 的数量关系比较式。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75 / 92</a:t>
            </a:r>
            <a:endParaRPr lang="en-US" sz="11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· 圆与旋转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旋转三要素定点定角找对应点；180° 的旋转就是中心对称，坐标绕原点对称取相反数；中心对称…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垂径定理抓模型“半径、弦心距、半弦”勾股相连；直线与圆看 d 与 r：大于相离、等于相切、…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905" y="2882646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9" name="Text 7"/>
          <p:cNvSpPr/>
          <p:nvPr/>
        </p:nvSpPr>
        <p:spPr>
          <a:xfrm>
            <a:off x="811073" y="295579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1073" y="3230118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半径 5 弦 8 求弦心距并说定理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76 / 92</a:t>
            </a:r>
            <a:endParaRPr lang="en-US" sz="11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D42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4350" y="274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4F6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609905" y="822960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84225" y="6766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 · 统计与概率 ｜ 考查：相似判定、解直角三角形应用、树状图求概率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371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　相似、锐角三角函数与统计概率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905" y="23774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比例放缩、边角定量与随机世界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2785" y="3200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图形的相似与位似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2785" y="358444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锐角三角函数与解直角三角形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2785" y="396849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</a:t>
            </a:r>
            <a:pPr indent="0" marL="0">
              <a:buNone/>
            </a:pPr>
            <a:r>
              <a:rPr lang="en-US" sz="15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概率初步与数据分析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905" y="5806440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 3 节 ｜ 每节：讲解 → 例题 → 练习</a:t>
            </a:r>
            <a:endParaRPr lang="en-US" sz="11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　图形的相似与位似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 第九章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把一张照片放大后，形状没变、大小变了——面积是跟着边长“一次方”还是“平方”变？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750058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47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引入相似三角形的判定：平行于三角形一边的直线截其他两边，所得三角形与原三角形相似——由此派生出两个基本图形：A 字型（小三角形嵌在大三角形顶部）与 8 字型（两三角形顶点相对），识别时先找平行线再找公共角。对应关系按“长对长、短对短”定，不能凭位置猜。相似比为对应边的比，书写时统一“前比后”顺序。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核心性质：对应角相等、对应边成比例之外，周长比等于相似比，面积比等于相似比的平方——推导：面积=底×高，底与高各按相似比缩放，乘起来就是比的平方。这是计算题最大失分点：面积不能按相似比一次方算。位似是特殊的相似：对应点连线交于位似中心，坐标变化乘位似比 k（k 可正可负，负号表示反向）。常见误区：A 字、8 字图形里用错对应边；面积比开方与平方混用。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相似比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位似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面积比开方混用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78 / 92</a:t>
            </a:r>
            <a:endParaRPr lang="en-US" sz="11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　图形的相似与位似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 △ABC ∽ △DEF，相似比为 2 : 3，且 △ABC 的面积为 12。求 △DEF 的面积。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第一步：依据“相似三角形的面积比等于相似比的平方”，得 S△ABC : S△DEF = 2² : 3² = 4 : 9（注意是平方，不是 2 : 3）。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第二步：设 △DEF 的面积为 S，列比例 12 : S = 4 : 9（比例基本性质：内项之积等于外项之积）。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第三步：解得 4S = 108，S = 27。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△DEF 的面积为 27。要点：相似比 2:3 时面积比 4:9，若按 12×(3/2)=18 就错在漏了平方。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79 / 92</a:t>
            </a:r>
            <a:endParaRPr lang="en-US" sz="11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　图形的相似与位似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两个相似三角形的相似比为 2 : 5，其中较小三角形的面积为 8，求较大三角形的面积。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80 / 92</a:t>
            </a:r>
            <a:endParaRPr lang="en-US" sz="11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　图形的相似与位似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math/math-9-9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9258" y="1876806"/>
            <a:ext cx="4887933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相似基本图形：A 字型与 8 字型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左右两图：左为 DE∥BC 的 A 字型（△ADE 嵌在 △ABC 顶部），右为 DE∥BC 的 8 字型（两三角形顶点相对），都标出对应角与比例线段。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81 / 92</a:t>
            </a:r>
            <a:endParaRPr lang="en-US" sz="11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　锐角三角函数与解直角三角形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 第九章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站在操场测旗杆，不必爬上去——一个 30° 的角、一段 30 米的距离，旗杆高度就“算”出来了。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976372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702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引入：在直角三角形中，锐角三角函数定义为三边之比：sin A=对边/斜边，cos A=邻边/斜边，tan A=对边/邻边——定义只与角的大小有关，与三角形大小无关（推导：相似三角形对应边成比例）。特殊角数值必须记牢：sin30°=1/2、tan30°=√3/3、sin45°=cos45°=√2/2、tan45°=1、sin60°=√3/2、tan60°=√3。sin 与 cos 是高频混淆点，抓“对边”还是“邻边”逐一核对。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解直角三角形应用题画图四步：①画示意图，把实际问题抽象成直角三角形（楼底、地面、视线）；②标已知量与仰角（仰角是视线在水平线上方、从水平线向上量）；③选函数——已知邻边求对边用 tan，已知斜边用 sin；④代入计算并按实际取近似、写单位。误区：仰角从竖直方向量起（错）；结果不带单位或不取近似。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仰角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特殊角三角值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sin 与 cos 记混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82 / 92</a:t>
            </a:r>
            <a:endParaRPr lang="en-US" sz="11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　锐角三角函数与解直角三角形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在地面上一点 A 测得某楼房顶 C 的仰角为 30°，A 到楼房底部 D 的水平距离为 30 米。求楼高 CD（结果保留根号，再取近似值，精确到 0.1 米）。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919222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9192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79120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第一步：构造直角三角形——楼 CD 垂直于地面，∠ADC=90°；仰角 ∠CAD=30°（从水平线 AD 向上量到视线 AC），已知 AD=30。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577590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5775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44957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第二步：选三角函数：已知邻边 AD、求对边 CD，依据正切定义 tan A=对边/邻边，用 tan30°=CD/AD。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4235958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42359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410794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第三步：代入计算：CD=AD·tan30°=30×(√3/3)=10√3≈17.3 米（特殊角值 tan30°=√3/3）。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82117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88518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楼高 CD=10√3 米≈17.3 米。要点：选函数先问“已知哪条边、求哪条边”；结果带单位并按题意取近似。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83 / 92</a:t>
            </a:r>
            <a:endParaRPr lang="en-US" sz="11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　锐角三角函数与解直角三角形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在同一点测得另一塔顶的仰角为 45°，水平距离 25 米，求塔高。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84 / 92</a:t>
            </a:r>
            <a:endParaRPr lang="en-US" sz="11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　锐角三角函数与解直角三角形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math/math-9-9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365" y="1876806"/>
            <a:ext cx="6907720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解直角三角形测量应用模型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地面水平线、建筑物 CD 垂直地面，测角仪在 A 处标仰角 α 虚线到楼顶 C，标出 AC 视线、水平距离 AD；右侧公式块：CD = AD·tanα。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85 / 92</a:t>
            </a:r>
            <a:endParaRPr lang="en-US" sz="11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　概率初步与数据分析 · 讲解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 第九章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75638"/>
            <a:ext cx="7818120" cy="731520"/>
          </a:xfrm>
          <a:prstGeom prst="roundRect">
            <a:avLst>
              <a:gd name="adj" fmla="val 6250"/>
            </a:avLst>
          </a:prstGeom>
          <a:solidFill>
            <a:srgbClr val="F2E3DC"/>
          </a:solidFill>
          <a:ln/>
        </p:spPr>
      </p:sp>
      <p:sp>
        <p:nvSpPr>
          <p:cNvPr id="6" name="Text 4"/>
          <p:cNvSpPr/>
          <p:nvPr/>
        </p:nvSpPr>
        <p:spPr>
          <a:xfrm>
            <a:off x="811073" y="1757934"/>
            <a:ext cx="7415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　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“抛两枚硬币出现一正一反”和“出现两个正面”，凭直觉哪个概率大？很多人答错。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2535174"/>
            <a:ext cx="7818120" cy="2523744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5937" y="2681478"/>
            <a:ext cx="7315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引入：等可能事件的概率 P(A)=事件 A 包含的结果数 / 试验的全部等可能结果数，前提是每个结果等可能。树状图是列举的工具：第一层画第一次试验的所有可能，第二层接着画第二次——它的价值在于保证“不重不漏”，漏一种结果概率就错。直接凭直觉“正正、反反、一正一反各三分之一”是错的，因为一正一反其实占两个基本结果。</a:t>
            </a:r>
            <a:endParaRPr lang="en-US" sz="135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举完再数：分子是所求事件包含的基本结果数，分母是总数，最后约分。数据分析部分：平均数反映平均水平，方差反映波动大小，公式为各方差与平均数之差的平方的平均（先“离差”再“平方”再“平均”），方差越小越稳定；比较稳定性必须结合语境——选投篮手看稳定性，比增长幅度看平均。误区：把互斥事件当独立事件连乘；方差只比大小不看单位语境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02345" y="1675638"/>
            <a:ext cx="287944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66937" y="174879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6937" y="2023110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树状图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6937" y="2352294"/>
            <a:ext cx="255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方差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02345" y="2955798"/>
            <a:ext cx="2879446" cy="1060704"/>
          </a:xfrm>
          <a:prstGeom prst="roundRect">
            <a:avLst>
              <a:gd name="adj" fmla="val 4310"/>
            </a:avLst>
          </a:prstGeom>
          <a:solidFill>
            <a:srgbClr val="F2E3D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6937" y="302895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6937" y="3303270"/>
            <a:ext cx="25502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互斥当独立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86 / 92</a:t>
            </a:r>
            <a:endParaRPr lang="en-US" sz="11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　概率初步与数据分析 · 例题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分步解析（教师带练）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693926"/>
            <a:ext cx="1097188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7649" y="1785366"/>
            <a:ext cx="104963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　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同时抛掷两枚均匀的硬币，求“恰好一枚正面朝上、一枚反面朝上”的概率。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5625" y="2644902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8" name="Text 6"/>
          <p:cNvSpPr/>
          <p:nvPr/>
        </p:nvSpPr>
        <p:spPr>
          <a:xfrm>
            <a:off x="655625" y="26449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5393" y="2516886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第一步：画树状图列举全部结果（保证等可能且不重不漏）：第一枚正、反两支，第二枚各有正、反两支，得 (正,正)、(正,反)、(反,正)、(反,反) 共 4 个基本结果。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5625" y="3303270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5" y="3303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5393" y="3175254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第二步：确定所求事件包含的结果：“一正一反”对应 (正,反) 与 (反,正) 共 2 个。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5625" y="3961638"/>
            <a:ext cx="310896" cy="310896"/>
          </a:xfrm>
          <a:prstGeom prst="ellipse">
            <a:avLst/>
          </a:prstGeom>
          <a:solidFill>
            <a:srgbClr val="285C94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5" y="3961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5393" y="3833622"/>
            <a:ext cx="104232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第三步：依据等可能事件概率公式：P=2/4=1/2。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4546854"/>
            <a:ext cx="10971886" cy="914400"/>
          </a:xfrm>
          <a:prstGeom prst="roundRect">
            <a:avLst>
              <a:gd name="adj" fmla="val 5000"/>
            </a:avLst>
          </a:prstGeom>
          <a:solidFill>
            <a:srgbClr val="E4EAF1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3" y="4610862"/>
            <a:ext cx="105695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解答　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P(一正一反)=1/2。澄清误区：它不是 1/3——(正,反) 与 (反,正) 是两个不同的基本结果，各占 1/4。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87 / 92</a:t>
            </a:r>
            <a:endParaRPr lang="en-US" sz="11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　概率初步与数据分析 · 独立练习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先独立完成，再对照教师手册自评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48790"/>
            <a:ext cx="1097188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9361" y="1840230"/>
            <a:ext cx="105329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　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袋中装有 2 个红球和 1 个白球（除颜色外完全相同），随机摸出一个不放回，再摸第二个。用树状图求“两次都摸到红球”的概率。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5589727"/>
            <a:ext cx="10971886" cy="457200"/>
          </a:xfrm>
          <a:prstGeom prst="roundRect">
            <a:avLst>
              <a:gd name="adj" fmla="val 10000"/>
            </a:avLst>
          </a:prstGeom>
          <a:solidFill>
            <a:srgbClr val="E4EAF1"/>
          </a:solidFill>
          <a:ln/>
        </p:spPr>
      </p:sp>
      <p:sp>
        <p:nvSpPr>
          <p:cNvPr id="8" name="Text 6"/>
          <p:cNvSpPr/>
          <p:nvPr/>
        </p:nvSpPr>
        <p:spPr>
          <a:xfrm>
            <a:off x="811073" y="5644591"/>
            <a:ext cx="10569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完成后对照教师手册自评；答案与判定标准见 course.json · answer_text（不在放映页）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88 / 92</a:t>
            </a:r>
            <a:endParaRPr lang="en-US" sz="11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　概率初步与数据分析 · 图示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math/math-9-9-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002" y="1876806"/>
            <a:ext cx="5656446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树状图求概率示例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同时抛两枚硬币的树状图：第一层两支（正/反），第二层各两支共四支，末端标 (正,正) 等四结果，“一正一反”两支用强调色标出，右侧写 P=2/4=1/2。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89 / 92</a:t>
            </a:r>
            <a:endParaRPr lang="en-US" sz="11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 · 相似、锐角三角函数与统计概率 · 小结与出口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先复述小结，再独立完成出口题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109718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本节小结（学生能复述）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7065" y="2023110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相似先找平行线定 A 字、8 字基本图形；面积比是相似比的平方，周长比才是相似比本身。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7065" y="2407158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三角函数是直角三角形三边之比，tan=对/邻；解应用题四步画图、标角、选函数、算结果带单位。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7065" y="2791206"/>
            <a:ext cx="106975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</a:t>
            </a:r>
            <a:pPr indent="0" marL="0">
              <a:buNone/>
            </a:pPr>
            <a:r>
              <a:rPr lang="en-US" sz="12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概率=所求结果数÷等可能结果数，树状图保证不重不漏；方差小波动小才稳定，比较要结合语境。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5" y="3266694"/>
            <a:ext cx="10971886" cy="960120"/>
          </a:xfrm>
          <a:prstGeom prst="roundRect">
            <a:avLst>
              <a:gd name="adj" fmla="val 4762"/>
            </a:avLst>
          </a:prstGeom>
          <a:solidFill>
            <a:srgbClr val="E4EAF1"/>
          </a:solidFill>
          <a:ln/>
        </p:spPr>
      </p:sp>
      <p:sp>
        <p:nvSpPr>
          <p:cNvPr id="10" name="Text 8"/>
          <p:cNvSpPr/>
          <p:nvPr/>
        </p:nvSpPr>
        <p:spPr>
          <a:xfrm>
            <a:off x="811073" y="333984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章出口自检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1073" y="3614166"/>
            <a:ext cx="105695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树状图求两枚硬币一正一反概率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90 / 92</a:t>
            </a:r>
            <a:endParaRPr lang="en-US" sz="11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考试聚焦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章章有侧重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905" y="1712214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 第一章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绝对值与混合运算为计算题基本盘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 第二章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实际问题的方程建模是必考解答题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905" y="2297430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 第三章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平行判定与性质互逆为证明入门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905" y="2590038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 第四章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全等判定选择与证明书写是几何基本盘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2882646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 第五章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乘法公式与因式分解互逆意识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905" y="3175254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 第六章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分式方程验根与一次函数图象性质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346786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 第七章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判别式、图象与方程关系、最值应用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905" y="3760470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 第八章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垂径定理计算与切线证明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4053078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C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 第九章</a:t>
            </a:r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相似判定、解直角三角形应用、树状图求概率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节级精细课件 ｜ 九科教辅规范包 v1.0 ｜ 91 / 92</a:t>
            </a:r>
            <a:endParaRPr lang="en-US" sz="11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D42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65836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学科出口自检（独立完成）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合上课本完成以下任务；评价标准在教师手册（course.json），先独立作答再对照自评。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905" y="1783080"/>
            <a:ext cx="10971886" cy="896112"/>
          </a:xfrm>
          <a:prstGeom prst="roundRect">
            <a:avLst>
              <a:gd name="adj" fmla="val 6122"/>
            </a:avLst>
          </a:prstGeom>
          <a:solidFill>
            <a:srgbClr val="F5F2EA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9385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51153" y="1874520"/>
            <a:ext cx="98288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七年级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写出“两直线平行，内错角相等”的题设与结论并各用一次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905" y="2807208"/>
            <a:ext cx="10971886" cy="896112"/>
          </a:xfrm>
          <a:prstGeom prst="roundRect">
            <a:avLst>
              <a:gd name="adj" fmla="val 6122"/>
            </a:avLst>
          </a:prstGeom>
          <a:solidFill>
            <a:srgbClr val="F5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8505" y="296265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51153" y="2898648"/>
            <a:ext cx="98288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解分式方程 1/(x−1)=2/(x+1) 并检验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5" y="3831336"/>
            <a:ext cx="10971886" cy="896112"/>
          </a:xfrm>
          <a:prstGeom prst="roundRect">
            <a:avLst>
              <a:gd name="adj" fmla="val 6122"/>
            </a:avLst>
          </a:prstGeom>
          <a:solidFill>
            <a:srgbClr val="F5F2EA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39867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451153" y="3922776"/>
            <a:ext cx="98288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树状图求两枚硬币一正一反概率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905" y="5852160"/>
            <a:ext cx="109718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薄弱分支：讲解页回看对应节；例题卡壳 → 回例题页跟步骤重做；练习出错 → 找教师按提示阶梯重做。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92</Slides>
  <Notes>92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数学·节级精细讲解课件</dc:title>
  <dc:subject>PptxGenJS Presentation</dc:subject>
  <dc:creator>Wilson</dc:creator>
  <cp:lastModifiedBy>Wilson</cp:lastModifiedBy>
  <cp:revision>1</cp:revision>
  <dcterms:created xsi:type="dcterms:W3CDTF">2026-09-16T17:41:23Z</dcterms:created>
  <dcterms:modified xsi:type="dcterms:W3CDTF">2026-09-16T17:41:23Z</dcterms:modified>
</cp:coreProperties>
</file>