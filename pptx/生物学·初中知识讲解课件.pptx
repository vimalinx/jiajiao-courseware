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C55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93268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标准课件 · 学科知识讲解（教师用）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905" y="1481328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09905" y="27432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初中知识体系 · 详细讲解课件 ｜ 人教版（2022年版课标新修订教材）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905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09905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24505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124505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章/单元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39105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639105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节/课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53705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153705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学科图示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905" y="52578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核心素养：生命观念 · 科学思维 · 探究实践 · 态度责任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9905" y="62636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制作依据：九科教辅规范包 v1.0 ｜ 知识体系依据 2022 年版义务教育课程标准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学科身份与课件使用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人教版（2022年版课标新修订教材）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42609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4225" y="199567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学科身份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84225" y="2361438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4225" y="2599182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人教版（2022年版课标新修订教材）（四册（七年级上/下、八年级上/下））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4225" y="3038094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4225" y="3275838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 年版义务教育课程标准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4225" y="3714750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核心素养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4225" y="3952494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生命观念、科学思维、探究实践、态度责任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4225" y="439140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课件定位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4225" y="4629150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知识体系讲解导航：先结构、再讲解、后图示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4225" y="5068062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版本说明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4225" y="5305806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知识提纲为课标通用体系，按现行教材单元结构组织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16929" y="199567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课件结构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16929" y="23431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00977" y="2343150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讲解页 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按节组织：讲解要点（怎么讲）＋ 核心术语 ＋ 易错警示；每页最多 2 节。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16929" y="318439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00977" y="3184398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图示页 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学科专业图示：按学科特点绘制结构、过程、数据与关系图，矢量脚本绘制。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16929" y="402564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00977" y="4025646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考试聚焦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每章标注考查侧重；末页给学科出口自检。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16929" y="486689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00977" y="4866894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配套使用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与各册课本对照使用；图示为教学示意，精确数据图保留数据来源说明。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2 / 58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知识体系总览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先见森林，再进细节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53259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9633" y="2004822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生物和细胞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9633" y="2334006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生物体的结构层次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9633" y="2663190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生物与环境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9633" y="2992374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被子植物的一生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905" y="3321558"/>
            <a:ext cx="53259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9633" y="3632454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人的生殖与发育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9633" y="3961638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人体的营养与消化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9633" y="4290822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人体的呼吸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9633" y="4620006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人体内物质的运输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9633" y="4949190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人体内废物的排出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65596" y="1693926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第六章 人体生命活动的调节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55868" y="2023110"/>
            <a:ext cx="53259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65596" y="2334006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动物的主要类群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65596" y="2663190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动物的运动和行为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65596" y="2992374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生物的分类与多样性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65596" y="3321558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细菌、真菌和病毒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55868" y="3650742"/>
            <a:ext cx="53259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65596" y="3961638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生物的生殖和发育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65596" y="4290822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生物的遗传与变异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65596" y="4620006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生命起源和生物进化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65596" y="4949190"/>
            <a:ext cx="52161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健康地生活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3 / 58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A1｜第一章 · 生物和细胞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生物体的结构层次 · 考查：显微镜操作与成像判断、动植物细胞结构的区分、细胞…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学习使用显微镜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先示范“对光—观察”两步再放手操作，用“先低倍后高倍”纠正急躁习惯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用写字母的纸片实验讲成像特点：物像是倒像，玻片移动方向与物像相反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视野中污点位置用“转动目镜、换物镜、移玻片”三步排除法训练推理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细胞的结构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用洋葱鳞片叶表皮与人口腔上皮对比观察，先看再画，最后归纳结构差异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细胞膜控制物质进出的功能用演示实验辅助理解，避免先背名词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染色后细胞核最清晰，顺势落实“细胞核是遗传信息库”的定位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显微镜放大倍数等于目镜与物镜倍数之积，放大的是长度不是面积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物像偏向哪侧，玻片就向哪侧移动，才能移到视野中央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4 / 58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A2｜第一章 · 生物和细胞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生物体的结构层次 · 考查：显微镜操作与成像判断、动植物细胞结构的区分、细胞…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 细胞的生活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用“汽车”类比讲物质与能量：有机物是燃料，线粒体是发动机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克隆羊多莉案例引导推理：遗传信息储存在细胞核中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按“需要物质、能量、信息”三条线收束，形成细胞是统一整体的观念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687318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77875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071366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叶绿体把光能转变成化学能，线粒体把有机物中的化学能释放供细胞利用，两者不能混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遗传信息储存在细胞核中，不是储存在液泡里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5 / 58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D｜第一章 · 生物和细胞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biology/bio-7a-1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6740" y="1876806"/>
            <a:ext cx="2998570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复合显微镜的结构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画复合显微镜侧面简图并标注部件：目镜、镜筒、物镜转换器、物镜、载物台（含通光孔与压片夹）、遮光器（含光圈）、反光镜（平面与凹面）、粗准焦螺旋、细准焦螺旋、镜臂、镜座。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biology/bio-7a-1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322" y="4089654"/>
            <a:ext cx="2865406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植物细胞与动物细胞结构对比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左右并排两个细胞模式图。左：植物细胞，从外到内画细胞壁（标注“保护和支持”）、紧贴其内的细胞膜、细胞质、大液泡（标注“内含细胞液”）、叶绿体（标注“光合作用场所”）、细胞核。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6 / 58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A1｜第二章 · 生物体的结构层次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生物体的结构层次 · 考查：细胞分裂与分化的区别、动植物体结构层次的对比是概…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 细胞通过分裂产生新细胞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用洋葱根尖细胞分裂图排序讲过程，以“染色体复制—均分”为讲解主线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联系癌细胞分裂失控讲生物学原理与健康态度，渗透态度责任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由婴儿到成人体细胞数量增加引出分裂的意义，落到生物体长大的原因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 细胞的分化形成组织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用“一个人在班内担任不同职务”类比分化：遗传物质相同、职能不同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展示人体四种组织切片图先归类再总结，避免先背定义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植物主要组织结合叶的结构落实对应，训练结构与层次匹配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分裂产生的新细胞染色体形态和数目与原细胞相同，靠复制后均分保证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细胞分裂不是细胞简单地一分为二变两个更小的细胞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7 / 58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A2｜第二章 · 生物体的结构层次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生物体的结构层次 · 考查：细胞分裂与分化的区别、动植物体结构层次的对比是概…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 器官、系统与个体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解剖观察鸡翅（或番茄）落实器官概念：多种组织按次序组合并完成一定功能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用食物消化流程串起消化道器官，自然引出系统概念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最后用对比表总结动植物体结构层次差异，突出植物没有系统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687318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77875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071366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植物体没有系统层次，由器官直接构成个体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一块完整的皮肤由多种组织构成，属于器官而不是组织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8 / 58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D｜第二章 · 生物体的结构层次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biology/bio-7a-2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2621" y="1876806"/>
            <a:ext cx="2886807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细胞分化形成组织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左侧画一团形态相同的细胞，三条箭头指向右侧三群形态功能不同的细胞群：扁平的上皮细胞群、纤维状的肌肉细胞群、带突起的神经细胞群。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biology/bio-7a-2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101" y="4089654"/>
            <a:ext cx="2817847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动物体与植物体结构层次对比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画两条并列的层次链：动物体——细胞→组织→器官→系统→动物体；植物体——细胞→组织→器官→植物体（无系统，用虚线框标“没有系统”）。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9 / 58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A1｜第三章 · 生物与环境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生物与环境的相互关系 · 考查：生态因素辨析、生态系统组成与食物链书写、生态…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 生物与环境的关系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用校园生物调查案例区分非生物因素与生物因素，非生物因素先抓光、温、水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以“光对鼠妇生活的影响”示范对照实验设计，突出单一变量原则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适应与影响双向举例：仙人掌保水结构适应干旱，蚯蚓松土改良土壤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 生态系统的组成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用池塘生态照片让学生认领“角色”：生产者、消费者、分解者各就各位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强调非生物部分也是组成成分，纠正“只有生物才组成生态系统”的误区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食物链书写规范三查：起点是生产者、不含分解者和非生物、箭头指向捕食者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阳光、温度、水分属于非生物因素；同种或异种生物之间的关系是生物因素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对照实验只能有一个变量，其余条件保持相同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10 / 58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A2｜第三章 · 生物与环境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生物与环境的相互关系 · 考查：生态因素辨析、生态系统组成与食物链书写、生态…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 生态系统的自动调节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用草、兔、狐数量曲线讲自动调节，指出“先增先减、周期波动”的因果链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对比森林与农田生态系统，讲自动调节能力与生物种类数量的关系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用外来物种入侵案例强调调节能力有限，渗透生态保护责任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  人类活动对生态环境的影响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用大气二氧化碳浓度数据引入人类活动的环境影响，先看数据再下判断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列举滥伐、排污、过度捕捞与治沙、限塑正反案例对比讨论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落到“保护生物圈人人有责”，设计一条校园环保行动建议作为出口任务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生态平衡不是数量恒定不变，而是相对稳定的动态平衡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自动调节能力有限，外来物种入侵可能破坏原有平衡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11 / 58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D｜第三章 · 生物与环境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biology/bio-7a-3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7101" y="1876806"/>
            <a:ext cx="2817847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池塘生态系统的组成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画池塘场景简图：阳光、水、空气、淤泥等标注为“非生物部分”；水草和藻类标注“生产者”；水蚤、小鱼、大鱼标注“消费者”；腐生细菌和真菌标注“分解者”。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biology/bio-7a-3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960" y="4089654"/>
            <a:ext cx="2656130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草、兔、狐种群数量的周期波动（示意数据）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坐标图：横轴时间（年），纵轴相对数量。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12 / 58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A1｜第四章 · 被子植物的一生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植物的生活 · 考查：种子结构与萌发条件、根尖结构与生长、花的结构与果实形成…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 种子的萌发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菜豆与玉米种子对比解剖，先看再标注，用表格归纳单双子叶差异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以种子萌发的三组对照实验训练变量设计，落实“外界条件+自身条件”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萌发过程联系子叶或胚乳供能讲有机物来源，串起结构与发展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 植株的生长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根尖纵切图按四区定位功能，讲清“分生区增加数目、伸长区增大体积”的分工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用叶芽（枝芽）纵切结构图讲“芽是未发育的枝条”，结构与发展对应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施肥原理结合氮磷钾缺乏症对照表讲解，联系农业生产实际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胚是新植物体的幼体，由胚芽、胚轴、胚根、子叶组成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萌发的外界条件是适量的水分、适宜的温度和充足的空气，光照不是必需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13 / 58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A2｜第四章 · 被子植物的一生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讲解要点（七年级上 · 植物的生活 · 考查：种子结构与萌发条件、根尖结构与生长、花的结构与果实形成…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 开花和结果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用花的模型拆解先认花蕊重点，围绕“花与果实的对应关系”展开讲解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传粉与受精用流程图讲授，落点“子房发育成果实、胚珠发育成种子”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结合人工授粉辅助玉米向日葵增产的实例，训练知识迁移应用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花的主要结构是雄蕊和雌蕊，不是花瓣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子房发育成果实，胚珠发育成种子，珠被发育成种皮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14 / 58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D｜第四章 · 被子植物的一生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biology/bio-7a-4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322" y="1876806"/>
            <a:ext cx="2865406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菜豆种子与玉米种子结构对比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左右并排剖面图。左：菜豆种子，标注种皮、胚（胚芽、胚轴、胚根、两片肥厚的子叶），旁注“无胚乳，营养储存在子叶”。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biology/bio-7a-4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078" y="4089654"/>
            <a:ext cx="2855894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从传粉到果实形成的发育流程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画步骤流程：①花粉落到雌蕊柱头上（传粉）；②花粉管萌发，穿过花柱到达胚珠；③精子与卵细胞结合，完成受精；④受精完成后花萼、花瓣、雄蕊等凋落，仅子房继续发育。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15 / 58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A1｜第一章 · 人的生殖与发育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人体生理与健康 · 考查：生殖系统结构与功能的对应、胚胎发育过程与营养来源、…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生殖系统的组成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用模式图先认结构再对功能，强调睾丸、卵巢兼具产生生殖细胞和分泌性激素的双重角色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结合受精部位讲输卵管功能，辨析输精管、输卵管的运输作用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以科学态度直面话题，先破除羞怯再讲知识，营造正常学习氛围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从受精到分娩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按“受精卵→胚泡植入→胎儿→分娩”时间轴串讲，配发育阶段图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胚胎营养来源分两段讲：早期靠卵黄，后期靠胎盘与脐带交换物质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用“十月怀胎约 280 天”收尾，联系母亲孕育的付出渗透感恩教育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受精在输卵管内完成，不是在子宫内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睾丸既产生精子又分泌雄性激素，卵巢既产生卵细胞又分泌雌性激素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16 / 58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A2｜第一章 · 人的生殖与发育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人体生理与健康 · 考查：生殖系统结构与功能的对应、胚胎发育过程与营养来源、…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 青春期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解读身高体重增长曲线，指出身高突增是形态发育的显著特点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性发育和性成熟是青春期的突出特征，用第二性征举例说明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心理变化讲接纳与疏导，明确遗精、月经是正常生理现象，破除羞耻误区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身高突增是青春期形态发育的显著特点，性发育和性成熟是突出特征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男女第二性征的差异是由性激素引起的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17 / 58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D｜第一章 · 人的生殖与发育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biology/bio-7b-1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531" y="1876806"/>
            <a:ext cx="6111388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受精与胚胎发育过程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步骤时间轴：①精子与卵细胞在输卵管内结合形成受精卵；②受精卵不断分裂，形成胚泡并缓慢移动到子宫；③胚泡植入子宫内膜（怀孕开始）；④胎儿在子宫内通过胎盘和脐带从母体获得营养和氧、排出废物，约 38 周发育成熟；⑤胎儿和胎盘从阴道娩出（分…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18 / 58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A1｜第二章 · 人体的营养与消化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人体生理与健康 · 考查：三大营养物质的消化过程、小肠结构与吸收功能相适应、…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 食物中的营养物质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用食品标签实训识别六类营养素，糖类、脂肪、蛋白质按供能角色排序讲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维生素缺乏症对照速记：夜盲症补维生素A、坏血病补维生素C、佝偻病补维生素D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膳食纤维虽不供能但促进肠道健康，联系膳食均衡讨论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 消化和吸收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用“馒头在口腔的变化”实验引出物理性消化与化学性消化两条线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三大物质消化用流程表落位：起点、终产物一一对应，反复指认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小肠结构功能适应讲“长、绒毛多、壁薄、血管丰富”，用模式图逐条指认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供能物质主要是糖类、脂肪、蛋白质，水、无机盐、维生素不供能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糖类是主要供能物质，脂肪是备用能源物质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19 / 58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A2｜第二章 · 人体的营养与消化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人体生理与健康 · 考查：三大营养物质的消化过程、小肠结构与吸收功能相适应、…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 合理营养与食品安全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用平衡膳食宝塔分层解读，先识图再布置“设计一日食谱”任务驱动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食品安全讲“三查”：查生产许可信息与保质期、查包装完整性、生熟分开存放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食谱设计方案评比收束，把合理营养落到健康生活习惯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687318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77875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071366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主食主要提供糖类，肉蛋奶主要提供蛋白质，不能只吃肉不吃饭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发芽的马铃薯和霉变的花生含毒素，不能食用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20 / 58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D｜第二章 · 人体的营养与消化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biology/bio-7b-2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7101" y="1876806"/>
            <a:ext cx="2817847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消化系统的组成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人体正中剖面简图，标注消化道与消化腺：消化道依次为口腔、咽、食道、胃、小肠、大肠、肛门；消化腺标注位置与导管去向——唾液腺（开口于口腔）、肝脏（人体最大的消化腺，分泌胆汁经导管进入小肠）、胰腺（分泌胰液进入小肠）、胃腺（位于胃壁）、肠…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biology/bio-7b-2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440" y="4089654"/>
            <a:ext cx="2977169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三大营养物质的消化过程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三条并列流程：①淀粉：口腔（唾液淀粉酶）→麦芽糖→小肠（胰液、肠液中的酶）→葡萄糖；②蛋白质：胃（胃蛋白酶）开始→小肠→氨基酸；③脂肪：只在小肠消化，先经胆汁乳化，再经酶分解→甘油和脂肪酸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21 / 58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A1｜第三章 · 人体的呼吸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人体生理与健康 · 考查：呼吸运动与气体交换的原理、肺泡结构与功能相适应、空…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 呼吸道对空气的处理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从鼻到肺逐站讲结构功能适应：温暖、湿润、清洁三重处理空气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用吃饭说笑易呛的情境解释会厌软骨的巧妙结构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结合哮喘、雾霾情境讲呼吸健康防护，渗透态度责任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 肺内的气体交换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用膈肌模拟实验讲呼吸运动：罩内气压变化类比胸廓变化，列表对比吸呼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气体交换抓“扩散作用”：浓度差是动力，肺泡与血液、血液与组织两处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肺泡结构适应点归纳：数目多、壁薄、外包毛细血管，逐条对应功能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呼吸道对空气的处理能力有限，不能完全避免污染空气的伤害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用鼻呼吸优于用口呼吸，鼻腔能加温、湿润、清洁空气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22 / 58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A2｜第三章 · 人体的呼吸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人体生理与健康 · 考查：呼吸运动与气体交换的原理、肺泡结构与功能相适应、空…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 空气质量与健康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采集和测算空气中的尘埃粒子实验，示范计数方法与对照设计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吸烟危害结合焦油、尼古丁、一氧化碳的损害讲，落点拒绝吸烟的态度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辨析 PM2.5 与空气质量指数，联系生活提出防护建议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687318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77875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071366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一氧化碳与血红蛋白的结合能力远强于氧气，导致人体缺氧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吸烟对被动吸烟者同样有害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23 / 58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D｜第三章 · 人体的呼吸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biology/bio-7b-3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6587" y="1876806"/>
            <a:ext cx="6173276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呼吸系统与肺泡结构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左侧画呼吸道与肺简图：鼻、咽、喉、气管、支气管（合称呼吸道）与左右肺相连，气管标注“软骨支撑、纤毛黏液清洁空气”。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24 / 58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A1｜第四章 · 人体内物质的运输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人体生理与健康 · 考查：三种血细胞的功能与异常、三类血管的判别、心脏结构与…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 流动的组织——血液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用血液分层实验先观察后命名：血浆与三类血细胞分工讲清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三种血细胞列表对比数量、形态、功能，异常值联系贫血与炎症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读血常规化验单实训活动，训练从数据到判断的能力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 血流的管道——血管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用小鱼尾鳍内血液流动的观察实验辨认血管，总结三类血管的判别标准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毛细血管抓“单行通过、壁薄、血流慢”三点，落实结构与功能适应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把脉联系动脉特点，静脉瓣防血液倒流结合久坐不适情境讲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红细胞含血红蛋白运输氧，数量过少或血红蛋白过少都表现为贫血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白细胞增多常提示有炎症，白细胞是免疫防御细胞不是“坏细胞”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25 / 58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A2｜第四章 · 人体内物质的运输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人体生理与健康 · 考查：三种血细胞的功能与异常、三类血管的判别、心脏结构与…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 输送血液的泵——心脏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心脏解剖观察先认四腔与相连血管，用“房连静、室连动”口诀定位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瓣膜灌流演示讲“防倒流、保单向”，落实心脏作为“泵”的功能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血液循环双圈板书：体循环从左心室出发，肺循环从右心室出发，标出两处物质交换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左心室壁最厚，因为体循环路径最长、需要的推力最大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血液流经肺部毛细血管后由静脉血变成动脉血，流经组织处毛细血管后变成静脉血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26 / 58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D｜第四章 · 人体内物质的运输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biology/bio-7b-4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7101" y="1876806"/>
            <a:ext cx="2817847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心脏的结构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心脏正面剖视图：四个腔——左心房、左心室、右心房、右心室；相连血管——主动脉连左心室、肺动脉连右心室、上下腔静脉连右心房、肺静脉连左心房；房室瓣（心房与心室之间）和动脉瓣（心室与动脉之间）用小箭头标注“防止血液倒流”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biology/bio-7b-4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101" y="4089654"/>
            <a:ext cx="2817847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血液循环的路线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画两条闭环路径并用箭头连接成完整循环图。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27 / 58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A｜第五章 · 人体内废物的排出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人体生理与健康 · 考查：肾单位结构与尿液形成的两步过程、血浆原尿尿液成分对…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 泌尿系统的组成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用模式图认肾脏、输尿管、膀胱、尿道，明确“形成—输送—储存—排出”分工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肾脏内层级讲清：肾脏→皮质与髓质→肾单位，落点肾单位是基本单位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肾单位“三件套”指认训练：肾小球、肾小囊、肾小管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 尿液的形成和排出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两步主线板书：肾小球（和肾小囊内壁）的滤过作用、肾小管的重吸收作用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血浆、原尿、尿液成分对比表读表训练，葡萄糖“归零”现象重点辨析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由尿量对比（原尿约 150 升、尿液约 1.5 升）反推重吸收量，落实数量概念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泌尿系统的主要器官是肾脏，尿液在肾单位的肾小球和肾小管处形成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膀胱只暂时储存尿液，不形成尿液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28 / 58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D｜第五章 · 人体内废物的排出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biology/bio-7b-5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7504" y="1876806"/>
            <a:ext cx="3077042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肾单位的结构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画肾单位模式图：肾小球（毛细血管球，两端分别连入球小动脉和出球小动脉）外面包着肾小囊（内层紧贴肾小球），肾小囊连接细长弯曲的肾小管，肾小管外缠绕毛细血管网。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biology/bio-7b-5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101" y="4089654"/>
            <a:ext cx="2817847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尿液的形成过程（附成分对比数据）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两步流程：①肾小球和肾小囊内壁的滤过作用：血液流经肾小球，除血细胞和大分子蛋白质外，水、无机盐、葡萄糖、尿素等滤过到肾小囊中形成原尿；②肾小管的重吸收作用：全部葡萄糖、大部分水和部分无机盐被重新吸收回血液，剩下的形成尿液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29 / 58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A1｜第六章 · 人体生命活动的调节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人体生理与健康 · 考查：反射弧的结构分析、眼球耳的结构与视觉听觉形成、激素…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 神经系统的组成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按“中枢与周围”两分法定位：脑和脊髓是中枢，脑神经和脊神经是周围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神经元模式图先认结构后讲功能：树突接收、轴突传导兴奋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用中风患者失语、失行动的病例训练定位推理，把结构与功能挂上钩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 神经调节的基本方式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用膝跳反射体验引入归纳反射概念：刺激引发的规律性反应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反射弧五部分用缩手反射情境串讲，设计“断哪一环会怎样”的检测训练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简单反射与复杂反射对比，落到人类特有的语言文字反射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神经元是神经系统结构和功能的基本单位，功能是接受刺激、产生并传导兴奋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大脑皮层是调节人体生命活动的最高级中枢，小脑协调运动、维持平衡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30 / 58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A2｜第六章 · 人体生命活动的调节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讲解要点（七年级下 · 人体生理与健康 · 考查：反射弧的结构分析、眼球耳的结构与视觉听觉形成、激素…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  眼与视觉、耳与听觉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眼球模式图用照相机类比成像，角膜、瞳孔、晶状体、视网膜各司其职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近视成因与凹透镜矫正配镜演示讲解，落点用眼卫生习惯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听觉形成按路线串讲，晕车与半规管、前庭的联系点到为止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  激素调节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用侏儒症、巨人症、甲亢三个病例对照表讲激素分泌过多或过少的后果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胰岛素调节血糖结合糖尿病情境，讨论为什么胰岛素只能注射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神经调节与激素调节对比收束：反应速度、作用范围、作用时长的差异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物像落在视网膜上，是倒立缩小的像；视觉在大脑皮层的视觉中枢形成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近视眼晶状体曲度过大，物像落在视网膜前方，用凹透镜矫正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31 / 58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D｜第六章 · 人体生命活动的调节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biology/bio-7b-6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531" y="1876806"/>
            <a:ext cx="6111388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缩手反射的反射弧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画脊髓剖面与手臂缩手反射路径：感受器（手指皮肤中的感觉神经末梢）→传入神经（画神经节）→神经中枢（脊髓灰质内）→传出神经→效应器（手臂肌肉），用箭头标出神经冲动传导方向（单向）。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32 / 58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A1｜第一章 · 动物的主要类群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生物的多样性 · 考查：各类群代表动物的特征与适应、节肢动物与鸟类哺乳类的进…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无脊椎动物的主要类群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按腔肠、扁形、线虫、环节、软体、节肢的顺序讲演化趋势：对称、分节、附肢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蚯蚓观察实验落实刚毛、环带与湿润体壁呼吸的特点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昆虫抓“三对足、两对翅、外骨骼”结构图指认，归纳节肢动物最繁盛的原因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脊椎动物的主要类群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按鱼、两栖、爬行、鸟、哺乳的顺序讲脊椎动物演化，每类抓呼吸、运动、生殖关键特征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鸟类适于飞行的形态结构证据链训练：流线型体型、气囊辅助双重呼吸等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恒温动物与变温动物对比，联系活动范围与环境适应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蚯蚓靠湿润的体壁呼吸，离开湿润环境不能生存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昆虫的外骨骼限制生长，因此发育过程中要蜕皮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33 / 58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A2｜第一章 · 动物的主要类群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生物的多样性 · 考查：各类群代表动物的特征与适应、节肢动物与鸟类哺乳类的进…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 动物类群与环境的适应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对比水生与陆生环境差异，梳理陆生动物在防失水、支持、呼吸、运动四方面的适应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用表格综合训练：给出陌生动物的特征描述，判断类群并说理由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收束到“结构与功能相适应、生物与环境相适应”的生命观念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687318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77875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071366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陆生动物的适应是长期演化的结果，不是动物的主观意愿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爬行动物能产羊膜卵（有坚韧卵壳），生殖和发育摆脱了对水环境的依赖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34 / 58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D｜第一章 · 动物的主要类群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biology/bio-8a-1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322" y="1876806"/>
            <a:ext cx="2865406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蝗虫（昆虫）的外部形态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画蝗虫侧面简图分部标注：头部——触角一对、复眼一对、咀嚼式口器；胸部——前翅革质、后翅膜质，前足、中足、后足各一对（共三对足，后足发达适于跳跃）；腹部——体节两侧有气门（气体进出）。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biology/bio-8a-1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30" y="4089654"/>
            <a:ext cx="2885989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动物类群已知物种数统计（约值）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画条形图，横轴为动物类群，纵轴为已知物种数（数据为约值）：昆虫约 100 万种、软体动物约 11 万种、鱼类约 3.2 万种、两栖动物约 0.8 万种、爬行动物约 1 万种、鸟类约 1.1 万种、哺乳动物约 0.6 万种。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35 / 58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A1｜第二章 · 动物的运动和行为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动物的运动和行为 · 考查：关节结构与屈肘伸肘的配合、先天性与学习行为的判别…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 动物的运动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解剖观察鸡的关节，按“关节面、关节囊、关节腔”三件套加关节软骨定位功能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屈肘伸肘演示让学生自己屈臂感受肌肉协作，纠正“一块肌肉独立完成动作”的误区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收束运动产生：骨、关节、肌肉协作，还需神经系统调节和其他系统配合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 先天性行为和学习行为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用小袋鼠吃奶与蚯蚓走迷宫对比案例导入，判据是“获得途径”不是复杂程度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组织“探究绕道取食”实验，记录尝试次数体会学习行为的建立过程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动物越高等学习行为越重要，联系人类学习与教育意义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关节软骨能减少摩擦、缓冲震动；关节囊及其内外韧带使关节牢固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屈肘时肱二头肌收缩、肱三头肌舒张，伸肘时相反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36 / 58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A2｜第二章 · 动物的运动和行为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动物的运动和行为 · 考查：关节结构与屈肘伸肘的配合、先天性与学习行为的判别…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 社会行为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用白蚁或蜂群的视频归纳社会行为特征：群体内有组织、有分工、有信息交流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信息交流方式配对训练：声音、气味、动作各配代表动物实例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蝶蛾性外激素诱杀害虫联系生产实际，训练知识应用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有群体不等于社会行为，必须有组织、有分工、有信息交流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蜜蜂通过舞蹈告诉同伴蜜源的方向和距离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37 / 58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D｜第二章 · 动物的运动和行为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biology/bio-8a-2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4511" y="1876806"/>
            <a:ext cx="2863028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关节的结构与骨骼肌的附着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左侧画关节模式图：关节面（含关节头与关节窝，表面覆有关节软骨）、关节囊、关节腔；标注：关节软骨减少摩擦、缓冲震动，关节囊及韧带使关节牢固。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biology/bio-8a-2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101" y="4089654"/>
            <a:ext cx="2817847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蜂群的分工与信息交流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画流程：蜂群三级分工框——蜂王（专职产卵繁殖）、雄蜂（与蜂王交配）、工蜂（采蜜、筑巢、喂养幼虫、保卫蜂巢）；箭头指向“侦察蜂发现蜜源回巢，跳圆舞或 8 字舞指示蜜源方向和距离”；再箭头指向“工蜂群体按信息前往采蜜”。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38 / 58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A1｜第三章 · 生物的分类与多样性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生物的多样性 · 考查：分类依据与等级、检索表使用、生物多样性三层次及其保护…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 尝试对生物进行分类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从“给学习用品分类”活动引入分类思想：找共同特征、逐级归类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植物分类抓生殖器官与根茎叶，动物分类抓脊椎与形态结构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把细菌、真菌、病毒纳入分类体系，讲清微生物的位置与依据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 从种到界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以虎为例自下而上逐级推到界，用“边界越粗共同点越少”类比讲解等级含义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种是基本分类单位，强调同种生物可以交配并产生可育后代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介绍林奈双名法：属名加种加词，规范书写斜体，渗透科学史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分类依据主要是形态结构和生理功能等特征，不是单一的生活习性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病毒没有细胞结构，也纳入分类体系，按寄主类型分类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39 / 58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A2｜第三章 · 生物的分类与多样性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生物的多样性 · 考查：分类依据与等级、检索表使用、生物多样性三层次及其保护…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 生物多样性及其保护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按“基因多样性、物种多样性、生态系统多样性”三层次逐层举例讲清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用我国珍稀动物种群恢复数据导入保护成效，讨论保护与发展的平衡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保护措施分类梳理：就地保护、迁地保护、法制与教育，落到学生可做的行动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生物多样性不只是物种多少，还包括基因（遗传）多样性和生态系统多样性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建立自然保护区（就地保护）是保护生物多样性最有效的措施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40 / 58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D｜第三章 · 生物的分类与多样性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biology/bio-8a-3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9054" y="1876806"/>
            <a:ext cx="2893941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以虎为例的分类等级树状图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画自上而下的树状图：动物界→脊索动物门→哺乳纲→食肉目→猫科→豹属→虎（种）。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biology/bio-8a-3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366" y="4089654"/>
            <a:ext cx="2937318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我国部分珍稀动物种群变化（约值）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画对比条形图（数据为公开报道约值）：朱鹮——1981 年重新发现时 7 只，目前种群约 1 万只（含人工繁育个体）；大熊猫——野外种群约 1900 只；藏羚羊——由不足 7 万只恢复到约 30 万只。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41 / 58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A1｜第四章 · 细菌、真菌和病毒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生物的多样性 · 考查：细菌、真菌、病毒的结构对比，培养菌落的方法，微生物与…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 细菌和真菌的分布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培养细菌真菌按“配培养基—高温灭菌—接种—恒温培养”四步示范并讲每步目的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从大小、形态、颜色辨析菌落：细菌菌落小而黏稠，真菌菌落大呈绒毛状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用检测教室、手机表面微生物的活动联系卫生习惯，渗透态度责任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 细菌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用电镜照片与模式图认结构，抓“无成形的细胞核”这一关键特征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芽孢、荚膜、鞭毛功能定位，强调芽孢是休眠体不是生殖细胞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用分裂生殖速率计算情境题训练，联系食品保存与卫生习惯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接种前高温灭菌是为了排除杂菌干扰，防止原有微生物污染结果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细菌菌落小、表面光滑黏稠；真菌菌落大、呈绒毛状絮状或蜘蛛网状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42 / 58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A2｜第四章 · 细菌、真菌和病毒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生物的多样性 · 考查：细菌、真菌、病毒的结构对比，培养菌落的方法，微生物与…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 真菌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酵母菌、霉菌、蘑菇三类代表观察比较，单细胞与多细胞结构对比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孢子生殖与出芽生殖辨析，青霉与曲霉的孢子颜色和着生位置区别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真菌有成形细胞核、无叶绿体，营养方式为腐生或寄生，与细菌对比例证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  病毒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病毒结构抓“蛋白质外壳＋内部遗传物质”，强调无细胞结构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按寄主分动物病毒、植物病毒、细菌病毒（噬菌体），用案例讲专一性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病毒必须寄生在活细胞内，结合流感传播讲预防，辩证讲病毒利用价值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真菌有真正的细胞核，属于真核生物，与细菌区分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酵母菌在环境适宜时出芽生殖，不良环境中产生孢子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43 / 58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D｜第四章 · 细菌、真菌和病毒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biology/bio-8a-4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5700" y="1876806"/>
            <a:ext cx="2860650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细菌细胞的结构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画细菌模式图，从外到内标注：荚膜（最外层，保护）、细胞壁、细胞膜、细胞质、DNA 集中区域（标注“没有成形的细胞核，属于原核生物”）、鞭毛（游动）。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biology/bio-8a-4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589" y="4089654"/>
            <a:ext cx="2836871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酵母菌与青霉的结构对比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左右对比图。左：酵母菌（单细胞），画卵圆形细胞并标注细胞壁、细胞膜、细胞质、细胞核、大液泡，旁注“有成形细胞核，真核生物；条件适宜时出芽生殖”。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44 / 58</a:t>
            </a:r>
            <a:endParaRPr lang="en-US" sz="11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A1｜第一章 · 生物的生殖和发育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生物的生殖与发育 · 考查：有性与无性生殖的判别、完全与不完全变态发育对比、…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植物的生殖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用椒草叶插、马铃薯块茎发芽引出无性生殖，判据看有无两性生殖细胞的结合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嫁接、扦插操作演示讲成活关键：接穗与砧木的形成层紧密结合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组织培养拓展讲植物细胞全能性的应用，联系种苗产业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昆虫的生殖和发育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家蚕与蝗虫两条发育线对比表讲授，抓“有无蛹期”这一关键差异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完全变态四期与不完全变态三期画流程对照，标注各期形态特点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灭虫时机讨论联系生产：蝗虫宜在若虫期消灭，翅未长成活动范围小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有性生殖的判据是经过两性生殖细胞结合，与是否开花结果无关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嫁接成活的关键是接穗与砧木的形成层紧密结合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45 / 58</a:t>
            </a:r>
            <a:endParaRPr lang="en-US" sz="11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A2｜第一章 · 生物的生殖和发育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生物的生殖与发育 · 考查：有性与无性生殖的判别、完全与不完全变态发育对比、…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 两栖动物的生殖和发育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青蛙抱对产卵、水中受精讲生殖起点，幼体成体对照表讲变态发育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由“幼体成体形态结构差异显著”迁移定义变态发育，与昆虫发育对比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结合水质污染导致畸形蛙案例讨论环境对发育的影响，渗透生态责任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 鸟的生殖和发育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鸟卵结构观察实验按“先看外观、再剖内部”进行，气室、胚盘、系带逐个指认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生殖发育六阶段：求偶、交配、筑巢、产卵、孵卵、育雏，并说明不是所有鸟都齐全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早成鸟与晚成鸟对比联系巢区保护教育，落点爱鸟护鸟态度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两栖动物的生殖和幼体发育离不开水，受精在水中完成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幼体用鳃呼吸，成体主要用肺呼吸、皮肤辅助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46 / 58</a:t>
            </a:r>
            <a:endParaRPr lang="en-US" sz="11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D｜第一章 · 生物的生殖和发育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biology/bio-8b-1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7101" y="1876806"/>
            <a:ext cx="2817847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昆虫完全变态与不完全变态发育对比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画两条并列流程：完全变态（家蚕）——受精卵→幼虫（多次蜕皮，取食生长）→蛹→成虫（蚕蛾）；不完全变态（蝗虫）——受精卵→若虫（跳蝻，形态与成虫相似、翅未长成）→成虫。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biology/bio-8b-1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101" y="4089654"/>
            <a:ext cx="2817847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鸟卵的结构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鸟卵剖面图并标注：卵壳和卵壳膜（保护）、气室（储存空气，供胚胎发育呼吸）、卵白（保护和提供水分养料）、卵黄（主要营养部位）、卵黄膜、胚盘（卵黄表面小白点，内含细胞核，胚胎发育部位）、系带（固定卵黄）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47 / 58</a:t>
            </a:r>
            <a:endParaRPr lang="en-US" sz="11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A1｜第二章 · 生物的遗传与变异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遗传与变异 · 考查：性状与相对性状判别、染色体 DNA 基因的关系、显隐性…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 基因控制生物的性状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性状举例从形态、生理、行为三面列举，相对性状强调“同种生物、同一性状、不同表现”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转基因超级鼠案例讲“基因决定性状”的证据链，训练科学推理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辩证补一句：性状表现是基因与环境共同作用的结果，用日晒肤色举例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 基因在亲子代间的传递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染色体、DNA、基因的包含关系用“三层套娃”类比讲清，配阶梯放大图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生殖细胞形成时染色体减半、受精后恢复，用数形结合板书推演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人类体细胞 23 对染色体，生殖细胞 23 条不成对，数字对比强化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相对性状必须是同种生物同一性状的不同表现类型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性状受基因控制，也受环境影响，如肤色与日晒有关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48 / 58</a:t>
            </a:r>
            <a:endParaRPr lang="en-US" sz="11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A2｜第二章 · 生物的遗传与变异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遗传与变异 · 考查：性状与相对性状判别、染色体 DNA 基因的关系、显隐性…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 基因的显性和隐性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显隐性用规范的大小写字母表示，先立规则“显性基因控制显性性状”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经典豌豆杂交图解板演推理，学生仿写“父显母显子隐”变式训练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禁止近亲结婚结合隐性致病基因富集的概率讲清道理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  人的性别遗传与生物的变异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男女染色体组成对比：23 对中含一对性染色体，女性 XX、男性 XY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生男生女机会均等用遗传图解与统计事实双重印证，破除责任归因误区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变异按“遗传物质是否改变”分类，用三种育种方式落实应用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表现显性性状的基因组成可能是 AA 或 Aa 两种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父母都表现显性性状时孩子可能出现隐性性状，反之不会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49 / 58</a:t>
            </a:r>
            <a:endParaRPr lang="en-US" sz="11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D｜第二章 · 生物的遗传与变异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biology/bio-8b-2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2196" y="1876806"/>
            <a:ext cx="2967657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染色体、DNA 与基因的关系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画阶梯式放大图：细胞→细胞核（内含棒状染色体）→放大一条染色体（呈螺旋棒状）→放大为 DNA 双螺旋长链→在链上截取一段标注“基因：具有特定遗传效应的 DNA 片段”。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biology/bio-8b-2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343" y="4089654"/>
            <a:ext cx="2795365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一对相对性状的遗传图解（双眼皮示例）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画棋盘式遗传图解：亲代为双眼皮 Aa 与双眼皮 Aa；各自产生生殖细胞 A 和 a；2×2 组合表格得到后代基因型 AA、Aa、Aa、aa。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50 / 58</a:t>
            </a:r>
            <a:endParaRPr lang="en-US" sz="11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A1｜第三章 · 生命起源和生物进化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生物的进化 · 考查：生命起源的假说与证据、进化历程与趋势、自然选择学说的分…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 地球上生命的起源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米勒实验装置按“模拟原始大气—放电—冷凝—检测氨基酸”讲证据链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原始大气与现代大气对比抓“没有氧气”这一关键条件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强调假说性质：科学假说需要证据与逻辑，区分科学想象与臆测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 生物进化的历程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化石是最直接的证据，讲清“地层越深、化石生物越简单古老”的规律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进化树读图训练：不同类群由共同祖先进化而来，越晚出现越高等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补充同源器官、胚胎学证据，多证据互证训练证据意识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原始大气中没有氧气，与现在大气成分不同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米勒实验证明了无机小分子可生成有机小分子，不能证明生命自然产生全过程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51 / 58</a:t>
            </a:r>
            <a:endParaRPr lang="en-US" sz="11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A2｜第三章 · 生命起源和生物进化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生物的进化 · 考查：生命起源的假说与证据、进化历程与趋势、自然选择学说的分…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 生物进化的原因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用长颈鹿进化的两种解释对比引出自然选择学说，逐句拆四点要义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人工选择与自然选择对比，用品种培育案例落实差异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细菌抗药性案例训练学说应用，纠正“用进废退”式误答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自然选择保留适应环境的变异，选择的方向由环境决定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生物的变异是不定向的，自然选择是定向的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52 / 58</a:t>
            </a:r>
            <a:endParaRPr lang="en-US" sz="11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D｜第三章 · 生命起源和生物进化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biology/bio-8b-3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323" y="1876806"/>
            <a:ext cx="6157804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生物进化的大致历程（进化树）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画树状图，主干底部标注“原始生命（约 35 亿年前）”，向上分支并标注大致时间（数据为约值）：原始原核生物（约 35 亿年前）→原始真核生物（约 20 亿年前）→原始多细胞生物（约 6 亿年前）。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53 / 58</a:t>
            </a:r>
            <a:endParaRPr lang="en-US" sz="11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A1｜第四章 · 健康地生活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人体生理与健康 · 考查：传染病三环节与预防措施的对应、特异性与非特异性免疫…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 传染病及其预防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用流感资料分析导入三环节：传染源、传播途径、易感人群角色定位训练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预防措施与三环节一一对应判断，勤洗手对应切断传播途径作例证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病原体与传染源辨析：病毒是病原体，患病的人或动物是传染源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 免疫与计划免疫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三道防线图示定位：皮肤黏膜、杀菌物质与吞噬细胞、免疫器官与免疫细胞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抗原抗体用“钥匙与锁”类比讲特异性，配判断训练巩固两类免疫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读儿童计划免疫程序表，理解疫苗意义并讨论接种责任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传染源指能够散播病原体的人或动物，不是病原体本身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隔离病人属控制传染源，环境消毒属切断传播途径，不能混判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54 / 58</a:t>
            </a:r>
            <a:endParaRPr lang="en-US" sz="11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A2｜第四章 · 健康地生活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人体生理与健康 · 考查：传染病三环节与预防措施的对应、特异性与非特异性免疫…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 用药与急救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处方药与非处方药用 OTC 标志识别实训，养成“看说明书”五查习惯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心肺复苏按步骤口诀演示：判断意识—呼救—按压，强调位置与频率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出血类型判断与止血方法配情境演练，动脉出血按压近心端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  了解自己 增进健康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健康三维度评价活动：身体健康、心理健康、社会适应良好自评互评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生活方式病用慢性病与吸烟、酗酒、熬夜的关联数据讨论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布置“健康生活行动计划”任务，把健康观落到可持续的行动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OTC 是非处方药标志，仍须按说明书服用，不能随意加量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心肺复苏按压位置在两乳头连线中点，频率每分钟 100–120 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55 / 58</a:t>
            </a:r>
            <a:endParaRPr lang="en-US" sz="11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D｜第四章 · 健康地生活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biology/bio-8b-4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531" y="1876806"/>
            <a:ext cx="6111388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人体三道防线与免疫类型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三道并列防线框：第一道防线——皮肤和黏膜（阻挡、杀菌、清扫异物）；第二道防线——体液中的杀菌物质和吞噬细胞（溶解病菌、吞噬病菌）；第三道防线——免疫器官和免疫细胞（受抗原刺激产生抗体，消灭抗原）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56 / 58</a:t>
            </a:r>
            <a:endParaRPr lang="en-US" sz="11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考试聚焦与出口自检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章章有侧重，册册能自检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712214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第一章　显微镜操作与成像判断、动植物细胞结构的区分、细胞各部分功能是…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第二章　细胞分裂与分化的区别、动植物体结构层次的对比是概念辨析高频点。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905" y="2297430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第三章　生态因素辨析、生态系统组成与食物链书写、生态平衡与人类活动影…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905" y="2590038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 第四章　种子结构与萌发条件、根尖结构与生长、花的结构与果实形成是重点。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2882646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第一章　生殖系统结构与功能的对应、胚胎发育过程与营养来源、青春期发育…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905" y="3175254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第二章　三大营养物质的消化过程、小肠结构与吸收功能相适应、合理膳食是…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3467862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第三章　呼吸运动与气体交换的原理、肺泡结构与功能相适应、空气质量与呼…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905" y="3760470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第四章　三种血细胞的功能与异常、三类血管的判别、心脏结构与血液循环路…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4053078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第五章　肾单位结构与尿液形成的两步过程、血浆原尿尿液成分对比是重点。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33008" y="1712214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 第六章　反射弧的结构分析、眼球耳的结构与视觉听觉形成、激素分泌异常症…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33008" y="2004822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第一章　各类群代表动物的特征与适应、节肢动物与鸟类哺乳类的进阶特征是…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33008" y="2297430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第二章　关节结构与屈肘伸肘的配合、先天性与学习行为的判别、社会行为特…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33008" y="2590038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第三章　分类依据与等级、检索表使用、生物多样性三层次及其保护是常见考…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33008" y="2882646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第四章　细菌、真菌、病毒的结构对比，培养菌落的方法，微生物与人类关系…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3008" y="3175254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第一章　有性与无性生殖的判别、完全与不完全变态发育对比、鸟卵的结构是…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3008" y="3467862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第二章　性状与相对性状判别、染色体 DNA 基因的关系、显隐性遗传图…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33008" y="3760470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第三章　生命起源的假说与证据、进化历程与趋势、自然选择学说的分析应用…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3008" y="4053078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第四章　传染病三环节与预防措施的对应、特异性与非特异性免疫的判别、用…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生物学 · 初中知识讲解课件 ｜ 九科教辅规范包 v1.0 ｜ 57 / 58</a:t>
            </a:r>
            <a:endParaRPr lang="en-US" sz="11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3C55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65836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学科出口自检（独立完成）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905" y="1170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合上课本完成以下任务；评价标准在教师手册（course.json），先独立作答再对照自评。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9905" y="1783080"/>
            <a:ext cx="10971886" cy="841248"/>
          </a:xfrm>
          <a:prstGeom prst="roundRect">
            <a:avLst>
              <a:gd name="adj" fmla="val 6522"/>
            </a:avLst>
          </a:prstGeom>
          <a:solidFill>
            <a:srgbClr val="F5F2EA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9293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51153" y="1874520"/>
            <a:ext cx="98288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七年级上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学生写食物链“草→兔→狐→分解者”，你如何纠正并归纳书写规则？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9905" y="2752344"/>
            <a:ext cx="10971886" cy="841248"/>
          </a:xfrm>
          <a:prstGeom prst="roundRect">
            <a:avLst>
              <a:gd name="adj" fmla="val 6522"/>
            </a:avLst>
          </a:prstGeom>
          <a:solidFill>
            <a:srgbClr val="F5F2EA"/>
          </a:solidFill>
          <a:ln/>
        </p:spPr>
      </p:sp>
      <p:sp>
        <p:nvSpPr>
          <p:cNvPr id="9" name="Text 7"/>
          <p:cNvSpPr/>
          <p:nvPr/>
        </p:nvSpPr>
        <p:spPr>
          <a:xfrm>
            <a:off x="838505" y="289864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51153" y="2843784"/>
            <a:ext cx="98288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七年级下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学生认为“是人主动把空气吸进肺里”，你如何用模型实验讲清呼吸的动力？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09905" y="3721608"/>
            <a:ext cx="10971886" cy="841248"/>
          </a:xfrm>
          <a:prstGeom prst="roundRect">
            <a:avLst>
              <a:gd name="adj" fmla="val 6522"/>
            </a:avLst>
          </a:prstGeom>
          <a:solidFill>
            <a:srgbClr val="F5F2EA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38679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451153" y="3813048"/>
            <a:ext cx="98288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5376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学生认为“长颈鹿为了吃到高处叶子把脖子拉长了”，你如何用自然选择纠正？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09905" y="5806440"/>
            <a:ext cx="109718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薄弱分支：讲解页回看对应章节 A 页；图示读不懂 → 回 D 页对照；出口题出错 → 找教师按提示阶梯重做。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生物学·初中知识讲解课件</dc:title>
  <dc:subject>PptxGenJS Presentation</dc:subject>
  <dc:creator>Wilson</dc:creator>
  <cp:lastModifiedBy>Wilson</cp:lastModifiedBy>
  <cp:revision>1</cp:revision>
  <dcterms:created xsi:type="dcterms:W3CDTF">2026-09-15T20:37:25Z</dcterms:created>
  <dcterms:modified xsi:type="dcterms:W3CDTF">2026-09-15T20:37:25Z</dcterms:modified>
</cp:coreProperties>
</file>