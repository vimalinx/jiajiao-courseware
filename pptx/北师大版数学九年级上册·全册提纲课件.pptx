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全册提纲导航（教师用）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九年级上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905" y="2788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北师大版 · 北京师范大学出版社 ｜ 2022年版课程标准修订（国家教材委员会专家委员会审核通过 2024；2026 年 7 月第 1 版）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在用教材：2026 年秋九年级（2024 级）新版；注意本地文件名“2022修订”有误导，实为 2024 审核新版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· lesson_type math-04 单元联系与方法选择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教材身份与课件使用说明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4225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教材身份（已核验）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4225" y="23614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90065" y="23614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北师大版 · 北京师范大学出版社《数学 九年级 上册》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4225" y="291007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0065" y="291007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2022年版课程标准修订（国家教材委员会专家委员会审核通过 2024；2026 年 7 月第 1 版）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4225" y="345871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0065" y="345871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北师大版初中数学（新版把图形的相似、投影与视图移入九上，“圆”移至九下）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225" y="400735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0065" y="400735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北京师范大学出版社（PDF 共 190 页）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4225" y="455599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0065" y="455599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课本目录 I–II 页（PDF 第 6–7 页）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4225" y="51046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0065" y="51046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在用教材：2026 年秋九年级（2024 级）新版；注意本地文件名“2022修订”有误导，实为 2024 审核新版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6929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课件使用说明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页码对应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各章标注的课本页码转录自教材目录，可直接对照国家中小学智慧教育平台电子课本定位。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每章两页：A 页“节次导航 + 核心方法”，B 页“学习目标 + 易混警示 + 出口自检”。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出口自检的评价标准只存于 course.json（answer_text）与教师讲稿备注，不出现在放映页。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九科教辅规范包 v1.0：16:9 画布、EDITORIAL_ATLAS 主题、R01/R04/R22/R23/R24 配方。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2 / 17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全册知识地图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47150" y="49194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先建联系，再进细节（math-04）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0413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第一章 特殊平行四边形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判定链上加条件：菱形、矩形、正方形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47350" y="20413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7065" y="24757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第三章 图形的相似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从全等到相似：比例与变换的推广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47350" y="24757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60–105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7065" y="29100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第四章 投影与视图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三维与二维的互译：平行投影下的三视图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47350" y="29100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106–128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5" y="339928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7065" y="37101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第二章 一元二次方程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降次与建模：四种解法各有适用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47350" y="37101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31–59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7065" y="41445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第五章 二次函数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抛物线的图象语言与最值应用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47350" y="41445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129–163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905" y="463372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统计与概率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065" y="49446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第六章 概率的进一步认识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两步试验的概率：列举与频率两条路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47350" y="49446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164–185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065" y="5433822"/>
            <a:ext cx="10697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　</a:t>
            </a:r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猜想、证明与拓广（179 页）　·　池塘里有多少条鱼（180 页）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3 / 17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A｜第一章 · 特殊平行四边形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2–30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认识特殊平行四边形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菱形的性质与判定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矩形的性质与判定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297408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正方形的性质与判定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297408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905" y="330327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☆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问题解决活动：作内嵌于正方形的正八边形</a:t>
            </a:r>
            <a:pPr indent="0" marL="0">
              <a:buNone/>
            </a:pPr>
            <a:r>
              <a:rPr lang="en-US" sz="120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选学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13425" y="330327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3953" y="3632454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回顾与思考 26　·　复习题 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判定加条件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在平行四边形基础上逐条加条件得到特殊四边形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对角线模型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菱形对角线互相垂直，借助勾股计算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八下平行四边形 → 本章 → 第三章图形的相似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4 / 17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B｜第一章 · 特殊平行四边形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能从边、角、对角线三个角度辨析菱形、矩形、正方形并说明判定依据（1–4）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能用特殊平行四边形的性质完成计算与证明（2–4）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（选学）能完成作内嵌正八边形的问题解决活动（☆）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正方形判定漏“先证菱形或矩形”这一层　；　中点四边形形状判断缺讨论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矩形两条对角线的夹角为 60°，短边为 4，求另一边长并说明所用性质。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5 / 17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A｜第二章 · 一元二次方程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31–59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认识一元二次方程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一元二次方程的解法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一元二次方程的根与系数的关系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297408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一元二次方程的应用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297408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3953" y="330327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回顾与思考 55　·　复习题 55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选法顺序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缺一次项先开平方；能分解用因式分解；否则配方或公式法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增长率模型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a(1+x)² = b 型，注意 x 的实际范围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3" name="Text 21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八下因式分解 → 本章 → 第五章二次函数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6 / 17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B｜第二章 · 一元二次方程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能识别一元二次方程并选用合适的方法求解（1–2）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能用根与系数的关系检验方程的根或求对称式的值（3）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能建立方程模型解决增长率等问题并检验根的实际意义（4）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公式法代入时符号出错　；　应用题两个根不检验实际意义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用两种方法解 x² − 4x + 2 = 0，并比较两种方法的优劣。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7 / 17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A｜第三章 · 图形的相似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60–105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相似多边形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探索三角形相似的条件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相似三角形判定定理的证明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297408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相似三角形的性质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297408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905" y="330327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图形的位似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13425" y="330327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905" y="363245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☆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问题解决活动：利用相似三角形测高</a:t>
            </a:r>
            <a:pPr indent="0" marL="0">
              <a:buNone/>
            </a:pPr>
            <a:r>
              <a:rPr lang="en-US" sz="120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选学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13425" y="363245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3953" y="396163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回顾与思考 99　·　复习题 99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平行线出相似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字型与 8 字型基本图形识别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面积比平方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面积比等于相似比的平方，周长比等于相似比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7" name="Text 25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→ 本章 → 第四章投影与视图、九下锐角三角函数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8 / 17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B｜第三章 · 图形的相似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4995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8545" y="1968246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能说明相似多边形的概念与比例性质（1）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905" y="233400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8545" y="2352294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能按条件判定三角形相似并规范书写证明（2–3）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905" y="271805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8545" y="2736342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能用相似比说明对应周长、面积比的关系（4）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9905" y="310210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8545" y="3120390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能按位似中心与比画位似图形（5）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905" y="348615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8545" y="3504438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（选学）能用相似三角形测高（☆）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961638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2E3DC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1" y="403479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9361" y="4309110"/>
            <a:ext cx="105146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对应边顺序写错导致比例错　；　面积比与相似比混用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905" y="4766310"/>
            <a:ext cx="10971886" cy="987552"/>
          </a:xfrm>
          <a:prstGeom prst="roundRect">
            <a:avLst>
              <a:gd name="adj" fmla="val 463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29361" y="483946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9361" y="5113782"/>
            <a:ext cx="105146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△ABC 中，DE∥BC 交 AB 于 D、AC 于 E，AD=2，DB=3，求 AE:AC。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9361" y="546125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9 / 17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A｜第四章 · 投影与视图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106–128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回顾与思考 124　·　复习题 124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三视图对应规则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长对正、高平齐、宽相等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19265" y="2955798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7120433" y="3028950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20433" y="3303270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七上几何图形 → 本章 → 高中立体几何初步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10 / 17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B｜第四章 · 投影与视图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能区分中心投影与平行投影，并说明各自的特征（1）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能画简单几何体的三视图，并能由视图还原几何体（2）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905" y="31752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1" y="324840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9361" y="3522726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不可见轮廓线忘画虚线　；　由视图还原时漏宽度对应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4235958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9361" y="430911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1" y="4583430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画出“圆柱上方叠放半球”组合体的三视图，并标注对应关系。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9361" y="5113782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11 / 17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A｜第五章 · 二次函数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129–163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认识二次函数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二次函数的图象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二次函数的应用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297408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二次函数与一元二次方程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297408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148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905" y="330327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☆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问题解决活动：怎样围面积最大</a:t>
            </a:r>
            <a:pPr indent="0" marL="0">
              <a:buNone/>
            </a:pPr>
            <a:r>
              <a:rPr lang="en-US" sz="120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选学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13425" y="330327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3953" y="3632454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回顾与思考 156　·　复习题 156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配方顶点式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化为 y = a(x−h)² + k 后读顶点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图象与判别式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交点个数对应 Δ 的符号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→ 本章 → 高中二次函数与不等式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12 / 17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B｜第五章 · 二次函数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4995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8545" y="1968246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能识别二次函数的表达式（1）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905" y="233400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8545" y="2352294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能用配方法确定图象的顶点与对称轴，并描述性质（2）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905" y="271805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8545" y="2736342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能建立二次函数模型求实际问题的最值（3）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9905" y="310210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8545" y="3120390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能借助图象说明二次函数与一元二次方程的关系（4）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905" y="348615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8545" y="3504438"/>
            <a:ext cx="103318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（选学）探究面积最大问题（☆）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961638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2E3DC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1" y="403479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9361" y="4309110"/>
            <a:ext cx="105146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配方计算错导致顶点错　；　实际最值忽略自变量范围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905" y="4766310"/>
            <a:ext cx="10971886" cy="987552"/>
          </a:xfrm>
          <a:prstGeom prst="roundRect">
            <a:avLst>
              <a:gd name="adj" fmla="val 463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29361" y="483946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9361" y="5113782"/>
            <a:ext cx="105146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y = x² − 4x + 3 配方，写出顶点坐标和与 x 轴的交点。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9361" y="546125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13 / 17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A｜第六章 · 概率的进一步认识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164–185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用树状图或表格求概率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用频率估计概率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回顾与思考 176　·　复习题 176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列举不重不漏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树状图分层、表格行列各表一次试验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频率稳定值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大量重复试验中频率趋于稳定，即概率的估计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19" name="Text 17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七年级概率经验 → 本章 → 高中概率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14 / 17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B｜第六章 · 概率的进一步认识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能用树状图或表格求两步随机事件的概率（1）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能用频率估计概率，并设计简单的模拟实验（2）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905" y="31752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1" y="324840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9361" y="3522726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不等可能事件误按等可能计算　；　列举漏分支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4235958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9361" y="430911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1" y="4583430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同时抛两枚质地均匀的硬币，用树状图求“一正一反”的概率。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9361" y="5113782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15 / 17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综合与实践与学期安排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05968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213283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猜想、证明与拓广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179 页　·　第三章后开展，从猜想走向证明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905" y="288264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7649" y="295579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池塘里有多少条鱼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180 页　·　第六章后开展，用频率估计概率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9905" y="375132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7065" y="4089654"/>
            <a:ext cx="10697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期中前：完成前 3 章的知识地图与各章出口自检；期末前：完成其余章节，并用最后一页“全册出口自检”合册过关。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47937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跨册衔接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7065" y="5132070"/>
            <a:ext cx="106975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目录未单独标注章起始页，起始页按该章第 1 节记录；“☆”为问题解决活动（选学）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 上册》全册提纲课件 ｜ 课本页码依目录转录 ｜ 16 / 17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全册出口自检（R24 · 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合上课本完成以下三项任务；先独立作答，再对照教师手册中的评价标准自评。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828800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8585" y="1938528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知识地图重建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凭记忆画出本册知识地图，并说明两条跨章联系（对应各章 A 页“联系链”）。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905" y="2907792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78585" y="3017520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方法卡默写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任选两章默写“核心方法卡”，并为每条方法各举一个例子，写明适用条件。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905" y="3986784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4169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78585" y="4096512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出口题限时完成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从各章“出口自检”任选 2 题，限时 15 分钟完成，再对照评价标准自评。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905" y="5230368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分支建议：知识地图卡壳 → 回第 3 页重看结构；方法默写卡壳 → 回对应章 A 页；自检出错 → 回对应章 B 页后完成剩余任务。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本页为独立检测页：初始状态不显示任何评价内容（is_assessment）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北师大版数学九年级上册·全册提纲课件</dc:title>
  <dc:subject>PptxGenJS Presentation</dc:subject>
  <dc:creator>Wilson</dc:creator>
  <cp:lastModifiedBy>Wilson</cp:lastModifiedBy>
  <cp:revision>1</cp:revision>
  <dcterms:created xsi:type="dcterms:W3CDTF">2026-09-15T17:05:21Z</dcterms:created>
  <dcterms:modified xsi:type="dcterms:W3CDTF">2026-09-15T17:05:21Z</dcterms:modified>
</cp:coreProperties>
</file>