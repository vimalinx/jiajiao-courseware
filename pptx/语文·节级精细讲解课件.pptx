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slideMasters/slideMaster211.xml" ContentType="application/vnd.openxmlformats-officedocument.presentationml.slideMaster+xml"/>
  <Override PartName="/ppt/slides/slide211.xml" ContentType="application/vnd.openxmlformats-officedocument.presentationml.slide+xml"/>
  <Override PartName="/ppt/slideMasters/slideMaster212.xml" ContentType="application/vnd.openxmlformats-officedocument.presentationml.slideMaster+xml"/>
  <Override PartName="/ppt/slides/slide212.xml" ContentType="application/vnd.openxmlformats-officedocument.presentationml.slide+xml"/>
  <Override PartName="/ppt/slideMasters/slideMaster213.xml" ContentType="application/vnd.openxmlformats-officedocument.presentationml.slideMaster+xml"/>
  <Override PartName="/ppt/slides/slide213.xml" ContentType="application/vnd.openxmlformats-officedocument.presentationml.slide+xml"/>
  <Override PartName="/ppt/slideMasters/slideMaster214.xml" ContentType="application/vnd.openxmlformats-officedocument.presentationml.slideMaster+xml"/>
  <Override PartName="/ppt/slides/slide214.xml" ContentType="application/vnd.openxmlformats-officedocument.presentationml.slide+xml"/>
  <Override PartName="/ppt/slideMasters/slideMaster215.xml" ContentType="application/vnd.openxmlformats-officedocument.presentationml.slideMaster+xml"/>
  <Override PartName="/ppt/slides/slide215.xml" ContentType="application/vnd.openxmlformats-officedocument.presentationml.slide+xml"/>
  <Override PartName="/ppt/slideMasters/slideMaster216.xml" ContentType="application/vnd.openxmlformats-officedocument.presentationml.slideMaster+xml"/>
  <Override PartName="/ppt/slides/slide216.xml" ContentType="application/vnd.openxmlformats-officedocument.presentationml.slide+xml"/>
  <Override PartName="/ppt/slideMasters/slideMaster217.xml" ContentType="application/vnd.openxmlformats-officedocument.presentationml.slideMaster+xml"/>
  <Override PartName="/ppt/slides/slide217.xml" ContentType="application/vnd.openxmlformats-officedocument.presentationml.slide+xml"/>
  <Override PartName="/ppt/slideMasters/slideMaster218.xml" ContentType="application/vnd.openxmlformats-officedocument.presentationml.slideMaster+xml"/>
  <Override PartName="/ppt/slides/slide218.xml" ContentType="application/vnd.openxmlformats-officedocument.presentationml.slide+xml"/>
  <Override PartName="/ppt/slideMasters/slideMaster219.xml" ContentType="application/vnd.openxmlformats-officedocument.presentationml.slideMaster+xml"/>
  <Override PartName="/ppt/slides/slide219.xml" ContentType="application/vnd.openxmlformats-officedocument.presentationml.slide+xml"/>
  <Override PartName="/ppt/slideMasters/slideMaster220.xml" ContentType="application/vnd.openxmlformats-officedocument.presentationml.slideMaster+xml"/>
  <Override PartName="/ppt/slides/slide220.xml" ContentType="application/vnd.openxmlformats-officedocument.presentationml.slide+xml"/>
  <Override PartName="/ppt/slideMasters/slideMaster221.xml" ContentType="application/vnd.openxmlformats-officedocument.presentationml.slideMaster+xml"/>
  <Override PartName="/ppt/slides/slide221.xml" ContentType="application/vnd.openxmlformats-officedocument.presentationml.slide+xml"/>
  <Override PartName="/ppt/slideMasters/slideMaster222.xml" ContentType="application/vnd.openxmlformats-officedocument.presentationml.slideMaster+xml"/>
  <Override PartName="/ppt/slides/slide222.xml" ContentType="application/vnd.openxmlformats-officedocument.presentationml.slide+xml"/>
  <Override PartName="/ppt/slideMasters/slideMaster223.xml" ContentType="application/vnd.openxmlformats-officedocument.presentationml.slideMaster+xml"/>
  <Override PartName="/ppt/slides/slide223.xml" ContentType="application/vnd.openxmlformats-officedocument.presentationml.slide+xml"/>
  <Override PartName="/ppt/slideMasters/slideMaster224.xml" ContentType="application/vnd.openxmlformats-officedocument.presentationml.slideMaster+xml"/>
  <Override PartName="/ppt/slides/slide224.xml" ContentType="application/vnd.openxmlformats-officedocument.presentationml.slide+xml"/>
  <Override PartName="/ppt/slideMasters/slideMaster225.xml" ContentType="application/vnd.openxmlformats-officedocument.presentationml.slideMaster+xml"/>
  <Override PartName="/ppt/slides/slide225.xml" ContentType="application/vnd.openxmlformats-officedocument.presentationml.slide+xml"/>
  <Override PartName="/ppt/slideMasters/slideMaster226.xml" ContentType="application/vnd.openxmlformats-officedocument.presentationml.slideMaster+xml"/>
  <Override PartName="/ppt/slides/slide226.xml" ContentType="application/vnd.openxmlformats-officedocument.presentationml.slide+xml"/>
  <Override PartName="/ppt/slideMasters/slideMaster227.xml" ContentType="application/vnd.openxmlformats-officedocument.presentationml.slideMaster+xml"/>
  <Override PartName="/ppt/slides/slide227.xml" ContentType="application/vnd.openxmlformats-officedocument.presentationml.slide+xml"/>
  <Override PartName="/ppt/slideMasters/slideMaster228.xml" ContentType="application/vnd.openxmlformats-officedocument.presentationml.slideMaster+xml"/>
  <Override PartName="/ppt/slides/slide228.xml" ContentType="application/vnd.openxmlformats-officedocument.presentationml.slide+xml"/>
  <Override PartName="/ppt/slideMasters/slideMaster229.xml" ContentType="application/vnd.openxmlformats-officedocument.presentationml.slideMaster+xml"/>
  <Override PartName="/ppt/slides/slide229.xml" ContentType="application/vnd.openxmlformats-officedocument.presentationml.slide+xml"/>
  <Override PartName="/ppt/slideMasters/slideMaster230.xml" ContentType="application/vnd.openxmlformats-officedocument.presentationml.slideMaster+xml"/>
  <Override PartName="/ppt/slides/slide230.xml" ContentType="application/vnd.openxmlformats-officedocument.presentationml.slide+xml"/>
  <Override PartName="/ppt/slideMasters/slideMaster231.xml" ContentType="application/vnd.openxmlformats-officedocument.presentationml.slideMaster+xml"/>
  <Override PartName="/ppt/slides/slide231.xml" ContentType="application/vnd.openxmlformats-officedocument.presentationml.slide+xml"/>
  <Override PartName="/ppt/slideMasters/slideMaster232.xml" ContentType="application/vnd.openxmlformats-officedocument.presentationml.slideMaster+xml"/>
  <Override PartName="/ppt/slides/slide232.xml" ContentType="application/vnd.openxmlformats-officedocument.presentationml.slide+xml"/>
  <Override PartName="/ppt/slideMasters/slideMaster233.xml" ContentType="application/vnd.openxmlformats-officedocument.presentationml.slideMaster+xml"/>
  <Override PartName="/ppt/slides/slide233.xml" ContentType="application/vnd.openxmlformats-officedocument.presentationml.slide+xml"/>
  <Override PartName="/ppt/slideMasters/slideMaster234.xml" ContentType="application/vnd.openxmlformats-officedocument.presentationml.slideMaster+xml"/>
  <Override PartName="/ppt/slides/slide234.xml" ContentType="application/vnd.openxmlformats-officedocument.presentationml.slide+xml"/>
  <Override PartName="/ppt/slideMasters/slideMaster235.xml" ContentType="application/vnd.openxmlformats-officedocument.presentationml.slideMaster+xml"/>
  <Override PartName="/ppt/slides/slide235.xml" ContentType="application/vnd.openxmlformats-officedocument.presentationml.slide+xml"/>
  <Override PartName="/ppt/slideMasters/slideMaster236.xml" ContentType="application/vnd.openxmlformats-officedocument.presentationml.slideMaster+xml"/>
  <Override PartName="/ppt/slides/slide236.xml" ContentType="application/vnd.openxmlformats-officedocument.presentationml.slide+xml"/>
  <Override PartName="/ppt/slideMasters/slideMaster237.xml" ContentType="application/vnd.openxmlformats-officedocument.presentationml.slideMaster+xml"/>
  <Override PartName="/ppt/slides/slide237.xml" ContentType="application/vnd.openxmlformats-officedocument.presentationml.slide+xml"/>
  <Override PartName="/ppt/slideMasters/slideMaster238.xml" ContentType="application/vnd.openxmlformats-officedocument.presentationml.slideMaster+xml"/>
  <Override PartName="/ppt/slides/slide238.xml" ContentType="application/vnd.openxmlformats-officedocument.presentationml.slide+xml"/>
  <Override PartName="/ppt/slideMasters/slideMaster239.xml" ContentType="application/vnd.openxmlformats-officedocument.presentationml.slideMaster+xml"/>
  <Override PartName="/ppt/slides/slide239.xml" ContentType="application/vnd.openxmlformats-officedocument.presentationml.slide+xml"/>
  <Override PartName="/ppt/slideMasters/slideMaster240.xml" ContentType="application/vnd.openxmlformats-officedocument.presentationml.slideMaster+xml"/>
  <Override PartName="/ppt/slides/slide240.xml" ContentType="application/vnd.openxmlformats-officedocument.presentationml.slide+xml"/>
  <Override PartName="/ppt/slideMasters/slideMaster241.xml" ContentType="application/vnd.openxmlformats-officedocument.presentationml.slideMaster+xml"/>
  <Override PartName="/ppt/slides/slide241.xml" ContentType="application/vnd.openxmlformats-officedocument.presentationml.slide+xml"/>
  <Override PartName="/ppt/slideMasters/slideMaster242.xml" ContentType="application/vnd.openxmlformats-officedocument.presentationml.slideMaster+xml"/>
  <Override PartName="/ppt/slides/slide242.xml" ContentType="application/vnd.openxmlformats-officedocument.presentationml.slide+xml"/>
  <Override PartName="/ppt/slideMasters/slideMaster243.xml" ContentType="application/vnd.openxmlformats-officedocument.presentationml.slideMaster+xml"/>
  <Override PartName="/ppt/slides/slide243.xml" ContentType="application/vnd.openxmlformats-officedocument.presentationml.slide+xml"/>
  <Override PartName="/ppt/slideMasters/slideMaster244.xml" ContentType="application/vnd.openxmlformats-officedocument.presentationml.slideMaster+xml"/>
  <Override PartName="/ppt/slides/slide244.xml" ContentType="application/vnd.openxmlformats-officedocument.presentationml.slide+xml"/>
  <Override PartName="/ppt/slideMasters/slideMaster245.xml" ContentType="application/vnd.openxmlformats-officedocument.presentationml.slideMaster+xml"/>
  <Override PartName="/ppt/slides/slide245.xml" ContentType="application/vnd.openxmlformats-officedocument.presentationml.slide+xml"/>
  <Override PartName="/ppt/slideMasters/slideMaster246.xml" ContentType="application/vnd.openxmlformats-officedocument.presentationml.slideMaster+xml"/>
  <Override PartName="/ppt/slides/slide246.xml" ContentType="application/vnd.openxmlformats-officedocument.presentationml.slide+xml"/>
  <Override PartName="/ppt/slideMasters/slideMaster247.xml" ContentType="application/vnd.openxmlformats-officedocument.presentationml.slideMaster+xml"/>
  <Override PartName="/ppt/slides/slide247.xml" ContentType="application/vnd.openxmlformats-officedocument.presentationml.slide+xml"/>
  <Override PartName="/ppt/slideMasters/slideMaster248.xml" ContentType="application/vnd.openxmlformats-officedocument.presentationml.slideMaster+xml"/>
  <Override PartName="/ppt/slides/slide248.xml" ContentType="application/vnd.openxmlformats-officedocument.presentationml.slide+xml"/>
  <Override PartName="/ppt/slideMasters/slideMaster249.xml" ContentType="application/vnd.openxmlformats-officedocument.presentationml.slideMaster+xml"/>
  <Override PartName="/ppt/slides/slide249.xml" ContentType="application/vnd.openxmlformats-officedocument.presentationml.slide+xml"/>
  <Override PartName="/ppt/slideMasters/slideMaster250.xml" ContentType="application/vnd.openxmlformats-officedocument.presentationml.slideMaster+xml"/>
  <Override PartName="/ppt/slides/slide250.xml" ContentType="application/vnd.openxmlformats-officedocument.presentationml.slide+xml"/>
  <Override PartName="/ppt/slideMasters/slideMaster251.xml" ContentType="application/vnd.openxmlformats-officedocument.presentationml.slideMaster+xml"/>
  <Override PartName="/ppt/slides/slide251.xml" ContentType="application/vnd.openxmlformats-officedocument.presentationml.slide+xml"/>
  <Override PartName="/ppt/slideMasters/slideMaster252.xml" ContentType="application/vnd.openxmlformats-officedocument.presentationml.slideMaster+xml"/>
  <Override PartName="/ppt/slides/slide252.xml" ContentType="application/vnd.openxmlformats-officedocument.presentationml.slide+xml"/>
  <Override PartName="/ppt/slideMasters/slideMaster253.xml" ContentType="application/vnd.openxmlformats-officedocument.presentationml.slideMaster+xml"/>
  <Override PartName="/ppt/slides/slide253.xml" ContentType="application/vnd.openxmlformats-officedocument.presentationml.slide+xml"/>
  <Override PartName="/ppt/slideMasters/slideMaster254.xml" ContentType="application/vnd.openxmlformats-officedocument.presentationml.slideMaster+xml"/>
  <Override PartName="/ppt/slides/slide254.xml" ContentType="application/vnd.openxmlformats-officedocument.presentationml.slide+xml"/>
  <Override PartName="/ppt/slideMasters/slideMaster255.xml" ContentType="application/vnd.openxmlformats-officedocument.presentationml.slideMaster+xml"/>
  <Override PartName="/ppt/slides/slide255.xml" ContentType="application/vnd.openxmlformats-officedocument.presentationml.slide+xml"/>
  <Override PartName="/ppt/slideMasters/slideMaster256.xml" ContentType="application/vnd.openxmlformats-officedocument.presentationml.slideMaster+xml"/>
  <Override PartName="/ppt/slides/slide256.xml" ContentType="application/vnd.openxmlformats-officedocument.presentationml.slide+xml"/>
  <Override PartName="/ppt/slideMasters/slideMaster257.xml" ContentType="application/vnd.openxmlformats-officedocument.presentationml.slideMaster+xml"/>
  <Override PartName="/ppt/slides/slide257.xml" ContentType="application/vnd.openxmlformats-officedocument.presentationml.slide+xml"/>
  <Override PartName="/ppt/slideMasters/slideMaster258.xml" ContentType="application/vnd.openxmlformats-officedocument.presentationml.slideMaster+xml"/>
  <Override PartName="/ppt/slides/slide258.xml" ContentType="application/vnd.openxmlformats-officedocument.presentationml.slide+xml"/>
  <Override PartName="/ppt/slideMasters/slideMaster259.xml" ContentType="application/vnd.openxmlformats-officedocument.presentationml.slideMaster+xml"/>
  <Override PartName="/ppt/slides/slide259.xml" ContentType="application/vnd.openxmlformats-officedocument.presentationml.slide+xml"/>
  <Override PartName="/ppt/slideMasters/slideMaster260.xml" ContentType="application/vnd.openxmlformats-officedocument.presentationml.slideMaster+xml"/>
  <Override PartName="/ppt/slides/slide260.xml" ContentType="application/vnd.openxmlformats-officedocument.presentationml.slide+xml"/>
  <Override PartName="/ppt/slideMasters/slideMaster261.xml" ContentType="application/vnd.openxmlformats-officedocument.presentationml.slideMaster+xml"/>
  <Override PartName="/ppt/slides/slide261.xml" ContentType="application/vnd.openxmlformats-officedocument.presentationml.slide+xml"/>
  <Override PartName="/ppt/slideMasters/slideMaster262.xml" ContentType="application/vnd.openxmlformats-officedocument.presentationml.slideMaster+xml"/>
  <Override PartName="/ppt/slides/slide262.xml" ContentType="application/vnd.openxmlformats-officedocument.presentationml.slide+xml"/>
  <Override PartName="/ppt/slideMasters/slideMaster263.xml" ContentType="application/vnd.openxmlformats-officedocument.presentationml.slideMaster+xml"/>
  <Override PartName="/ppt/slides/slide263.xml" ContentType="application/vnd.openxmlformats-officedocument.presentationml.slide+xml"/>
  <Override PartName="/ppt/slideMasters/slideMaster264.xml" ContentType="application/vnd.openxmlformats-officedocument.presentationml.slideMaster+xml"/>
  <Override PartName="/ppt/slides/slide264.xml" ContentType="application/vnd.openxmlformats-officedocument.presentationml.slide+xml"/>
  <Override PartName="/ppt/slideMasters/slideMaster265.xml" ContentType="application/vnd.openxmlformats-officedocument.presentationml.slideMaster+xml"/>
  <Override PartName="/ppt/slides/slide265.xml" ContentType="application/vnd.openxmlformats-officedocument.presentationml.slide+xml"/>
  <Override PartName="/ppt/slideMasters/slideMaster266.xml" ContentType="application/vnd.openxmlformats-officedocument.presentationml.slideMaster+xml"/>
  <Override PartName="/ppt/slides/slide266.xml" ContentType="application/vnd.openxmlformats-officedocument.presentationml.slide+xml"/>
  <Override PartName="/ppt/slideMasters/slideMaster267.xml" ContentType="application/vnd.openxmlformats-officedocument.presentationml.slideMaster+xml"/>
  <Override PartName="/ppt/slides/slide267.xml" ContentType="application/vnd.openxmlformats-officedocument.presentationml.slide+xml"/>
  <Override PartName="/ppt/slideMasters/slideMaster268.xml" ContentType="application/vnd.openxmlformats-officedocument.presentationml.slideMaster+xml"/>
  <Override PartName="/ppt/slides/slide268.xml" ContentType="application/vnd.openxmlformats-officedocument.presentationml.slide+xml"/>
  <Override PartName="/ppt/slideMasters/slideMaster269.xml" ContentType="application/vnd.openxmlformats-officedocument.presentationml.slideMaster+xml"/>
  <Override PartName="/ppt/slides/slide269.xml" ContentType="application/vnd.openxmlformats-officedocument.presentationml.slide+xml"/>
  <Override PartName="/ppt/slideMasters/slideMaster270.xml" ContentType="application/vnd.openxmlformats-officedocument.presentationml.slideMaster+xml"/>
  <Override PartName="/ppt/slides/slide270.xml" ContentType="application/vnd.openxmlformats-officedocument.presentationml.slide+xml"/>
  <Override PartName="/ppt/slideMasters/slideMaster271.xml" ContentType="application/vnd.openxmlformats-officedocument.presentationml.slideMaster+xml"/>
  <Override PartName="/ppt/slides/slide271.xml" ContentType="application/vnd.openxmlformats-officedocument.presentationml.slide+xml"/>
  <Override PartName="/ppt/slideMasters/slideMaster272.xml" ContentType="application/vnd.openxmlformats-officedocument.presentationml.slideMaster+xml"/>
  <Override PartName="/ppt/slides/slide272.xml" ContentType="application/vnd.openxmlformats-officedocument.presentationml.slide+xml"/>
  <Override PartName="/ppt/slideMasters/slideMaster273.xml" ContentType="application/vnd.openxmlformats-officedocument.presentationml.slideMaster+xml"/>
  <Override PartName="/ppt/slides/slide273.xml" ContentType="application/vnd.openxmlformats-officedocument.presentationml.slide+xml"/>
  <Override PartName="/ppt/slideMasters/slideMaster274.xml" ContentType="application/vnd.openxmlformats-officedocument.presentationml.slideMaster+xml"/>
  <Override PartName="/ppt/slides/slide274.xml" ContentType="application/vnd.openxmlformats-officedocument.presentationml.slide+xml"/>
  <Override PartName="/ppt/slideMasters/slideMaster275.xml" ContentType="application/vnd.openxmlformats-officedocument.presentationml.slideMaster+xml"/>
  <Override PartName="/ppt/slides/slide275.xml" ContentType="application/vnd.openxmlformats-officedocument.presentationml.slide+xml"/>
  <Override PartName="/ppt/slideMasters/slideMaster276.xml" ContentType="application/vnd.openxmlformats-officedocument.presentationml.slideMaster+xml"/>
  <Override PartName="/ppt/slides/slide276.xml" ContentType="application/vnd.openxmlformats-officedocument.presentationml.slide+xml"/>
  <Override PartName="/ppt/slideMasters/slideMaster277.xml" ContentType="application/vnd.openxmlformats-officedocument.presentationml.slideMaster+xml"/>
  <Override PartName="/ppt/slides/slide277.xml" ContentType="application/vnd.openxmlformats-officedocument.presentationml.slide+xml"/>
  <Override PartName="/ppt/slideMasters/slideMaster278.xml" ContentType="application/vnd.openxmlformats-officedocument.presentationml.slideMaster+xml"/>
  <Override PartName="/ppt/slides/slide278.xml" ContentType="application/vnd.openxmlformats-officedocument.presentationml.slide+xml"/>
  <Override PartName="/ppt/slideMasters/slideMaster279.xml" ContentType="application/vnd.openxmlformats-officedocument.presentationml.slideMaster+xml"/>
  <Override PartName="/ppt/slides/slide279.xml" ContentType="application/vnd.openxmlformats-officedocument.presentationml.slide+xml"/>
  <Override PartName="/ppt/slideMasters/slideMaster280.xml" ContentType="application/vnd.openxmlformats-officedocument.presentationml.slideMaster+xml"/>
  <Override PartName="/ppt/slides/slide280.xml" ContentType="application/vnd.openxmlformats-officedocument.presentationml.slide+xml"/>
  <Override PartName="/ppt/slideMasters/slideMaster281.xml" ContentType="application/vnd.openxmlformats-officedocument.presentationml.slideMaster+xml"/>
  <Override PartName="/ppt/slides/slide281.xml" ContentType="application/vnd.openxmlformats-officedocument.presentationml.slide+xml"/>
  <Override PartName="/ppt/slideMasters/slideMaster282.xml" ContentType="application/vnd.openxmlformats-officedocument.presentationml.slideMaster+xml"/>
  <Override PartName="/ppt/slides/slide282.xml" ContentType="application/vnd.openxmlformats-officedocument.presentationml.slide+xml"/>
  <Override PartName="/ppt/slideMasters/slideMaster283.xml" ContentType="application/vnd.openxmlformats-officedocument.presentationml.slideMaster+xml"/>
  <Override PartName="/ppt/slides/slide283.xml" ContentType="application/vnd.openxmlformats-officedocument.presentationml.slide+xml"/>
  <Override PartName="/ppt/slideMasters/slideMaster284.xml" ContentType="application/vnd.openxmlformats-officedocument.presentationml.slideMaster+xml"/>
  <Override PartName="/ppt/slides/slide284.xml" ContentType="application/vnd.openxmlformats-officedocument.presentationml.slide+xml"/>
  <Override PartName="/ppt/slideMasters/slideMaster285.xml" ContentType="application/vnd.openxmlformats-officedocument.presentationml.slideMaster+xml"/>
  <Override PartName="/ppt/slides/slide285.xml" ContentType="application/vnd.openxmlformats-officedocument.presentationml.slide+xml"/>
  <Override PartName="/ppt/slideMasters/slideMaster286.xml" ContentType="application/vnd.openxmlformats-officedocument.presentationml.slideMaster+xml"/>
  <Override PartName="/ppt/slides/slide286.xml" ContentType="application/vnd.openxmlformats-officedocument.presentationml.slide+xml"/>
  <Override PartName="/ppt/slideMasters/slideMaster287.xml" ContentType="application/vnd.openxmlformats-officedocument.presentationml.slideMaster+xml"/>
  <Override PartName="/ppt/slides/slide287.xml" ContentType="application/vnd.openxmlformats-officedocument.presentationml.slide+xml"/>
  <Override PartName="/ppt/slideMasters/slideMaster288.xml" ContentType="application/vnd.openxmlformats-officedocument.presentationml.slideMaster+xml"/>
  <Override PartName="/ppt/slides/slide288.xml" ContentType="application/vnd.openxmlformats-officedocument.presentationml.slide+xml"/>
  <Override PartName="/ppt/slideMasters/slideMaster289.xml" ContentType="application/vnd.openxmlformats-officedocument.presentationml.slideMaster+xml"/>
  <Override PartName="/ppt/slides/slide289.xml" ContentType="application/vnd.openxmlformats-officedocument.presentationml.slide+xml"/>
  <Override PartName="/ppt/slideMasters/slideMaster290.xml" ContentType="application/vnd.openxmlformats-officedocument.presentationml.slideMaster+xml"/>
  <Override PartName="/ppt/slides/slide290.xml" ContentType="application/vnd.openxmlformats-officedocument.presentationml.slide+xml"/>
  <Override PartName="/ppt/slideMasters/slideMaster291.xml" ContentType="application/vnd.openxmlformats-officedocument.presentationml.slideMaster+xml"/>
  <Override PartName="/ppt/slides/slide291.xml" ContentType="application/vnd.openxmlformats-officedocument.presentationml.slide+xml"/>
  <Override PartName="/ppt/slideMasters/slideMaster292.xml" ContentType="application/vnd.openxmlformats-officedocument.presentationml.slideMaster+xml"/>
  <Override PartName="/ppt/slides/slide292.xml" ContentType="application/vnd.openxmlformats-officedocument.presentationml.slide+xml"/>
  <Override PartName="/ppt/slideMasters/slideMaster293.xml" ContentType="application/vnd.openxmlformats-officedocument.presentationml.slideMaster+xml"/>
  <Override PartName="/ppt/slides/slide293.xml" ContentType="application/vnd.openxmlformats-officedocument.presentationml.slide+xml"/>
  <Override PartName="/ppt/slideMasters/slideMaster294.xml" ContentType="application/vnd.openxmlformats-officedocument.presentationml.slideMaster+xml"/>
  <Override PartName="/ppt/slides/slide294.xml" ContentType="application/vnd.openxmlformats-officedocument.presentationml.slide+xml"/>
  <Override PartName="/ppt/slideMasters/slideMaster295.xml" ContentType="application/vnd.openxmlformats-officedocument.presentationml.slideMaster+xml"/>
  <Override PartName="/ppt/slides/slide295.xml" ContentType="application/vnd.openxmlformats-officedocument.presentationml.slide+xml"/>
  <Override PartName="/ppt/slideMasters/slideMaster296.xml" ContentType="application/vnd.openxmlformats-officedocument.presentationml.slideMaster+xml"/>
  <Override PartName="/ppt/slides/slide296.xml" ContentType="application/vnd.openxmlformats-officedocument.presentationml.slide+xml"/>
  <Override PartName="/ppt/slideMasters/slideMaster297.xml" ContentType="application/vnd.openxmlformats-officedocument.presentationml.slideMaster+xml"/>
  <Override PartName="/ppt/slides/slide297.xml" ContentType="application/vnd.openxmlformats-officedocument.presentationml.slide+xml"/>
  <Override PartName="/ppt/slideMasters/slideMaster298.xml" ContentType="application/vnd.openxmlformats-officedocument.presentationml.slideMaster+xml"/>
  <Override PartName="/ppt/slides/slide298.xml" ContentType="application/vnd.openxmlformats-officedocument.presentationml.slide+xml"/>
  <Override PartName="/ppt/slideMasters/slideMaster299.xml" ContentType="application/vnd.openxmlformats-officedocument.presentationml.slideMaster+xml"/>
  <Override PartName="/ppt/slides/slide299.xml" ContentType="application/vnd.openxmlformats-officedocument.presentationml.slide+xml"/>
  <Override PartName="/ppt/slideMasters/slideMaster300.xml" ContentType="application/vnd.openxmlformats-officedocument.presentationml.slideMaster+xml"/>
  <Override PartName="/ppt/slides/slide300.xml" ContentType="application/vnd.openxmlformats-officedocument.presentationml.slide+xml"/>
  <Override PartName="/ppt/slideMasters/slideMaster301.xml" ContentType="application/vnd.openxmlformats-officedocument.presentationml.slideMaster+xml"/>
  <Override PartName="/ppt/slides/slide301.xml" ContentType="application/vnd.openxmlformats-officedocument.presentationml.slide+xml"/>
  <Override PartName="/ppt/slideMasters/slideMaster302.xml" ContentType="application/vnd.openxmlformats-officedocument.presentationml.slideMaster+xml"/>
  <Override PartName="/ppt/slides/slide302.xml" ContentType="application/vnd.openxmlformats-officedocument.presentationml.slide+xml"/>
  <Override PartName="/ppt/slideMasters/slideMaster303.xml" ContentType="application/vnd.openxmlformats-officedocument.presentationml.slideMaster+xml"/>
  <Override PartName="/ppt/slides/slide303.xml" ContentType="application/vnd.openxmlformats-officedocument.presentationml.slide+xml"/>
  <Override PartName="/ppt/slideMasters/slideMaster304.xml" ContentType="application/vnd.openxmlformats-officedocument.presentationml.slideMaster+xml"/>
  <Override PartName="/ppt/slides/slide304.xml" ContentType="application/vnd.openxmlformats-officedocument.presentationml.slide+xml"/>
  <Override PartName="/ppt/slideMasters/slideMaster305.xml" ContentType="application/vnd.openxmlformats-officedocument.presentationml.slideMaster+xml"/>
  <Override PartName="/ppt/slides/slide305.xml" ContentType="application/vnd.openxmlformats-officedocument.presentationml.slide+xml"/>
  <Override PartName="/ppt/slideMasters/slideMaster306.xml" ContentType="application/vnd.openxmlformats-officedocument.presentationml.slideMaster+xml"/>
  <Override PartName="/ppt/slides/slide306.xml" ContentType="application/vnd.openxmlformats-officedocument.presentationml.slide+xml"/>
  <Override PartName="/ppt/slideMasters/slideMaster307.xml" ContentType="application/vnd.openxmlformats-officedocument.presentationml.slideMaster+xml"/>
  <Override PartName="/ppt/slides/slide307.xml" ContentType="application/vnd.openxmlformats-officedocument.presentationml.slide+xml"/>
  <Override PartName="/ppt/slideMasters/slideMaster308.xml" ContentType="application/vnd.openxmlformats-officedocument.presentationml.slideMaster+xml"/>
  <Override PartName="/ppt/slides/slide308.xml" ContentType="application/vnd.openxmlformats-officedocument.presentationml.slide+xml"/>
  <Override PartName="/ppt/slideMasters/slideMaster309.xml" ContentType="application/vnd.openxmlformats-officedocument.presentationml.slideMaster+xml"/>
  <Override PartName="/ppt/slides/slide309.xml" ContentType="application/vnd.openxmlformats-officedocument.presentationml.slide+xml"/>
  <Override PartName="/ppt/slideMasters/slideMaster310.xml" ContentType="application/vnd.openxmlformats-officedocument.presentationml.slideMaster+xml"/>
  <Override PartName="/ppt/slides/slide310.xml" ContentType="application/vnd.openxmlformats-officedocument.presentationml.slide+xml"/>
  <Override PartName="/ppt/slideMasters/slideMaster311.xml" ContentType="application/vnd.openxmlformats-officedocument.presentationml.slideMaster+xml"/>
  <Override PartName="/ppt/slides/slide311.xml" ContentType="application/vnd.openxmlformats-officedocument.presentationml.slide+xml"/>
  <Override PartName="/ppt/slideMasters/slideMaster312.xml" ContentType="application/vnd.openxmlformats-officedocument.presentationml.slideMaster+xml"/>
  <Override PartName="/ppt/slides/slide312.xml" ContentType="application/vnd.openxmlformats-officedocument.presentationml.slide+xml"/>
  <Override PartName="/ppt/slideMasters/slideMaster313.xml" ContentType="application/vnd.openxmlformats-officedocument.presentationml.slideMaster+xml"/>
  <Override PartName="/ppt/slides/slide313.xml" ContentType="application/vnd.openxmlformats-officedocument.presentationml.slide+xml"/>
  <Override PartName="/ppt/slideMasters/slideMaster314.xml" ContentType="application/vnd.openxmlformats-officedocument.presentationml.slideMaster+xml"/>
  <Override PartName="/ppt/slides/slide314.xml" ContentType="application/vnd.openxmlformats-officedocument.presentationml.slide+xml"/>
  <Override PartName="/ppt/slideMasters/slideMaster315.xml" ContentType="application/vnd.openxmlformats-officedocument.presentationml.slideMaster+xml"/>
  <Override PartName="/ppt/slides/slide315.xml" ContentType="application/vnd.openxmlformats-officedocument.presentationml.slide+xml"/>
  <Override PartName="/ppt/slideMasters/slideMaster316.xml" ContentType="application/vnd.openxmlformats-officedocument.presentationml.slideMaster+xml"/>
  <Override PartName="/ppt/slides/slide316.xml" ContentType="application/vnd.openxmlformats-officedocument.presentationml.slide+xml"/>
  <Override PartName="/ppt/slideMasters/slideMaster317.xml" ContentType="application/vnd.openxmlformats-officedocument.presentationml.slideMaster+xml"/>
  <Override PartName="/ppt/slides/slide317.xml" ContentType="application/vnd.openxmlformats-officedocument.presentationml.slide+xml"/>
  <Override PartName="/ppt/slideMasters/slideMaster318.xml" ContentType="application/vnd.openxmlformats-officedocument.presentationml.slideMaster+xml"/>
  <Override PartName="/ppt/slides/slide318.xml" ContentType="application/vnd.openxmlformats-officedocument.presentationml.slide+xml"/>
  <Override PartName="/ppt/slideMasters/slideMaster319.xml" ContentType="application/vnd.openxmlformats-officedocument.presentationml.slideMaster+xml"/>
  <Override PartName="/ppt/slides/slide319.xml" ContentType="application/vnd.openxmlformats-officedocument.presentationml.slide+xml"/>
  <Override PartName="/ppt/slideMasters/slideMaster320.xml" ContentType="application/vnd.openxmlformats-officedocument.presentationml.slideMaster+xml"/>
  <Override PartName="/ppt/slides/slide320.xml" ContentType="application/vnd.openxmlformats-officedocument.presentationml.slide+xml"/>
  <Override PartName="/ppt/slideMasters/slideMaster321.xml" ContentType="application/vnd.openxmlformats-officedocument.presentationml.slideMaster+xml"/>
  <Override PartName="/ppt/slides/slide321.xml" ContentType="application/vnd.openxmlformats-officedocument.presentationml.slide+xml"/>
  <Override PartName="/ppt/slideMasters/slideMaster322.xml" ContentType="application/vnd.openxmlformats-officedocument.presentationml.slideMaster+xml"/>
  <Override PartName="/ppt/slides/slide322.xml" ContentType="application/vnd.openxmlformats-officedocument.presentationml.slide+xml"/>
  <Override PartName="/ppt/slideMasters/slideMaster323.xml" ContentType="application/vnd.openxmlformats-officedocument.presentationml.slideMaster+xml"/>
  <Override PartName="/ppt/slides/slide323.xml" ContentType="application/vnd.openxmlformats-officedocument.presentationml.slide+xml"/>
  <Override PartName="/ppt/slideMasters/slideMaster324.xml" ContentType="application/vnd.openxmlformats-officedocument.presentationml.slideMaster+xml"/>
  <Override PartName="/ppt/slides/slide324.xml" ContentType="application/vnd.openxmlformats-officedocument.presentationml.slide+xml"/>
  <Override PartName="/ppt/slideMasters/slideMaster325.xml" ContentType="application/vnd.openxmlformats-officedocument.presentationml.slideMaster+xml"/>
  <Override PartName="/ppt/slides/slide325.xml" ContentType="application/vnd.openxmlformats-officedocument.presentationml.slide+xml"/>
  <Override PartName="/ppt/slideMasters/slideMaster326.xml" ContentType="application/vnd.openxmlformats-officedocument.presentationml.slideMaster+xml"/>
  <Override PartName="/ppt/slides/slide326.xml" ContentType="application/vnd.openxmlformats-officedocument.presentationml.slide+xml"/>
  <Override PartName="/ppt/slideMasters/slideMaster327.xml" ContentType="application/vnd.openxmlformats-officedocument.presentationml.slideMaster+xml"/>
  <Override PartName="/ppt/slides/slide327.xml" ContentType="application/vnd.openxmlformats-officedocument.presentationml.slide+xml"/>
  <Override PartName="/ppt/slideMasters/slideMaster328.xml" ContentType="application/vnd.openxmlformats-officedocument.presentationml.slideMaster+xml"/>
  <Override PartName="/ppt/slides/slide328.xml" ContentType="application/vnd.openxmlformats-officedocument.presentationml.slide+xml"/>
  <Override PartName="/ppt/slideMasters/slideMaster329.xml" ContentType="application/vnd.openxmlformats-officedocument.presentationml.slideMaster+xml"/>
  <Override PartName="/ppt/slides/slide329.xml" ContentType="application/vnd.openxmlformats-officedocument.presentationml.slide+xml"/>
  <Override PartName="/ppt/slideMasters/slideMaster330.xml" ContentType="application/vnd.openxmlformats-officedocument.presentationml.slideMaster+xml"/>
  <Override PartName="/ppt/slides/slide330.xml" ContentType="application/vnd.openxmlformats-officedocument.presentationml.slide+xml"/>
  <Override PartName="/ppt/slideMasters/slideMaster331.xml" ContentType="application/vnd.openxmlformats-officedocument.presentationml.slideMaster+xml"/>
  <Override PartName="/ppt/slides/slide331.xml" ContentType="application/vnd.openxmlformats-officedocument.presentationml.slide+xml"/>
  <Override PartName="/ppt/slideMasters/slideMaster332.xml" ContentType="application/vnd.openxmlformats-officedocument.presentationml.slideMaster+xml"/>
  <Override PartName="/ppt/slides/slide332.xml" ContentType="application/vnd.openxmlformats-officedocument.presentationml.slide+xml"/>
  <Override PartName="/ppt/slideMasters/slideMaster333.xml" ContentType="application/vnd.openxmlformats-officedocument.presentationml.slideMaster+xml"/>
  <Override PartName="/ppt/slides/slide333.xml" ContentType="application/vnd.openxmlformats-officedocument.presentationml.slide+xml"/>
  <Override PartName="/ppt/slideMasters/slideMaster334.xml" ContentType="application/vnd.openxmlformats-officedocument.presentationml.slideMaster+xml"/>
  <Override PartName="/ppt/slides/slide334.xml" ContentType="application/vnd.openxmlformats-officedocument.presentationml.slide+xml"/>
  <Override PartName="/ppt/slideMasters/slideMaster335.xml" ContentType="application/vnd.openxmlformats-officedocument.presentationml.slideMaster+xml"/>
  <Override PartName="/ppt/slides/slide335.xml" ContentType="application/vnd.openxmlformats-officedocument.presentationml.slide+xml"/>
  <Override PartName="/ppt/slideMasters/slideMaster336.xml" ContentType="application/vnd.openxmlformats-officedocument.presentationml.slideMaster+xml"/>
  <Override PartName="/ppt/slides/slide336.xml" ContentType="application/vnd.openxmlformats-officedocument.presentationml.slide+xml"/>
  <Override PartName="/ppt/slideMasters/slideMaster337.xml" ContentType="application/vnd.openxmlformats-officedocument.presentationml.slideMaster+xml"/>
  <Override PartName="/ppt/slides/slide337.xml" ContentType="application/vnd.openxmlformats-officedocument.presentationml.slide+xml"/>
  <Override PartName="/ppt/slideMasters/slideMaster338.xml" ContentType="application/vnd.openxmlformats-officedocument.presentationml.slideMaster+xml"/>
  <Override PartName="/ppt/slides/slide338.xml" ContentType="application/vnd.openxmlformats-officedocument.presentationml.slide+xml"/>
  <Override PartName="/ppt/slideMasters/slideMaster339.xml" ContentType="application/vnd.openxmlformats-officedocument.presentationml.slideMaster+xml"/>
  <Override PartName="/ppt/slides/slide339.xml" ContentType="application/vnd.openxmlformats-officedocument.presentationml.slide+xml"/>
  <Override PartName="/ppt/slideMasters/slideMaster340.xml" ContentType="application/vnd.openxmlformats-officedocument.presentationml.slideMaster+xml"/>
  <Override PartName="/ppt/slides/slide340.xml" ContentType="application/vnd.openxmlformats-officedocument.presentationml.slide+xml"/>
  <Override PartName="/ppt/slideMasters/slideMaster341.xml" ContentType="application/vnd.openxmlformats-officedocument.presentationml.slideMaster+xml"/>
  <Override PartName="/ppt/slides/slide341.xml" ContentType="application/vnd.openxmlformats-officedocument.presentationml.slide+xml"/>
  <Override PartName="/ppt/slideMasters/slideMaster342.xml" ContentType="application/vnd.openxmlformats-officedocument.presentationml.slideMaster+xml"/>
  <Override PartName="/ppt/slides/slide342.xml" ContentType="application/vnd.openxmlformats-officedocument.presentationml.slide+xml"/>
  <Override PartName="/ppt/slideMasters/slideMaster343.xml" ContentType="application/vnd.openxmlformats-officedocument.presentationml.slideMaster+xml"/>
  <Override PartName="/ppt/slides/slide343.xml" ContentType="application/vnd.openxmlformats-officedocument.presentationml.slide+xml"/>
  <Override PartName="/ppt/slideMasters/slideMaster344.xml" ContentType="application/vnd.openxmlformats-officedocument.presentationml.slideMaster+xml"/>
  <Override PartName="/ppt/slides/slide344.xml" ContentType="application/vnd.openxmlformats-officedocument.presentationml.slide+xml"/>
  <Override PartName="/ppt/slideMasters/slideMaster345.xml" ContentType="application/vnd.openxmlformats-officedocument.presentationml.slideMaster+xml"/>
  <Override PartName="/ppt/slides/slide345.xml" ContentType="application/vnd.openxmlformats-officedocument.presentationml.slide+xml"/>
  <Override PartName="/ppt/slideMasters/slideMaster346.xml" ContentType="application/vnd.openxmlformats-officedocument.presentationml.slideMaster+xml"/>
  <Override PartName="/ppt/slides/slide346.xml" ContentType="application/vnd.openxmlformats-officedocument.presentationml.slide+xml"/>
  <Override PartName="/ppt/slideMasters/slideMaster347.xml" ContentType="application/vnd.openxmlformats-officedocument.presentationml.slideMaster+xml"/>
  <Override PartName="/ppt/slides/slide347.xml" ContentType="application/vnd.openxmlformats-officedocument.presentationml.slide+xml"/>
  <Override PartName="/ppt/slideMasters/slideMaster348.xml" ContentType="application/vnd.openxmlformats-officedocument.presentationml.slideMaster+xml"/>
  <Override PartName="/ppt/slides/slide348.xml" ContentType="application/vnd.openxmlformats-officedocument.presentationml.slide+xml"/>
  <Override PartName="/ppt/slideMasters/slideMaster349.xml" ContentType="application/vnd.openxmlformats-officedocument.presentationml.slideMaster+xml"/>
  <Override PartName="/ppt/slides/slide349.xml" ContentType="application/vnd.openxmlformats-officedocument.presentationml.slide+xml"/>
  <Override PartName="/ppt/slideMasters/slideMaster350.xml" ContentType="application/vnd.openxmlformats-officedocument.presentationml.slideMaster+xml"/>
  <Override PartName="/ppt/slides/slide350.xml" ContentType="application/vnd.openxmlformats-officedocument.presentationml.slide+xml"/>
  <Override PartName="/ppt/slideMasters/slideMaster351.xml" ContentType="application/vnd.openxmlformats-officedocument.presentationml.slideMaster+xml"/>
  <Override PartName="/ppt/slides/slide351.xml" ContentType="application/vnd.openxmlformats-officedocument.presentationml.slide+xml"/>
  <Override PartName="/ppt/slideMasters/slideMaster352.xml" ContentType="application/vnd.openxmlformats-officedocument.presentationml.slideMaster+xml"/>
  <Override PartName="/ppt/slides/slide352.xml" ContentType="application/vnd.openxmlformats-officedocument.presentationml.slide+xml"/>
  <Override PartName="/ppt/slideMasters/slideMaster353.xml" ContentType="application/vnd.openxmlformats-officedocument.presentationml.slideMaster+xml"/>
  <Override PartName="/ppt/slides/slide353.xml" ContentType="application/vnd.openxmlformats-officedocument.presentationml.slide+xml"/>
  <Override PartName="/ppt/slideMasters/slideMaster354.xml" ContentType="application/vnd.openxmlformats-officedocument.presentationml.slideMaster+xml"/>
  <Override PartName="/ppt/slides/slide354.xml" ContentType="application/vnd.openxmlformats-officedocument.presentationml.slide+xml"/>
  <Override PartName="/ppt/slideMasters/slideMaster355.xml" ContentType="application/vnd.openxmlformats-officedocument.presentationml.slideMaster+xml"/>
  <Override PartName="/ppt/slides/slide355.xml" ContentType="application/vnd.openxmlformats-officedocument.presentationml.slide+xml"/>
  <Override PartName="/ppt/slideMasters/slideMaster356.xml" ContentType="application/vnd.openxmlformats-officedocument.presentationml.slideMaster+xml"/>
  <Override PartName="/ppt/slides/slide356.xml" ContentType="application/vnd.openxmlformats-officedocument.presentationml.slide+xml"/>
  <Override PartName="/ppt/slideMasters/slideMaster357.xml" ContentType="application/vnd.openxmlformats-officedocument.presentationml.slideMaster+xml"/>
  <Override PartName="/ppt/slides/slide357.xml" ContentType="application/vnd.openxmlformats-officedocument.presentationml.slide+xml"/>
  <Override PartName="/ppt/slideMasters/slideMaster358.xml" ContentType="application/vnd.openxmlformats-officedocument.presentationml.slideMaster+xml"/>
  <Override PartName="/ppt/slides/slide358.xml" ContentType="application/vnd.openxmlformats-officedocument.presentationml.slide+xml"/>
  <Override PartName="/ppt/slideMasters/slideMaster359.xml" ContentType="application/vnd.openxmlformats-officedocument.presentationml.slideMaster+xml"/>
  <Override PartName="/ppt/slides/slide359.xml" ContentType="application/vnd.openxmlformats-officedocument.presentationml.slide+xml"/>
  <Override PartName="/ppt/slideMasters/slideMaster360.xml" ContentType="application/vnd.openxmlformats-officedocument.presentationml.slideMaster+xml"/>
  <Override PartName="/ppt/slides/slide360.xml" ContentType="application/vnd.openxmlformats-officedocument.presentationml.slide+xml"/>
  <Override PartName="/ppt/slideMasters/slideMaster361.xml" ContentType="application/vnd.openxmlformats-officedocument.presentationml.slideMaster+xml"/>
  <Override PartName="/ppt/slides/slide361.xml" ContentType="application/vnd.openxmlformats-officedocument.presentationml.slide+xml"/>
  <Override PartName="/ppt/slideMasters/slideMaster362.xml" ContentType="application/vnd.openxmlformats-officedocument.presentationml.slideMaster+xml"/>
  <Override PartName="/ppt/slides/slide362.xml" ContentType="application/vnd.openxmlformats-officedocument.presentationml.slide+xml"/>
  <Override PartName="/ppt/slideMasters/slideMaster363.xml" ContentType="application/vnd.openxmlformats-officedocument.presentationml.slideMaster+xml"/>
  <Override PartName="/ppt/slides/slide363.xml" ContentType="application/vnd.openxmlformats-officedocument.presentationml.slide+xml"/>
  <Override PartName="/ppt/slideMasters/slideMaster364.xml" ContentType="application/vnd.openxmlformats-officedocument.presentationml.slideMaster+xml"/>
  <Override PartName="/ppt/slides/slide364.xml" ContentType="application/vnd.openxmlformats-officedocument.presentationml.slide+xml"/>
  <Override PartName="/ppt/slideMasters/slideMaster365.xml" ContentType="application/vnd.openxmlformats-officedocument.presentationml.slideMaster+xml"/>
  <Override PartName="/ppt/slides/slide365.xml" ContentType="application/vnd.openxmlformats-officedocument.presentationml.slide+xml"/>
  <Override PartName="/ppt/slideMasters/slideMaster366.xml" ContentType="application/vnd.openxmlformats-officedocument.presentationml.slideMaster+xml"/>
  <Override PartName="/ppt/slides/slide366.xml" ContentType="application/vnd.openxmlformats-officedocument.presentationml.slide+xml"/>
  <Override PartName="/ppt/slideMasters/slideMaster367.xml" ContentType="application/vnd.openxmlformats-officedocument.presentationml.slideMaster+xml"/>
  <Override PartName="/ppt/slides/slide367.xml" ContentType="application/vnd.openxmlformats-officedocument.presentationml.slide+xml"/>
  <Override PartName="/ppt/slideMasters/slideMaster368.xml" ContentType="application/vnd.openxmlformats-officedocument.presentationml.slideMaster+xml"/>
  <Override PartName="/ppt/slides/slide368.xml" ContentType="application/vnd.openxmlformats-officedocument.presentationml.slide+xml"/>
  <Override PartName="/ppt/slideMasters/slideMaster369.xml" ContentType="application/vnd.openxmlformats-officedocument.presentationml.slideMaster+xml"/>
  <Override PartName="/ppt/slides/slide369.xml" ContentType="application/vnd.openxmlformats-officedocument.presentationml.slide+xml"/>
  <Override PartName="/ppt/slideMasters/slideMaster370.xml" ContentType="application/vnd.openxmlformats-officedocument.presentationml.slideMaster+xml"/>
  <Override PartName="/ppt/slides/slide370.xml" ContentType="application/vnd.openxmlformats-officedocument.presentationml.slide+xml"/>
  <Override PartName="/ppt/slideMasters/slideMaster371.xml" ContentType="application/vnd.openxmlformats-officedocument.presentationml.slideMaster+xml"/>
  <Override PartName="/ppt/slides/slide371.xml" ContentType="application/vnd.openxmlformats-officedocument.presentationml.slide+xml"/>
  <Override PartName="/ppt/slideMasters/slideMaster372.xml" ContentType="application/vnd.openxmlformats-officedocument.presentationml.slideMaster+xml"/>
  <Override PartName="/ppt/slides/slide372.xml" ContentType="application/vnd.openxmlformats-officedocument.presentationml.slide+xml"/>
  <Override PartName="/ppt/slideMasters/slideMaster373.xml" ContentType="application/vnd.openxmlformats-officedocument.presentationml.slideMaster+xml"/>
  <Override PartName="/ppt/slides/slide373.xml" ContentType="application/vnd.openxmlformats-officedocument.presentationml.slide+xml"/>
  <Override PartName="/ppt/slideMasters/slideMaster374.xml" ContentType="application/vnd.openxmlformats-officedocument.presentationml.slideMaster+xml"/>
  <Override PartName="/ppt/slides/slide374.xml" ContentType="application/vnd.openxmlformats-officedocument.presentationml.slide+xml"/>
  <Override PartName="/ppt/slideMasters/slideMaster375.xml" ContentType="application/vnd.openxmlformats-officedocument.presentationml.slideMaster+xml"/>
  <Override PartName="/ppt/slides/slide375.xml" ContentType="application/vnd.openxmlformats-officedocument.presentationml.slide+xml"/>
  <Override PartName="/ppt/slideMasters/slideMaster376.xml" ContentType="application/vnd.openxmlformats-officedocument.presentationml.slideMaster+xml"/>
  <Override PartName="/ppt/slides/slide376.xml" ContentType="application/vnd.openxmlformats-officedocument.presentationml.slide+xml"/>
  <Override PartName="/ppt/slideMasters/slideMaster377.xml" ContentType="application/vnd.openxmlformats-officedocument.presentationml.slideMaster+xml"/>
  <Override PartName="/ppt/slides/slide377.xml" ContentType="application/vnd.openxmlformats-officedocument.presentationml.slide+xml"/>
  <Override PartName="/ppt/slideMasters/slideMaster378.xml" ContentType="application/vnd.openxmlformats-officedocument.presentationml.slideMaster+xml"/>
  <Override PartName="/ppt/slides/slide378.xml" ContentType="application/vnd.openxmlformats-officedocument.presentationml.slide+xml"/>
  <Override PartName="/ppt/slideMasters/slideMaster379.xml" ContentType="application/vnd.openxmlformats-officedocument.presentationml.slideMaster+xml"/>
  <Override PartName="/ppt/slides/slide379.xml" ContentType="application/vnd.openxmlformats-officedocument.presentationml.slide+xml"/>
  <Override PartName="/ppt/slideMasters/slideMaster380.xml" ContentType="application/vnd.openxmlformats-officedocument.presentationml.slideMaster+xml"/>
  <Override PartName="/ppt/slides/slide380.xml" ContentType="application/vnd.openxmlformats-officedocument.presentationml.slide+xml"/>
  <Override PartName="/ppt/slideMasters/slideMaster381.xml" ContentType="application/vnd.openxmlformats-officedocument.presentationml.slideMaster+xml"/>
  <Override PartName="/ppt/slides/slide381.xml" ContentType="application/vnd.openxmlformats-officedocument.presentationml.slide+xml"/>
  <Override PartName="/ppt/slideMasters/slideMaster382.xml" ContentType="application/vnd.openxmlformats-officedocument.presentationml.slideMaster+xml"/>
  <Override PartName="/ppt/slides/slide382.xml" ContentType="application/vnd.openxmlformats-officedocument.presentationml.slide+xml"/>
  <Override PartName="/ppt/slideMasters/slideMaster383.xml" ContentType="application/vnd.openxmlformats-officedocument.presentationml.slideMaster+xml"/>
  <Override PartName="/ppt/slides/slide383.xml" ContentType="application/vnd.openxmlformats-officedocument.presentationml.slide+xml"/>
  <Override PartName="/ppt/slideMasters/slideMaster384.xml" ContentType="application/vnd.openxmlformats-officedocument.presentationml.slideMaster+xml"/>
  <Override PartName="/ppt/slides/slide384.xml" ContentType="application/vnd.openxmlformats-officedocument.presentationml.slide+xml"/>
  <Override PartName="/ppt/slideMasters/slideMaster385.xml" ContentType="application/vnd.openxmlformats-officedocument.presentationml.slideMaster+xml"/>
  <Override PartName="/ppt/slides/slide385.xml" ContentType="application/vnd.openxmlformats-officedocument.presentationml.slide+xml"/>
  <Override PartName="/ppt/slideMasters/slideMaster386.xml" ContentType="application/vnd.openxmlformats-officedocument.presentationml.slideMaster+xml"/>
  <Override PartName="/ppt/slides/slide386.xml" ContentType="application/vnd.openxmlformats-officedocument.presentationml.slide+xml"/>
  <Override PartName="/ppt/slideMasters/slideMaster387.xml" ContentType="application/vnd.openxmlformats-officedocument.presentationml.slideMaster+xml"/>
  <Override PartName="/ppt/slides/slide387.xml" ContentType="application/vnd.openxmlformats-officedocument.presentationml.slide+xml"/>
  <Override PartName="/ppt/slideMasters/slideMaster388.xml" ContentType="application/vnd.openxmlformats-officedocument.presentationml.slideMaster+xml"/>
  <Override PartName="/ppt/slides/slide388.xml" ContentType="application/vnd.openxmlformats-officedocument.presentationml.slide+xml"/>
  <Override PartName="/ppt/slideMasters/slideMaster389.xml" ContentType="application/vnd.openxmlformats-officedocument.presentationml.slideMaster+xml"/>
  <Override PartName="/ppt/slides/slide389.xml" ContentType="application/vnd.openxmlformats-officedocument.presentationml.slide+xml"/>
  <Override PartName="/ppt/slideMasters/slideMaster390.xml" ContentType="application/vnd.openxmlformats-officedocument.presentationml.slideMaster+xml"/>
  <Override PartName="/ppt/slides/slide390.xml" ContentType="application/vnd.openxmlformats-officedocument.presentationml.slide+xml"/>
  <Override PartName="/ppt/slideMasters/slideMaster391.xml" ContentType="application/vnd.openxmlformats-officedocument.presentationml.slideMaster+xml"/>
  <Override PartName="/ppt/slides/slide391.xml" ContentType="application/vnd.openxmlformats-officedocument.presentationml.slide+xml"/>
  <Override PartName="/ppt/slideMasters/slideMaster392.xml" ContentType="application/vnd.openxmlformats-officedocument.presentationml.slideMaster+xml"/>
  <Override PartName="/ppt/slides/slide392.xml" ContentType="application/vnd.openxmlformats-officedocument.presentationml.slide+xml"/>
  <Override PartName="/ppt/slideMasters/slideMaster393.xml" ContentType="application/vnd.openxmlformats-officedocument.presentationml.slideMaster+xml"/>
  <Override PartName="/ppt/slides/slide393.xml" ContentType="application/vnd.openxmlformats-officedocument.presentationml.slide+xml"/>
  <Override PartName="/ppt/slideMasters/slideMaster394.xml" ContentType="application/vnd.openxmlformats-officedocument.presentationml.slideMaster+xml"/>
  <Override PartName="/ppt/slides/slide394.xml" ContentType="application/vnd.openxmlformats-officedocument.presentationml.slide+xml"/>
  <Override PartName="/ppt/slideMasters/slideMaster395.xml" ContentType="application/vnd.openxmlformats-officedocument.presentationml.slideMaster+xml"/>
  <Override PartName="/ppt/slides/slide395.xml" ContentType="application/vnd.openxmlformats-officedocument.presentationml.slide+xml"/>
  <Override PartName="/ppt/slideMasters/slideMaster396.xml" ContentType="application/vnd.openxmlformats-officedocument.presentationml.slideMaster+xml"/>
  <Override PartName="/ppt/slides/slide396.xml" ContentType="application/vnd.openxmlformats-officedocument.presentationml.slide+xml"/>
  <Override PartName="/ppt/slideMasters/slideMaster397.xml" ContentType="application/vnd.openxmlformats-officedocument.presentationml.slideMaster+xml"/>
  <Override PartName="/ppt/slides/slide397.xml" ContentType="application/vnd.openxmlformats-officedocument.presentationml.slide+xml"/>
  <Override PartName="/ppt/slideMasters/slideMaster398.xml" ContentType="application/vnd.openxmlformats-officedocument.presentationml.slideMaster+xml"/>
  <Override PartName="/ppt/slides/slide398.xml" ContentType="application/vnd.openxmlformats-officedocument.presentationml.slide+xml"/>
  <Override PartName="/ppt/slideMasters/slideMaster399.xml" ContentType="application/vnd.openxmlformats-officedocument.presentationml.slideMaster+xml"/>
  <Override PartName="/ppt/slides/slide399.xml" ContentType="application/vnd.openxmlformats-officedocument.presentationml.slide+xml"/>
  <Override PartName="/ppt/slideMasters/slideMaster400.xml" ContentType="application/vnd.openxmlformats-officedocument.presentationml.slideMaster+xml"/>
  <Override PartName="/ppt/slides/slide400.xml" ContentType="application/vnd.openxmlformats-officedocument.presentationml.slide+xml"/>
  <Override PartName="/ppt/slideMasters/slideMaster401.xml" ContentType="application/vnd.openxmlformats-officedocument.presentationml.slideMaster+xml"/>
  <Override PartName="/ppt/slides/slide401.xml" ContentType="application/vnd.openxmlformats-officedocument.presentationml.slide+xml"/>
  <Override PartName="/ppt/slideMasters/slideMaster402.xml" ContentType="application/vnd.openxmlformats-officedocument.presentationml.slideMaster+xml"/>
  <Override PartName="/ppt/slides/slide402.xml" ContentType="application/vnd.openxmlformats-officedocument.presentationml.slide+xml"/>
  <Override PartName="/ppt/slideMasters/slideMaster403.xml" ContentType="application/vnd.openxmlformats-officedocument.presentationml.slideMaster+xml"/>
  <Override PartName="/ppt/slides/slide403.xml" ContentType="application/vnd.openxmlformats-officedocument.presentationml.slide+xml"/>
  <Override PartName="/ppt/slideMasters/slideMaster404.xml" ContentType="application/vnd.openxmlformats-officedocument.presentationml.slideMaster+xml"/>
  <Override PartName="/ppt/slides/slide404.xml" ContentType="application/vnd.openxmlformats-officedocument.presentationml.slide+xml"/>
  <Override PartName="/ppt/slideMasters/slideMaster405.xml" ContentType="application/vnd.openxmlformats-officedocument.presentationml.slideMaster+xml"/>
  <Override PartName="/ppt/slides/slide40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04.xml" ContentType="application/vnd.openxmlformats-officedocument.presentationml.notesSlide+xml"/>
  <Override PartName="/ppt/notesSlides/notesSlide305.xml" ContentType="application/vnd.openxmlformats-officedocument.presentationml.notesSlide+xml"/>
  <Override PartName="/ppt/notesSlides/notesSlide306.xml" ContentType="application/vnd.openxmlformats-officedocument.presentationml.notesSlide+xml"/>
  <Override PartName="/ppt/notesSlides/notesSlide307.xml" ContentType="application/vnd.openxmlformats-officedocument.presentationml.notesSlide+xml"/>
  <Override PartName="/ppt/notesSlides/notesSlide308.xml" ContentType="application/vnd.openxmlformats-officedocument.presentationml.notesSlide+xml"/>
  <Override PartName="/ppt/notesSlides/notesSlide309.xml" ContentType="application/vnd.openxmlformats-officedocument.presentationml.notesSlide+xml"/>
  <Override PartName="/ppt/notesSlides/notesSlide310.xml" ContentType="application/vnd.openxmlformats-officedocument.presentationml.notesSlide+xml"/>
  <Override PartName="/ppt/notesSlides/notesSlide311.xml" ContentType="application/vnd.openxmlformats-officedocument.presentationml.notesSlide+xml"/>
  <Override PartName="/ppt/notesSlides/notesSlide312.xml" ContentType="application/vnd.openxmlformats-officedocument.presentationml.notesSlide+xml"/>
  <Override PartName="/ppt/notesSlides/notesSlide313.xml" ContentType="application/vnd.openxmlformats-officedocument.presentationml.notesSlide+xml"/>
  <Override PartName="/ppt/notesSlides/notesSlide314.xml" ContentType="application/vnd.openxmlformats-officedocument.presentationml.notesSlide+xml"/>
  <Override PartName="/ppt/notesSlides/notesSlide315.xml" ContentType="application/vnd.openxmlformats-officedocument.presentationml.notesSlide+xml"/>
  <Override PartName="/ppt/notesSlides/notesSlide316.xml" ContentType="application/vnd.openxmlformats-officedocument.presentationml.notesSlide+xml"/>
  <Override PartName="/ppt/notesSlides/notesSlide317.xml" ContentType="application/vnd.openxmlformats-officedocument.presentationml.notesSlide+xml"/>
  <Override PartName="/ppt/notesSlides/notesSlide318.xml" ContentType="application/vnd.openxmlformats-officedocument.presentationml.notesSlide+xml"/>
  <Override PartName="/ppt/notesSlides/notesSlide319.xml" ContentType="application/vnd.openxmlformats-officedocument.presentationml.notesSlide+xml"/>
  <Override PartName="/ppt/notesSlides/notesSlide320.xml" ContentType="application/vnd.openxmlformats-officedocument.presentationml.notesSlide+xml"/>
  <Override PartName="/ppt/notesSlides/notesSlide321.xml" ContentType="application/vnd.openxmlformats-officedocument.presentationml.notesSlide+xml"/>
  <Override PartName="/ppt/notesSlides/notesSlide322.xml" ContentType="application/vnd.openxmlformats-officedocument.presentationml.notesSlide+xml"/>
  <Override PartName="/ppt/notesSlides/notesSlide323.xml" ContentType="application/vnd.openxmlformats-officedocument.presentationml.notesSlide+xml"/>
  <Override PartName="/ppt/notesSlides/notesSlide324.xml" ContentType="application/vnd.openxmlformats-officedocument.presentationml.notesSlide+xml"/>
  <Override PartName="/ppt/notesSlides/notesSlide325.xml" ContentType="application/vnd.openxmlformats-officedocument.presentationml.notesSlide+xml"/>
  <Override PartName="/ppt/notesSlides/notesSlide326.xml" ContentType="application/vnd.openxmlformats-officedocument.presentationml.notesSlide+xml"/>
  <Override PartName="/ppt/notesSlides/notesSlide327.xml" ContentType="application/vnd.openxmlformats-officedocument.presentationml.notesSlide+xml"/>
  <Override PartName="/ppt/notesSlides/notesSlide328.xml" ContentType="application/vnd.openxmlformats-officedocument.presentationml.notesSlide+xml"/>
  <Override PartName="/ppt/notesSlides/notesSlide329.xml" ContentType="application/vnd.openxmlformats-officedocument.presentationml.notesSlide+xml"/>
  <Override PartName="/ppt/notesSlides/notesSlide330.xml" ContentType="application/vnd.openxmlformats-officedocument.presentationml.notesSlide+xml"/>
  <Override PartName="/ppt/notesSlides/notesSlide331.xml" ContentType="application/vnd.openxmlformats-officedocument.presentationml.notesSlide+xml"/>
  <Override PartName="/ppt/notesSlides/notesSlide332.xml" ContentType="application/vnd.openxmlformats-officedocument.presentationml.notesSlide+xml"/>
  <Override PartName="/ppt/notesSlides/notesSlide333.xml" ContentType="application/vnd.openxmlformats-officedocument.presentationml.notesSlide+xml"/>
  <Override PartName="/ppt/notesSlides/notesSlide334.xml" ContentType="application/vnd.openxmlformats-officedocument.presentationml.notesSlide+xml"/>
  <Override PartName="/ppt/notesSlides/notesSlide335.xml" ContentType="application/vnd.openxmlformats-officedocument.presentationml.notesSlide+xml"/>
  <Override PartName="/ppt/notesSlides/notesSlide336.xml" ContentType="application/vnd.openxmlformats-officedocument.presentationml.notesSlide+xml"/>
  <Override PartName="/ppt/notesSlides/notesSlide337.xml" ContentType="application/vnd.openxmlformats-officedocument.presentationml.notesSlide+xml"/>
  <Override PartName="/ppt/notesSlides/notesSlide338.xml" ContentType="application/vnd.openxmlformats-officedocument.presentationml.notesSlide+xml"/>
  <Override PartName="/ppt/notesSlides/notesSlide339.xml" ContentType="application/vnd.openxmlformats-officedocument.presentationml.notesSlide+xml"/>
  <Override PartName="/ppt/notesSlides/notesSlide340.xml" ContentType="application/vnd.openxmlformats-officedocument.presentationml.notesSlide+xml"/>
  <Override PartName="/ppt/notesSlides/notesSlide341.xml" ContentType="application/vnd.openxmlformats-officedocument.presentationml.notesSlide+xml"/>
  <Override PartName="/ppt/notesSlides/notesSlide342.xml" ContentType="application/vnd.openxmlformats-officedocument.presentationml.notesSlide+xml"/>
  <Override PartName="/ppt/notesSlides/notesSlide343.xml" ContentType="application/vnd.openxmlformats-officedocument.presentationml.notesSlide+xml"/>
  <Override PartName="/ppt/notesSlides/notesSlide344.xml" ContentType="application/vnd.openxmlformats-officedocument.presentationml.notesSlide+xml"/>
  <Override PartName="/ppt/notesSlides/notesSlide345.xml" ContentType="application/vnd.openxmlformats-officedocument.presentationml.notesSlide+xml"/>
  <Override PartName="/ppt/notesSlides/notesSlide346.xml" ContentType="application/vnd.openxmlformats-officedocument.presentationml.notesSlide+xml"/>
  <Override PartName="/ppt/notesSlides/notesSlide347.xml" ContentType="application/vnd.openxmlformats-officedocument.presentationml.notesSlide+xml"/>
  <Override PartName="/ppt/notesSlides/notesSlide348.xml" ContentType="application/vnd.openxmlformats-officedocument.presentationml.notesSlide+xml"/>
  <Override PartName="/ppt/notesSlides/notesSlide349.xml" ContentType="application/vnd.openxmlformats-officedocument.presentationml.notesSlide+xml"/>
  <Override PartName="/ppt/notesSlides/notesSlide350.xml" ContentType="application/vnd.openxmlformats-officedocument.presentationml.notesSlide+xml"/>
  <Override PartName="/ppt/notesSlides/notesSlide351.xml" ContentType="application/vnd.openxmlformats-officedocument.presentationml.notesSlide+xml"/>
  <Override PartName="/ppt/notesSlides/notesSlide352.xml" ContentType="application/vnd.openxmlformats-officedocument.presentationml.notesSlide+xml"/>
  <Override PartName="/ppt/notesSlides/notesSlide353.xml" ContentType="application/vnd.openxmlformats-officedocument.presentationml.notesSlide+xml"/>
  <Override PartName="/ppt/notesSlides/notesSlide354.xml" ContentType="application/vnd.openxmlformats-officedocument.presentationml.notesSlide+xml"/>
  <Override PartName="/ppt/notesSlides/notesSlide355.xml" ContentType="application/vnd.openxmlformats-officedocument.presentationml.notesSlide+xml"/>
  <Override PartName="/ppt/notesSlides/notesSlide356.xml" ContentType="application/vnd.openxmlformats-officedocument.presentationml.notesSlide+xml"/>
  <Override PartName="/ppt/notesSlides/notesSlide357.xml" ContentType="application/vnd.openxmlformats-officedocument.presentationml.notesSlide+xml"/>
  <Override PartName="/ppt/notesSlides/notesSlide358.xml" ContentType="application/vnd.openxmlformats-officedocument.presentationml.notesSlide+xml"/>
  <Override PartName="/ppt/notesSlides/notesSlide359.xml" ContentType="application/vnd.openxmlformats-officedocument.presentationml.notesSlide+xml"/>
  <Override PartName="/ppt/notesSlides/notesSlide360.xml" ContentType="application/vnd.openxmlformats-officedocument.presentationml.notesSlide+xml"/>
  <Override PartName="/ppt/notesSlides/notesSlide361.xml" ContentType="application/vnd.openxmlformats-officedocument.presentationml.notesSlide+xml"/>
  <Override PartName="/ppt/notesSlides/notesSlide362.xml" ContentType="application/vnd.openxmlformats-officedocument.presentationml.notesSlide+xml"/>
  <Override PartName="/ppt/notesSlides/notesSlide363.xml" ContentType="application/vnd.openxmlformats-officedocument.presentationml.notesSlide+xml"/>
  <Override PartName="/ppt/notesSlides/notesSlide364.xml" ContentType="application/vnd.openxmlformats-officedocument.presentationml.notesSlide+xml"/>
  <Override PartName="/ppt/notesSlides/notesSlide365.xml" ContentType="application/vnd.openxmlformats-officedocument.presentationml.notesSlide+xml"/>
  <Override PartName="/ppt/notesSlides/notesSlide366.xml" ContentType="application/vnd.openxmlformats-officedocument.presentationml.notesSlide+xml"/>
  <Override PartName="/ppt/notesSlides/notesSlide367.xml" ContentType="application/vnd.openxmlformats-officedocument.presentationml.notesSlide+xml"/>
  <Override PartName="/ppt/notesSlides/notesSlide368.xml" ContentType="application/vnd.openxmlformats-officedocument.presentationml.notesSlide+xml"/>
  <Override PartName="/ppt/notesSlides/notesSlide369.xml" ContentType="application/vnd.openxmlformats-officedocument.presentationml.notesSlide+xml"/>
  <Override PartName="/ppt/notesSlides/notesSlide370.xml" ContentType="application/vnd.openxmlformats-officedocument.presentationml.notesSlide+xml"/>
  <Override PartName="/ppt/notesSlides/notesSlide371.xml" ContentType="application/vnd.openxmlformats-officedocument.presentationml.notesSlide+xml"/>
  <Override PartName="/ppt/notesSlides/notesSlide372.xml" ContentType="application/vnd.openxmlformats-officedocument.presentationml.notesSlide+xml"/>
  <Override PartName="/ppt/notesSlides/notesSlide373.xml" ContentType="application/vnd.openxmlformats-officedocument.presentationml.notesSlide+xml"/>
  <Override PartName="/ppt/notesSlides/notesSlide374.xml" ContentType="application/vnd.openxmlformats-officedocument.presentationml.notesSlide+xml"/>
  <Override PartName="/ppt/notesSlides/notesSlide375.xml" ContentType="application/vnd.openxmlformats-officedocument.presentationml.notesSlide+xml"/>
  <Override PartName="/ppt/notesSlides/notesSlide376.xml" ContentType="application/vnd.openxmlformats-officedocument.presentationml.notesSlide+xml"/>
  <Override PartName="/ppt/notesSlides/notesSlide377.xml" ContentType="application/vnd.openxmlformats-officedocument.presentationml.notesSlide+xml"/>
  <Override PartName="/ppt/notesSlides/notesSlide378.xml" ContentType="application/vnd.openxmlformats-officedocument.presentationml.notesSlide+xml"/>
  <Override PartName="/ppt/notesSlides/notesSlide379.xml" ContentType="application/vnd.openxmlformats-officedocument.presentationml.notesSlide+xml"/>
  <Override PartName="/ppt/notesSlides/notesSlide380.xml" ContentType="application/vnd.openxmlformats-officedocument.presentationml.notesSlide+xml"/>
  <Override PartName="/ppt/notesSlides/notesSlide381.xml" ContentType="application/vnd.openxmlformats-officedocument.presentationml.notesSlide+xml"/>
  <Override PartName="/ppt/notesSlides/notesSlide382.xml" ContentType="application/vnd.openxmlformats-officedocument.presentationml.notesSlide+xml"/>
  <Override PartName="/ppt/notesSlides/notesSlide383.xml" ContentType="application/vnd.openxmlformats-officedocument.presentationml.notesSlide+xml"/>
  <Override PartName="/ppt/notesSlides/notesSlide384.xml" ContentType="application/vnd.openxmlformats-officedocument.presentationml.notesSlide+xml"/>
  <Override PartName="/ppt/notesSlides/notesSlide385.xml" ContentType="application/vnd.openxmlformats-officedocument.presentationml.notesSlide+xml"/>
  <Override PartName="/ppt/notesSlides/notesSlide386.xml" ContentType="application/vnd.openxmlformats-officedocument.presentationml.notesSlide+xml"/>
  <Override PartName="/ppt/notesSlides/notesSlide387.xml" ContentType="application/vnd.openxmlformats-officedocument.presentationml.notesSlide+xml"/>
  <Override PartName="/ppt/notesSlides/notesSlide388.xml" ContentType="application/vnd.openxmlformats-officedocument.presentationml.notesSlide+xml"/>
  <Override PartName="/ppt/notesSlides/notesSlide389.xml" ContentType="application/vnd.openxmlformats-officedocument.presentationml.notesSlide+xml"/>
  <Override PartName="/ppt/notesSlides/notesSlide390.xml" ContentType="application/vnd.openxmlformats-officedocument.presentationml.notesSlide+xml"/>
  <Override PartName="/ppt/notesSlides/notesSlide391.xml" ContentType="application/vnd.openxmlformats-officedocument.presentationml.notesSlide+xml"/>
  <Override PartName="/ppt/notesSlides/notesSlide392.xml" ContentType="application/vnd.openxmlformats-officedocument.presentationml.notesSlide+xml"/>
  <Override PartName="/ppt/notesSlides/notesSlide393.xml" ContentType="application/vnd.openxmlformats-officedocument.presentationml.notesSlide+xml"/>
  <Override PartName="/ppt/notesSlides/notesSlide394.xml" ContentType="application/vnd.openxmlformats-officedocument.presentationml.notesSlide+xml"/>
  <Override PartName="/ppt/notesSlides/notesSlide395.xml" ContentType="application/vnd.openxmlformats-officedocument.presentationml.notesSlide+xml"/>
  <Override PartName="/ppt/notesSlides/notesSlide396.xml" ContentType="application/vnd.openxmlformats-officedocument.presentationml.notesSlide+xml"/>
  <Override PartName="/ppt/notesSlides/notesSlide397.xml" ContentType="application/vnd.openxmlformats-officedocument.presentationml.notesSlide+xml"/>
  <Override PartName="/ppt/notesSlides/notesSlide398.xml" ContentType="application/vnd.openxmlformats-officedocument.presentationml.notesSlide+xml"/>
  <Override PartName="/ppt/notesSlides/notesSlide399.xml" ContentType="application/vnd.openxmlformats-officedocument.presentationml.notesSlide+xml"/>
  <Override PartName="/ppt/notesSlides/notesSlide400.xml" ContentType="application/vnd.openxmlformats-officedocument.presentationml.notesSlide+xml"/>
  <Override PartName="/ppt/notesSlides/notesSlide401.xml" ContentType="application/vnd.openxmlformats-officedocument.presentationml.notesSlide+xml"/>
  <Override PartName="/ppt/notesSlides/notesSlide402.xml" ContentType="application/vnd.openxmlformats-officedocument.presentationml.notesSlide+xml"/>
  <Override PartName="/ppt/notesSlides/notesSlide403.xml" ContentType="application/vnd.openxmlformats-officedocument.presentationml.notesSlide+xml"/>
  <Override PartName="/ppt/notesSlides/notesSlide404.xml" ContentType="application/vnd.openxmlformats-officedocument.presentationml.notesSlide+xml"/>
  <Override PartName="/ppt/notesSlides/notesSlide40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  <p:sldId id="532" r:id="rId278"/>
    <p:sldId id="533" r:id="rId279"/>
    <p:sldId id="534" r:id="rId280"/>
    <p:sldId id="535" r:id="rId281"/>
    <p:sldId id="536" r:id="rId282"/>
    <p:sldId id="537" r:id="rId283"/>
    <p:sldId id="538" r:id="rId284"/>
    <p:sldId id="539" r:id="rId285"/>
    <p:sldId id="540" r:id="rId286"/>
    <p:sldId id="541" r:id="rId287"/>
    <p:sldId id="542" r:id="rId288"/>
    <p:sldId id="543" r:id="rId289"/>
    <p:sldId id="544" r:id="rId290"/>
    <p:sldId id="545" r:id="rId291"/>
    <p:sldId id="546" r:id="rId292"/>
    <p:sldId id="547" r:id="rId293"/>
    <p:sldId id="548" r:id="rId294"/>
    <p:sldId id="549" r:id="rId295"/>
    <p:sldId id="550" r:id="rId296"/>
    <p:sldId id="551" r:id="rId297"/>
    <p:sldId id="552" r:id="rId298"/>
    <p:sldId id="553" r:id="rId299"/>
    <p:sldId id="554" r:id="rId300"/>
    <p:sldId id="555" r:id="rId301"/>
    <p:sldId id="556" r:id="rId302"/>
    <p:sldId id="557" r:id="rId303"/>
    <p:sldId id="558" r:id="rId304"/>
    <p:sldId id="559" r:id="rId305"/>
    <p:sldId id="560" r:id="rId306"/>
    <p:sldId id="561" r:id="rId307"/>
    <p:sldId id="562" r:id="rId308"/>
    <p:sldId id="563" r:id="rId309"/>
    <p:sldId id="564" r:id="rId310"/>
    <p:sldId id="565" r:id="rId311"/>
    <p:sldId id="566" r:id="rId312"/>
    <p:sldId id="567" r:id="rId313"/>
    <p:sldId id="568" r:id="rId314"/>
    <p:sldId id="569" r:id="rId315"/>
    <p:sldId id="570" r:id="rId316"/>
    <p:sldId id="571" r:id="rId317"/>
    <p:sldId id="572" r:id="rId318"/>
    <p:sldId id="573" r:id="rId319"/>
    <p:sldId id="574" r:id="rId320"/>
    <p:sldId id="575" r:id="rId321"/>
    <p:sldId id="576" r:id="rId322"/>
    <p:sldId id="577" r:id="rId323"/>
    <p:sldId id="578" r:id="rId324"/>
    <p:sldId id="579" r:id="rId325"/>
    <p:sldId id="580" r:id="rId326"/>
    <p:sldId id="581" r:id="rId327"/>
    <p:sldId id="582" r:id="rId328"/>
    <p:sldId id="583" r:id="rId329"/>
    <p:sldId id="584" r:id="rId330"/>
    <p:sldId id="585" r:id="rId331"/>
    <p:sldId id="586" r:id="rId332"/>
    <p:sldId id="587" r:id="rId333"/>
    <p:sldId id="588" r:id="rId334"/>
    <p:sldId id="589" r:id="rId335"/>
    <p:sldId id="590" r:id="rId336"/>
    <p:sldId id="591" r:id="rId337"/>
    <p:sldId id="592" r:id="rId338"/>
    <p:sldId id="593" r:id="rId339"/>
    <p:sldId id="594" r:id="rId340"/>
    <p:sldId id="595" r:id="rId341"/>
    <p:sldId id="596" r:id="rId342"/>
    <p:sldId id="597" r:id="rId343"/>
    <p:sldId id="598" r:id="rId344"/>
    <p:sldId id="599" r:id="rId345"/>
    <p:sldId id="600" r:id="rId346"/>
    <p:sldId id="601" r:id="rId347"/>
    <p:sldId id="602" r:id="rId348"/>
    <p:sldId id="603" r:id="rId349"/>
    <p:sldId id="604" r:id="rId350"/>
    <p:sldId id="605" r:id="rId351"/>
    <p:sldId id="606" r:id="rId352"/>
    <p:sldId id="607" r:id="rId353"/>
    <p:sldId id="608" r:id="rId354"/>
    <p:sldId id="609" r:id="rId355"/>
    <p:sldId id="610" r:id="rId356"/>
    <p:sldId id="611" r:id="rId357"/>
    <p:sldId id="612" r:id="rId358"/>
    <p:sldId id="613" r:id="rId359"/>
    <p:sldId id="614" r:id="rId360"/>
    <p:sldId id="615" r:id="rId361"/>
    <p:sldId id="616" r:id="rId362"/>
    <p:sldId id="617" r:id="rId363"/>
    <p:sldId id="618" r:id="rId364"/>
    <p:sldId id="619" r:id="rId365"/>
    <p:sldId id="620" r:id="rId366"/>
    <p:sldId id="621" r:id="rId367"/>
    <p:sldId id="622" r:id="rId368"/>
    <p:sldId id="623" r:id="rId369"/>
    <p:sldId id="624" r:id="rId370"/>
    <p:sldId id="625" r:id="rId371"/>
    <p:sldId id="626" r:id="rId372"/>
    <p:sldId id="627" r:id="rId373"/>
    <p:sldId id="628" r:id="rId374"/>
    <p:sldId id="629" r:id="rId375"/>
    <p:sldId id="630" r:id="rId376"/>
    <p:sldId id="631" r:id="rId377"/>
    <p:sldId id="632" r:id="rId378"/>
    <p:sldId id="633" r:id="rId379"/>
    <p:sldId id="634" r:id="rId380"/>
    <p:sldId id="635" r:id="rId381"/>
    <p:sldId id="636" r:id="rId382"/>
    <p:sldId id="637" r:id="rId383"/>
    <p:sldId id="638" r:id="rId384"/>
    <p:sldId id="639" r:id="rId385"/>
    <p:sldId id="640" r:id="rId386"/>
    <p:sldId id="641" r:id="rId387"/>
    <p:sldId id="642" r:id="rId388"/>
    <p:sldId id="643" r:id="rId389"/>
    <p:sldId id="644" r:id="rId390"/>
    <p:sldId id="645" r:id="rId391"/>
    <p:sldId id="646" r:id="rId392"/>
    <p:sldId id="647" r:id="rId393"/>
    <p:sldId id="648" r:id="rId394"/>
    <p:sldId id="649" r:id="rId395"/>
    <p:sldId id="650" r:id="rId396"/>
    <p:sldId id="651" r:id="rId397"/>
    <p:sldId id="652" r:id="rId398"/>
    <p:sldId id="653" r:id="rId399"/>
    <p:sldId id="654" r:id="rId400"/>
    <p:sldId id="655" r:id="rId401"/>
    <p:sldId id="656" r:id="rId402"/>
    <p:sldId id="657" r:id="rId403"/>
    <p:sldId id="658" r:id="rId404"/>
    <p:sldId id="659" r:id="rId405"/>
    <p:sldId id="660" r:id="rId406"/>
  </p:sldIdLst>
  <p:notesMasterIdLst>
    <p:notesMasterId r:id="rId40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slide" Target="slides/slide230.xml"/><Relationship Id="rId232" Type="http://schemas.openxmlformats.org/officeDocument/2006/relationships/slide" Target="slides/slide231.xml"/><Relationship Id="rId233" Type="http://schemas.openxmlformats.org/officeDocument/2006/relationships/slide" Target="slides/slide232.xml"/><Relationship Id="rId234" Type="http://schemas.openxmlformats.org/officeDocument/2006/relationships/slide" Target="slides/slide233.xml"/><Relationship Id="rId235" Type="http://schemas.openxmlformats.org/officeDocument/2006/relationships/slide" Target="slides/slide234.xml"/><Relationship Id="rId236" Type="http://schemas.openxmlformats.org/officeDocument/2006/relationships/slide" Target="slides/slide235.xml"/><Relationship Id="rId237" Type="http://schemas.openxmlformats.org/officeDocument/2006/relationships/slide" Target="slides/slide236.xml"/><Relationship Id="rId238" Type="http://schemas.openxmlformats.org/officeDocument/2006/relationships/slide" Target="slides/slide237.xml"/><Relationship Id="rId239" Type="http://schemas.openxmlformats.org/officeDocument/2006/relationships/slide" Target="slides/slide238.xml"/><Relationship Id="rId240" Type="http://schemas.openxmlformats.org/officeDocument/2006/relationships/slide" Target="slides/slide239.xml"/><Relationship Id="rId241" Type="http://schemas.openxmlformats.org/officeDocument/2006/relationships/slide" Target="slides/slide240.xml"/><Relationship Id="rId242" Type="http://schemas.openxmlformats.org/officeDocument/2006/relationships/slide" Target="slides/slide241.xml"/><Relationship Id="rId243" Type="http://schemas.openxmlformats.org/officeDocument/2006/relationships/slide" Target="slides/slide242.xml"/><Relationship Id="rId244" Type="http://schemas.openxmlformats.org/officeDocument/2006/relationships/slide" Target="slides/slide243.xml"/><Relationship Id="rId245" Type="http://schemas.openxmlformats.org/officeDocument/2006/relationships/slide" Target="slides/slide244.xml"/><Relationship Id="rId246" Type="http://schemas.openxmlformats.org/officeDocument/2006/relationships/slide" Target="slides/slide245.xml"/><Relationship Id="rId247" Type="http://schemas.openxmlformats.org/officeDocument/2006/relationships/slide" Target="slides/slide246.xml"/><Relationship Id="rId248" Type="http://schemas.openxmlformats.org/officeDocument/2006/relationships/slide" Target="slides/slide247.xml"/><Relationship Id="rId249" Type="http://schemas.openxmlformats.org/officeDocument/2006/relationships/slide" Target="slides/slide248.xml"/><Relationship Id="rId250" Type="http://schemas.openxmlformats.org/officeDocument/2006/relationships/slide" Target="slides/slide249.xml"/><Relationship Id="rId251" Type="http://schemas.openxmlformats.org/officeDocument/2006/relationships/slide" Target="slides/slide250.xml"/><Relationship Id="rId252" Type="http://schemas.openxmlformats.org/officeDocument/2006/relationships/slide" Target="slides/slide251.xml"/><Relationship Id="rId253" Type="http://schemas.openxmlformats.org/officeDocument/2006/relationships/slide" Target="slides/slide252.xml"/><Relationship Id="rId254" Type="http://schemas.openxmlformats.org/officeDocument/2006/relationships/slide" Target="slides/slide253.xml"/><Relationship Id="rId255" Type="http://schemas.openxmlformats.org/officeDocument/2006/relationships/slide" Target="slides/slide254.xml"/><Relationship Id="rId256" Type="http://schemas.openxmlformats.org/officeDocument/2006/relationships/slide" Target="slides/slide255.xml"/><Relationship Id="rId257" Type="http://schemas.openxmlformats.org/officeDocument/2006/relationships/slide" Target="slides/slide256.xml"/><Relationship Id="rId258" Type="http://schemas.openxmlformats.org/officeDocument/2006/relationships/slide" Target="slides/slide257.xml"/><Relationship Id="rId259" Type="http://schemas.openxmlformats.org/officeDocument/2006/relationships/slide" Target="slides/slide258.xml"/><Relationship Id="rId260" Type="http://schemas.openxmlformats.org/officeDocument/2006/relationships/slide" Target="slides/slide259.xml"/><Relationship Id="rId261" Type="http://schemas.openxmlformats.org/officeDocument/2006/relationships/slide" Target="slides/slide260.xml"/><Relationship Id="rId262" Type="http://schemas.openxmlformats.org/officeDocument/2006/relationships/slide" Target="slides/slide261.xml"/><Relationship Id="rId263" Type="http://schemas.openxmlformats.org/officeDocument/2006/relationships/slide" Target="slides/slide262.xml"/><Relationship Id="rId264" Type="http://schemas.openxmlformats.org/officeDocument/2006/relationships/slide" Target="slides/slide263.xml"/><Relationship Id="rId265" Type="http://schemas.openxmlformats.org/officeDocument/2006/relationships/slide" Target="slides/slide264.xml"/><Relationship Id="rId266" Type="http://schemas.openxmlformats.org/officeDocument/2006/relationships/slide" Target="slides/slide265.xml"/><Relationship Id="rId267" Type="http://schemas.openxmlformats.org/officeDocument/2006/relationships/slide" Target="slides/slide266.xml"/><Relationship Id="rId268" Type="http://schemas.openxmlformats.org/officeDocument/2006/relationships/slide" Target="slides/slide267.xml"/><Relationship Id="rId269" Type="http://schemas.openxmlformats.org/officeDocument/2006/relationships/slide" Target="slides/slide268.xml"/><Relationship Id="rId270" Type="http://schemas.openxmlformats.org/officeDocument/2006/relationships/slide" Target="slides/slide269.xml"/><Relationship Id="rId271" Type="http://schemas.openxmlformats.org/officeDocument/2006/relationships/slide" Target="slides/slide270.xml"/><Relationship Id="rId272" Type="http://schemas.openxmlformats.org/officeDocument/2006/relationships/slide" Target="slides/slide271.xml"/><Relationship Id="rId273" Type="http://schemas.openxmlformats.org/officeDocument/2006/relationships/slide" Target="slides/slide272.xml"/><Relationship Id="rId274" Type="http://schemas.openxmlformats.org/officeDocument/2006/relationships/slide" Target="slides/slide273.xml"/><Relationship Id="rId275" Type="http://schemas.openxmlformats.org/officeDocument/2006/relationships/slide" Target="slides/slide274.xml"/><Relationship Id="rId276" Type="http://schemas.openxmlformats.org/officeDocument/2006/relationships/slide" Target="slides/slide275.xml"/><Relationship Id="rId277" Type="http://schemas.openxmlformats.org/officeDocument/2006/relationships/slide" Target="slides/slide276.xml"/><Relationship Id="rId278" Type="http://schemas.openxmlformats.org/officeDocument/2006/relationships/slide" Target="slides/slide277.xml"/><Relationship Id="rId279" Type="http://schemas.openxmlformats.org/officeDocument/2006/relationships/slide" Target="slides/slide278.xml"/><Relationship Id="rId280" Type="http://schemas.openxmlformats.org/officeDocument/2006/relationships/slide" Target="slides/slide279.xml"/><Relationship Id="rId281" Type="http://schemas.openxmlformats.org/officeDocument/2006/relationships/slide" Target="slides/slide280.xml"/><Relationship Id="rId282" Type="http://schemas.openxmlformats.org/officeDocument/2006/relationships/slide" Target="slides/slide281.xml"/><Relationship Id="rId283" Type="http://schemas.openxmlformats.org/officeDocument/2006/relationships/slide" Target="slides/slide282.xml"/><Relationship Id="rId284" Type="http://schemas.openxmlformats.org/officeDocument/2006/relationships/slide" Target="slides/slide283.xml"/><Relationship Id="rId285" Type="http://schemas.openxmlformats.org/officeDocument/2006/relationships/slide" Target="slides/slide284.xml"/><Relationship Id="rId286" Type="http://schemas.openxmlformats.org/officeDocument/2006/relationships/slide" Target="slides/slide285.xml"/><Relationship Id="rId287" Type="http://schemas.openxmlformats.org/officeDocument/2006/relationships/slide" Target="slides/slide286.xml"/><Relationship Id="rId288" Type="http://schemas.openxmlformats.org/officeDocument/2006/relationships/slide" Target="slides/slide287.xml"/><Relationship Id="rId289" Type="http://schemas.openxmlformats.org/officeDocument/2006/relationships/slide" Target="slides/slide288.xml"/><Relationship Id="rId290" Type="http://schemas.openxmlformats.org/officeDocument/2006/relationships/slide" Target="slides/slide289.xml"/><Relationship Id="rId291" Type="http://schemas.openxmlformats.org/officeDocument/2006/relationships/slide" Target="slides/slide290.xml"/><Relationship Id="rId292" Type="http://schemas.openxmlformats.org/officeDocument/2006/relationships/slide" Target="slides/slide291.xml"/><Relationship Id="rId293" Type="http://schemas.openxmlformats.org/officeDocument/2006/relationships/slide" Target="slides/slide292.xml"/><Relationship Id="rId294" Type="http://schemas.openxmlformats.org/officeDocument/2006/relationships/slide" Target="slides/slide293.xml"/><Relationship Id="rId295" Type="http://schemas.openxmlformats.org/officeDocument/2006/relationships/slide" Target="slides/slide294.xml"/><Relationship Id="rId296" Type="http://schemas.openxmlformats.org/officeDocument/2006/relationships/slide" Target="slides/slide295.xml"/><Relationship Id="rId297" Type="http://schemas.openxmlformats.org/officeDocument/2006/relationships/slide" Target="slides/slide296.xml"/><Relationship Id="rId298" Type="http://schemas.openxmlformats.org/officeDocument/2006/relationships/slide" Target="slides/slide297.xml"/><Relationship Id="rId299" Type="http://schemas.openxmlformats.org/officeDocument/2006/relationships/slide" Target="slides/slide298.xml"/><Relationship Id="rId300" Type="http://schemas.openxmlformats.org/officeDocument/2006/relationships/slide" Target="slides/slide299.xml"/><Relationship Id="rId301" Type="http://schemas.openxmlformats.org/officeDocument/2006/relationships/slide" Target="slides/slide300.xml"/><Relationship Id="rId302" Type="http://schemas.openxmlformats.org/officeDocument/2006/relationships/slide" Target="slides/slide301.xml"/><Relationship Id="rId303" Type="http://schemas.openxmlformats.org/officeDocument/2006/relationships/slide" Target="slides/slide302.xml"/><Relationship Id="rId304" Type="http://schemas.openxmlformats.org/officeDocument/2006/relationships/slide" Target="slides/slide303.xml"/><Relationship Id="rId305" Type="http://schemas.openxmlformats.org/officeDocument/2006/relationships/slide" Target="slides/slide304.xml"/><Relationship Id="rId306" Type="http://schemas.openxmlformats.org/officeDocument/2006/relationships/slide" Target="slides/slide305.xml"/><Relationship Id="rId307" Type="http://schemas.openxmlformats.org/officeDocument/2006/relationships/slide" Target="slides/slide306.xml"/><Relationship Id="rId308" Type="http://schemas.openxmlformats.org/officeDocument/2006/relationships/slide" Target="slides/slide307.xml"/><Relationship Id="rId309" Type="http://schemas.openxmlformats.org/officeDocument/2006/relationships/slide" Target="slides/slide308.xml"/><Relationship Id="rId310" Type="http://schemas.openxmlformats.org/officeDocument/2006/relationships/slide" Target="slides/slide309.xml"/><Relationship Id="rId311" Type="http://schemas.openxmlformats.org/officeDocument/2006/relationships/slide" Target="slides/slide310.xml"/><Relationship Id="rId312" Type="http://schemas.openxmlformats.org/officeDocument/2006/relationships/slide" Target="slides/slide311.xml"/><Relationship Id="rId313" Type="http://schemas.openxmlformats.org/officeDocument/2006/relationships/slide" Target="slides/slide312.xml"/><Relationship Id="rId314" Type="http://schemas.openxmlformats.org/officeDocument/2006/relationships/slide" Target="slides/slide313.xml"/><Relationship Id="rId315" Type="http://schemas.openxmlformats.org/officeDocument/2006/relationships/slide" Target="slides/slide314.xml"/><Relationship Id="rId316" Type="http://schemas.openxmlformats.org/officeDocument/2006/relationships/slide" Target="slides/slide315.xml"/><Relationship Id="rId317" Type="http://schemas.openxmlformats.org/officeDocument/2006/relationships/slide" Target="slides/slide316.xml"/><Relationship Id="rId318" Type="http://schemas.openxmlformats.org/officeDocument/2006/relationships/slide" Target="slides/slide317.xml"/><Relationship Id="rId319" Type="http://schemas.openxmlformats.org/officeDocument/2006/relationships/slide" Target="slides/slide318.xml"/><Relationship Id="rId320" Type="http://schemas.openxmlformats.org/officeDocument/2006/relationships/slide" Target="slides/slide319.xml"/><Relationship Id="rId321" Type="http://schemas.openxmlformats.org/officeDocument/2006/relationships/slide" Target="slides/slide320.xml"/><Relationship Id="rId322" Type="http://schemas.openxmlformats.org/officeDocument/2006/relationships/slide" Target="slides/slide321.xml"/><Relationship Id="rId323" Type="http://schemas.openxmlformats.org/officeDocument/2006/relationships/slide" Target="slides/slide322.xml"/><Relationship Id="rId324" Type="http://schemas.openxmlformats.org/officeDocument/2006/relationships/slide" Target="slides/slide323.xml"/><Relationship Id="rId325" Type="http://schemas.openxmlformats.org/officeDocument/2006/relationships/slide" Target="slides/slide324.xml"/><Relationship Id="rId326" Type="http://schemas.openxmlformats.org/officeDocument/2006/relationships/slide" Target="slides/slide325.xml"/><Relationship Id="rId327" Type="http://schemas.openxmlformats.org/officeDocument/2006/relationships/slide" Target="slides/slide326.xml"/><Relationship Id="rId328" Type="http://schemas.openxmlformats.org/officeDocument/2006/relationships/slide" Target="slides/slide327.xml"/><Relationship Id="rId329" Type="http://schemas.openxmlformats.org/officeDocument/2006/relationships/slide" Target="slides/slide328.xml"/><Relationship Id="rId330" Type="http://schemas.openxmlformats.org/officeDocument/2006/relationships/slide" Target="slides/slide329.xml"/><Relationship Id="rId331" Type="http://schemas.openxmlformats.org/officeDocument/2006/relationships/slide" Target="slides/slide330.xml"/><Relationship Id="rId332" Type="http://schemas.openxmlformats.org/officeDocument/2006/relationships/slide" Target="slides/slide331.xml"/><Relationship Id="rId333" Type="http://schemas.openxmlformats.org/officeDocument/2006/relationships/slide" Target="slides/slide332.xml"/><Relationship Id="rId334" Type="http://schemas.openxmlformats.org/officeDocument/2006/relationships/slide" Target="slides/slide333.xml"/><Relationship Id="rId335" Type="http://schemas.openxmlformats.org/officeDocument/2006/relationships/slide" Target="slides/slide334.xml"/><Relationship Id="rId336" Type="http://schemas.openxmlformats.org/officeDocument/2006/relationships/slide" Target="slides/slide335.xml"/><Relationship Id="rId337" Type="http://schemas.openxmlformats.org/officeDocument/2006/relationships/slide" Target="slides/slide336.xml"/><Relationship Id="rId338" Type="http://schemas.openxmlformats.org/officeDocument/2006/relationships/slide" Target="slides/slide337.xml"/><Relationship Id="rId339" Type="http://schemas.openxmlformats.org/officeDocument/2006/relationships/slide" Target="slides/slide338.xml"/><Relationship Id="rId340" Type="http://schemas.openxmlformats.org/officeDocument/2006/relationships/slide" Target="slides/slide339.xml"/><Relationship Id="rId341" Type="http://schemas.openxmlformats.org/officeDocument/2006/relationships/slide" Target="slides/slide340.xml"/><Relationship Id="rId342" Type="http://schemas.openxmlformats.org/officeDocument/2006/relationships/slide" Target="slides/slide341.xml"/><Relationship Id="rId343" Type="http://schemas.openxmlformats.org/officeDocument/2006/relationships/slide" Target="slides/slide342.xml"/><Relationship Id="rId344" Type="http://schemas.openxmlformats.org/officeDocument/2006/relationships/slide" Target="slides/slide343.xml"/><Relationship Id="rId345" Type="http://schemas.openxmlformats.org/officeDocument/2006/relationships/slide" Target="slides/slide344.xml"/><Relationship Id="rId346" Type="http://schemas.openxmlformats.org/officeDocument/2006/relationships/slide" Target="slides/slide345.xml"/><Relationship Id="rId347" Type="http://schemas.openxmlformats.org/officeDocument/2006/relationships/slide" Target="slides/slide346.xml"/><Relationship Id="rId348" Type="http://schemas.openxmlformats.org/officeDocument/2006/relationships/slide" Target="slides/slide347.xml"/><Relationship Id="rId349" Type="http://schemas.openxmlformats.org/officeDocument/2006/relationships/slide" Target="slides/slide348.xml"/><Relationship Id="rId350" Type="http://schemas.openxmlformats.org/officeDocument/2006/relationships/slide" Target="slides/slide349.xml"/><Relationship Id="rId351" Type="http://schemas.openxmlformats.org/officeDocument/2006/relationships/slide" Target="slides/slide350.xml"/><Relationship Id="rId352" Type="http://schemas.openxmlformats.org/officeDocument/2006/relationships/slide" Target="slides/slide351.xml"/><Relationship Id="rId353" Type="http://schemas.openxmlformats.org/officeDocument/2006/relationships/slide" Target="slides/slide352.xml"/><Relationship Id="rId354" Type="http://schemas.openxmlformats.org/officeDocument/2006/relationships/slide" Target="slides/slide353.xml"/><Relationship Id="rId355" Type="http://schemas.openxmlformats.org/officeDocument/2006/relationships/slide" Target="slides/slide354.xml"/><Relationship Id="rId356" Type="http://schemas.openxmlformats.org/officeDocument/2006/relationships/slide" Target="slides/slide355.xml"/><Relationship Id="rId357" Type="http://schemas.openxmlformats.org/officeDocument/2006/relationships/slide" Target="slides/slide356.xml"/><Relationship Id="rId358" Type="http://schemas.openxmlformats.org/officeDocument/2006/relationships/slide" Target="slides/slide357.xml"/><Relationship Id="rId359" Type="http://schemas.openxmlformats.org/officeDocument/2006/relationships/slide" Target="slides/slide358.xml"/><Relationship Id="rId360" Type="http://schemas.openxmlformats.org/officeDocument/2006/relationships/slide" Target="slides/slide359.xml"/><Relationship Id="rId361" Type="http://schemas.openxmlformats.org/officeDocument/2006/relationships/slide" Target="slides/slide360.xml"/><Relationship Id="rId362" Type="http://schemas.openxmlformats.org/officeDocument/2006/relationships/slide" Target="slides/slide361.xml"/><Relationship Id="rId363" Type="http://schemas.openxmlformats.org/officeDocument/2006/relationships/slide" Target="slides/slide362.xml"/><Relationship Id="rId364" Type="http://schemas.openxmlformats.org/officeDocument/2006/relationships/slide" Target="slides/slide363.xml"/><Relationship Id="rId365" Type="http://schemas.openxmlformats.org/officeDocument/2006/relationships/slide" Target="slides/slide364.xml"/><Relationship Id="rId366" Type="http://schemas.openxmlformats.org/officeDocument/2006/relationships/slide" Target="slides/slide365.xml"/><Relationship Id="rId367" Type="http://schemas.openxmlformats.org/officeDocument/2006/relationships/slide" Target="slides/slide366.xml"/><Relationship Id="rId368" Type="http://schemas.openxmlformats.org/officeDocument/2006/relationships/slide" Target="slides/slide367.xml"/><Relationship Id="rId369" Type="http://schemas.openxmlformats.org/officeDocument/2006/relationships/slide" Target="slides/slide368.xml"/><Relationship Id="rId370" Type="http://schemas.openxmlformats.org/officeDocument/2006/relationships/slide" Target="slides/slide369.xml"/><Relationship Id="rId371" Type="http://schemas.openxmlformats.org/officeDocument/2006/relationships/slide" Target="slides/slide370.xml"/><Relationship Id="rId372" Type="http://schemas.openxmlformats.org/officeDocument/2006/relationships/slide" Target="slides/slide371.xml"/><Relationship Id="rId373" Type="http://schemas.openxmlformats.org/officeDocument/2006/relationships/slide" Target="slides/slide372.xml"/><Relationship Id="rId374" Type="http://schemas.openxmlformats.org/officeDocument/2006/relationships/slide" Target="slides/slide373.xml"/><Relationship Id="rId375" Type="http://schemas.openxmlformats.org/officeDocument/2006/relationships/slide" Target="slides/slide374.xml"/><Relationship Id="rId376" Type="http://schemas.openxmlformats.org/officeDocument/2006/relationships/slide" Target="slides/slide375.xml"/><Relationship Id="rId377" Type="http://schemas.openxmlformats.org/officeDocument/2006/relationships/slide" Target="slides/slide376.xml"/><Relationship Id="rId378" Type="http://schemas.openxmlformats.org/officeDocument/2006/relationships/slide" Target="slides/slide377.xml"/><Relationship Id="rId379" Type="http://schemas.openxmlformats.org/officeDocument/2006/relationships/slide" Target="slides/slide378.xml"/><Relationship Id="rId380" Type="http://schemas.openxmlformats.org/officeDocument/2006/relationships/slide" Target="slides/slide379.xml"/><Relationship Id="rId381" Type="http://schemas.openxmlformats.org/officeDocument/2006/relationships/slide" Target="slides/slide380.xml"/><Relationship Id="rId382" Type="http://schemas.openxmlformats.org/officeDocument/2006/relationships/slide" Target="slides/slide381.xml"/><Relationship Id="rId383" Type="http://schemas.openxmlformats.org/officeDocument/2006/relationships/slide" Target="slides/slide382.xml"/><Relationship Id="rId384" Type="http://schemas.openxmlformats.org/officeDocument/2006/relationships/slide" Target="slides/slide383.xml"/><Relationship Id="rId385" Type="http://schemas.openxmlformats.org/officeDocument/2006/relationships/slide" Target="slides/slide384.xml"/><Relationship Id="rId386" Type="http://schemas.openxmlformats.org/officeDocument/2006/relationships/slide" Target="slides/slide385.xml"/><Relationship Id="rId387" Type="http://schemas.openxmlformats.org/officeDocument/2006/relationships/slide" Target="slides/slide386.xml"/><Relationship Id="rId388" Type="http://schemas.openxmlformats.org/officeDocument/2006/relationships/slide" Target="slides/slide387.xml"/><Relationship Id="rId389" Type="http://schemas.openxmlformats.org/officeDocument/2006/relationships/slide" Target="slides/slide388.xml"/><Relationship Id="rId390" Type="http://schemas.openxmlformats.org/officeDocument/2006/relationships/slide" Target="slides/slide389.xml"/><Relationship Id="rId391" Type="http://schemas.openxmlformats.org/officeDocument/2006/relationships/slide" Target="slides/slide390.xml"/><Relationship Id="rId392" Type="http://schemas.openxmlformats.org/officeDocument/2006/relationships/slide" Target="slides/slide391.xml"/><Relationship Id="rId393" Type="http://schemas.openxmlformats.org/officeDocument/2006/relationships/slide" Target="slides/slide392.xml"/><Relationship Id="rId394" Type="http://schemas.openxmlformats.org/officeDocument/2006/relationships/slide" Target="slides/slide393.xml"/><Relationship Id="rId395" Type="http://schemas.openxmlformats.org/officeDocument/2006/relationships/slide" Target="slides/slide394.xml"/><Relationship Id="rId396" Type="http://schemas.openxmlformats.org/officeDocument/2006/relationships/slide" Target="slides/slide395.xml"/><Relationship Id="rId397" Type="http://schemas.openxmlformats.org/officeDocument/2006/relationships/slide" Target="slides/slide396.xml"/><Relationship Id="rId398" Type="http://schemas.openxmlformats.org/officeDocument/2006/relationships/slide" Target="slides/slide397.xml"/><Relationship Id="rId399" Type="http://schemas.openxmlformats.org/officeDocument/2006/relationships/slide" Target="slides/slide398.xml"/><Relationship Id="rId400" Type="http://schemas.openxmlformats.org/officeDocument/2006/relationships/slide" Target="slides/slide399.xml"/><Relationship Id="rId401" Type="http://schemas.openxmlformats.org/officeDocument/2006/relationships/slide" Target="slides/slide400.xml"/><Relationship Id="rId402" Type="http://schemas.openxmlformats.org/officeDocument/2006/relationships/slide" Target="slides/slide401.xml"/><Relationship Id="rId403" Type="http://schemas.openxmlformats.org/officeDocument/2006/relationships/slide" Target="slides/slide402.xml"/><Relationship Id="rId404" Type="http://schemas.openxmlformats.org/officeDocument/2006/relationships/slide" Target="slides/slide403.xml"/><Relationship Id="rId405" Type="http://schemas.openxmlformats.org/officeDocument/2006/relationships/slide" Target="slides/slide404.xml"/><Relationship Id="rId406" Type="http://schemas.openxmlformats.org/officeDocument/2006/relationships/slide" Target="slides/slide405.xml"/><Relationship Id="rId407" Type="http://schemas.openxmlformats.org/officeDocument/2006/relationships/notesMaster" Target="notesMasters/notesMaster1.xml"/><Relationship Id="rId408" Type="http://schemas.openxmlformats.org/officeDocument/2006/relationships/presProps" Target="presProps.xml"/><Relationship Id="rId409" Type="http://schemas.openxmlformats.org/officeDocument/2006/relationships/viewProps" Target="viewProps.xml"/><Relationship Id="rId410" Type="http://schemas.openxmlformats.org/officeDocument/2006/relationships/theme" Target="theme/theme1.xml"/><Relationship Id="rId4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_rels/notesSlide2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1.xml"/>
		</Relationships>
</file>

<file path=ppt/notesSlides/_rels/notesSlide2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2.xml"/>
		</Relationships>
</file>

<file path=ppt/notesSlides/_rels/notesSlide2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3.xml"/>
		</Relationships>
</file>

<file path=ppt/notesSlides/_rels/notesSlide2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4.xml"/>
		</Relationships>
</file>

<file path=ppt/notesSlides/_rels/notesSlide2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5.xml"/>
		</Relationships>
</file>

<file path=ppt/notesSlides/_rels/notesSlide2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6.xml"/>
		</Relationships>
</file>

<file path=ppt/notesSlides/_rels/notesSlide2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7.xml"/>
		</Relationships>
</file>

<file path=ppt/notesSlides/_rels/notesSlide2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8.xml"/>
		</Relationships>
</file>

<file path=ppt/notesSlides/_rels/notesSlide2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9.xml"/>
		</Relationships>
</file>

<file path=ppt/notesSlides/_rels/notesSlide2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0.xml"/>
		</Relationships>
</file>

<file path=ppt/notesSlides/_rels/notesSlide2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1.xml"/>
		</Relationships>
</file>

<file path=ppt/notesSlides/_rels/notesSlide2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2.xml"/>
		</Relationships>
</file>

<file path=ppt/notesSlides/_rels/notesSlide2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3.xml"/>
		</Relationships>
</file>

<file path=ppt/notesSlides/_rels/notesSlide2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4.xml"/>
		</Relationships>
</file>

<file path=ppt/notesSlides/_rels/notesSlide2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5.xml"/>
		</Relationships>
</file>

<file path=ppt/notesSlides/_rels/notesSlide2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6.xml"/>
		</Relationships>
</file>

<file path=ppt/notesSlides/_rels/notesSlide2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7.xml"/>
		</Relationships>
</file>

<file path=ppt/notesSlides/_rels/notesSlide2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8.xml"/>
		</Relationships>
</file>

<file path=ppt/notesSlides/_rels/notesSlide2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9.xml"/>
		</Relationships>
</file>

<file path=ppt/notesSlides/_rels/notesSlide2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0.xml"/>
		</Relationships>
</file>

<file path=ppt/notesSlides/_rels/notesSlide2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1.xml"/>
		</Relationships>
</file>

<file path=ppt/notesSlides/_rels/notesSlide2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2.xml"/>
		</Relationships>
</file>

<file path=ppt/notesSlides/_rels/notesSlide2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3.xml"/>
		</Relationships>
</file>

<file path=ppt/notesSlides/_rels/notesSlide2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4.xml"/>
		</Relationships>
</file>

<file path=ppt/notesSlides/_rels/notesSlide2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5.xml"/>
		</Relationships>
</file>

<file path=ppt/notesSlides/_rels/notesSlide2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6.xml"/>
		</Relationships>
</file>

<file path=ppt/notesSlides/_rels/notesSlide2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7.xml"/>
		</Relationships>
</file>

<file path=ppt/notesSlides/_rels/notesSlide2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8.xml"/>
		</Relationships>
</file>

<file path=ppt/notesSlides/_rels/notesSlide2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9.xml"/>
		</Relationships>
</file>

<file path=ppt/notesSlides/_rels/notesSlide2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0.xml"/>
		</Relationships>
</file>

<file path=ppt/notesSlides/_rels/notesSlide2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1.xml"/>
		</Relationships>
</file>

<file path=ppt/notesSlides/_rels/notesSlide2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2.xml"/>
		</Relationships>
</file>

<file path=ppt/notesSlides/_rels/notesSlide2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3.xml"/>
		</Relationships>
</file>

<file path=ppt/notesSlides/_rels/notesSlide2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4.xml"/>
		</Relationships>
</file>

<file path=ppt/notesSlides/_rels/notesSlide2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5.xml"/>
		</Relationships>
</file>

<file path=ppt/notesSlides/_rels/notesSlide2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6.xml"/>
		</Relationships>
</file>

<file path=ppt/notesSlides/_rels/notesSlide2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7.xml"/>
		</Relationships>
</file>

<file path=ppt/notesSlides/_rels/notesSlide2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8.xml"/>
		</Relationships>
</file>

<file path=ppt/notesSlides/_rels/notesSlide2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9.xml"/>
		</Relationships>
</file>

<file path=ppt/notesSlides/_rels/notesSlide2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0.xml"/>
		</Relationships>
</file>

<file path=ppt/notesSlides/_rels/notesSlide2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1.xml"/>
		</Relationships>
</file>

<file path=ppt/notesSlides/_rels/notesSlide2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2.xml"/>
		</Relationships>
</file>

<file path=ppt/notesSlides/_rels/notesSlide2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3.xml"/>
		</Relationships>
</file>

<file path=ppt/notesSlides/_rels/notesSlide2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4.xml"/>
		</Relationships>
</file>

<file path=ppt/notesSlides/_rels/notesSlide2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5.xml"/>
		</Relationships>
</file>

<file path=ppt/notesSlides/_rels/notesSlide2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6.xml"/>
		</Relationships>
</file>

<file path=ppt/notesSlides/_rels/notesSlide2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7.xml"/>
		</Relationships>
</file>

<file path=ppt/notesSlides/_rels/notesSlide2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8.xml"/>
		</Relationships>
</file>

<file path=ppt/notesSlides/_rels/notesSlide2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9.xml"/>
		</Relationships>
</file>

<file path=ppt/notesSlides/_rels/notesSlide2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0.xml"/>
		</Relationships>
</file>

<file path=ppt/notesSlides/_rels/notesSlide2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1.xml"/>
		</Relationships>
</file>

<file path=ppt/notesSlides/_rels/notesSlide2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2.xml"/>
		</Relationships>
</file>

<file path=ppt/notesSlides/_rels/notesSlide2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3.xml"/>
		</Relationships>
</file>

<file path=ppt/notesSlides/_rels/notesSlide2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4.xml"/>
		</Relationships>
</file>

<file path=ppt/notesSlides/_rels/notesSlide2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5.xml"/>
		</Relationships>
</file>

<file path=ppt/notesSlides/_rels/notesSlide2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6.xml"/>
		</Relationships>
</file>

<file path=ppt/notesSlides/_rels/notesSlide2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7.xml"/>
		</Relationships>
</file>

<file path=ppt/notesSlides/_rels/notesSlide2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8.xml"/>
		</Relationships>
</file>

<file path=ppt/notesSlides/_rels/notesSlide2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9.xml"/>
		</Relationships>
</file>

<file path=ppt/notesSlides/_rels/notesSlide2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0.xml"/>
		</Relationships>
</file>

<file path=ppt/notesSlides/_rels/notesSlide2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1.xml"/>
		</Relationships>
</file>

<file path=ppt/notesSlides/_rels/notesSlide2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2.xml"/>
		</Relationships>
</file>

<file path=ppt/notesSlides/_rels/notesSlide2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3.xml"/>
		</Relationships>
</file>

<file path=ppt/notesSlides/_rels/notesSlide2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4.xml"/>
		</Relationships>
</file>

<file path=ppt/notesSlides/_rels/notesSlide2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5.xml"/>
		</Relationships>
</file>

<file path=ppt/notesSlides/_rels/notesSlide2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6.xml"/>
		</Relationships>
</file>

<file path=ppt/notesSlides/_rels/notesSlide2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7.xml"/>
		</Relationships>
</file>

<file path=ppt/notesSlides/_rels/notesSlide2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8.xml"/>
		</Relationships>
</file>

<file path=ppt/notesSlides/_rels/notesSlide2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9.xml"/>
		</Relationships>
</file>

<file path=ppt/notesSlides/_rels/notesSlide2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0.xml"/>
		</Relationships>
</file>

<file path=ppt/notesSlides/_rels/notesSlide2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1.xml"/>
		</Relationships>
</file>

<file path=ppt/notesSlides/_rels/notesSlide2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2.xml"/>
		</Relationships>
</file>

<file path=ppt/notesSlides/_rels/notesSlide2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3.xml"/>
		</Relationships>
</file>

<file path=ppt/notesSlides/_rels/notesSlide2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4.xml"/>
		</Relationships>
</file>

<file path=ppt/notesSlides/_rels/notesSlide2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5.xml"/>
		</Relationships>
</file>

<file path=ppt/notesSlides/_rels/notesSlide2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6.xml"/>
		</Relationships>
</file>

<file path=ppt/notesSlides/_rels/notesSlide2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7.xml"/>
		</Relationships>
</file>

<file path=ppt/notesSlides/_rels/notesSlide2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8.xml"/>
		</Relationships>
</file>

<file path=ppt/notesSlides/_rels/notesSlide2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9.xml"/>
		</Relationships>
</file>

<file path=ppt/notesSlides/_rels/notesSlide2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0.xml"/>
		</Relationships>
</file>

<file path=ppt/notesSlides/_rels/notesSlide2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1.xml"/>
		</Relationships>
</file>

<file path=ppt/notesSlides/_rels/notesSlide2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2.xml"/>
		</Relationships>
</file>

<file path=ppt/notesSlides/_rels/notesSlide2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3.xml"/>
		</Relationships>
</file>

<file path=ppt/notesSlides/_rels/notesSlide2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4.xml"/>
		</Relationships>
</file>

<file path=ppt/notesSlides/_rels/notesSlide2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5.xml"/>
		</Relationships>
</file>

<file path=ppt/notesSlides/_rels/notesSlide2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6.xml"/>
		</Relationships>
</file>

<file path=ppt/notesSlides/_rels/notesSlide2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7.xml"/>
		</Relationships>
</file>

<file path=ppt/notesSlides/_rels/notesSlide2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8.xml"/>
		</Relationships>
</file>

<file path=ppt/notesSlides/_rels/notesSlide2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9.xml"/>
		</Relationships>
</file>

<file path=ppt/notesSlides/_rels/notesSlide3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0.xml"/>
		</Relationships>
</file>

<file path=ppt/notesSlides/_rels/notesSlide3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1.xml"/>
		</Relationships>
</file>

<file path=ppt/notesSlides/_rels/notesSlide3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2.xml"/>
		</Relationships>
</file>

<file path=ppt/notesSlides/_rels/notesSlide3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3.xml"/>
		</Relationships>
</file>

<file path=ppt/notesSlides/_rels/notesSlide3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4.xml"/>
		</Relationships>
</file>

<file path=ppt/notesSlides/_rels/notesSlide3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5.xml"/>
		</Relationships>
</file>

<file path=ppt/notesSlides/_rels/notesSlide3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6.xml"/>
		</Relationships>
</file>

<file path=ppt/notesSlides/_rels/notesSlide3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7.xml"/>
		</Relationships>
</file>

<file path=ppt/notesSlides/_rels/notesSlide3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8.xml"/>
		</Relationships>
</file>

<file path=ppt/notesSlides/_rels/notesSlide3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9.xml"/>
		</Relationships>
</file>

<file path=ppt/notesSlides/_rels/notesSlide3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0.xml"/>
		</Relationships>
</file>

<file path=ppt/notesSlides/_rels/notesSlide3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1.xml"/>
		</Relationships>
</file>

<file path=ppt/notesSlides/_rels/notesSlide3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2.xml"/>
		</Relationships>
</file>

<file path=ppt/notesSlides/_rels/notesSlide3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3.xml"/>
		</Relationships>
</file>

<file path=ppt/notesSlides/_rels/notesSlide3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4.xml"/>
		</Relationships>
</file>

<file path=ppt/notesSlides/_rels/notesSlide3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5.xml"/>
		</Relationships>
</file>

<file path=ppt/notesSlides/_rels/notesSlide3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6.xml"/>
		</Relationships>
</file>

<file path=ppt/notesSlides/_rels/notesSlide3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7.xml"/>
		</Relationships>
</file>

<file path=ppt/notesSlides/_rels/notesSlide3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8.xml"/>
		</Relationships>
</file>

<file path=ppt/notesSlides/_rels/notesSlide3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9.xml"/>
		</Relationships>
</file>

<file path=ppt/notesSlides/_rels/notesSlide3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0.xml"/>
		</Relationships>
</file>

<file path=ppt/notesSlides/_rels/notesSlide3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1.xml"/>
		</Relationships>
</file>

<file path=ppt/notesSlides/_rels/notesSlide3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2.xml"/>
		</Relationships>
</file>

<file path=ppt/notesSlides/_rels/notesSlide3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3.xml"/>
		</Relationships>
</file>

<file path=ppt/notesSlides/_rels/notesSlide3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4.xml"/>
		</Relationships>
</file>

<file path=ppt/notesSlides/_rels/notesSlide3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5.xml"/>
		</Relationships>
</file>

<file path=ppt/notesSlides/_rels/notesSlide3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6.xml"/>
		</Relationships>
</file>

<file path=ppt/notesSlides/_rels/notesSlide3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7.xml"/>
		</Relationships>
</file>

<file path=ppt/notesSlides/_rels/notesSlide3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8.xml"/>
		</Relationships>
</file>

<file path=ppt/notesSlides/_rels/notesSlide3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9.xml"/>
		</Relationships>
</file>

<file path=ppt/notesSlides/_rels/notesSlide3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0.xml"/>
		</Relationships>
</file>

<file path=ppt/notesSlides/_rels/notesSlide3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1.xml"/>
		</Relationships>
</file>

<file path=ppt/notesSlides/_rels/notesSlide3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2.xml"/>
		</Relationships>
</file>

<file path=ppt/notesSlides/_rels/notesSlide3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3.xml"/>
		</Relationships>
</file>

<file path=ppt/notesSlides/_rels/notesSlide3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4.xml"/>
		</Relationships>
</file>

<file path=ppt/notesSlides/_rels/notesSlide3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5.xml"/>
		</Relationships>
</file>

<file path=ppt/notesSlides/_rels/notesSlide3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6.xml"/>
		</Relationships>
</file>

<file path=ppt/notesSlides/_rels/notesSlide3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7.xml"/>
		</Relationships>
</file>

<file path=ppt/notesSlides/_rels/notesSlide3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8.xml"/>
		</Relationships>
</file>

<file path=ppt/notesSlides/_rels/notesSlide3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9.xml"/>
		</Relationships>
</file>

<file path=ppt/notesSlides/_rels/notesSlide3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0.xml"/>
		</Relationships>
</file>

<file path=ppt/notesSlides/_rels/notesSlide3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1.xml"/>
		</Relationships>
</file>

<file path=ppt/notesSlides/_rels/notesSlide3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2.xml"/>
		</Relationships>
</file>

<file path=ppt/notesSlides/_rels/notesSlide3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3.xml"/>
		</Relationships>
</file>

<file path=ppt/notesSlides/_rels/notesSlide3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4.xml"/>
		</Relationships>
</file>

<file path=ppt/notesSlides/_rels/notesSlide3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5.xml"/>
		</Relationships>
</file>

<file path=ppt/notesSlides/_rels/notesSlide3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6.xml"/>
		</Relationships>
</file>

<file path=ppt/notesSlides/_rels/notesSlide3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7.xml"/>
		</Relationships>
</file>

<file path=ppt/notesSlides/_rels/notesSlide3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8.xml"/>
		</Relationships>
</file>

<file path=ppt/notesSlides/_rels/notesSlide3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9.xml"/>
		</Relationships>
</file>

<file path=ppt/notesSlides/_rels/notesSlide3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0.xml"/>
		</Relationships>
</file>

<file path=ppt/notesSlides/_rels/notesSlide3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1.xml"/>
		</Relationships>
</file>

<file path=ppt/notesSlides/_rels/notesSlide3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2.xml"/>
		</Relationships>
</file>

<file path=ppt/notesSlides/_rels/notesSlide3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3.xml"/>
		</Relationships>
</file>

<file path=ppt/notesSlides/_rels/notesSlide3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4.xml"/>
		</Relationships>
</file>

<file path=ppt/notesSlides/_rels/notesSlide3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5.xml"/>
		</Relationships>
</file>

<file path=ppt/notesSlides/_rels/notesSlide3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6.xml"/>
		</Relationships>
</file>

<file path=ppt/notesSlides/_rels/notesSlide3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7.xml"/>
		</Relationships>
</file>

<file path=ppt/notesSlides/_rels/notesSlide3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8.xml"/>
		</Relationships>
</file>

<file path=ppt/notesSlides/_rels/notesSlide3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9.xml"/>
		</Relationships>
</file>

<file path=ppt/notesSlides/_rels/notesSlide3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0.xml"/>
		</Relationships>
</file>

<file path=ppt/notesSlides/_rels/notesSlide3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1.xml"/>
		</Relationships>
</file>

<file path=ppt/notesSlides/_rels/notesSlide3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2.xml"/>
		</Relationships>
</file>

<file path=ppt/notesSlides/_rels/notesSlide3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3.xml"/>
		</Relationships>
</file>

<file path=ppt/notesSlides/_rels/notesSlide3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4.xml"/>
		</Relationships>
</file>

<file path=ppt/notesSlides/_rels/notesSlide3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5.xml"/>
		</Relationships>
</file>

<file path=ppt/notesSlides/_rels/notesSlide3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6.xml"/>
		</Relationships>
</file>

<file path=ppt/notesSlides/_rels/notesSlide3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7.xml"/>
		</Relationships>
</file>

<file path=ppt/notesSlides/_rels/notesSlide3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8.xml"/>
		</Relationships>
</file>

<file path=ppt/notesSlides/_rels/notesSlide3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9.xml"/>
		</Relationships>
</file>

<file path=ppt/notesSlides/_rels/notesSlide3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0.xml"/>
		</Relationships>
</file>

<file path=ppt/notesSlides/_rels/notesSlide3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1.xml"/>
		</Relationships>
</file>

<file path=ppt/notesSlides/_rels/notesSlide3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2.xml"/>
		</Relationships>
</file>

<file path=ppt/notesSlides/_rels/notesSlide3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3.xml"/>
		</Relationships>
</file>

<file path=ppt/notesSlides/_rels/notesSlide3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4.xml"/>
		</Relationships>
</file>

<file path=ppt/notesSlides/_rels/notesSlide3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5.xml"/>
		</Relationships>
</file>

<file path=ppt/notesSlides/_rels/notesSlide3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6.xml"/>
		</Relationships>
</file>

<file path=ppt/notesSlides/_rels/notesSlide3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7.xml"/>
		</Relationships>
</file>

<file path=ppt/notesSlides/_rels/notesSlide3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8.xml"/>
		</Relationships>
</file>

<file path=ppt/notesSlides/_rels/notesSlide3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9.xml"/>
		</Relationships>
</file>

<file path=ppt/notesSlides/_rels/notesSlide3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0.xml"/>
		</Relationships>
</file>

<file path=ppt/notesSlides/_rels/notesSlide3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1.xml"/>
		</Relationships>
</file>

<file path=ppt/notesSlides/_rels/notesSlide3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2.xml"/>
		</Relationships>
</file>

<file path=ppt/notesSlides/_rels/notesSlide3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3.xml"/>
		</Relationships>
</file>

<file path=ppt/notesSlides/_rels/notesSlide3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4.xml"/>
		</Relationships>
</file>

<file path=ppt/notesSlides/_rels/notesSlide3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5.xml"/>
		</Relationships>
</file>

<file path=ppt/notesSlides/_rels/notesSlide3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6.xml"/>
		</Relationships>
</file>

<file path=ppt/notesSlides/_rels/notesSlide3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7.xml"/>
		</Relationships>
</file>

<file path=ppt/notesSlides/_rels/notesSlide3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8.xml"/>
		</Relationships>
</file>

<file path=ppt/notesSlides/_rels/notesSlide3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9.xml"/>
		</Relationships>
</file>

<file path=ppt/notesSlides/_rels/notesSlide3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0.xml"/>
		</Relationships>
</file>

<file path=ppt/notesSlides/_rels/notesSlide3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1.xml"/>
		</Relationships>
</file>

<file path=ppt/notesSlides/_rels/notesSlide3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2.xml"/>
		</Relationships>
</file>

<file path=ppt/notesSlides/_rels/notesSlide3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3.xml"/>
		</Relationships>
</file>

<file path=ppt/notesSlides/_rels/notesSlide3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4.xml"/>
		</Relationships>
</file>

<file path=ppt/notesSlides/_rels/notesSlide3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5.xml"/>
		</Relationships>
</file>

<file path=ppt/notesSlides/_rels/notesSlide3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6.xml"/>
		</Relationships>
</file>

<file path=ppt/notesSlides/_rels/notesSlide3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7.xml"/>
		</Relationships>
</file>

<file path=ppt/notesSlides/_rels/notesSlide3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8.xml"/>
		</Relationships>
</file>

<file path=ppt/notesSlides/_rels/notesSlide3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9.xml"/>
		</Relationships>
</file>

<file path=ppt/notesSlides/_rels/notesSlide4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0.xml"/>
		</Relationships>
</file>

<file path=ppt/notesSlides/_rels/notesSlide4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1.xml"/>
		</Relationships>
</file>

<file path=ppt/notesSlides/_rels/notesSlide4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2.xml"/>
		</Relationships>
</file>

<file path=ppt/notesSlides/_rels/notesSlide4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3.xml"/>
		</Relationships>
</file>

<file path=ppt/notesSlides/_rels/notesSlide4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4.xml"/>
		</Relationships>
</file>

<file path=ppt/notesSlides/_rels/notesSlide4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8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0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2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0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1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2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3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4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5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6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7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8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9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0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1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2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3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4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5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6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7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8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9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0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1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2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3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4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5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6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7.xml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8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9.xml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0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1.xml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2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3.xml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4.xml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5.xml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6.xml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7.xml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8.xml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9.xml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0.xml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1.xml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2.xml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3.xml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4.xml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5.xml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6.xml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7.xml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8.xml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9.xml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0.xml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1.xml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2.xml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3.xml"/></Relationships>
</file>

<file path=ppt/slides/_rels/slide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4.xml"/></Relationships>
</file>

<file path=ppt/slides/_rels/slide3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5.xml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6.xml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7.xml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8.xml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9.xml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0.xml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1.xml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2.xml"/></Relationships>
</file>

<file path=ppt/slides/_rels/slide3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3.xml"/></Relationships>
</file>

<file path=ppt/slides/_rels/slide3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4.xml"/></Relationships>
</file>

<file path=ppt/slides/_rels/slide3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5.xml"/></Relationships>
</file>

<file path=ppt/slides/_rels/slide3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6.xml"/></Relationships>
</file>

<file path=ppt/slides/_rels/slide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7.xml"/></Relationships>
</file>

<file path=ppt/slides/_rels/slide3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8.xml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9.xml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0.xml"/></Relationships>
</file>

<file path=ppt/slides/_rels/slide3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1.xml"/></Relationships>
</file>

<file path=ppt/slides/_rels/slide3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2.xml"/></Relationships>
</file>

<file path=ppt/slides/_rels/slide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3.xml"/></Relationships>
</file>

<file path=ppt/slides/_rels/slide3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4.xml"/></Relationships>
</file>

<file path=ppt/slides/_rels/slide3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5.xml"/></Relationships>
</file>

<file path=ppt/slides/_rels/slide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6.xml"/></Relationships>
</file>

<file path=ppt/slides/_rels/slide3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7.xml"/></Relationships>
</file>

<file path=ppt/slides/_rels/slide3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8.xml"/></Relationships>
</file>

<file path=ppt/slides/_rels/slide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9.xml"/></Relationships>
</file>

<file path=ppt/slides/_rels/slide3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0.xml"/></Relationships>
</file>

<file path=ppt/slides/_rels/slide3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1.xml"/></Relationships>
</file>

<file path=ppt/slides/_rels/slide3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2.xml"/></Relationships>
</file>

<file path=ppt/slides/_rels/slide3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3.xml"/></Relationships>
</file>

<file path=ppt/slides/_rels/slide3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4.xml"/></Relationships>
</file>

<file path=ppt/slides/_rels/slide3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5.xml"/></Relationships>
</file>

<file path=ppt/slides/_rels/slide3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6.xml"/></Relationships>
</file>

<file path=ppt/slides/_rels/slide3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7.xml"/></Relationships>
</file>

<file path=ppt/slides/_rels/slide3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8.xml"/></Relationships>
</file>

<file path=ppt/slides/_rels/slide3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9.xml"/></Relationships>
</file>

<file path=ppt/slides/_rels/slide3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0.xml"/></Relationships>
</file>

<file path=ppt/slides/_rels/slide3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1.xml"/></Relationships>
</file>

<file path=ppt/slides/_rels/slide3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2.xml"/></Relationships>
</file>

<file path=ppt/slides/_rels/slide3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3.xml"/></Relationships>
</file>

<file path=ppt/slides/_rels/slide3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4.xml"/></Relationships>
</file>

<file path=ppt/slides/_rels/slide3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5.xml"/></Relationships>
</file>

<file path=ppt/slides/_rels/slide3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6.xml"/></Relationships>
</file>

<file path=ppt/slides/_rels/slide3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7.xml"/></Relationships>
</file>

<file path=ppt/slides/_rels/slide3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8.xml"/></Relationships>
</file>

<file path=ppt/slides/_rels/slide3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9.xml"/></Relationships>
</file>

<file path=ppt/slides/_rels/slide3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0.xml"/></Relationships>
</file>

<file path=ppt/slides/_rels/slide3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1.xml"/></Relationships>
</file>

<file path=ppt/slides/_rels/slide3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2.xml"/></Relationships>
</file>

<file path=ppt/slides/_rels/slide3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3.xml"/></Relationships>
</file>

<file path=ppt/slides/_rels/slide3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4.xml"/></Relationships>
</file>

<file path=ppt/slides/_rels/slide3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5.xml"/></Relationships>
</file>

<file path=ppt/slides/_rels/slide3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6.xml"/></Relationships>
</file>

<file path=ppt/slides/_rels/slide3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7.xml"/></Relationships>
</file>

<file path=ppt/slides/_rels/slide3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8.xml"/></Relationships>
</file>

<file path=ppt/slides/_rels/slide3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9.xml"/></Relationships>
</file>

<file path=ppt/slides/_rels/slide3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0.xml"/></Relationships>
</file>

<file path=ppt/slides/_rels/slide3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1.xml"/></Relationships>
</file>

<file path=ppt/slides/_rels/slide3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2.xml"/></Relationships>
</file>

<file path=ppt/slides/_rels/slide3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3.xml"/></Relationships>
</file>

<file path=ppt/slides/_rels/slide3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4.xml"/></Relationships>
</file>

<file path=ppt/slides/_rels/slide3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5.xml"/></Relationships>
</file>

<file path=ppt/slides/_rels/slide3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6.xml"/></Relationships>
</file>

<file path=ppt/slides/_rels/slide3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7.xml"/></Relationships>
</file>

<file path=ppt/slides/_rels/slide3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8.xml"/></Relationships>
</file>

<file path=ppt/slides/_rels/slide3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9.xml"/></Relationships>
</file>

<file path=ppt/slides/_rels/slide3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0.xml"/></Relationships>
</file>

<file path=ppt/slides/_rels/slide3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1.xml"/></Relationships>
</file>

<file path=ppt/slides/_rels/slide3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2.xml"/></Relationships>
</file>

<file path=ppt/slides/_rels/slide3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3.xml"/></Relationships>
</file>

<file path=ppt/slides/_rels/slide3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4.xml"/></Relationships>
</file>

<file path=ppt/slides/_rels/slide3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5.xml"/></Relationships>
</file>

<file path=ppt/slides/_rels/slide3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6.xml"/></Relationships>
</file>

<file path=ppt/slides/_rels/slide3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7.xml"/></Relationships>
</file>

<file path=ppt/slides/_rels/slide3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8.xml"/></Relationships>
</file>

<file path=ppt/slides/_rels/slide3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9.xml"/></Relationships>
</file>

<file path=ppt/slides/_rels/slide3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0.xml"/></Relationships>
</file>

<file path=ppt/slides/_rels/slide3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1.xml"/></Relationships>
</file>

<file path=ppt/slides/_rels/slide3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2.xml"/></Relationships>
</file>

<file path=ppt/slides/_rels/slide3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3.xml"/></Relationships>
</file>

<file path=ppt/slides/_rels/slide3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4.xml"/></Relationships>
</file>

<file path=ppt/slides/_rels/slide3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5.xml"/></Relationships>
</file>

<file path=ppt/slides/_rels/slide3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6.xml"/></Relationships>
</file>

<file path=ppt/slides/_rels/slide3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7.xml"/></Relationships>
</file>

<file path=ppt/slides/_rels/slide3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8.xml"/></Relationships>
</file>

<file path=ppt/slides/_rels/slide3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9.xml"/></Relationships>
</file>

<file path=ppt/slides/_rels/slide3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0.xml"/></Relationships>
</file>

<file path=ppt/slides/_rels/slide3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1.xml"/></Relationships>
</file>

<file path=ppt/slides/_rels/slide3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2.xml"/></Relationships>
</file>

<file path=ppt/slides/_rels/slide3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3.xml"/></Relationships>
</file>

<file path=ppt/slides/_rels/slide3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4.xml"/></Relationships>
</file>

<file path=ppt/slides/_rels/slide3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5.xml"/></Relationships>
</file>

<file path=ppt/slides/_rels/slide3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6.xml"/></Relationships>
</file>

<file path=ppt/slides/_rels/slide3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7.xml"/></Relationships>
</file>

<file path=ppt/slides/_rels/slide3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8.xml"/></Relationships>
</file>

<file path=ppt/slides/_rels/slide3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9.xml"/></Relationships>
</file>

<file path=ppt/slides/_rels/slide4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0.xml"/></Relationships>
</file>

<file path=ppt/slides/_rels/slide4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1.xml"/></Relationships>
</file>

<file path=ppt/slides/_rels/slide4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2.xml"/></Relationships>
</file>

<file path=ppt/slides/_rels/slide4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3.xml"/></Relationships>
</file>

<file path=ppt/slides/_rels/slide4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4.xml"/></Relationships>
</file>

<file path=ppt/slides/_rels/slide4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93268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标准课件 · 节级精细讲解（教师用）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905" y="146304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09905" y="272491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初中 · 每章每节精细讲解课件 ｜ 统编版（教育部组织编写，人民教育出版社出版）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905" y="36758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09905" y="44074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24505" y="36758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124505" y="44074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39105" y="36758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639105" y="44074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节级教案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53705" y="36758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分步例题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153705" y="44074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每节配齐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905" y="5212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核心素养：文化自信：在经典诗文与中华优秀传统文化中建立认同，主动积累与传承 · 语言运用：在真实语境中积累、梳理语言经验，表达准确、得体、有逻辑 · 思维能力：借助比较、归纳、推断与质疑，发展逻辑思维与辩证思维 · 审美创造：感受、鉴赏语言文字与文学作品之美，并尝试个性化表达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62636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练习答案仅存教师手册（course.json），放映页零答案 ｜ 制作依据：九科教辅规范包 v1.0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学科身份与课件结构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统编版（教育部组织编写，人民教育出版社出版）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42609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4225" y="1995678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学科身份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84225" y="2361438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4225" y="2590038"/>
            <a:ext cx="4791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统编版（教育部组织编写，人民教育出版社出版）（六册（七至九年级上下））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4225" y="3038094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4225" y="3266694"/>
            <a:ext cx="4791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 年版义务教育课程标准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4225" y="3714750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核心素养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4225" y="3943350"/>
            <a:ext cx="4791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文化自信：在经典诗文与中华优秀传统文化中建立认同，主动积累与传承、语言运用：在…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4225" y="439140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课件定位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4225" y="4620006"/>
            <a:ext cx="4791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每节四页组：讲解→例题→练习→（图示）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4225" y="5068062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答案隔离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4225" y="5296662"/>
            <a:ext cx="4791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练习答案仅存教师手册，放映页零答案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16929" y="1995678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每节页面组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16929" y="23431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0977" y="2343150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讲解页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导入情境 → 讲解正文（可直接照讲）→ 核心术语与易错提示。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16929" y="31843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00977" y="3184398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例题页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典型例题分步解析，每步注明依据；教师带学生逐步揭示。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16929" y="402564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00977" y="4025646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练习页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独立练习（答案在教师手册）；可先作答再对照自评。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16929" y="48668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00977" y="4866894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图示页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本章学科专业图示，按原始比例嵌入，标注教学示意。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 / 405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知识体系总览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先见森林，再进细节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3443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9633" y="2004822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 四季美景（朗读与写景）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9633" y="2256040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 至爱亲情（记事与笔记小说）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9633" y="2507258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 学习生活（默读与《论语》）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9633" y="2758476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 人生之舟（勾画关键句）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9633" y="3009694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第五单元 动物与人（概括中心）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9633" y="3260912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第六单元 想象之翼（快速阅读与想象）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905" y="3512130"/>
            <a:ext cx="3443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9633" y="3823026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 群星闪耀（写出人物精神）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9633" y="4074244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 家国情怀（抒情方式）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9633" y="4325462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 凡人小事（细节描写）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9633" y="4576680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 修身正己（略读与托物言志）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9633" y="4827898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第五单元 哲理之思（托物言志与登临诗）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9633" y="5079115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第六单元 科幻探险（浏览长文）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73880" y="1693926"/>
            <a:ext cx="3443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3608" y="2004822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 活动·探究：新闻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3608" y="2256040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 品格与光辉（回忆性散文与传记）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3608" y="2507258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 山水之美（文言写景与唐诗）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3608" y="2758476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 情感与哲思（背影与白杨）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3608" y="3009694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第五单元 文明的印迹（说明文）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3608" y="3260912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第六单元 情怀与哲思（诸子史传与诗词）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73880" y="3512130"/>
            <a:ext cx="3443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83608" y="3823026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 民风民俗（多种文体读民俗）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83608" y="4074244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 科技之光（事理说明文）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83608" y="4325462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 古人的理想（文言积累与《诗经》）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83608" y="4576680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 思想的声音（活动·探究：演讲）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83608" y="4827898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第五单元 江山多娇（游记）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83608" y="5079115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第六单元 古人的哲思（诸子与讽喻诗）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37855" y="1693926"/>
            <a:ext cx="3443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47583" y="2004822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 活动·探究：诗歌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47583" y="2256040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 观点与论证（议论文入门）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47583" y="2507258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 忧乐情怀（文言名篇）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47583" y="2758476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 成长与世相（小说）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47583" y="3009694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第五单元 怀疑与创造（立论与驳论）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47583" y="3260912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第六单元 古典小说（白话小说源流）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37855" y="3512130"/>
            <a:ext cx="3443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47583" y="3823026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 活动·探究：诗歌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47583" y="4074244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 人物画廊（小说笔法）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47583" y="4325462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 古人的抉择（义利与使臣风骨）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47583" y="4576680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 读书与审美（文艺论文）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247583" y="4827898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第五单元 活动·探究：戏剧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247583" y="5079115"/>
            <a:ext cx="3334207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第六单元 沙场与苍生（史传论说与诗词曲）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 / 405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· 阅读与鉴赏 ｜ 考查：写景散文语言品析、修辞辨析与朗读设计是高频考点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　四季美景（朗读与写景）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以朗读为抓手读出景物描写之美，学比喻、比拟写出景物特点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现代文阅读·写景散文（《春》《济南的冬天》《雨的四季》）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古诗词诵读·四首（《观沧海》《闻王昌龄左迁龙标遥有此寄》《次北固山下》《天净沙·秋思》）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写作·热爱生活，热爱写作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现代文阅读·写景散文（《春》《济南的冬天》《雨的…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第一单元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上学路上你留意过今天的风和光吗？朱自清笔下的春、老舍笔下的济南，都是把寻常景物写“活”了。这节课我们学读写景散文的两把钥匙：朗读与圈画。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景散文的抓手是“景物特点＋作者情感”双线：先看作者选了哪些景、抓了什么特点，再追问景物里藏着怎样的情感。语言上盯两类句子——比喻（本体＋喻体＋相似点）与比拟（直接把物当人写），品析用“换词比较”：把原词换成普通说法，看丢了什么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到本单元：《春》示范比喻群，“像牛毛，像花针，像细丝”分别写出春雨的密、亮、细；《济南的冬天》用“小摇篮”写出山的温晴护抱；“偷偷地钻出来”让小草有了孩子气；《雨的四季》教我们按时间线整理四季之雨的不同性情。朗读时用轻缓的停连读出“温晴”，不是一味响亮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常见误区要纠正：只答“生动形象”不得分——必须说清喻体写出景物的什么特点、寄托了作者什么情感。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写景散文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比喻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比拟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重音与停连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把比拟只当修辞名词，说不出被写物获得了怎样的人性或情态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朗读只求响亮，不会用停连、重音表现层次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5 / 405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现代文阅读·写景散文（《春》《济南的冬天》《雨的…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老舍写济南的山“这一圈小山在冬天特别可爱，好像是把济南放在一个小摇篮里”。这句话用了什么修辞？写出济南冬天怎样的特点？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判断修辞：句中有“好像”，本体是小山环抱的济南，喻体是摇篮，属比喻。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找相似点：摇篮护着婴儿，小山护着济南城，相似点是“温暖、安稳地环抱”。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由物及情：摇篮让人想到母亲般的呵护，可见作者笔下济南冬天“温晴”的特点，也含着喜爱之情。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比喻。把环抱济南的一圈小山比作摇篮，写出济南冬天温晴（温暖而无风声）的特点，流露出作者的怜爱与喜爱。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6 / 405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现代文阅读·写景散文（《春》《济南的冬天》《…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课堂即时练：仿照“小草偷偷地从土里钻出来”，用比拟手法写一句秋风。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课后迁移：从《春》里另找一处比喻，按“喻体—相似点—景物特点”三步做批注。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7 / 405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现代文阅读·写景散文（《春》《济南的冬天》《雨的…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7a-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比喻与比拟辨析结构图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中心框“把景物写活”。左分支“比喻”：标注三要素“本体＋喻体＋相似点”，下分三格：明喻（有“像、似”，例句：像牛毛，像花针，像细丝——写春雨密而细）、暗喻（用“是、成了”，例句：小小的摇篮——写小芽）、借喻（只出现喻体）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8 / 405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　古诗词诵读·四首（《观沧海》《闻王昌龄左迁龙标遥…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第一单元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一千八百年前，五十三岁的曹操站在碣石山上面对大海，写下了千古一叹。今天我们用“画面还原法”走进四首古诗词。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诗词的抓手是“意象”：意象即融入了主观情感的客观物象。读诗三步——先正音断句（读准节奏），再还原意象（把文字变成画面），最后抓情感词，理清“写了什么景—抒了什么情”。答“借景抒情”不能只贴标签，要落到具体景物与情感的对应上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四首：《观沧海》以“日月之行，若出其中”的壮阔想象写吞吐天下的胸襟；《闻王昌龄左迁龙标遥有此寄》借“杨花”“子规”两个飘零悲啼的意象寄寓牵挂，让明月捎去问候；《次北固山下》“海日生残夜，江春入旧年”于新旧交替中见昂扬；《天净沙·秋思》九个名词并置层层叠加意象，末句“断肠人”点破羁旅之愁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注意：《天净沙·秋思》是元曲中的小令，不是唐诗；断句按意义单元停，如“东临／碣石，以观／沧海”。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意象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乐府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散曲·小令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借景抒情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答“借景抒情”只写套话，不落到具体景物与情感的关系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9 / 405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　古诗词诵读·四首（《观沧海》《闻王昌龄左迁龙标遥…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“海日生残夜，江春入旧年”写的是怎样的景象？蕴含作者怎样的情感？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还原画面：夜还未褪尽，红日已从海上升起；旧年未过，江上已露出春意。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抓关键词：“生”“入”把日和春写成主动的力量，新旧在交替中转换。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联系旅况：作者泊舟北固山下，时序更替引出思乡，但景象生机勃勃，暗含乐观。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描绘夜残春生、时序交替的壮美景致；既含淡淡的乡愁（一年将尽人犹在外作客），也透露出新事物必将取代旧事物的乐观向上。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10 / 405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　古诗词诵读·四首（《观沧海》《闻王昌龄左迁龙…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课堂即时练：为“断肠人在天涯”找出前面一处与之呼应的景物，说说它渲染了怎样的气氛。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课后迁移：默写《观沧海》中表现大海吞吐日月星辰的句子并翻译。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11 / 405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　写作·热爱生活，热爱写作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第一单元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有同学说“生活平淡，没东西可写”。其实不是生活贫乏，是我们的感官还没打开。这节课先重走一遍上学路。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起步课的核心是“观察先于动笔”：用五感观察清单（看到、听到、闻到、触到、想到）收集素材，再按一定观察顺序（由远及近、由总到分）组织。原则是“以小见大”——从一片落叶写秋天，比空喊“秋天真美”有力得多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做法：先口头说，用三句话讲清上学路上最打动你的一个细节，同学互相追问“当时你看到什么、听到什么”，把细节说厚再落笔。写完自检：有没有具体景物支撑？开头结尾的抒情是否有了依托？一节课写透一个小场景，胜过面面俱到的流水账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误区纠正：开头结尾喊口号、中间空空是常见病；抒情必须“长”在具体的景与事上，不贪大求全。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观察顺序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细节描写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开头结尾喊口号抒情，中间缺少具体景物支撑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12 / 405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　写作·热爱生活，热爱写作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以“放学路上的秋天”为内容写一个片段（100字左右），要求写出两处感官细节，结尾一句点出感受。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审题：中心是“秋天”，范围是“放学路上”，细节要真实可感。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选材：从五感清单中挑两个最有秋天味的细节，如桂花的香气、梧桐叶落地的声音。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组织：按“由远及近”或“见—闻—想”的顺序排列细节，末句用一句话收束情感，让抒情有依托。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示例：拐进小巷，桂花的甜香先一步涌来。脚下的梧桐叶被踩得“咔嚓”轻响，一片打着旋落在书包上。我捡起它，叶脉里盛着整个秋天。判定：两处感官细节＋有依托的收束句即达标。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13 / 405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　写作·热爱生活，热爱写作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课堂即时练：用五感观察清单观察教室窗外的天，写出三个短句。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课后迁移：写“我家的一个傍晚”，至少三处细节，不得出现“真温馨”这类空评价。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14 / 405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 · 四季美景（朗读与写景）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读写景散文，一手抓景物特点，一手抓作者情感，用“换词比较”品出比喻与比拟的妙处。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读古诗三步走：正音断句、还原意象、抓住情感词，让“写了什么景”指向“抒了什么情”。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会观察才会写作：五感收集素材，按序组织细节，让“小”场景撑起真情。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朗读《济南的冬天》一段并说明停连、重音的设计理由；再从文中找两处比喻，说明各写出济南冬天的什么特点。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15 / 405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· 阅读与鉴赏 ｜ 考查：记事文章的线索与细节作用；《世说新语》二则词句理解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　至爱亲情（记事与笔记小说）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从细节读亲情，掌握记事六要素，初识笔记体文言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现代文阅读·叙事散文（《秋天的怀念》《散步》《散文诗二首》）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文言文·《世说新语》二则（《咏雪》《陈太丘与友期行》）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写作·学会记事 ＋ 综合性学习·有朋自远方来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现代文阅读·叙事散文（《秋天的怀念》《散步》《散…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第二单元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《秋天的怀念》里，母亲说“咱娘儿俩在一块儿，好好儿活”。一句平常话为什么让无数读者落泪？这节课学从细节读亲情。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散文的抓手是“线索＋细节”：先找出串起全文的事件或物件（线索），再圈画动作、语言、神态的细节，追问“删掉这个细节，文章少了什么”。概括事件必须六要素齐全——时间、地点、人物、起因、经过、结果，缺“谁”或缺“结果”都是硬伤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秋天的怀念》抓两次“看花”：第一次“我”暴怒拒绝，母亲央求；第二次妹妹推“我”看花，母亲已不在——“看花”既是线索，也是“我”从绝望到领悟“好好儿活”的情感变化线。《散步》抓“分歧—解决”的情节与对称句式，《散文诗二首》借金色花、荷叶红莲两个意象写母子之爱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误区：概括只答“写了母亲对我好”过于笼统；要能说清“哪几件事、怎样体现”。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叙事线索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细节描写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散文诗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概括事件丢六要素，“谁”或“结果”缺失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17 / 405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现代文阅读·叙事散文（《秋天的怀念》《散步》《散…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《秋天的怀念》中母亲“悄悄地躲出去”“偷偷地听着我的动静”两处细节写出了什么？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抓动作词：“悄悄”“偷偷”都是小心翼翼的动作。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想人物处境：儿子瘫痪暴怒，母亲自己已病入膏肓、隐瞒着病情。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由动作推情：避开是给儿子宣泄的空间，偷听是放心不下的牵挂；两个副词写出母亲的隐忍与深爱。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写出母亲对儿子深沉而小心的爱：既理解儿子的痛苦、给他发泄空间，又无时无刻不牵挂着儿子的安危；也含着隐瞒病情、独自承受的苦心。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18 / 405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现代文阅读·叙事散文（《秋天的怀念》《散步》…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课堂即时练：《散步》中面对分歧，“我”为什么决定走大路，最后为什么还是走了小路？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课后迁移：选一件家人的小事，按“事件＋一处语言细节＋一处动作细节”写150字。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19 / 405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　文言文·《世说新语》二则（《咏雪》《陈太丘与友期…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第二单元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一场家庭聚会，孩子们比起了雪——“撒盐空中”和“柳絮因风起”，哪个更妙？这场争论传了一千五百年。今天读《世说新语》二则。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言文的基本功是“字字落实”：逐词对译再连缀成句，方法是留（人名地名照抄）、换（古今义替换）、补（补出省略成分）、调（调整语序）。本课重点词：期（约定）、舍去（不再等候而离开）、顾（回头看）、尊君（对别人父亲的尊称）；“相委而去”的“委”是舍弃，“去”是古义“离开”，不是“前往”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咏雪》先还原谢家雪日聚会情境，再比较两个喻句——柳絮因风起舞，形似雪的轻盈，又有春意与才情之美，故谢太傅“大笑乐”；《陈太丘与友期行》抓“期日中，过中不至”的省略（期〔于〕日中），看七岁元方如何有理有据驳斥失约友人，“方正”体现在以理驳友与“入门不顾”的决绝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检验法：用现代汉语复述故事，能讲清情节才算真读懂；只背译文不懂关键字，一换句子就露馅。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《世说新语》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笔记小说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省略句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古今异义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把“相委而去”的“去”按今义解作“前往”，漏掉“离开”义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20 / 405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　文言文·《世说新语》二则（《咏雪》《陈太丘与友期…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翻译：“陈太丘与友期行，期日中。过中不至，太丘舍去，去后乃至。”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标出关键词：期（约定）、日中（正午）、舍去（不再等候而离开）、乃至（才到）。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补出省略：期（于）日中、（友人）过中不至、（友人）去后乃至。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按现代语序连缀，逐字检查是否落实、句意是否通顺。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陈太丘与朋友约定一同出行，约定的时间是正午。过了正午朋友还没有到，陈太丘不再等候就离开了，陈太丘离开后朋友才到。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21 / 405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　文言文·《世说新语》二则（《咏雪》《陈太丘与…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课堂即时练：辨析“去”的古今义，并说明“太丘舍去，去后乃至”中两个“去”的意思。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课后迁移：你认为“撒盐空中”与“柳絮因风起”哪个比喻更好？写三句话说明理由。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22 / 405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　写作·学会记事 ＋ 综合性学习·有朋自远方来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第二单元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同一件事，有人写成三行流水账，有人写得让人心头一热。差别在哪？今天用“六要素表格”把事写清楚，再加一处细节把事写动人。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事第一步是“写得清楚”：六要素（时间、地点、人物、起因、经过、结果）一个不能少，其中“经过”是重点，要详写关键场景。第二步是“写得动人”：在关键处放慢镜头，加一个动作或语言细节。详略的标尺只有一条——材料与中心有没有关系，无关的过程果断删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做法：拿一段流水账（“今天我帮妈妈洗碗，洗完了，很开心”），先用六要素表格补全信息，再追问“洗碗时妈妈的手在干什么、水声如何”，把一个瞬间写细；起因结果一两句带过，最打动人的一幕展开写。综合性学习“有朋自远方来”：搜集交友名言，小组办“交友之道”展示，落点在筛选材料＋说清理由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六要素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详略安排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记事平均用力，与中心无关的过程写得太多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23 / 405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　写作·学会记事 ＋ 综合性学习·有朋自远方来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题目《那一刻，我读懂了妈妈》，完成“审题—立意—结构”三步设计。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审题：中心词是“读懂”，限定是“那一刻”——只能写一个瞬间，要写出从“不懂”到“懂”的转变。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立意：不写“妈妈很辛苦”的泛泛之谈，选定一个具体领悟，如“唠叨的背后是放不下的牵挂”。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结构：开头设悬（从前嫌她唠叨）；中间详写“那一刻”——雪夜送伞时冻红的手与一句“快点喝，别凉了”；结尾点题。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结构线为“不懂（抑）—瞬间细节（详写）—读懂（点题）”：一个瞬间、两处细节、一次转变，即为合格示范。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24 / 405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　写作·学会记事 ＋ 综合性学习·有朋自远方来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课堂即时练：把“今天我和同学吵架了，后来和好了”扩成六要素齐全的三句话。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课后迁移：用“先叙一事后抒一句”的格式写你和朋友之间的一件小事，不少于120字。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25 / 405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　写作·学会记事 ＋ 综合性学习·有朋自远方来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7a-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记叙文六要素与详略结构图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顶部“记叙一件事”。第一层横排六个卡片：时间、地点、人物、起因、经过、结果，每个卡片内写提示语（如“人物：谁做了什么”）。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26 / 405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 · 至爱亲情（记事与笔记小说）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读叙事散文：先理线索，再抠细节——删掉会失色的地方，往往就是情感最深处。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学文言先“字字落实”：用留、换、补、调四步翻译，盯住“期、舍去、顾”这类古今异义关键词。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记事两步走：六要素把事写清楚，关键细节把情写出来；详略的唯一标尺是中心。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用自己的话复述《陈太丘与友期行》，说明元方的“方正”体现在哪两个言行上；再用六要素写一件家里的小事。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27 / 405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· 阅读与鉴赏 ｜ 考查：默读概括能力；《论语》十二章名句默写与理解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　学习生活（默读与《论语》）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练不出声的默读与概括，走近鲁迅童年与孔子的学习之道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现代文阅读·默读与概括（《从百草园到三味书屋》《再塑生命的人》）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文言文·《论语》十二章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名著导读·《朝花夕拾》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　现代文阅读·默读与概括（《从百草园到三味书屋》《…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第三单元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从这一单元起，我们练一种新本领——不出声、不动唇、不指读的默读，而且要越读越快、越能抓住要点。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默读与概括的抓手是“关键句”：段首中心句、段尾小结句、反复出现的词。概括的标准格式是主谓句——“谁＋做了什么／怎么样”。训练法：限时默读，读后合上书按标题倒推主要内容，再逐段压缩成一句。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从百草园到三味书屋》用对比表读——百草园之乐是自由的自然之乐（泥墙根一带的“无穷乐趣”），三味书屋之乐是读书问事的成长之乐，笔调一热一静，对比中见童年的完整；《再塑生命的人》抓“再塑”前后“我”的变化：从暴躁黑暗到觉醒光明，关键在莎莉文老师把识字与事物对应起来的引导方式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误区：照抄原文长句不算概括——要删去修饰语只留主干；两段生活也不能答成“前者好玩后者痛苦”，书塾生活同样有乐趣，只是性质不同。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默读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对比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关键句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概括段落照抄原文长句，不会压缩成一句主谓句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29 / 405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　现代文阅读·默读与概括（《从百草园到三味书屋》《…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用一句主谓句概括《从百草园到三味书屋》第2段的主要内容。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限时默读该段，圈出景物对象——菜畦、石井栏、皂荚树、鸣蝉、黄蜂、油蛉、蟋蟀等。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找关键句式——“不必说……也不必说……单是……”的落点在“单是”，强调泥墙根一带就有无限趣味。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压缩成主谓句：谁（儿时的我）＋在哪里＋做什么／感到什么。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示例：儿时的“我”在百草园的泥墙根一带享受到无穷的自然乐趣。判定：含对象、地点、内容三要素且不超过一句，即达标。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30 / 405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　现代文阅读·默读与概括（《从百草园到三味书屋…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课堂即时练：给《再塑生命的人》划分“再塑前／再塑后”，各用一个词概括“我”的状态。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课后迁移：用默读法三分钟读完《再塑生命的人》剩余部分，写出全文一句概括。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31 / 405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文言文·《论语》十二章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第三单元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“学而时习之，不亦说乎”——两千五百年前的一句话，今天读来仍然亲切。这节课把《论语》十二章读通、理清、记住。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言学习法：先整体感知（每章讲了什么），再字字落实。本课关键字：说（同“悦”，愉快）、愠（恼怒）、罔（迷惑而无所得）、殆（疑惑不解）、三省（多次反省）、传（老师传授的知识）。虚词“而”是重点：顺承（学而时习之）、转折（人不知而不愠，译“却”）、并列（敏而好学）；判断法——前后相承为顺承，相逆为转折，同写一方面为并列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把十二章分三栏板书——学习方法（学而时习之、温故知新、学思结合）、学习态度（三人行必有我师、敏而好学不耻下问）、修身做人（人不知而不愠、吾日三省吾身、士不可以不弘毅）；每章抓一个关键词（学、思、省、义），用关键词带出章旨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误区：“温故而知新”的“而”易误判为并列，实为顺承（温习旧知识，从而有新体会）；“不亦说乎”的“说”读yuè，须标注同“悦”。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《论语》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语录体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通假字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“而”的用法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“温故而知新”的“而”误判为并列；“不亦说乎”的“说”读错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32 / 405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文言文·《论语》十二章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辨析下列三句中“而”的用法：①学而时习之 ②人不知而不愠 ③敏而好学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逐句翻译，看前后两部分的关系。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①“学了知识然后按时温习”——语意相承，“而”表顺承；②“别人不了解（我），（我）却不恼怒”——语意相逆，“而”表转折。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③“聪敏而又好学”——前后同写优点，“而”表并列；把“而”分别换成“然后／却／又”代入检验。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①顺承（然后）②转折（却、但是）③并列（而且）。检验方法：代入“然后／却／又”，句意通顺者为正解。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33 / 405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文言文·《论语》十二章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课堂即时练：翻译“学而不思则罔，思而不学则殆”，并指出两个“而”的用法。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课后迁移：按“学习方法／学习态度／修身做人”三类，各默写两句原句。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34 / 405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　名著导读·《朝花夕拾》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第三单元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鲁迅先生的文章常常冷峻如刀，可这本《朝花夕拾》里，他温柔地写下了百草园、长妈妈和隐鼠。为什么？让我们带着“双重视角”去读。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忆性散文的独特之处是“双重视角”：儿时经历的感受（体验视角）与写作时成人的回望（回忆视角）交织——既写“当时的我觉得有趣”，也写“如今的我看得更清”。读法：按“童年趣事—求学经历—故人往事”三主题串读，为每篇做“人物＋事件＋情感”卡片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从百草园到三味书屋》《五猖会》里的童趣与压抑；《阿长与〈山海经〉》里长妈妈的粗俗迷信与真挚善良——粗俗是抑，买来渴慕已久的《山海经》是扬，结尾的祈愿是深情怀念；《藤野先生》里的师生情谊与弃医从文的抉择。温馨的回忆与理性的批判并存，正是本书的深度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误区：只当故事集读，看不出“朝花”（儿时之花）与“夕拾”（中年拾起）的时间纵深——同一件事，儿时感受与中年评判未必相同。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回忆性散文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双重视角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只读故事情节，看不出温馨回忆与理性批判并存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35 / 405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　名著导读·《朝花夕拾》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判断题：《阿长与〈山海经〉》中，鲁迅对长妈妈始终是嫌弃和讨厌的。这个说法对吗？说明理由。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回看文本事实：文章先写长妈妈“切切察察”、睡成“大”字、讲迷信规矩，确有嫌弃与“不大佩服”。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找转折事件：长妈妈买来“我”渴慕已久的《山海经》，“我”对她“发生新的敬意”。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双重视角分析：儿时有真切的感激，成年的回望更添对这位底层劳动妇女的深切怀念与悼念。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不对。文章欲扬先抑：前文的“讨厌”反衬后文的敬意与怀念；双重视角下既有儿时真切的感激，也有成年后对长妈妈善良仁厚的深切追念。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36 / 405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　名著导读·《朝花夕拾》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课堂即时练：给《五猖会》做一张人物事件卡：事件是什么？“我”当时什么感受？如今回望作者想表达什么？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课后迁移：从《朝花夕拾》再选一篇，找出“温馨回忆”与“理性批判”各一处并摘句。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37 / 405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 · 学习生活（默读与《论语》）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默读求快更求准：勾画关键句，压缩成“谁＋做什么”的主谓句，概括才算过关。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《论语》十二章三个抽屉：学习方法、学习态度、修身做人；盯住关键字与“而”的三种用法。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读《朝花夕拾》抓“双重视角”：儿时的感受＋中年的回望，温馨与批判并存才是完整的鲁迅。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不回看课本，按“学习方法／学习态度／修身做人”各写出《论语》两句原句，并翻译其中一句。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38 / 405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· 阅读与鉴赏 ｜ 考查：关键句勾画与内容概括、人物精神归纳；《诫子书》词句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　人生之舟（勾画关键句）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继续默读勾画关键句，初识议论文与修身类文言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现代文阅读·勾画关键句（《纪念白求恩》《植树的牧羊人》《走一步，再走一步》）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文言文·《诫子书》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写作·思路要清晰 ＋ 综合性学习·少年正是读书时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　现代文阅读·勾画关键句（《纪念白求恩》《植树的牧…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第四单元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一篇课文读完，能不能用三句话告诉别人它讲了什么？这节课教你“每段画一处关键句，再连缀成要”。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勾画关键句的路径是“段内画一处→段间连成线”。关键句常在段首（总起）、段尾（总结）、转折词之后（“但”“然而”后往往是重心）。人物精神类文本还要区分“事证”（具体事件）与“评语”（直接评价），评价必须有事例支撑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纪念白求恩》把对白求恩的赞美与对“不少人”的批评对照，从而提出“毫不利己专门利人”的观点——这是初识议论文提出观点的方式；《植树的牧羊人》用三次到访（1913、1920、1945）时间轴梳理荒原变绿洲的变化，第一人称“我”是见证者，让故事可信；《走一步，再走一步》抓结尾点题句，把小事写成人生经验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误区：概括人物品质只写“无私”“伟大”不得分——格式应为“品质词＋文中事件”。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议论文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见证者视角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首尾呼应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概括人物品质只贴“无私”“伟大”标签，不给文中事件支撑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40 / 405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　现代文阅读·勾画关键句（《纪念白求恩》《植树的牧…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《植树的牧羊人》三次到访中，“我”所见的环境分别发生了什么变化？这些变化说明了什么？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按时间轴定位三次到访的段落。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分别勾画环境关键句：一访荒原废弃、风声如野兽嚎叫；二访有了溪流、树木成林；三访泉源重现、上万人生机勃勃地生活。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连缀比较：变化巨大而缓慢（三十余年），唯一不变的是牧羊人的坚持。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从荒凉死寂到生机盎然，三次所见层层推进，说明牧羊人以一己之力改造了环境，印证了“人类除了毁灭，还可以像上帝一样创造”的议论。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41 / 405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　现代文阅读·勾画关键句（《纪念白求恩》《植树…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课堂即时练：给《纪念白求恩》每段画一处关键句，连缀成三句话概括全文。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课后迁移：为《走一步，再走一步》写一句“品质词＋事件”式的人物评价。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42 / 405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　文言文·《诫子书》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第四单元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五十四岁的诸葛亮写给八岁儿子的一封家书，只有八十六个字，却成了千古家训。这封信到底说了什么？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言仍用“字字落实”翻译。本课重点词：静（宁静专一）、俭（俭朴养德）、淫（放纵）、慢（懈怠）、励精（振奋精神）、险躁（轻薄浮躁）、遂（最终）、穷庐（比喻人的居所破败潦倒）。句式重点“非……无以……”是双重否定，语气比“必须”更重，译作“不……就不能……”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抓领起句“静以修身，俭以养德”，理“志—学—才”关系链——非学无以广才（不学习无法增长才干），非志无以成学（没有志向无法学有所成）：修身靠静与俭，成学靠立志，环环相扣；末句“悲守穷庐，将复何及”以年华空逝的警告收束。全文多对偶句，骈散结合，朗读时读出节奏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误区：“淫慢”的“淫”不是今义“淫秽”而是“放纵”；“致远”指达到远大目标，不能拆成“到达远方”了事。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诫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双重否定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骈散结合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“淫慢则不能励精”的“淫”按今义硬解，漏掉“放纵”义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43 / 405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　文言文·《诫子书》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翻译：“非淡泊无以明志，非宁静无以致远。”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识别句式：“非……无以……”双重否定，语气强于“必须”。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落实关键词：淡泊（内心恬淡，不慕名利）、明志（明确志向）、宁静（安静专一）、致远（达到远大目标）。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连缀成句，检验双重否定是否保留（不……就不能……）。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不内心恬淡、不慕名利就无法明确志向，不排除干扰、安静专一就无法达到远大目标。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44 / 405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　文言文·《诫子书》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课堂即时练：解释“淫慢则不能励精，险躁则不能治性”中“淫”“慢”“险躁”的意思。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课后迁移：用原文词句说明“志、学、才”三者的关系。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45 / 405</a:t>
            </a:r>
            <a:endParaRPr lang="en-US" sz="1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　写作·思路要清晰 ＋ 综合性学习·少年正是读书时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第四单元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有的作文每个段落单看都不错，连起来却像一盘散沙。问题出在“思路”。今天先学把思路说清，再动笔。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清晰的抓手是“提纲”：动笔前先口头说“先写什么—再写什么—为什么这样排”。提纲两要素：条理（时间、空间、逻辑顺序选其一贯穿）与过渡（段间要有过渡句，让文章从“段落拼盘”变成整体；过渡句写在段首，承上启下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做法：给一组打乱顺序的情节卡（如“运动会长跑”六张），让学生排出最合理的顺序并说理由，再给相邻段落各补一句过渡；自检法——遮住过渡句，若文章读起来突兀，说明过渡没做。综合性学习“少年正是读书时”：列个人读书清单，互相推荐一本书并说清“好在哪里、为什么适合你”，练的正是“观点＋依据”的表达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提纲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过渡句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段落之间缺少过渡句，文章像段落拼盘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46 / 405</a:t>
            </a:r>
            <a:endParaRPr lang="en-US" sz="11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　写作·思路要清晰 ＋ 综合性学习·少年正是读书时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题目《难忘的一堂课》，列一份三段式提纲，并为第二段开头写一句过渡。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选定顺序：按时间顺序（课前—课上—课后）组织。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列提纲：开头悬念起笔（那天的教室格外安静）；中间详写课堂经过（老师的一个实验，含动作与语言细节）；结尾点题（为什么难忘）。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写过渡：“那份安静，很快被老师带来的一个玻璃罩打破了。”既回指上文“安静”，又引出下文实验。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提纲含起笔、详写、点题三种内容＋一句承上启下的过渡句即为合格；过渡句须同时勾连上文与下文。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47 / 405</a:t>
            </a:r>
            <a:endParaRPr lang="en-US" sz="11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　写作·思路要清晰 ＋ 综合性学习·少年正是读…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课堂即时练：给“先写景物、再写人物活动”的两段之间补一句过渡。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课后迁移：为你最近读的一本书写一段80字推荐语，含“书名＋一句话理由＋适合谁读”。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48 / 405</a:t>
            </a:r>
            <a:endParaRPr lang="en-US" sz="11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 · 人生之舟（勾画关键句）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勾画关键句＝段内找一处＋段间连成线；评价人物用“品质词＋文中事件”，拒绝空标签。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《诫子书》一条链：静俭修身—立志成学—广才致远；盯牢“淫、慢、险躁”与“非……无以……”句…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思路清晰＝一条顺序贯穿＋段间过渡勾连；先说提纲再动笔，文章才不会散。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给《诫子书》划分层次，用原文词句说明“静—俭—志—学”的关系；口头说出一篇本单元课文的段落提纲。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49 / 405</a:t>
            </a:r>
            <a:endParaRPr lang="en-US" sz="11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· 阅读与鉴赏 ｜ 考查：中心句与中心概括；《狼》的实词虚词与主旨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第五单元　动物与人（概括中心）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在默读基础上学概括中心，思考人与动物、偏见与自省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现代文阅读·概括中心（《猫》《动物笑谈》）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文言文·《狼》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写作·如何突出中心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现代文阅读·概括中心（《猫》《动物笑谈》）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第五单元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三只猫，三种命运，作者却为第三只写下了“永不养猫”。这节课学“结尾找主旨句＋中间找情感词”，把文章读进中心层。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括中心的路径：结尾找主旨句（卒章显志处），中间找情感词（“难过”“酸辛”“愧疚”等），再用“内容＋情感＋道理”三层归纳——只复述内容（如“猫很可怜”）停在内容层，中心必须进入作者借内容表达的态度与反思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猫》用三次养猫对照表：来历（要来的—抱来的—拾来的）、外形、性情、家中地位、“我”的态度各不相同；第三只猫被冤枉致死，“我”的自省（没有判断明白便妄下断语）才是重心——主题落在“善待生命、反思偏见”上。《动物笑谈》则在诙谐笔调中见科学工作者对动物的尊重与专注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误区：对照表填完不等于读懂——表是手段，落点在“从三次异同中看出什么”；情感词要回指原文，不能凭空概括。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中心句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对照结构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主题答成“猫很可怜”，停在内容层，未进“善待生命、反思偏见”层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51 / 405</a:t>
            </a:r>
            <a:endParaRPr lang="en-US" sz="11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现代文阅读·概括中心（《猫》《动物笑谈》）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《猫》的第三只猫之死为什么让作者“更难过得多”？这反映了作者怎样的态度？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对照表定位：第三只猫是拾来的、不讨喜、常被忽视。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找关键事件：妻冤枉它咬死了芙蓉鸟，“我”用木棒打它，它死在邻家屋脊上，而真凶是另一只黑猫。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抓结尾情感句：“自此，我家永不养猫”与“我”的刺痛，由对一只猫的愧疚上升到对所有生命的愧疚。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因为它是被“我”冤枉并间接打死的，且无从辩诉；作者的刺痛不止于对一只猫的愧疚，更升华为对凭主观偏见伤害弱小者的自责——善待生命，遇事不可妄下断语。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52 / 405</a:t>
            </a:r>
            <a:endParaRPr lang="en-US" sz="11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现代文阅读·概括中心（《猫》《动物笑谈》）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课堂即时练：完成三次养猫对照表的“来历、遭遇、结局”三栏。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课后迁移：用“内容＋情感＋道理”三层法写《猫》的主题归纳（两句以内）。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53 / 405</a:t>
            </a:r>
            <a:endParaRPr lang="en-US" sz="11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　文言文·《狼》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第五单元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一个屠夫，两只狼，一场傍晚的对峙。蒲松龄只用两百字，就写出了惊心动魄与一句千古议论。今天读《聊斋志异》里的《狼》。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言路径：先理故事线（遇狼—惧狼—御狼—杀狼），再字字落实。重点实词：缀行甚远（紧跟）、并驱（一起追赶）、窘（处境困迫）、敌（攻击）、洞（名词作动词，打洞）、隧（名词作状语，从通道）、意暇甚（神情悠闲）、暴（突然）。虚词集中讲“其、之、以”：其（它们的／其中）、之（代狼／音节助词／用在主谓之间）、以（来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篇目落点：讨论结尾“狼亦黠矣，而顷刻两毙……止增笑耳”的议论与故事的关系——画龙点睛，由狼及人：对待像狼一样的恶势力，妥协退让只会让其得寸进尺，敢于斗争才能取胜。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误区：“其一犬坐于前”的正确停顿是“其一／犬坐于前”，“犬”是名词作状语“像狗一样”，不是“其中一只狗”——这是本课最经典的考点陷阱。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蒲松龄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《聊斋志异》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词类活用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议论结尾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“其一犬坐于前”误读为“其中一只狗”，看不出“犬”是名词作状语“像狗一样”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54 / 405</a:t>
            </a:r>
            <a:endParaRPr lang="en-US" sz="11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　文言文·《狼》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翻译：“一狼径去，其一犬坐于前。久之，目似瞑，意暇甚。”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断句：其一／犬坐于前，确认“犬”是名词作状语。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落实词义：径（径直）、去（离开）、瞑（闭眼）、意（神情）、暇（悠闲）。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处理“久之”（音节助词，不译）后连缀全句。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一只狼径直离开了，另一只像狗一样蹲坐在（屠夫）前面。过了很久，（那只狼的）眼睛好像闭上了，神情十分悠闲。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55 / 405</a:t>
            </a:r>
            <a:endParaRPr lang="en-US" sz="11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　文言文·《狼》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课堂即时练：指出下列“之”的用法：①复投之 ②久之 ③两狼之并驱如故。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课后迁移：翻译结尾议论句，并说明它对故事的作用。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56 / 405</a:t>
            </a:r>
            <a:endParaRPr lang="en-US" sz="11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　写作·如何突出中心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第五单元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有的作文写着写着就“跑偏”了，作者自己却毫无察觉。这节课教一根缰绳——“一线串珠”，让所有材料都拴在中心上。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425446"/>
          </a:xfrm>
          <a:prstGeom prst="roundRect">
            <a:avLst>
              <a:gd name="adj" fmla="val 22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151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出中心的核心技术是“一线串珠”：先用一句话写出中心（中心句），再让每个材料回答“它为中心做了什么”。手段有三：开篇点题、结尾呼应、详略倾斜（与中心最相关的详写，其余略写）。最佳训练是升降格对照：同一材料，先写一版跑偏的，再改一版句句向中心靠拢的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做法：给定中心句“爷爷的补丁衫上缝着节俭”，提供五张材料卡（补丁衫来历、爷爷织毛衣、旧物利用、新买的羽绒服、爷爷讲述往事），先淘汰与中心无关的卡，再排详略；检验法——读完每段自问“这段删掉，中心受损吗”，不受损就该删或缩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误区：中心句只在开头出现一次不算突出——中间材料与中心呼应、结尾回扣，中心才立得住。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一线串珠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详略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中心句只在开头出现，中间材料跑偏而不自知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57 / 405</a:t>
            </a:r>
            <a:endParaRPr lang="en-US" sz="11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　写作·如何突出中心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以“那一刻，我长大了”为中心句，从四个材料中选出该详写的一个并说明理由。材料A：生日收到礼物；B：妈妈生病，我第一次做饭手忙脚乱；C：周末去游乐园；D：和同学看电影。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91922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9192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79120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用中心句过滤：“长大”意味着承担责任、懂得体谅。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57759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5775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44957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逐一评估：A、C、D与“长大”关联弱；B中“我”主动承担、体会到照顾人的不易，正扣中心。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423595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42359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410794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定详略：B详写（做饭的动作、心理与妈妈的反应），A可一笔带过作对比（以前只会收礼物）。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82117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88518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详写材料B。理由：它是唯一能体现“从被照顾到照顾人”之转变的材料；其余材料删或略，避免冲淡中心。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58 / 405</a:t>
            </a:r>
            <a:endParaRPr lang="en-US" sz="11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　写作·如何突出中心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课堂即时练：中心句为“坚持，让他成功了”，判断以下材料留或删：①他每天清晨五点起床训练；②他爱吃妈妈做的面；③比赛失利后他哭了又爬起来。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课后迁移：自拟一句中心句，写150字片段，要求中段有一处与中心的呼应。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59 / 405</a:t>
            </a:r>
            <a:endParaRPr lang="en-US" sz="11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第五单元 · 动物与人（概括中心）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概括中心用三层法：内容之外，必须找到作者的情感与反思，才算是读到了“中心”。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《狼》四步故事线加一句点睛议论；盯牢“犬坐于前”的活用与“其、之、以”三虚词。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突出中心＝一句话中心＋材料取舍＋详略倾斜；每段自问“删掉它中心受损吗”。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用表格复述《猫》三次养猫的异同，并解释作者为何说“自此，我家永不养猫”；再写一段150字文字突出一个中心。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60 / 405</a:t>
            </a:r>
            <a:endParaRPr lang="en-US" sz="11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· 阅读与鉴赏 ｜ 考查：快速阅读与信息提取、想象与夸张手法、寓言寓意概括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第六单元　想象之翼（快速阅读与想象）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练快速阅读，读童话、神话、寓言，学会联想和想象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现代文阅读·童话与快速阅读（《皇帝的新装》）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诗与神话·想象的世界（《天上的街市》《女娲造人》）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文言文·《寓言四则》 ＋ 写作·发挥联想和想象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　现代文阅读·童话与快速阅读（《皇帝的新装》）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第六单元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一个皇帝光着身子游行，全城人都夸衣服华美，只有一个孩子笑出了声。这场骗局的关键词是什么？——对，“骗”。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童话是“以幻想写现实”的文体，常用夸张与讽刺。读法：限时快速阅读，先抓线索词（本文是“骗”）串起情节链——骗子行骗→皇帝看布→大臣助骗→百姓传骗→孩子揭骗；再讨论结局设计的深意：为什么说真话的是孩子？因为孩子没有被利害之心污染，童话借他呼唤真诚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皇帝的新装》的夸张层层升级——皇帝“每一天每一点钟都要换一套衣服”，大臣们看不见布料却争相赞美；夸张放大了虚荣与怯懦，讽刺也就越深。本单元同时导读《西游记》，学“精读与跳读”结合：精彩章节精读品细节，过场回目跳读抓情节链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误区：寓意不能答成“骗子聪明”——那停在内容层；主题是讽刺虚伪愚蠢、呼唤真诚与敢于说真话。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童话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夸张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讽刺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精读与跳读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寓意答成“骗子聪明”，偏离讽刺虚伪、呼唤真诚的主题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62 / 405</a:t>
            </a:r>
            <a:endParaRPr lang="en-US" sz="11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　现代文阅读·童话与快速阅读（《皇帝的新装》）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大臣们看不见那“神奇的布料”，为什么都称赞布料美丽？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回文找关键句：大臣们担心“任何不称职的或者愚蠢得不可救药的人，都看不见这布料”。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分析心理：怕被认定为不称职、愚蠢，宁可信其有，不敢说真话。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由个体到群体：谎言一个接一个，使骗局畅通无阻；夸张之中见讽刺。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因为害怕被说成不称职或愚蠢，人们不敢说出真相；作者以此讽刺自欺欺人、随声附和的世态，童话的夸张使讽刺更加深刻。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63 / 405</a:t>
            </a:r>
            <a:endParaRPr lang="en-US" sz="11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　现代文阅读·童话与快速阅读（《皇帝的新装》）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课堂即时练：30秒内按情节链说出《皇帝的新装》五步情节。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课后迁移：从《西游记》选一回，用精读画出三处动作细节，说明悟空形象。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64 / 405</a:t>
            </a:r>
            <a:endParaRPr lang="en-US" sz="11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诗与神话·想象的世界（《天上的街市》《女娲造人》）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第六单元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夜晚的街灯亮起来，郭沫若看着看着，把它想成了天上的明星。由眼前的灯到天上的街市，这条路是怎样“走”过去的？今天学联想与想象。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概念辨析：联想是由此及彼——由A事物想到相关联的B事物（街灯→明星，因明亮相似）；想象是在原有形象基础上创造出新形象（天上的街市、牛郎织女骑着牛儿来往）。联想是桥，想象是桥那头的新世界。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天上的街市》的想象路径：街灯（实）→明星（联想）→天上的街市→街上珍奇物品→牛郎织女自由生活（想象层层推进）；“定然”“定能够”等斩钉截铁的词，恰是把美好愿望说得无比笃定。《女娲造人》把古籍里短短的记载“添枝加叶”：加入女娲造人时的喜悦心理、小人儿的动作神态——神话的想象让古老记载有了体温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误区：联想与想象不能混答——先判断是“想到关联物”还是“创造新形象”。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联想与想象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神话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混淆联想（由此及彼）与想象（创造新形象）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65 / 405</a:t>
            </a:r>
            <a:endParaRPr lang="en-US" sz="11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诗与神话·想象的世界（《天上的街市》《女娲造人》）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《天上的街市》由“远远的街灯明了”写到“天上的明星现了”，这是联想还是想象？请再从诗中找出一处想象。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判断依据：街灯与明星都是真实存在的事物，由A想到相似的B，属联想。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检索后文：“我想那缥缈的空中，定然有美丽的街市”——天上的街市并非实有，是诗人创造的新形象。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继续追踪：牛郎织女“骑着牛儿来往”的自由图景，是想象的进一步展开。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街灯到明星是联想（相似引发）；“美丽的街市”“牛郎织女骑着牛儿来往”是想象（创造现实中不存在的新形象）。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66 / 405</a:t>
            </a:r>
            <a:endParaRPr lang="en-US" sz="11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诗与神话·想象的世界（《天上的街市》《女娲造…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课堂即时练：判断下列各句是联想还是想象：①弯弯的月亮像小船；②月亮上，嫦娥正抱着玉兔梳妆。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课后迁移：对照《风俗通》中“女娲抟黄土作人”的原始记载，找出课文《女娲造人》至少两处“添枝加叶”。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67 / 405</a:t>
            </a:r>
            <a:endParaRPr lang="en-US" sz="11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　文言文·《寓言四则》 ＋ 写作·发挥联想和想象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第六单元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一户人家挖了口井，消息传出去竟变成“穿井得一人”——挖井挖出了一个人！谣言是怎么长出翅膀的？今天读寓言，学想象写作。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976372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702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言落实：《穿井得一人》重点词——穿（挖掘）、溉汲（打水浇田）、及（待，等到）、闻（使知道，传到……耳朵里）、得一人之使（得到一个人的劳力）、不若无闻（不如不知道的好）。翻译难点：“穿井得一人”的歧义正来自省略——省出一个劳力，传话者漏掉关键限定，遂成谣言。《杞人忧天》重点：奈……何（拿……怎么办）、只使（即使）、亡（同“无”，如“亡处亡块”）、舍然（释然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寓意归纳：寓意必须“覆盖故事”——《穿井得一人》讲以讹传讹、核实求真（对传言要调查核实，不能轻信盲从），不是“劳动有收获”；《杞人忧天》讲为不必要的忧虑（也含古人对天地的求知精神）。课堂上学生自述寓意并互评“是否覆盖故事情节与人物行为”。写作落点：续写一个画面要遵守两条——想象合理（符合事物特征与生活逻辑），想象有边界（夸张不等于失真）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寓言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寓意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续写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“穿井得一人”寓意答成“劳动有收获”，未读出“以讹传讹、核实求真”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68 / 405</a:t>
            </a:r>
            <a:endParaRPr lang="en-US" sz="11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　文言文·《寓言四则》 ＋ 写作·发挥联想和想象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翻译：“丁氏对曰：‘穿井得一人。’”并说明这句话在传播中为何变成了“挖井挖出一个人”。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落实词义：对（回答）、穿（挖）、得一人之使（省出一个人的劳力）。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还原本义：丁家挖井后省出一个人的劳力，故说“穿井得一人”。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分析歧义成因：“得一人”省略了“之使”，听者按字面理解为“得到一个人”；传播中无人核实，歧义滚成谣言。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丁家的人回答说：“挖井之后得到了一个人的劳力。”因句中省略了关键成分且传话者不核实，字面被曲解为“从井里挖出一个人”，最终传遍了宋国。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69 / 405</a:t>
            </a:r>
            <a:endParaRPr lang="en-US" sz="11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　文言文·《寓言四则》 ＋ 写作·发挥联想和想象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课堂即时练：给《杞人忧天》的杞人写一句现代版“杞人式担忧”，并用一句话点明寓意。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课后迁移：以“清晨，一朵云飘进了教室”为开头续写100字，要求想象合理。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70 / 405</a:t>
            </a:r>
            <a:endParaRPr lang="en-US" sz="11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第六单元 · 想象之翼（快速阅读与想象）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读童话抓夸张与讽刺：先串情节链，再问“作者放大了什么、讽刺了谁”；寓意要落到主题层。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联想是“由此及彼”的桥，想象是桥那头的新世界；读《天上的街市》要能背出由实到虚的路径。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寓言读两层：字字落实看故事，寓意检验“覆盖没覆盖”；想象写作要大胆更要合理。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30秒内说出《天上的街市》由实到虚的想象路径；给《杞人忧天》编一个现代版小故事说明同一寓意。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71 / 405</a:t>
            </a:r>
            <a:endParaRPr lang="en-US" sz="11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· 阅读与鉴赏 ｜ 考查：人物精神品质与典型事例的对应；《孙权劝学》词句与成语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　群星闪耀（写出人物精神）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精读勾画典型事例，学“用事例和细节写出人物的精神”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现代文阅读·人物传记类文本（《邓稼先》《说和做》《回忆鲁迅先生》）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文言文·《孙权劝学》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写作·写出人物的精神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现代文阅读·人物传记类文本（《邓稼先》《说和做》…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第一单元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邓稼先隐姓埋名二十八年，闻一多在演讲后倒在了特务的枪口下。写人物，怎么让“精神”看得见？今天学“典型事例＋直接评价”两条腿走路。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记类文本的抓手是“事证与评语分离”：先圈出典型事例（最能代表人物精神的事件），再圈出直接评价句，检查两者是否对应——拿“治学严谨”的事例去证明“爱国”，就是错位。结构上留意小标题（板块式思路）与过渡段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邓稼先》用六个小标题分板块，评价句与事例交替出现；《说和做》抓过渡段“做了再说……做了也不一定说”串起闻一多学者与革命家两面，对称句式读出节奏；《回忆鲁迅先生》以生活碎片（笑声明朗、走路轻捷、对待青年）拼出鲜活的鲁迅——传记不靠惊天动地，靠真实细节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误区：概括精神品质必须“品质词＋事例”成对出现；单说“邓稼先很伟大”是空评，不算读懂。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传记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典型事例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小标题结构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过渡段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事例与品质错位：拿“治学严谨”的事例去证明“爱国”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73 / 405</a:t>
            </a:r>
            <a:endParaRPr lang="en-US" sz="11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现代文阅读·人物传记类文本（《邓稼先》《说和做》…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《邓稼先》中“邓稼先是中国几千年传统文化所孕育出来的有最高奉献精神的儿子”，这一评价由文中哪些事例支撑？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定位评价句所在板块（“邓稼先与奥本海默”）。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检索事例：与锋芒毕露的奥本海默对比，邓稼先“最不要引人注目”、忠厚平实；受命领导原子弹设计，隐姓埋名二十八年。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对应检验：“奉献”由隐姓埋名支撑，“传统文化孕育”由忠厚谦逊的气质支撑，事证与评语吻合。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由邓稼先与奥本海默的对比（谦逊不张扬）、隐姓埋名二十八年为国防事业奉献一生等事例支撑，评价与事证一一对应。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74 / 405</a:t>
            </a:r>
            <a:endParaRPr lang="en-US" sz="11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现代文阅读·人物传记类文本（《邓稼先》《说和…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课堂即时练：从《说和做》中找出过渡段，说明它怎样把“学者”与“革命家”两部分勾连起来。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课后迁移：为《回忆鲁迅先生》中的鲁迅做一张“细节—性格”对应卡（至少两条）。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75 / 405</a:t>
            </a:r>
            <a:endParaRPr lang="en-US" sz="11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　文言文·《孙权劝学》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第一单元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吕蒙是东吴名将，却常被讥笑没文化。孙权一番话后，他脱胎换骨，鲁肃惊叹“非复吴下阿蒙”。这番话到底有什么魔力？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言落实：先分角色朗读，读出“劝—辞—赞”三步对话的语气：孙权语重心长地劝，吕蒙先推辞后自信，鲁肃惊叹敬服。重点词：辞（推托）、涉猎（粗略地阅读）、见往事（了解历史）、刮目相待（擦拭眼睛，用新眼光看待）、见（“大兄何见事之晚乎”中指认清）、过（到）、就（靠近）、更（重新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成语源流——“吴下阿蒙”与“刮目相待”都出自本文；孙权先讲职责需要（“卿今当涂掌事，不可不学”），再现身说法（“卿言多务，孰若孤”），层层恳切；吕蒙的转变点在一个“乃”字（乃始就学）。全文以对话推动情节，没有一句多余的叙述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误区：“但当涉猎”的“但”是“只、仅仅”，不是“但是”；“孤岂欲卿治经为博士邪”的“邪”表反问语气（吗），翻译要保留恳切商量之意。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《资治通鉴》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司马光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成语出处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“但当涉猎”的“但”按今义译成“但是”，漏掉“只、仅仅”义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76 / 405</a:t>
            </a:r>
            <a:endParaRPr lang="en-US" sz="11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　文言文·《孙权劝学》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翻译：“卿今当涂掌事，不可不学！”并说明孙权这句话为什么有说服力。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落实词义：卿（古代君对臣的爱称）、当涂（当道，当权）、掌事（掌管政事）、不可不学（双重否定）。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连缀翻译：你现在当权管事了，不可以不学习！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分析说服策略：从吕蒙“当涂掌事”的职责需要提出要求，再用双重否定加重语气——理由切身，不是空讲大道理。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你现在当权管事了，不可以不学习！孙权从吕蒙的职责需要出发提出要求，用双重否定加重语气，所以有说服力。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77 / 405</a:t>
            </a:r>
            <a:endParaRPr lang="en-US" sz="11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　文言文·《孙权劝学》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课堂即时练：解释“但当涉猎，见往事耳”中“但”“见”的意思并翻译全句。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课后迁移：用“吴下阿蒙”“刮目相待”各造一个句子，并说明本文中它们对应吕蒙怎样的转变。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78 / 405</a:t>
            </a:r>
            <a:endParaRPr lang="en-US" sz="11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　写作·写出人物的精神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第一单元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写妈妈“勤劳善良”，写老师“兢兢业业”——这样的作文人人会写，也人人写不活。人物的精神，得让读者自己“看见”。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一：先列“事例＋细节”双栏提纲再动笔，左栏写“他做了什么”（事例），右栏写“他怎样做”（细节：动作、语言、神态）。方法二：对比与衬托——写他“做什么”，更要写他“不做什么”（疲惫至极仍不敷衍），以及“别人怎样”（侧面烘托）。落点公式：评价句＝事例＋品质词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做法：给定人物“门卫爷爷”，学生先列双栏提纲——事例：寒冬清晨提前到岗扫雪；细节：他搓着通红的手，呵出的白气糊住了老花镜；再练侧写：“同学们都躲在被窝里不愿起床，他却比闹钟还准时。”写完互查：全文有几处具体言行支撑品质词？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误区：通篇“他很伟大”式评价、无一处具体言行，是本课要根除的病。检验标准：遮住评价句，读者能不能自己得出同样的评价。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正面描写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侧面烘托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通篇“他很伟大”式评价，无一处具体言行支撑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79 / 405</a:t>
            </a:r>
            <a:endParaRPr lang="en-US" sz="11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　写作·写出人物的精神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以《我的同桌》为题，完成“审题—立意—结构”三步示范。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审题：对象是“同桌”（身边人、有日常接触），中心词未限定，需自选一个精神特质作为立意。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立意：不写泛泛的“乐于助人”，选具体一点——“较真”（一道题的步骤都不肯放过）。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结构：开头用细节速写起笔（他咬着笔杆把错题重算了第五遍）；中间两个事例详写（为半分错题与老师“理论”、帮“我”订正时不厌其烦）；结尾一句评价收束：“和他同桌，我也学会了跟自己较真。”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示范要点：一个速写开头＋两个“事例＋细节”＋一句由事而生的评价；评价不空喊，从细节自然长出。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80 / 405</a:t>
            </a:r>
            <a:endParaRPr lang="en-US" sz="11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　写作·写出人物的精神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课堂即时练：给“爷爷节俭”这个品质词配一个事例和一个动作细节。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课后迁移：用“先写别人怎样，再写他怎样”的侧面烘托法写一段100字人物片段。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81 / 405</a:t>
            </a:r>
            <a:endParaRPr lang="en-US" sz="11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　写作·写出人物的精神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7b-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人物描写方法与精神表达体系图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层框“写出人物的精神”。左主干“直接描写”下挂五个卡片：外貌（例：头发凌乱——写治学之专）、语言（例：《孙权劝学》对话显语气）、动作、心理、神态；右主干“间接描写”下挂三个卡片：他人评价（例：鲁肃赞吕蒙“非复吴下阿蒙”）、环境衬托、侧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82 / 405</a:t>
            </a:r>
            <a:endParaRPr lang="en-US" sz="11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 · 群星闪耀（写出人物精神）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读传记分两栏记“事例—评价”，检查是否对应；精神要看得见，靠事不靠形容词。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《孙权劝学》三步对话读出语气，盯牢“但＝只、辞＝推托、刮目＝擦亮眼睛”。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写出人物精神＝事例＋细节＋对比衬托；检验方法：遮住评价句，读者能否自己得出同样的评价。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从《邓稼先》选一个典型事例说明它表现了怎样的精神；再用“事例＋细节”法写一个身边人的片段。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83 / 405</a:t>
            </a:r>
            <a:endParaRPr lang="en-US" sz="11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· 阅读与鉴赏 ｜ 考查：抒情方式辨析、朗读设计；《木兰诗》互文与详略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　家国情怀（抒情方式）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读革命传统作品与乐府诗，分清直接抒情与间接抒情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现代文阅读·抒情散文（《黄河颂》《老山界》《土地的誓言》）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乐府诗·《木兰诗》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写作·学习抒情 ＋ 综合性学习·天下国家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现代文阅读·抒情散文（《黄河颂》《老山界》《土地…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第二单元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同样是爱国，《黄河颂》放声高歌，《土地的誓言》却对着土地喃喃倾诉。抒情有几种方式？今天用双色笔把它们分开。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抒情方式的抓手是“情感有没有依托”：直接抒情（直抒胸臆）是“我”直接喊出情感，常用呼告、感叹；间接抒情则把情融进景（借景抒情）、事（借事抒情）、物（托物言志）。判断步骤：先问这句情感有没有具体的景、事、物依托，再定类。注意：不是所有感叹句都是直接抒情，要看它是否依托具体描写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黄河颂》呼告式赞叹“啊！黄河！”直接颂扬，用节拍表设计朗读读出气势；《土地的誓言》双色笔标注——“我想起那参天碧绿的白桦林”是铺排景物寄托怀念（间接），“土地，原野，我的家乡，你必须被解放”是誓言式直接抒情；《老山界》按时间与地点双线梳理翻山经过，难而不苦的乐观从“之”字形火把、半夜山风等描写中渗出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误区：把所有感叹句都当直接抒情是常见错误——“半夜里寒气刺骨”这类句子情感藏在描写里，是间接抒情。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直接抒情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间接抒情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呼告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把所有感叹句都当“直接抒情”，忽略其依托的具体描写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85 / 405</a:t>
            </a:r>
            <a:endParaRPr lang="en-US" sz="11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现代文阅读·抒情散文（《黄河颂》《老山界》《土地…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判断《土地的誓言》中下列两处各属哪种抒情方式，并说明效果：①“我想起那参天碧绿的白桦林，奔流似的马群……”②“土地，原野，我的家乡，你必须被解放！”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91922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9192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79120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看①：连串白桦林、马群、高粱等意象铺排，怀念之情融在景物罗列中，属借景抒情；密集意象如电影蒙太奇，思乡之情扑面而来。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57759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5775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44957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看②：直接对故乡喊话（呼告），“必须”连用，情感喷薄而出，属直接抒情；誓言般坚定，感染力强。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423595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42359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410794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归纳：一文兼用两种方式，间接抒情显深度，直接抒情显力度。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82117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88518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①间接抒情（借景抒情），以密集意象铺陈寄托对故土的炽热眷恋；②直接抒情（呼告），以对土地的呐喊表达解放故乡的坚定决心。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86 / 405</a:t>
            </a:r>
            <a:endParaRPr lang="en-US" sz="11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现代文阅读·抒情散文（《黄河颂》《老山界》《…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课堂即时练：《黄河颂》“啊！黄河！”两次出现属于哪种抒情方式？朗读时应如何处理？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课后迁移：以“想念家乡的味道”为主题写两句：一句直接抒情，一句借物抒情。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87 / 405</a:t>
            </a:r>
            <a:endParaRPr lang="en-US" sz="11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　乐府诗·《木兰诗》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第二单元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十二年戎马生涯，诗中只用六句带过；可木兰买鞍马、理云鬓却写了一段又一段。这首北朝民歌的笔墨为何如此“偏心”？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府叙事诗的抓手是“叙事结构＋修辞＋详略”：按“代父从军—征途思亲—十年征战—辞官还乡”四段梳理情节；修辞集中讲互文（上下句意思互相交错、互补），以“东市买骏马，西市买鞍鞯，南市买辔头，北市买长鞭”为例——并非每市只买一物，而是到各处街市置办齐备，翻译须合并补充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略落点：十年征战“将军百战死，壮士十年归”一笔带过，思亲（“不闻爷娘唤女声”的铺陈）与还乡（家人迎接、木兰理妆、伙伴惊忙）却写得细——因为诗的重心不是战争，而是木兰的孝顺、女儿本色与不慕功名；详略即为主题服务。对偶排比造成明快节奏，朗读宜轻快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误区：互文不能按字面直译——“将军百战死，壮士十年归”意为将士们征战多年，有的战死、有的归来，若译成“将军都战死、壮士都归来”就错得离谱。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乐府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互文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对偶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详略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“将军百战死，壮士十年归”按字面直译，不懂互文见义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88 / 405</a:t>
            </a:r>
            <a:endParaRPr lang="en-US" sz="11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　乐府诗·《木兰诗》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翻译“东市买骏马，西市买鞍鞯，南市买辔头，北市买长鞭”，并说出这四句用了什么修辞。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识别修辞：四句句式相同、方位词轮换，是排比；四句意思互见互补，又含互文。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按互文义合并：到东市西市南市北市各处，买齐骏马、鞍鞯、辔头、长鞭。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分析效果：铺陈渲染出征前紧张忙碌的筹备气氛，节奏明快。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（木兰）到东西南北各处街市买来骏马、鞍鞯、辔头和长鞭。运用排比与互文，渲染备战的忙碌与郑重，节奏铿锵。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89 / 405</a:t>
            </a:r>
            <a:endParaRPr lang="en-US" sz="11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　乐府诗·《木兰诗》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课堂即时练：按互文翻译“将军百战死，壮士十年归”。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课后迁移：默写《木兰诗》中表现木兰辞官还乡心愿的句子并翻译。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90 / 405</a:t>
            </a:r>
            <a:endParaRPr lang="en-US" sz="11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　写作·学习抒情 ＋ 综合性学习·天下国家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第二单元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“我感动极了”——这样喊出来的感动，读者通常无动于衷。感动的力量藏在事件里。今天学“有节制的抒情”。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52374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抒情写作的核心是“先叙一事后抒一句”：抒情句必须从具体事件中“长”出来。练法：同一件事写两版——A版空喊“友谊真伟大”，B版写“他把最后一块橡皮掰成两半，把大的那半塞给我”，比较哪版动人。直接抒情用于情感积蓄到顶点处，一篇一两处即可；平时多借景、借事、借物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做法：给题目《那一刻，我心里一暖》，先列“事件”，再追问“哪个瞬间最暖”，把镜头推到那一秒：动作（她把伞往我这边斜）、细节（她的半边肩膀淋湿了），末句点情。杜绝事件与抒情脱节、“感动”没有来由。综合性学习“天下国家”开爱国故事会：材料先筛选（完整、有细节、有精神落点），再脱稿讲述，开头有引入、中间有细节、结尾有一句自己的感言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借景抒情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托物言志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抒情句与事件脱节，“感动”没有来由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91 / 405</a:t>
            </a:r>
            <a:endParaRPr lang="en-US" sz="11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　写作·学习抒情 ＋ 综合性学习·天下国家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题目《那一刻，我心里一暖》，完成“审题—立意—结构”示范。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审题：中心词“一暖”是情感，限定“那一刻”——只写一个瞬间，情感必须具体可感。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立意：不写大而化之的“妈妈爱我”，选定具体事件——雨天同桌把伞斜向“我”、自己半边肩膀淋湿。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结构：开头设置情境（放学突降大雨，“我”没带伞）；中间慢镜头写“那一刻”；结尾一句抒情收束：“那一刻，我心里一暖——原来温暖是这样具体的东西。”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示范要点：一个瞬间、两处细节、一句从事件中生长出的抒情；全文无一句空喊的感动。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92 / 405</a:t>
            </a:r>
            <a:endParaRPr lang="en-US" sz="11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　写作·学习抒情 ＋ 综合性学习·天下国家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课堂即时练：把“我今天很开心，友谊真伟大”改写成“一事一情”句。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课后迁移：以“天下国家”为主题，为故事会写一段100字的爱国故事讲述稿，含一处细节。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93 / 405</a:t>
            </a:r>
            <a:endParaRPr lang="en-US" sz="115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　写作·学习抒情 ＋ 综合性学习·天下国家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7b-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抒情方式分类结构图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顶部“抒情”。左分支“直接抒情（直抒胸臆）”：例句“啊！黄河！你是中华民族的摇篮”（呼告式赞叹）。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94 / 405</a:t>
            </a:r>
            <a:endParaRPr lang="en-US" sz="11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 · 家国情怀（抒情方式）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抒情分两种：有依托的是间接，无依托直喊的是直接；《土地的誓言》两种兼用，各有效果。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《木兰诗》读三样：四段结构、互文排比、详略安排——详处是主题所在，略处勿字字坐实。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有节制的抒情：先叙一事，再抒一句；情感蓄到顶点才用直接抒情，全文一两处足矣。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在《土地的誓言》中各找一处直接抒情与间接抒情并说明效果；默写《木兰诗》中互文句两处。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95 / 405</a:t>
            </a:r>
            <a:endParaRPr lang="en-US" sz="11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· 阅读与鉴赏 ｜ 考查：细节描写的作用、人物情感态度变化；《卖油翁》实词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　凡人小事（细节描写）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从小事读小人物，学抓细节，读《骆驼祥子》看命运沉浮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现代文阅读·写人记事散文（《阿长与〈山海经〉》《老王》《台阶》）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文言文·《卖油翁》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名著导读·《骆驼祥子》 ＋ 写作·抓住细节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　现代文阅读·写人记事散文（《阿长与〈山海经〉》《…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第三单元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老王临终前给杨绛送去香油和鸡蛋，杨绛却写下“愧怍”二字。小人物的尊严与知识分子的自省，都藏在这两个字里。今天学“抓词倒推”读散文。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人记事散文的抓手是“细节—人物”对应表：圈外貌、动作、语言细节，逐条写出细节指向人物什么特点或命运，禁止只答“生动形象”。进阶方法是“抓情感词倒推全文”：找到一个核心情感词（如“愧怍”），问它从何而来，全文的情感逻辑就通了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阿长与〈山海经〉》中长妈妈“竖起第二个手指，在空中上下摇动”写她的粗俗，买来《山海经》写她的善良热心——细节要两面对照着读；《老王》抓“愧怍”：老王把“我”当亲人，送冰减半价、临终送香油鸡蛋，“我”却只以钱回报——愧怍源于平等尊重的缺失；《台阶》以台阶为线索，九级台阶是父亲的地位之梦，新台阶砌成之日也是父亲衰老之时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误区：填“细节—人物形象”表时，右栏必须写具体特点（如“地位卑微却知恩图报”），“生动形象”四个字不得分。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细节描写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线索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象征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分析细节只答“生动形象”，不说写出人物什么特点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97 / 405</a:t>
            </a:r>
            <a:endParaRPr lang="en-US" sz="11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　现代文阅读·写人记事散文（《阿长与〈山海经〉》《…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杨绛在《老王》结尾说“那是一个幸运的人对一个不幸者的愧怍”。“愧怍”从何而来？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抓词义：愧怍即惭愧。幸运者（作者）、不幸者（老王）的身份对照是理解入口。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回文找证据：老王把“我”一家当亲人——送冰减半价、送香油鸡蛋不肯收钱；“我”却每次都用钱“回赠”，把情分当交易。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倒推逻辑：老王临终来访，“我”仍以钱打发，没能真正理解和回应他的情谊；多年后反思，平等的尊重缺失，故愧怍。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老王以亲人般的情谊相待，“我”却始终以金钱交换、未能平等相待与真正体察他的心意；知识分子的自省使“我”多年后仍为这份亏欠而愧怍。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98 / 405</a:t>
            </a:r>
            <a:endParaRPr lang="en-US" sz="11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　现代文阅读·写人记事散文（《阿长与〈山海经〉…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课堂即时练：完成《阿长与〈山海经〉》的“细节—形象”表：①竖起第二个手指上下摇动；②买来《山海经》。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课后迁移：《台阶》中“台阶”有什么象征意义？用两句话说明。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99 / 405</a:t>
            </a:r>
            <a:endParaRPr lang="en-US" sz="115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文言文·《卖油翁》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第三单元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神箭手十中八九，围观者喝彩，一个卖油的老人却只“微微点头”。是老人狂妄，还是他真有底气？今天读《卖油翁》。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言落实：重点词——矜（夸耀）、释担（放下担子）、睨（斜着眼看，不在意的样子）、但微颔之（只是略微点头，“颔”名词作动词“点头”）、汝（你）、沥之（滴入）、惟（只）、手熟（手熟）、笑而遣之（笑着打发他走）。“但”又是“只”，“尔”同“耳”表“罢了”——“无他，但手熟尔”即“没有别的，只不过手熟罢了”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用神态变化线读卖油翁——睨之（斜看，不以为奇）→但微颔之（略表赞许）→酌油自证（我亦无他，惟手熟尔）；对比陈尧咨的“矜”与卖油翁的从容，“熟能生巧”的道理由“以我酌油知之”的实证说出，不动声色而说服力极强。讨论结尾陈尧咨“笑而遣之”：这“笑”是服气还是尴尬？言之成理即可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误区：“尔”误译为“你”是高频错误——“惟手熟尔”的“尔”同“耳”，表限止语气“罢了”；译错则老翁谦逊从容的语气全失。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欧阳修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矜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无他，但手熟尔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“但手熟尔”的“尔”误译为“你”，漏掉“罢了”的轻描淡写语气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100 / 405</a:t>
            </a:r>
            <a:endParaRPr lang="en-US" sz="115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文言文·《卖油翁》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翻译：“无他，但手熟尔。”并比较它与“尔安敢轻吾射”中“尔”的不同。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辨“尔”：“无他，但手熟尔”的“尔”同“耳”，语气词表“罢了”；“尔安敢轻吾射”的“尔”是人称代词“你”。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落实句义：没有别的（奥妙），只不过手法熟练罢了。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体会语气：“罢了”轻描淡写，见卖油翁的从容自信；“你”字直斥，见陈尧咨的恼怒。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“没有别的（奥妙），只不过手熟罢了”——“尔”是语气词“罢了”；另一句的“尔”是“你”。一词之别，两个人物的口气神态立现。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101 / 405</a:t>
            </a:r>
            <a:endParaRPr lang="en-US" sz="11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文言文·《卖油翁》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课堂即时练：解释加点词：①公亦以此自矜 ②但微颔之 ③笑而遣之。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课后迁移：用原文语句说明卖油翁神态的三次变化，并各用一词概括其态度。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102 / 405</a:t>
            </a:r>
            <a:endParaRPr lang="en-US" sz="115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　名著导读·《骆驼祥子》 ＋ 写作·抓住细节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第三单元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祥子买了三次车，也丢了三次车。一辆车怎么会压垮一个人？今天沿“三起三落”的时间轴看一个人的沉浮，再学一手“慢镜头”写作。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著导读：按“三起三落”梳理祥子命运——一起：苦干三年买车，被大兵抢走；二起：卖骆驼攒钱，被孙侦探敲诈一空；三起：用虎妞的钱买车，为葬虎妞卖掉。每次打击旁标注社会原因（乱兵、侦探、生活变故），落点在主题：个人奋斗在黑暗社会中的幻灭——只答“祥子很惨”是内容层，主题层是旧社会不让好人有出路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写作打通：做“命运时间轴”卡片，每格记“事件—打击源—祥子的反应”，串起人物从老实坚忍到麻木堕落的变化线；老舍把一秒的动作拆成三笔的写法，正是写作要练的“慢镜头”——把一秒钟的动作拆成三个细节，合起来仍只是那一秒，且能传递人物心情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误区：主题只答“祥子很惨”，读不出社会批判层。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三起三落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老舍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慢镜头写法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主题只答“祥子很惨”，读不出“个人奋斗在黑暗社会中的幻灭”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103 / 405</a:t>
            </a:r>
            <a:endParaRPr lang="en-US" sz="11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　名著导读·《骆驼祥子》 ＋ 写作·抓住细节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判断题：祥子最后堕落是因为他懒惰、不求上进。这个说法对吗？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回看三起三落：每次打击都来自外部——乱兵抢车、侦探敲诈、虎妞难产与葬妻卖车。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看祥子前期的品质：老实、坚忍、要强，如“一棵树”。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归因：是层层的外部压迫摧毁了他的希望；“堕落”是结果不是原因。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不对。祥子最初勤劳要强如“一棵树”，三起三落皆为外部势力所迫；他的堕落是个人奋斗在黑暗社会中幻灭的结果，作品批判的是那个不让好人有出路的社会。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104 / 405</a:t>
            </a:r>
            <a:endParaRPr lang="en-US" sz="11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　名著导读·《骆驼祥子》 ＋ 写作·抓住细节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课堂即时练：按顺序说出祥子“三起三落”的三次打击及其来源。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课后迁移：用“慢镜头”法把“他跳过水坑”扩写成三个细节。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105 / 405</a:t>
            </a:r>
            <a:endParaRPr lang="en-US" sz="115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 · 凡人小事（细节描写）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读写人散文做“细节—形象”对应表；找到核心情感词，倒推全文情感逻辑。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《卖油翁》一条神态线：睨—颔—酌；记牢“但＝只、尔＝罢了、颔＝点头”，熟能生巧自在其中。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读《骆驼祥子》画“三起三落”时间轴，标注每次打击的社会原因；写作学“慢镜头”，一秒拆三笔。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从《老王》找两处细节说明老王的境遇与品性，并解释杨绛为何“愧怍”。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106 / 405</a:t>
            </a:r>
            <a:endParaRPr lang="en-US" sz="115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· 阅读与鉴赏 ｜ 考查：略读与中心把握；《陋室铭》《爱莲说》托物言志与词句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　修身正己（略读与托物言志）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略读抓要点，读《陋室铭》《爱莲说》学托物言志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现代文阅读·说理散文与悬念叙事（《叶圣陶先生二三事》《驿路梨花》）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文言文·《陋室铭》《爱莲说》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写作·怎样选材 ＋ 综合性学习·孝亲敬老，从我做起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　现代文阅读·说理散文与悬念叙事（《叶圣陶先生二三…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第四单元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一间茅屋，一碗热腾腾的米饭，主人却始终没有露面——是谁建的屋子？《驿路梨花》用三次悬念、两次误会，把“雷锋精神”讲成了一个好听的故事。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双文体读法：说理散文（略读）先抓中心句再回文验证——《叶圣陶先生二三事》中心即“待人厚”“律己严”，用事例逐一印证；悬念叙事（精读）则要理清叙述顺序与悬念误会链：《驿路梨花》“这是什么人的房子”一问引出三次悬念（瑶族老人？解放军？哈尼小姑娘？）、两次误会，插叙（解放军建屋、姑娘照管）嵌在顺叙中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落点：略读只抓中心句、首尾段、反复出现的评价词，读完再回文验证中心是否被事例支撑，防止“读完就忘”。《驿路梨花》的时间线与叙述线要分开画：实际时间（十余年间）与叙述顺序（一夜见闻中层层揭开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误区：把插叙当顺叙是高频错误——检验法：看该段内容在时间上是否发生在“此刻”之前，且由回忆或转述引出。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略读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悬念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误会法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双关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《驿路梨花》叙述顺序梳理错乱，把插叙当顺叙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108 / 405</a:t>
            </a:r>
            <a:endParaRPr lang="en-US" sz="115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　现代文阅读·说理散文与悬念叙事（《叶圣陶先生二三…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《驿路梨花》中“我”和老余以为瑶族老人是屋子的主人，这个误会起到什么作用？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定位情节：老人深夜送粮来谢，“我们”误认他是主人。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分析结构：误会解开，由老人之口引出“房子是解放军盖的”，悬念向前推进一层。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归纳效果：误会制造波澜，层层揭开“雷锋精神代代相传”的主题：解放军—小姑娘—瑶族老人，助人链条环环相扣。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误会推动了情节：借老人揭开房屋来历（解放军所建），使三次悬念层层递进，展现助人为乐的精神在哈尼寨中传递，结尾“驿路梨花处处开”点题。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109 / 405</a:t>
            </a:r>
            <a:endParaRPr lang="en-US" sz="115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　现代文阅读·说理散文与悬念叙事（《叶圣陶先生…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课堂即时练：用略读法两分钟内找出《叶圣陶先生二三事》的中心内容并各举一例验证。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课后迁移：画出《驿路梨花》“实际时间线”与“叙述顺序线”两条线，标注插叙发生处。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110 / 405</a:t>
            </a:r>
            <a:endParaRPr lang="en-US" sz="115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　文言文·《陋室铭》《爱莲说》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第四单元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一间简陋的小屋，一篇不满百字的铭文，却让无数人记住了“斯是陋室，惟吾德馨”。屋陋何以不陋？今天读两篇托物言志的经典。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言落实与文体：先讲“铭”（刻于器物、用于自警的韵文）与“说”（一种议论文体）。重点词：名（出名，名词作动词）、灵（灵验）、德馨（品德美好）、鸿儒（博学的人）、白丁（没有学问的人）、案牍（官府公文）、劳形（使身体劳累，使动用法）；《爱莲说》：染（沾染）、濯（洗）、妖（艳丽而不端庄）、蔓、枝（生藤蔓、生枝茎，名词作动词）、益（更加）、植（竖立）、亵（亲近而不庄重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陋室铭》抓主旨句“惟吾德馨”回读全篇——环境清幽、交往高雅（鸿儒）、生活情趣（调素琴、阅金经）三面印证“陋室不陋”；《爱莲说》“出淤泥而不染”等句逐句对应君子之德（不与世俗同流、庄重质朴、通达正直），并理“菊（隐逸者，正衬）—牡丹（富贵者，反衬）—莲（君子）”的衬托关系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误区：“苔痕上阶绿”的“上”是名词作动词“长上、蔓延到”，不是方位词。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铭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说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托物言志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衬托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“苔痕上阶绿”的“上”当普通名词，看不出名词作动词“长上”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111 / 405</a:t>
            </a:r>
            <a:endParaRPr lang="en-US" sz="115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　文言文·《陋室铭》《爱莲说》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翻译：“出淤泥而不染，濯清涟而不妖。”并说说它对应君子怎样的品格。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落实词义：而（表转折，却）、染（沾染污秽）、濯（洗涤）、清涟（清波）、妖（艳而不正）。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连缀句意：从淤泥中长出却不沾染污秽，经过清水洗涤却不显得妖艳。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由物及人：莲的生长环境与姿态对应君子“身处污浊环境却洁身自好、庄重质朴”的品格。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（莲）从淤泥中生长出来却不沾染污秽，经清水洗涤却不显得妖艳。托物言志：君子身处浊世却能坚守节操、端庄自持。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112 / 405</a:t>
            </a:r>
            <a:endParaRPr lang="en-US" sz="115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　文言文·《陋室铭》《爱莲说》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课堂即时练：指出下列加点词的活用并释义：①有仙则名 ②不蔓不枝 ③无丝竹之乱耳。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课后迁移：默写《爱莲说》中描写莲的句子，并说明各句对应君子哪种品格。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113 / 405</a:t>
            </a:r>
            <a:endParaRPr lang="en-US" sz="115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　写作·怎样选材 ＋ 综合性学习·孝亲敬老，从我做起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第四单元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写作文时手里有一堆材料，用哪个、弃哪个？今天学一把“双坐标尺”：横轴看熟悉度，纵轴看新意度，两个都高的才能用。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52374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材方法：用“熟悉度—新意度”双坐标筛素材——熟悉度保证“有真话可说”，新意度保证“不与他人撞车”。操作三步：先列清单（至少五个候选素材）→用双坐标淘汰→再三选一（选双高者详写）。原则是以小见大：身边小事写出真感受，胜过编造“大事件”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做法：给题目《温暖》，学生先列五个候选（妈妈送伞、陌生人指路、爷爷留饭、同学借笔记、医生深夜接诊），逐一在坐标图上定位并说理由——“妈妈送伞”熟悉度高但新意度低，宜换角度（伞其实斜向我这边）而非弃用，训练“旧材新角度”的意识。综合性学习“孝亲敬老，从我做起”：为长辈做一件事并写过程记录（做了什么—长辈的反应—“我”的感触），真实经历就是最好的素材库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选材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以小见大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选材贪“大事件”，身边小事写不出真感受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114 / 405</a:t>
            </a:r>
            <a:endParaRPr lang="en-US" sz="115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　写作·怎样选材 ＋ 综合性学习·孝亲敬老，从我做起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题目《温暖》，用双坐标法从“妈妈送伞、陌生人指路、爷爷留饭”中选定主材料并说明理由。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定坐标：妈妈送伞（熟悉度高、新意度低）、陌生人指路（熟悉度中、新意度中）、爷爷留饭（熟悉度高、新意度较高——饭盒底压着一个煎蛋的细节少有人写）。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淘汰：“妈妈送伞”按常规写法必撞车，除非换角度；“陌生人指路”情感浓度不足。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定选：选“爷爷留饭”，以“保温盒底压着的煎蛋”立意——温暖常藏在不动声色的举动里。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选“爷爷留饭”。熟悉可写真感受，“煎蛋”细节自带新意，双高者胜出；选材理由要同时说清熟悉与新意两个维度。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115 / 405</a:t>
            </a:r>
            <a:endParaRPr lang="en-US" sz="115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　写作·怎样选材 ＋ 综合性学习·孝亲敬老，从…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课堂即时练：为题目《长大》列三个候选素材，并按双坐标各说一句定位理由。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课后迁移：为长辈做一件小事，写100字过程记录，含动作细节与长辈反应。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116 / 405</a:t>
            </a:r>
            <a:endParaRPr lang="en-US" sz="115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 · 修身正己（略读与托物言志）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略读先抓中心句再回文验证；读悬念叙事分清“实际时间”与“叙述顺序”，插叙才算真认得。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《陋室铭》以“德馨”统摄三面，《爱莲说》以莲喻君子；盯牢“名、蔓、枝、乱”等活用与菊—牡丹…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选材用双坐标：熟悉度保真话，新意度避撞车；以小见大，身边小事写出真感受最动人。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背默《爱莲说》中写莲的句子，并说明各句对应君子哪种品格；用双坐标法为一篇作文选三个素材并说理由。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117 / 405</a:t>
            </a:r>
            <a:endParaRPr lang="en-US" sz="115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· 阅读与鉴赏 ｜ 考查：托物言志手法辨析、古诗名句理解与默写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第五单元　哲理之思（托物言志与登临诗）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读托物言志散文与登临古诗，由物及理、由景入志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现代文阅读·托物言志散文（《紫藤萝瀑布》《一棵小桃树》）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诗歌联读·外国诗二首（假如生活欺骗了你／未选择的路）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古代诗歌五首联读（登幽州台歌／望岳／登飞来峰／游山西村／己亥杂诗）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现代文阅读·托物言志散文（《紫藤萝瀑布》《一棵小…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第五单元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一架紫藤萝开得像瀑布，宗璞却从花前走出了沉重的往事。花是花，志是志，中间那条路怎么走？今天学“物志两线读法”。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物言志散文的抓手是“双线交会”：一条线画“物”的描写（形、色、态），一条线画“志”的议论抒情句，两线交会处（由物及人的关键句）就是理解全篇的钥匙。三步：先看清物的特征→找出触发联想的交会句→归纳“志”（作者借物表达的人生态度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紫藤萝瀑布》的交会句“花和人都会遇到各种各样的不幸，但是生命的长河是无止境的”——由花的繁盛（像一条瀑布从空中垂下）悟出生命的永恒，情感由“焦虑悲痛”转向“宁静喜悦”（结尾“我不觉加快了脚步”）；《一棵小桃树》以“我的”小桃树的可怜与顽强对应作者自己的坎坷与不屈，物我合一，先抑（写它瘦弱委琐）后扬使结尾的敬意更有力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误区：只答“紫藤萝开得美”是绘物层，不是言志层——“志”必须落到人生态度。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托物言志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欲扬先抑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哲理句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只答“紫藤萝开得美”，说不出由物及人的“志”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119 / 405</a:t>
            </a:r>
            <a:endParaRPr lang="en-US" sz="115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现代文阅读·托物言志散文（《紫藤萝瀑布》《一棵小…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《紫藤萝瀑布》中“花和人都会遇到各种各样的不幸，但是生命的长河是无止境的”这句话在全文中起什么作用？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定位：它是“物”与“志”两条线索的交会句（由花及人）。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上文看物：紫藤萝开得繁盛热闹，与“我”心中的悲痛（小弟病重、往事沉重）形成对照。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下文看志：此句一转，“我”从花的生机中汲取力量，悲痛化开，结尾“加快了脚步”见豁达前行。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它是全文由物及人的枢纽：承上文紫藤萝的繁盛，转出对生命的感悟——不幸会过去，生命长河永不止息；使文章从绘物升华为言志。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120 / 405</a:t>
            </a:r>
            <a:endParaRPr lang="en-US" sz="115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现代文阅读·托物言志散文（《紫藤萝瀑布》《一…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课堂即时练：各用一句话说出《紫藤萝瀑布》与《一棵小桃树》所托之“志”。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课后迁移：从《一棵小桃树》中找出“欲扬先抑”的一处“抑”笔并摘句。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121 / 405</a:t>
            </a:r>
            <a:endParaRPr lang="en-US" sz="115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　诗歌联读·外国诗二首（假如生活欺骗了你／未选择的…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第五单元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“假如生活欺骗了你”——这句诗被无数人抄在笔记本扉页近两百年。为什么一首没有意象的诗也能打动人？今天对读两首外国诗。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首诗路径不同：《假如生活欺骗了你》是直白劝告式说理诗——不用意象，靠语气层次打动人：先安抚（不要悲伤，不要心急）→再宽解（忧郁的日子里须要镇静）→后展望（而那过去了的，就会成为亲切的怀恋），朗读时语气由温厚渐趋昂扬。《未选择的路》全靠象征：“路”不实指林间小路，象征人生道路与选择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读落点：两首诗代表两种说理方式——直接陈说与借物象征；同是面对人生，一首教你直面逆境的心态，一首写回望选择时的复杂心绪（未走的路同样令人怀想）。读象征诗要问三问：物是什么—物有何特征—特征对应人生什么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误区：把“路”实解为林间小路、忽略诗人被流放的背景，都是丢分点——象征义必须由物之特征推出，知人论世能加深理解。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象征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说理诗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把“路”实解为林间小路，读不出象征义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122 / 405</a:t>
            </a:r>
            <a:endParaRPr lang="en-US" sz="115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　诗歌联读·外国诗二首（假如生活欺骗了你／未选择的…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《未选择的路》中“而我选择了人迹更少的一条，从此决定了我一生的道路”表达了诗人怎样的感悟？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辨象征：“路”象征人生道路，“人迹更少”象征不随流俗、独立选择。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看语气：“从此决定了”郑重而坚定——选择需要勇气并承担后果。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结合作者：弗罗斯特常写选择与遗憾，此句既见对自主选择的肯定，也含对未选之路的淡淡怀想。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表达对独立、不随波逐流的人生的郑重选择与担当：选择塑造人生，一旦选定便义无反顾；同时也暗含对另一种可能人生的怀想。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123 / 405</a:t>
            </a:r>
            <a:endParaRPr lang="en-US" sz="115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　诗歌联读·外国诗二首（假如生活欺骗了你／未选…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课堂即时练：《假如生活欺骗了你》的语气分几层？各用一个词概括。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课后迁移：用“路”的象征义写两句话，表达你对一次选择的感受。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124 / 405</a:t>
            </a:r>
            <a:endParaRPr lang="en-US" sz="115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　古代诗歌五首联读（登幽州台歌／望岳／登飞来峰／游…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第五单元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同是登高望远，陈子昂怆然涕下，杜甫却说要“一览众山小”。登临诗到底怎么读？记住三问：登何处—见何景—抒何情。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临诗三问是联读抓手。《望岳》“会当凌绝顶，一览众山小”由望岳生登临之志，是青年杜甫的雄心；《登飞来峰》“不畏浮云遮望眼，自缘身在最高层”借景说理——站得高则不惧障蔽；《游山西村》“山重水复疑无路，柳暗花明又一村”于困境中见转机的理趣与乡情；《己亥杂诗》“落红不是无情物，化作春泥更护花”以落花自喻献身精神；《登幽州台歌》不写景直抒怀才不遇的孤独悲怆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炼字落点：集中练三处——“会当”（定要，见气概）、“割”（“阴阳割昏晓”写泰山高峻，把山南山北切成明暗两半）、“遮”（浮云障目之喻，与“身在最高层”对照出认知高度）。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默写落实：建立晨读默写单，名句按“写景、说理、言志”分栏过关；误区：“不畏浮云遮望眼”若答成“写景优美”就丢掉了理趣。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登临诗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炼字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名句默写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“不畏浮云遮望眼”的理趣答成“写景优美”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125 / 405</a:t>
            </a:r>
            <a:endParaRPr lang="en-US" sz="115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　古代诗歌五首联读（登幽州台歌／望岳／登飞来峰／游…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“不畏浮云遮望眼，自缘身在最高层”蕴含怎样的哲理？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解字面：不怕浮云遮挡远望的视线，因为（我）站在最高层。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找对应：“浮云”喻眼前的困难、迷惑或障蔽；“最高层”喻认知与境界的高度。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提炼哲理：站得高看得远，掌握了正确的观点和方法，就不会被一时的假象与困难所迷惑。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站得高才能看得远；只有具备高远的见识和格局，才能不被眼前浮云（困难、假象、干扰）所阻挡。与“会当凌绝顶”同为登高言志名句。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126 / 405</a:t>
            </a:r>
            <a:endParaRPr lang="en-US" sz="115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　古代诗歌五首联读（登幽州台歌／望岳／登飞来峰…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课堂即时练：说出“阴阳割昏晓”中“割”字的妙处。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课后迁移：默写“写景、说理、言志”三栏名句各一句。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127 / 405</a:t>
            </a:r>
            <a:endParaRPr lang="en-US" sz="115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　古代诗歌五首联读（登幽州台歌／望岳／登飞来峰／游…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7b-5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托物言志“物—理—志”三级路径图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向上的台阶式流程：第一级“绘物”：抓外形与习性特征，例：紫藤萝“像一条瀑布，从空中垂下”；第二级“悟理”：由物及人，例：“花和人都会遇到各种各样的不幸，但是生命的长河是无止境的”；第三级“明志”：卒章显志，例：“我不觉加快了脚步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128 / 405</a:t>
            </a:r>
            <a:endParaRPr lang="en-US" sz="115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第五单元 · 哲理之思（托物言志与登临诗）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托物言志用双线读法：物线＋志线，找到交会句就找到了全文的钥匙。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两首诗两条路：一首直白劝告靠语气层次，一首借“路”象征人生选择；读象征诗先问物之特征对应人…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登临诗三问：登何处、见何景、抒何情；五首诗一条线——景中有理，理中有志。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各用一句话说出《紫藤萝瀑布》与《一棵小桃树》所托之“志”；写出《望岳》中表现雄心壮志的诗句。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129 / 405</a:t>
            </a:r>
            <a:endParaRPr lang="en-US" sz="115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· 阅读与鉴赏 ｜ 考查：浏览与信息提取、伏笔照应；《活板》说明性文言词句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第六单元　科幻探险（浏览长文）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练浏览提取信息，读纪实与科幻，疏通《活板》工序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现代文阅读·浏览与信息提取（《伟大的悲剧》《太空一日》）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科幻小说·《带上她的眼睛》 ＋ 名著导读·《海底两万里》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文言文·《活板》 ＋ 写作·语言简明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　现代文阅读·浏览与信息提取（《伟大的悲剧》《太空…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第六单元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两万字的文章，三分钟要抓住“五个人经历了什么”。这不是神话，是“浏览”——用眼睛扫描，用笔记录节点。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与默读精读的区别：浏览求“快而准的信息提取”——眼睛成行扫描，遇关键信息（人名、时间、地点、事件节点）停一秒做记号，其余快速掠过；禁止逐词回读。操作：第一遍定时浏览只记节点，第二遍回头补细节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伟大的悲剧》定时浏览先记五人行程节点——斯科特一行从南极点返回，埃文斯死去，奥茨走向暴风雪，余下三人在帐篷中骄傲地等待死亡，日记写到生命最后一刻；再回头补细节（奥茨那句“我要到外边走走”）。《太空一日》用小标题列“意外事件清单”——火箭低频共振、误报火灾、神秘敲击声、舷窗裂纹——纪实文学的真实与惊险正在于每个意外都有据可查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误区：浏览不是越快越好——没有节点记录的快读等于白读；自检法：合上书能否按顺序说出各节点。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浏览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纪实文学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小标题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浏览时逐词回读，速度与信息提取双双落空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131 / 405</a:t>
            </a:r>
            <a:endParaRPr lang="en-US" sz="115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　现代文阅读·浏览与信息提取（《伟大的悲剧》《太空…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用浏览法30秒内从课文中找出斯科特一行返回途中先后牺牲（遇难）的几个人。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明确检索目标：牺牲者的名字与先后顺序。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眼睛成行扫描，锁定“埃文斯死去了”、奥茨走向暴风雪、“剩下的三个人……骄傲地”等关键句。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按顺序记录节点，回头再补细节。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先是埃文斯（精神失常死去），后是奥茨（为不拖累同伴走向暴风雪），最后是斯科特等三人在帐篷中等待死神来临。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132 / 405</a:t>
            </a:r>
            <a:endParaRPr lang="en-US" sz="115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　现代文阅读·浏览与信息提取（《伟大的悲剧》《…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课堂即时练：两分钟浏览《太空一日》，按小标题列出杨利伟遭遇的四个意外。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课后迁移：用浏览法读《伟大的悲剧》后半部分，用三个节点句概括三人最后的日子。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133 / 405</a:t>
            </a:r>
            <a:endParaRPr lang="en-US" sz="115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科幻小说·《带上她的眼睛》 ＋ 名著导读·《海底…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第六单元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“眼睛”怎么能带上？谁会一整天地“看”一朵草原上的野花？这个悬念从第一句就把我们攥住了。今天读科幻，也读伏笔。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幻小说读法：先设悬念猜谜（“眼睛”是一副传感眼镜，另一端是身处地心的女领航员），再讲“伏笔—照应”结构：她的不舍（“我怕闭上眼睛”）、反复叮嘱看月亮看花都是伏笔，结尾揭示她被永远留在地心，前文一切反常得到解释。讨论科幻的边界：设定可以有幻想成分，但细节须自洽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著落点：《海底两万里》练快速阅读——每章只记“地点—事件”两栏（太平洋—鹦鹉螺号启航；印度洋—尼摩船长斗鲨救采珠人；南极—冰山困船……），串起两万里航程；尼摩船长的神秘与“我”的见闻构成双线兴趣点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误区：伏笔不是“多余的描写”——检验法：删去它，结尾的反转是否显得突兀？是，则它是伏笔。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科幻小说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伏笔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反转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把伏笔当“多余描写”，看不出与前文的照应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134 / 405</a:t>
            </a:r>
            <a:endParaRPr lang="en-US" sz="115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科幻小说·《带上她的眼睛》 ＋ 名著导读·《海底…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《带上她的眼睛》中，“她”为什么坚持要看每一朵野花、看月光下的草原？这一安排有何作用？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找伏笔特征：当时“我”不解、嫌她小气矫情，读者也被引着发问。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对照结尾：她是“落日六号”领航员，被永远留在地心深处，再也见不到真正的草原。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判定作用：这些细节是伏笔，与结尾形成照应，使反转既意外又合理，也加重悲剧的力量。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因为她被永远困在地心，那是一次诀别前的告别。这些看似反常的细节是伏笔，与结尾的揭示相互照应，让反转合情合理，并深化了她对地面世界、对生命最后的眷恋。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135 / 405</a:t>
            </a:r>
            <a:endParaRPr lang="en-US" sz="115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科幻小说·《带上她的眼睛》 ＋ 名著导读·《…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课堂即时练：判断下列描写是否为伏笔：①“她”对草原上的一切恋恋不舍；②“我”嫌“她”小气矫情。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课后迁移：《海底两万里》中“鹦鹉螺号”从哪里出发？举出两个你在阅读中记下的“地点—事件”。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136 / 405</a:t>
            </a:r>
            <a:endParaRPr lang="en-US" sz="115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　文言文·《活板》 ＋ 写作·语言简明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第六单元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没有印刷厂，北宋的毕昇用一盒泥巴解决了“书太贵”的问题。《活板》两百多字，把一套工艺流程说得清清楚楚。今天学读工序文，也学把话说明白。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言落实：按“制字—排版—印刷—拆版”工序流程图读全文动词——刻（胶泥刻字）、烧（火烧令坚）、设（密布字印）、炀（就火炀之，烤）、按（以一铁按之）、拂、揭。重点句“火烧令坚”是省略句兼“火”名词作状语——（用）火烧使（它）坚硬；“庆历中，有布衣毕昇”的“布衣”借代平民；“持就火炀之”省略主语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说明顺序是时间（工序）顺序，“每字为一印”“每一字皆有数印”见其灵活，“更互用之”见其效率；本文出自沈括《梦溪笔谈》。写作落点“语言简明”：删冗余句——重复啰嗦、指代不明、可有无用的修饰都是删除对象；练法：把一段150字的啰嗦通知删到80字且信息不损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误区：“火烧令坚”不解为“用火”则整句翻译崩塌；工序题的答法是“动词＋对象”连缀，缺一道工序即失分。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沈括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《梦溪笔谈》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工序说明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简明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“火烧令坚”的“火”不解为名词作状语“用火”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137 / 405</a:t>
            </a:r>
            <a:endParaRPr lang="en-US" sz="115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　文言文·《活板》 ＋ 写作·语言简明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翻译：“用胶泥刻字，薄如钱唇，每字为一印，火烧令坚。”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落实词义：钱唇（铜钱的边缘）、印（印模、字模）、令坚（使它坚硬）。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补出省略：“火烧令坚”补出方式与宾语——（用）火烧（字模）使（它）坚硬。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按工序连缀成句，检验四道信息是否齐全。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用胶泥刻字，字模薄得像铜钱的边缘，每个字刻成一个字模，用火烧使它变得坚硬。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138 / 405</a:t>
            </a:r>
            <a:endParaRPr lang="en-US" sz="115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　文言文·《活板》 ＋ 写作·语言简明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课堂即时练：按顺序说出活字印刷的四道工序，每道工序引用原文一个动词。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课后迁移：把下面这段话改简明：“由于这次校运会的时间是在下周五，所以希望各位同学在下周五那天都能够准时到达操场集合，不要迟到。”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139 / 405</a:t>
            </a:r>
            <a:endParaRPr lang="en-US" sz="115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第六单元 · 科幻探险（浏览长文）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浏览＝成行扫描＋节点记录；第一遍抓节点，第二遍补细节，快而有序才是真本领。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读科幻盯两样：伏笔（删去则反转突兀的描写）与设定自洽；读《海底两万里》每章只记“地点—事件…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《活板》按工序流程读动词，盯牢“火烧令坚”的省略与活用；写作练简明——删到不能再删，信息却…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口头复述活字印刷四道工序并引用原文关键动词；指出《带上她的眼睛》一处伏笔及其照应。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140 / 405</a:t>
            </a:r>
            <a:endParaRPr lang="en-US" sz="115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· 表达与交流 ｜ 考查：消息的倒金字塔结构、导语拟写、新闻语言的准确客观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　活动·探究：新闻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认识消息的结构与新闻文体，学采访、写消息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新闻阅读·消息的结构（消息二则／首届诺贝尔奖颁发／“飞天”凌空／一着惊海天）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新闻采访与写作实践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2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新闻阅读·消息的结构（消息二则／首届诺贝尔奖颁发…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第一单元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“新华社长江前线二十二日二时电”——一句话锁定时间、地点、事件。新闻是怎么做到让读者三十秒知道全貌的？今天拆解消息。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的文体抓手是“倒金字塔结构”：标题—导语—主体—背景—结语，重要性递减，读者读完全文三分之一就能掌握核心事实。导语是检验重点：用六要素问答法（何时、何地、何人、何事、何故、如何）检验一句话是否说清核心事实。新闻语言讲准确客观：数字要严谨（当时无法精确统计，就用“大约三十万人”），少用形容词与主观评论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拆《人民解放军百万大军横渡长江》——导语“人民解放军百万大军……冲破敌阵，横渡长江”二十余字包住核心事实，主体按中路、西路、东路军依次展开；对比《“飞天”凌空》新闻特写——它不报全貌，而放大跳水一瞬（轻舒长袖、一气呵成），慢镜头与快讯的差异立见；《一着惊海天》以过程细节见舰载机着舰的惊险与意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误区：导语写成时间地点的流水账，丢了最核心的事实——检验法：只读导语，能否回答“发生了什么大事”。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消息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导语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倒金字塔结构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新闻特写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把导语写成时间地点的流水账，丢掉最核心的事实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142 / 405</a:t>
            </a:r>
            <a:endParaRPr lang="en-US" sz="115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新闻阅读·消息的结构（消息二则／首届诺贝尔奖颁发…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指出《人民解放军百万大军横渡长江》的导语，并说明它交代了哪些新闻要素。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定位导语：电头后第一句“人民解放军百万大军，从一千余里的战线上，冲破敌阵，横渡长江”。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对照六要素：何人（人民解放军百万大军）、何事（横渡长江、冲破敌阵）、何地（一千余里的战线上）。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评价：核心事实浓缩于一句，最重要的信息最先出现，正是倒金字塔的塔尖。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导语即电头后首句，含人物、事件、地点等核心要素，读者一句即知战役全貌，体现消息“重要信息前置”的文体特征。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143 / 405</a:t>
            </a:r>
            <a:endParaRPr lang="en-US" sz="115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新闻阅读·消息的结构（消息二则／首届诺贝尔奖…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课堂即时练：给“我校昨日举行秋季运动会，初三（2）班获团体总分第一”补两个要素，写成一句合格导语。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课后迁移：从当天报纸或新闻客户端找一篇消息，勾出标题、导语、主体，并检验导语是否包含核心事实。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144 / 405</a:t>
            </a:r>
            <a:endParaRPr lang="en-US" sz="115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新闻阅读·消息的结构（消息二则／首届诺贝尔奖颁发…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8a-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消息倒金字塔结构图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画一个倒置三角形分三层：顶层“标题”（旁注：可含引题、主标题、副题）；中层“导语”（第一二句话，旁注：何时、何地、何人、何事等核心要素，并摘录例句“新华社长江前线二十二日二时电　英勇的人民解放军二十一日已有大约三十万人渡过长江”）；底层…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145 / 405</a:t>
            </a:r>
            <a:endParaRPr lang="en-US" sz="115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　新闻采访与写作实践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第一单元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校园里刚发生了一件大事——食堂推出新菜单。要写成一条合格的消息，第一步不是写，而是“问”。今天学采访与写作。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访提纲两步走：先列“要知道什么”（事实清单：何时何地何人何事、数据、各方说法），再排问题顺序（由易到难、由事实到感受）。采访中要追问具体（“大概有多少人参加”改为“约多少人，如何统计”），记录要点并核实。写作时先写导语，用六要素问答法自检，再按重要性递减展开主体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做法：现场模拟采访“运动会志愿服务”——分组给志愿者、老师、运动员各拟三问，采访后各写一句导语；修改环节练“删形容词”：把“精彩纷呈、感人至深的运动会”改为客观陈述，体会新闻语言与作文语言的区别——新闻里形容词是危险品，事实是硬通货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误区：消息里加“非常感人”“激动人心”等主观评论词破坏客观性；观点只能以“某某说”的引语形式出现，且须经核实。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采访提纲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新闻语言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消息里加主观评论词（如“非常感人”），破坏客观性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146 / 405</a:t>
            </a:r>
            <a:endParaRPr lang="en-US" sz="115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　新闻采访与写作实践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为“学校食堂推出新菜单”写一条消息（含标题与导语），并标出你所做的客观性处理。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采访获取事实：实施时间（本周一）、对象（全校三个年级）、变化（新增8个菜品）、依据（上学期问卷调查）。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拟导语：“本周一起，我校食堂新增8个菜品，新菜单依据上学期问卷结果调整。”六要素检验：何时、何地、何事、何故齐全。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客观性处理：删去“好吃到爆”“同学们高兴疯了”等表述，评价改为经核实的当事人引语：“高二学生李某说：现在的菜更合口味了。”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示例标题《我校食堂新菜单周一上线》，导语如上。客观性处理：数据用确数（8个），评价全部转为带出处的引语，正文无形容词式主观评论。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147 / 405</a:t>
            </a:r>
            <a:endParaRPr lang="en-US" sz="115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　新闻采访与写作实践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课堂即时练：指出下面这句消息语言的问题并修改：“食堂阿姨们热情周到的服务让同学们感动万分。”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课后迁移：就校园里一件新事做一次真实采访（至少问两个人），写成150字消息。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148 / 405</a:t>
            </a:r>
            <a:endParaRPr lang="en-US" sz="115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 · 活动·探究：新闻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消息＝倒金字塔：导语用六要素锁核心事实，主体按重要性递减展开；新闻语言贵在准确客观。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新闻生产两步：采访先列事实清单再排问题，写作先导语后主体；删形容词，让事实说话。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9905" y="2882646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9" name="Text 7"/>
          <p:cNvSpPr/>
          <p:nvPr/>
        </p:nvSpPr>
        <p:spPr>
          <a:xfrm>
            <a:off x="811073" y="295579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1073" y="3230118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指认一篇消息的导语，说明它交代了哪几个新闻要素；再为一起校园事件拟一句导语。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149 / 405</a:t>
            </a:r>
            <a:endParaRPr lang="en-US" sz="115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· 阅读与鉴赏 ｜ 考查：典型事件与细节写人、作者情感把握、传记的真实性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　品格与光辉（回忆性散文与传记）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读回忆性散文与传记，学“用真实事件写人”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现代文阅读·回忆性散文（《藤野先生》《回忆我的母亲》）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传记阅读·《美丽的颜色》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写作·学写传记 ＋ 综合性学习·人无信不立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现代文阅读·回忆性散文（《藤野先生》《回忆我的母…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第二单元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鲁迅在仙台遇见藤野先生，二十年后写他，字里行间有感激，也有一个弱国学生的自尊。回忆性散文读什么？读“事件线＋情感线”。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忆性散文的抓手是双线：事件线（作者经历了什么）与情感线（写作时的“我”如何评价与感念）。要分清两个“我”——经历中的“我”与回忆中的“我”；这类文本在真实之上见情感与判断，圈出“我”的悔愧、感激句正是读情感线的入口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藤野先生》双线并行——事件线（添改讲义—纠正解剖图—关心解剖实习—询问裹脚）与情感线（怀疑—感激—愧疚—力量：疲倦时瞥见照片便增加勇气）；主题不止“师生情深”，更有一个弱国学生如何在国际冷眼中自持与觉醒。《回忆我的母亲》以时间顺序列母亲勤劳一生的事迹，用直接评价句点明影响；《列夫·托尔斯泰》前半极力写外貌之平庸、后半写眼神之透辟，欲扬先抑见灵魂的高贵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误区：《藤野先生》主题答成单纯师生情，漏掉“弱国自尊与民族觉醒”层；欲扬先抑的“抑”不是贬低，而是蓄势。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回忆性散文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欲扬先抑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双线结构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把《藤野先生》主题答成“师生情深”，忽略弱国学生的自尊与觉醒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151 / 405</a:t>
            </a:r>
            <a:endParaRPr lang="en-US" sz="115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现代文阅读·回忆性散文（《藤野先生》《回忆我的母…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《藤野先生》中“他的性格，在我的眼里和心里是伟大的”——“伟大”由哪些事例支撑？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圈事件：添改讲义从头到末、纠正解剖图中移位的血管、关心“我”敢不敢解剖尸体、询问中国女人裹脚。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辨情感：对一个被同学讥为“低能儿”的弱国学生毫无民族偏见，认真严谨到讲义上的每一根血管。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对评价：这些事例支撑“伟大”——没有民族偏见的正直气度＋对学术与学生的极端认真；“我”的感激随之升华为前行的力量。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由添改讲义、纠正解剖图、关心解剖实习、询问裹脚等事例支撑；“伟大”在于藤野先生毫无民族偏见的博大气度与一丝不苟的治学精神，也在于他给了“我”批判与前行的勇气。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152 / 405</a:t>
            </a:r>
            <a:endParaRPr lang="en-US" sz="115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现代文阅读·回忆性散文（《藤野先生》《回忆我…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课堂即时练：画出《藤野先生》“我”的情感变化线（四个节点）。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课后迁移：《列夫·托尔斯泰》前半“抑”写了什么？用一句原文佐证。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153 / 405</a:t>
            </a:r>
            <a:endParaRPr lang="en-US" sz="115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　传记阅读·《美丽的颜色》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第二单元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在一间四面漏风的破棚子里，居里夫妇从成吨的矿渣中提炼镭，历时近四年。镭终于发出幽蓝的光——这“美丽的颜色”，美在何处？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记的抓手是“引文互证”：本文大量引居里夫人原话（其自述），叙述与引文交替处正是读点——叙述交代过程，引文呈现当时的心境，二者对照让传记既真实又可感。读法：在引文出现处做批注，问“这句话让读者多知道了什么”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提炼镭的场景细节——“艰苦而且微妙的快乐”：破棚子、一次炼制二十公斤材料的繁重、烈日与严寒，与引文中“独特的专心景况”对照，苦难被热爱转化；“美丽的颜色”双关：既指镭的幽蓝荧光，更指以信念与热爱为底色的科学人生之美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误区：“美丽的颜色”只答“镭发光的颜色”是字面层——须指认双关，并回引原文（镭之光与“我们生活中的快乐”对照）。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传记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引文互证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“美丽的颜色”只答“镭的光”，不指信念与热爱之美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154 / 405</a:t>
            </a:r>
            <a:endParaRPr lang="en-US" sz="115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　传记阅读·《美丽的颜色》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文中引居里夫人的话“我一次炼制20公斤材料……到傍晚我累得筋疲力尽”，这样的引文有什么作用？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判断类型：这是当事人自述（引文），与作者叙述交替出现。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比较差异：叙述（若只写“工作艰苦”）是概括的、旁观者的；引文给出具体数字、身体感受，是亲历者的。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归纳作用：增强真实性与现场感，让读者直接听到居里夫人的声音，苦难的分量与她的坚韧俱在。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引文以当事人自述补充叙述：具体数字与疲惫感受让提炼镭的艰苦可触可感，增强了传记的真实性与感染力，也凸显居里夫人的坚韧执着。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155 / 405</a:t>
            </a:r>
            <a:endParaRPr lang="en-US" sz="115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　传记阅读·《美丽的颜色》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课堂即时练：文中“美丽的颜色”有哪两层含义？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课后迁移：为本文做一张“叙述—引文”对照批注卡（一处即可），写清引文让你多知道了什么。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156 / 405</a:t>
            </a:r>
            <a:endParaRPr lang="en-US" sz="115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　写作·学写传记 ＋ 综合性学习·人无信不立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第二单元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给自己或家人写一篇小传，不是“优点清单”，而是用真实事件写出一个人。今天学“大事记＋两件事细写”的传记写法。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记写作三要点：真实性（不虚构关键事实）、典型性（选最能体现人物的事件，不写成流水账）、文学性（在真实基础上用细节与场景让人物立起来）。操作：先列“年份＋事件”大事记梳理人生节点，再选两件事细写——细写处用动作、语言细节与场景还原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做法：给“我”写80字小传练起——先用三行大事记（出生—入学—某转折），再挑一件“转折事件”细写：当时的场景、“我”的动作与心理。自检：遮住名字，这段文字能不能让同学认出是你？能，说明细节真实；不能，说明还停在套话。综合性学习“人无信不立”：搜集诚信格言并分类，访谈身边守信故事并成文——事件真实、细节具体、结尾一句自己的理解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大事记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真实性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传记写成“优点清单”，没有具体事件支撑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157 / 405</a:t>
            </a:r>
            <a:endParaRPr lang="en-US" sz="115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　写作·学写传记 ＋ 综合性学习·人无信不立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题目《爷爷的小传》，完成“审题—立意—结构”三步设计。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审题：对象是“爷爷”，文体是小传——要求真实、有事迹、有性格；篇幅所限须选材精。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立意：不写“勤劳善良一辈子”的笼统之语，定一条人物主线——如“一辈子不肯欠人情的木匠”。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结构：开头两行大事记（生年—学木匠—带出三个徒弟）；主体细写两件事：为邻村人家打嫁妆分文不取却连夜赶工（刨花在灯下一卷卷落地）、晚年替人修桌椅仍不许别人白等；结尾一句点性格。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示范要点：大事记立骨架（真实、清晰），两件事出性格（典型、有细节），结尾一句点睛；无虚构、无优点罗列。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158 / 405</a:t>
            </a:r>
            <a:endParaRPr lang="en-US" sz="115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　写作·学写传记 ＋ 综合性学习·人无信不立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课堂即时练：为自己列三行大事记，并标出最适合细写的一件。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课后迁移：访谈一位长辈的一件守信往事，写成100字短文，含一处细节。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159 / 405</a:t>
            </a:r>
            <a:endParaRPr lang="en-US" sz="115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 · 品格与光辉（回忆性散文与传记）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回忆性散文读双线：事件线看经历，情感线看回望；“伟大”之类的评价词必须能回到事例上去。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读传记盯“引文互证”：叙述给过程，引文给心跳；《美丽的颜色》之美在镭，更在信念。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学写传记：大事记定骨架，两件事出性格；真实是第一美德，细节是第二。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各举一例说明《藤野先生》中“我”的情感变化；为自己写一段80字小传，含一件具体的事。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160 / 405</a:t>
            </a:r>
            <a:endParaRPr lang="en-US" sz="115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· 阅读与鉴赏 ｜ 考查：文言写景句翻译、名篇默写、景物特征概括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　山水之美（文言写景与唐诗）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品景语悟情语，积累山水文言与唐诗名句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文言文·山水小品（《三峡》《答谢中书书》《记承天寺夜游》《与朱元思书》）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唐诗五首联读（野望／黄鹤楼／使至塞上／渡荆门送别／钱塘湖春行）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写作·学习描写景物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　文言文·山水小品（《三峡》《答谢中书书》《记承天…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第三单元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郦道元写三峡之水，苏轼写承天寺的月光，吴均写富春江的“奇山异水”。古人的山水小品，字字如画。今天学“字字落实＋景语情语”双读法。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言落实：重点词——《三峡》“或王命急宣”（有时）、“虽乘奔御风”（奔：飞奔的马，动词作名词）、素湍（雪白的急流）、漱（冲刷）；《记承天寺夜游》念（考虑）、遂（于是）、但少闲人如吾两人者耳（但：只是；闲人：有闲情雅致的人）；《与朱元思书》急湍甚箭（比箭还快）、负势竞上（依凭）。互文见义：“素湍绿潭，回清倒影”应理解为雪白的急流上有清波回旋、碧绿的深潭中有倒影，两句交错互补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三峡》按夏—春冬—秋时序理水势（夏之奔放、春冬之清幽、秋之凄异）；《记承天寺夜游》抓“闲人”二字讲苏轼贬谪中的自嘲与旷达，月色三句连用比喻写空明；三篇共读：各找“最传神的一个动词”并说理由（如“襄陵”之“襄”见水漫上山陵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误区：“素湍绿潭，回清倒影”按固定顺序死译是高频错误；“但少闲人”的“但”是“只是”，非“但是”。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郦道元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骈文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闲人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“素湍绿潭，回清倒影”两句按固定顺序死译，不知互文见义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162 / 405</a:t>
            </a:r>
            <a:endParaRPr lang="en-US" sz="115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　文言文·山水小品（《三峡》《答谢中书书》《记承天…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翻译“庭下如积水空明，水中藻、荇交横，盖竹柏影也”，并说明其妙处。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落实词义：空明（清澈透明）、藻荇（水草）、盖（原来是）。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连缀：月光下庭院如一泓积水清澈透明，水中藻荇纵横交错，原来是竹柏的影子。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析妙处：以水喻月光，以藻荇喻竹柏影；先设喻后点破（“盖”字揭底），写尽月色空明，也含贬谪中人与友赏月的闲适心境。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月光照在庭院里如一泓清澈的积水，水中纵横交错的水草，原来是竹子柏树的影子。妙在连用比喻且末句点破，月色之美与“闲人”的闲情雅致俱出。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163 / 405</a:t>
            </a:r>
            <a:endParaRPr lang="en-US" sz="115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　文言文·山水小品（《三峡》《答谢中书书》《记…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课堂即时练：用互文见义翻译“素湍绿潭，回清倒影”。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课后迁移：从三篇课文中各找一个最传神的动词并说理由。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164 / 405</a:t>
            </a:r>
            <a:endParaRPr lang="en-US" sz="115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唐诗五首联读（野望／黄鹤楼／使至塞上／渡荆门送别…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第三单元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同是唐人登临送别，王绩在东皋“相顾无相识”，崔颢在黄鹤楼望“烟波江上使人愁”，王维在大漠看到“长河落日圆”。五首诗五种心绪，今天一次读通。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读抓手是“情调分组”：《野望》秋日闲望的孤独彷徨；《黄鹤楼》登楼怀乡之愁（“日暮乡关何处是”）；《使至塞上》出塞的壮阔（“大漠孤烟直，长河落日圆”——线条简净、构图宏阔）；《渡荆门送别》初出蜀地的欣喜与不舍（不说自己思乡，反说故乡水多情送行——拟人）；《钱塘湖春行》早春之喜（“几处早莺争暖树”“浅草才能没马蹄”，处处是初春的分寸感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炼字落点：集中练“争”（早莺抢占向阳树枝的活泼）、“啄”（燕衔泥筑巢的动态）、“孤”（孤烟之直反衬大漠空旷）、“生”与“入”。律诗常识：中间两联须对仗，读时注意平仄节奏。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默写落实：建立默写自查表，易错字逐个过关（“萋萋鹦鹉洲”“都护在燕然”“没马蹄”读mò）；《渡荆门送别》尾联的拟人手法最易漏答。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律诗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炼字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情景交融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《渡荆门送别》“仍怜故乡水”的拟人手法漏答，只答思乡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165 / 405</a:t>
            </a:r>
            <a:endParaRPr lang="en-US" sz="115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唐诗五首联读（野望／黄鹤楼／使至塞上／渡荆门送别…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品析“几处早莺争暖树，谁家新燕啄春泥”中“争”“啄”二字的妙处。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回诗境：这是早春西湖，莺燕初来，数量尚少（“几处”“谁家”的不定数）。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析动词：“争”写出早莺抢占向阳树枝的活泼争先；“啄”定格燕子衔泥筑巢的一瞬。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结情感：两个动词让早春有了声音与动感，见诗人初见春意的欣喜。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“争”写早莺争向阳暖树之活泼，“啄”绘新燕衔泥筑巢之忙碌；动词使早春生机可感可闻，传达出诗人对初春景象的敏锐与喜爱。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166 / 405</a:t>
            </a:r>
            <a:endParaRPr lang="en-US" sz="115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唐诗五首联读（野望／黄鹤楼／使至塞上／渡荆门…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课堂即时练：默写《使至塞上》颈联，并说说这两句为何被称为“千古壮观”。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课后迁移：指出《渡荆门送别》尾联的修辞并翻译。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167 / 405</a:t>
            </a:r>
            <a:endParaRPr lang="en-US" sz="115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　写作·学习描写景物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第三单元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同是写校园一角，有人的文字像一幅画，有人的像一张物品清单。差别就在“顺序”与“感官”。今天学两套写景的章法。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抓手：“定点观察”（立足点不变，视角由远及近、由总到分变换）与“移步换景”（观察点在动，景随步移）。无论哪种，段首要交代观察位置，视角切换处要有过渡（“再往近处看”“转过假山”）。多感官描写：视、听、触各至少一句，组合成“立体的景”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做法：给同一个场景（雨后操场），先站定写一段定点观察（远处旗杆—中间跑道水洼—脚下草叶水珠），再设计一条路线写移步换景（教学楼门口—梧桐道—操场一角），对比两段体会“观察点”如何决定取舍；多感官自检：遮住视觉句，文段还剩什么？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误区：景物描写无顺序、罗列名词不成画面是常见病——检验法：按文字在脑中“走”一遍，若路线混乱即需重排。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定点观察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移步换景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多感官描写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景物描写无顺序，罗列名词不成画面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168 / 405</a:t>
            </a:r>
            <a:endParaRPr lang="en-US" sz="115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　写作·学习描写景物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以“雨后操场”为对象，用定点观察法写一个100字左右的片段。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定立足点：教学楼三楼窗口（段首交代）。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排视角：由远及近——远处旗杆（雨水沿旗绳滴落）、中间跑道（水洼映着灰白的天）、近处草叶（叶尖坠着水珠）。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加感官：听觉一句（麻雀抖落一串水声）、触觉一句（风贴在脸上，凉而润）。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从三楼窗口望出去，旗杆下的雨水正沿旗绳一滴滴坠落。稍近处，跑道上水洼连片，映着灰白的天。脚边的草叶尖上，一颗水珠坠而不落。麻雀从梧桐间抖落一串水声，风贴上脸颊，凉而润。判定：立足点交代＋顺序清晰＋三种感官即达标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169 / 405</a:t>
            </a:r>
            <a:endParaRPr lang="en-US" sz="115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　写作·学习描写景物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课堂即时练：指出下面文段的问题并修改：“操场很美，有旗杆、有跑道、有草、有云。”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课后迁移：用移步换景法写“从校门到教室”的一段100字文字，含一处过渡句。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170 / 405</a:t>
            </a:r>
            <a:endParaRPr lang="en-US" sz="115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　写作·学习描写景物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8a-3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定点观察与移步换景写景顺序对比图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两栏对比。左栏“定点观察”：固定观察点图标（小亭），向下三条视线箭头分别标“远山→近水→脚下荷”，旁注“立足点不变，视角由远及近变换”，配例：站定亭中，先写远山，再写湖面，最后写脚边荷叶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171 / 405</a:t>
            </a:r>
            <a:endParaRPr lang="en-US" sz="115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 · 山水之美（文言写景与唐诗）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山水小品双读法：字字落实疏通词句，景语中找情语；互文见义勿死译，“闲人”二字最含情。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五首唐诗按情调分组：孤独—乡愁—壮阔—不舍—欣喜；炼字盯“争、啄、孤、直、圆”，默写盯易错…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写景两套章法：定点观察变视角，移步换景跟脚步；段首交代位置，感官各来一句，画面自然立体。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翻译“庭下如积水空明，水中藻、荇交横”并说明其妙处；默写《使至塞上》颈联。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172 / 405</a:t>
            </a:r>
            <a:endParaRPr lang="en-US" sz="115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· 阅读与鉴赏 ｜ 考查：《背影》的细节与情感、《白杨礼赞》的象征手法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　情感与哲思（背影与白杨）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读经典散文的含蓄情感与托物言志，练语言连贯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叙事散文·《背影》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托物言志·《白杨礼赞》 ＋ 散文二篇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写作·语言要连贯 ＋ 综合性学习·我们的互联网时代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　叙事散文·《背影》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第四单元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一个笨拙的背影，让百年来的读者一次次湿了眼眶。朱自清写父亲的背影，为什么偏偏选“爬月台买橘子”那一瞬？今天慢读《背影》。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散文的抓手是“细节慢读＋情感线”：把最关键的一段放慢——买橘子背影的动作分解“探—攀—缩—倾”，四个动词写出月台之高、父亲之胖、动作之艰难，爱就在笨拙里。同时理全文四次“流泪”的情感线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四次流泪——见父、睹背影（最浓）、别离、读信（思父日甚）；父亲几句言语（“不要紧，他们去不好”“我买几个橘子去”等）皆平淡而情深；“我”两次自认“聪明”（觉他说话不大漂亮、暗笑他的迂）是反语——当年的自作聪明，如今读来满是悔意，忏悔语气正是本文深层情感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误区：“聪明的”若读成真聪明，全文情感全错——反语的判定依据是语境：写文章时的“我”已理解父爱，故当年的自以为是成为自责的对象。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白描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反语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细节描写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把“聪明的”读成真聪明，误判儿子当时的态度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174 / 405</a:t>
            </a:r>
            <a:endParaRPr lang="en-US" sz="115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　叙事散文·《背影》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“他用两手攀着上面，两脚再向上缩；他肥胖的身子向左微倾，显出努力的样子。”品析这段细节描写。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动作分解：攀（手）、缩（脚）、倾（身），三个连续动词定格爬月台的全程。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见境况：“攀”写月台之高无物可扶，“缩”“倾”写身体之胖、年事之高，动作艰难缓慢。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由动作见情：爱不在言语而在这一笨拙费力的攀爬里；“我”的眼泪随之而来。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三个动词精准写出父亲攀爬月台的艰难：老境颓唐、行动不便，却执意亲自买橘；细节以“笨拙”写“深情”，是全文情感的顶点。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175 / 405</a:t>
            </a:r>
            <a:endParaRPr lang="en-US" sz="115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　叙事散文·《背影》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课堂即时练：按顺序排出《背影》四次流泪，各配一句原文。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课后迁移：解释“我现在想想，那时真是太聪明了！”中“聪明”的表达效果。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176 / 405</a:t>
            </a:r>
            <a:endParaRPr lang="en-US" sz="115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　托物言志·《白杨礼赞》 ＋ 散文二篇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第四单元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茅盾笔下的白杨，“笔直的干，笔直的枝”——他赞的真是树吗？礼赞体散文怎么读？先找那一句反复咏叹。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物言志的抓手照旧是“物—志”对应，本文另有两大形式特征：反复（“白杨树实在是不平凡的”四次咏叹，串起全文脉络与情感递进）与欲扬先抑（先说它或许算不上“树中的好女子”，随后以“伟丈夫”翻案）。象征对应表是本课核心板书：树形（干笔直、枝靠拢、叶向上）—树性（倔强挺立、不折不挠）—人格（北方抗日军民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画三层对应表逐项勾连——“干通常是丈把高”对应正直，“丫枝一律向上、紧紧靠拢”对应团结进取，“在北方的风雪的压迫下却保持着倔强挺立”对应不屈抗争；结尾提及“楠木”是反衬，以贵族化的观赏树反衬白杨的平民气质。散文二篇（《永久的生命》《我为什么而活着》）以哲理句为抓手速读把握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误区：象征义答成“白杨树很直”是物性层，未到人格层——必须落到北方抗日军民的精神与意志。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象征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礼赞体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反复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反衬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象征义答成“白杨树很直”，未落到北方抗日军民的精神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177 / 405</a:t>
            </a:r>
            <a:endParaRPr lang="en-US" sz="115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　托物言志·《白杨礼赞》 ＋ 散文二篇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“它所有的丫枝一律向上，而且紧紧靠拢……不折不挠，对抗着西北风。”这些描写象征什么？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辨手法：由树性到人格，托物言志（象征）。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对应：“一律向上、紧紧靠拢”对应团结向上；“对抗西北风”对应在压迫下不屈抗争。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联系背景：1941年抗战时期，作者礼赞的是北方敌后抗日军民的意志与精神。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象征北方抗日军民团结向上、倔强不屈的精神意志——树形树性处处对应人格，物与志层层勾连。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178 / 405</a:t>
            </a:r>
            <a:endParaRPr lang="en-US" sz="115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　托物言志·《白杨礼赞》 ＋ 散文二篇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课堂即时练：找出文中反复咏叹的句子，说明它出现四次各在什么位置、起什么作用。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课后迁移：说出结尾写“楠木”的作用。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179 / 405</a:t>
            </a:r>
            <a:endParaRPr lang="en-US" sz="115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　写作·语言要连贯 ＋ 综合性学习·我们的互联网时代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第四单元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一段话读起来“卡”，多半不是词不达意，而是“不连贯”。今天学三样让文字顺滑的东西：话题一致、指代清楚、关联衔接。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52374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贯三抓手：话题一致（一段话围绕一个话题，主语不乱跳）；指代清楚（代词“他、它、这”必有明确先行词）；关联衔接（关联词成对使用，句序有逻辑）。练法：删句重排——把一段乱序句重新排列，排的依据就是连贯原理（话题、时间、逻辑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做法：给一段“主语跳跃”的病文（“小明递给我一本书，马上就要考试了，他很喜欢这本书。”——“马上就要考试了”与前后句话题断裂），学生诊断并修改；再做代词指代诊断。自检法：逐句自问“这句还在说上一句的事吗”，不是则需过渡或另起。综合性学习“我们的互联网时代”：做网络词语小调查（词语—来源—适用场合—规范建议），正式写作中慎用网络词语本身就是连贯与得体的一部分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连贯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衔接语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段内句子主语跳跃，指代不明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180 / 405</a:t>
            </a:r>
            <a:endParaRPr lang="en-US" sz="115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　写作·语言要连贯 ＋ 综合性学习·我们的互联网时代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修改病段使语言连贯：“网络购物越来越流行。快递员每天都很辛苦。我的妈妈也经常网购。快递员的工作量很大。”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诊断：四句话题在“网购—快递员—妈妈网购—快递员”间来回跳，无统一话题与衔接。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定思路：以“网购的流行带动快递业”为话题线，把妈妈一句作为例证，快递员两句合并置于其后。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改写：网络购物越来越流行，我的妈妈就是常客，家里大小物件多半是她网上淘来的。订单多了，快递员的工作量随之增大，每天都很辛苦。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示例改文如上。检验：信息未减，话题一条线（网购流行→以妈妈为例→带出快递员辛苦），衔接自然即为连贯。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181 / 405</a:t>
            </a:r>
            <a:endParaRPr lang="en-US" sz="115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　写作·语言要连贯 ＋ 综合性学习·我们的互联…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课堂即时练：指出下面句子中指代不明之处并修改：“小刚把书递给小林，因为他要参加考试，所以更需要它。”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课后迁移：整理五个你常用的网络词语，各写一句“适用场合”说明。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182 / 405</a:t>
            </a:r>
            <a:endParaRPr lang="en-US" sz="115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 · 情感与哲思（背影与白杨）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读《背影》用慢镜头：四个动词读出父爱；四次流泪是情感线，“聪明”的反语是忏悔的钥匙。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《白杨礼赞》三板斧：反复咏叹串全文，欲扬先抑蓄声势，树形—树性—人格三层对应出象征。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语言连贯三件事：话题一致、指代明确、关联衔接；逐句自问“还在说上一句的事吗”。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排出《背影》四次流泪的顺序并各配一句原文；说出白杨树的象征对象。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183 / 405</a:t>
            </a:r>
            <a:endParaRPr lang="en-US" sz="115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· 阅读与鉴赏 ｜ 考查：说明方法辨识与作用、说明顺序、说明语言的严密性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第五单元　文明的印迹（说明文）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把握说明对象的特征、顺序与方法，学说清楚一件事物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说明文阅读·抓特征理顺序（中国石拱桥／苏州园林／蝉／梦回繁华）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说明方法与说明语言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写作·说明事物要抓住特征 ＋ 口语交际·复述与转述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说明文阅读·抓特征理顺序（中国石拱桥／苏州园林／…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第五单元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赵州桥一千四百年屹立不倒，苏州园林“无论站在哪个点上，眼前总是一幅完美的图画”。说明文的第一任务：把事物的特征说清楚。怎么读？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文阅读第一步：一句话概括“说明什么＋有何特征”，再找总说句验证。说明顺序三型：时间顺序（发展演变）、空间顺序（方位构造）、逻辑顺序（由现象到本质、由一般到个别、由总到分）。《中国石拱桥》按“由一般到个别”的逻辑顺序——先说石拱桥形式优美、结构坚固的一般特征，再举赵州桥、卢沟桥分说；《苏州园林》总说“图画美”，后文各角度皆分说，总分结构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中国石拱桥》选材典型——赵州桥（单拱、历史悠久、设计施工之巧）与卢沟桥（联拱、坚固与狮子艺术的魅力）互为补充，共同支撑“中国石拱桥”的类特征；《蝉》与《梦回繁华》分别示范科学小品与画作说明的不同笔法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误区：把“赵州桥的特征”当成“石拱桥的特征”是以偏概全——个别事物特征与类特征要分清。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说明对象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逻辑顺序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总分结构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混淆“石拱桥的特征”与“赵州桥的特征”，以偏概全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185 / 405</a:t>
            </a:r>
            <a:endParaRPr lang="en-US" sz="115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说明文阅读·抓特征理顺序（中国石拱桥／苏州园林／…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《中国石拱桥》写赵州桥“大拱的两肩上，各有两个小拱”，这个特征说明了什么？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回文找总说：中国石拱桥的特征——形式优美、结构坚固、历史悠久。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看该特征的指向：小拱是李春的首创，节约石料、便于泄水，减轻桥身重量与洪水冲击。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勾连：这一细节具体支撑“结构坚固、设计精巧”的特征，是“以个别例子说明类特征”的示范。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大拱两肩各有两个小拱，既节省石料、便于泄洪，又减轻桥身自重，增强稳固性；这一首创设计具体印证了中国石拱桥“结构坚固、设计精巧”的特征。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186 / 405</a:t>
            </a:r>
            <a:endParaRPr lang="en-US" sz="115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说明文阅读·抓特征理顺序（中国石拱桥／苏州园…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课堂即时练：指出《苏州园林》的总说句，并说出后文从哪些角度分说。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课后迁移：判断“介绍赵州桥，先写它横跨在洨河上的地理位置，再写大拱小拱的结构”用了哪种说明顺序并说依据。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187 / 405</a:t>
            </a:r>
            <a:endParaRPr lang="en-US" sz="115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　说明方法与说明语言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第五单元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“石拱桥的桥洞成弧形，就像虹”——一个比喻，让抽象的“弧形”立刻可见。说明文不是板着脸的，但它的每一种方法都有任务。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方法的答题格式必须完整：方法名＋作用（具体、准确、形象、突出）＋说明了对象什么特征。只答“生动形象”不给分——作用必须扣住特征。六种常考：举例子（具体真切）、列数字（准确严谨，注意确数与约数）、打比方（形象易懂）、作比较（突出特征）、分类别（条理清晰）、下定义（科学严密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严密性练法：“删词比较”——删去“约”“大多数”“几乎”等限制词后比较：“石拱桥几乎到处都有”删“几乎”就变成绝对化。科学小品（《蝉》）的生动语言与严密性可以并存——拟人化的观察叙述不损科学性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误区：把“打比方”与“比喻修辞”混为一答——说明文语境要答说明方法；作用分析必须带对象与特征。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举例子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列数字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打比方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科学小品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作用只答“生动形象”，不结合说明对象的特征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188 / 405</a:t>
            </a:r>
            <a:endParaRPr lang="en-US" sz="115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　说明方法与说明语言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“赵州桥非常雄伟，全长50.82米……”一句运用了什么说明方法？有何作用？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辨方法：“50.82米”是确数，属列数字。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说作用：用精确数据说明赵州桥的规模，体现“雄伟”这一特征，准确而有说服力。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补语言分析：数字为实测确数，见说明文语言的准确严谨。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列数字。以50.82米的精确长度说明赵州桥规模之大，准确严谨地支撑了“非常雄伟”的特征判断。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189 / 405</a:t>
            </a:r>
            <a:endParaRPr lang="en-US" sz="115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　说明方法与说明语言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课堂即时练：判断下面句子的说明方法并按格式说作用：“石拱桥的桥洞成弧形，就像虹。”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课后迁移：删去“苏州园林与北京的园林不同，极少使用彩绘”中的“极少”，表达效果有何变化？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190 / 405</a:t>
            </a:r>
            <a:endParaRPr lang="en-US" sz="115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　说明方法与说明语言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8a-5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常用说明方法及作用体系图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中心框“说明方法＝把特征说清楚”。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191 / 405</a:t>
            </a:r>
            <a:endParaRPr lang="en-US" sz="115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　写作·说明事物要抓住特征 ＋ 口语交际·复述与转述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第五单元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让你介绍教室，你会先说什么？先别急着开口——特征想不清，说明就散了。今天学“三个关键词”定特征的写法，也练复述转述的口头功夫。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文写作第一步：写前列出事物特征三个关键词（如写教室：明亮、规整、人性化），全文材料围绕关键词取舍；段落安排常用总分结构（总说特征—分说—小结）。与记叙文的边界要清楚：说明文不插个人经历与抒情，插入大量“我”的故事即跑体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做法：给两个题目对比——《我的书包》（记叙）与《书包的构造与选用》（说明），学生列各自的内容清单，辨出说明文清单中的特征项；再练首段总说句：“一句话说清对象＋最核心特征”。口语交际落点：复述练“只留主干信息”（时间、地点、人物、事件、结果）；转述练人称转换与信息保真（数字、时间、地点绝不能错）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特征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信息筛选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说明文写成记叙文，插入大量个人经历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192 / 405</a:t>
            </a:r>
            <a:endParaRPr lang="en-US" sz="115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　写作·说明事物要抓住特征 ＋ 口语交际·复述与转述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题目《我的教室》，完成说明文写作的三步设计。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定特征关键词：明亮、规整、人性化（灯位、储物格、后排视线设计）。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排结构：总说句“我们的教室不大，却处处透着明亮与规整”；分说三段各扣一个关键词；结尾一句总收。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防跑体自检：逐段问“这段是介绍还是记叙”，删去“有一天我和同桌……”式记叙插笔。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示范要点：三个关键词统领全文，总—分—总结构，材料取舍只看“是否体现特征”；无个人经历插笔。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193 / 405</a:t>
            </a:r>
            <a:endParaRPr lang="en-US" sz="115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　写作·说明事物要抓住特征 ＋ 口语交际·复述…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课堂即时练：把“昨天小明发烧39度请假了”转述给“昨天没到校的同学”。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课后迁移：为你的一件文具写150字说明，列出三个特征关键词并围绕它们组织段落。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194 / 405</a:t>
            </a:r>
            <a:endParaRPr lang="en-US" sz="115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第五单元 · 文明的印迹（说明文）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说明文三步读：一句话概括对象与特征，找总说句，辨三种顺序；个别事物的特征不能冒充类特征。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说明方法答题三件套：方法名＋作用词＋对象特征；删掉限制词做比较，体会说明语言的分寸。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说明事物先抓特征：三个关键词统领全文，总分结构展开；转述保信息、换人称，复述只留主干。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从《中国石拱桥》各找一处列数字与作比较并说明作用；把一段通知口头转述给“未到场的同学”。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195 / 405</a:t>
            </a:r>
            <a:endParaRPr lang="en-US" sz="115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· 阅读与鉴赏 ｜ 考查：文言实词虚词与句式、人物形象概括、诗词名句默写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第六单元　情怀与哲思（诸子史传与诗词）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读诸子与史传文言，积累咏怀诗词，读《昆虫记》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文言文·《富贵不能淫》《生于忧患，死于安乐》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文言文·《愚公移山》《周亚夫军细柳》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诗词五首联读 ＋ 写作·表达要得体 ＋ 名著导读·《昆虫记》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　文言文·《富贵不能淫》《生于忧患，死于安乐》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第六单元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“富贵不能淫，贫贱不能移，威武不能屈”——三句排比喊出了中国人的脊梁。孟子怎么把道理说得如此有力？今天读论辩中的孟子。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330702"/>
          </a:xfrm>
          <a:prstGeom prst="roundRect">
            <a:avLst>
              <a:gd name="adj" fmla="val 1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30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言落实：《富贵不能淫》重点——往之女家（女：同“汝”，你）、命（训导）、戒（告诫）、淫（使动：使……惑乱）、移（使动：使……改变）、屈（使动：使……屈服）；注意“丈夫之冠也”的“冠”读guàn，指行冠礼。《生于忧患》重点——发、举（被任用、被选拔）、苦、劳、饿、空乏、动心忍性（使动用法连排）、曾益（曾：同“增”）、拂士（拂：同“弼”，辅佐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富贵不能淫》读“大丈夫”三句排比的论辩气势——先驳景春以公孙衍、张仪为大丈夫的错误观点（“是焉得为大丈夫乎”），再立“居天下之广居，立天下之正位，行天下之大道”的正论；《生于忧患》理“举例（六人）—说理（天将降大任……）—立论（然后知生于忧患而死于安乐）”的论证链条，由人及国两层推进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误区：“富贵不能淫”的“淫”是使动用法（使……惑乱），不是“淫秽”；“曾益其所不能”的“曾”通“增”必须标注。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《孟子》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排比论证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通假字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“丈夫之冠也”的“冠”读错，漏掉“行冠礼”义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197 / 405</a:t>
            </a:r>
            <a:endParaRPr lang="en-US" sz="115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　文言文·《富贵不能淫》《生于忧患，死于安乐》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翻译“所以动心忍性，曾益其所不能”，并指出其中的通假字。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辨活用：动心（使心震撼）、忍性（使性格坚韧），均为使动用法。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标通假：曾，同“增”，增加。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连缀翻译并用双重使动检验句意是否通顺。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通过这些（磨难）使他的内心受到震撼、性格变得坚韧，不断增加他所不具备的能力。通假字：“曾”同“增”。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198 / 405</a:t>
            </a:r>
            <a:endParaRPr lang="en-US" sz="115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　文言文·《富贵不能淫》《生于忧患，死于安乐》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课堂即时练：解释“富贵不能淫，贫贱不能移，威武不能屈”并指出活用类型。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课后迁移：按“举例—说理—立论”复述《生于忧患，死于安乐》的论证思路。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199 / 405</a:t>
            </a:r>
            <a:endParaRPr lang="en-US" sz="115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文言文·《愚公移山》《周亚夫军细柳》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第六单元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九十岁的愚公要挖走两座大山，智叟笑他自不量力——谁更有理？另一边，汉文帝劳军，霸上棘门畅行无阻，细柳营却连皇帝也被拦在门外。今天读两篇写“信念”与“规矩”的名篇。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330702"/>
          </a:xfrm>
          <a:prstGeom prst="roundRect">
            <a:avLst>
              <a:gd name="adj" fmla="val 1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30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言落实：《愚公移山》——面（面对）、惩（苦于）、迂（绕远）、许（赞同）、杂然相许、献疑（提出疑问）、箕畚（名词作状语：用箕畚装）、穷匮（穷尽）、虽我之死（虽：即使）、何苦而不平（苦：愁）、亡以应（亡：同“无”）。《周亚夫军细柳》——军细柳（驻军）、彀（张弓）、被（同“披”）、曩者（先前）、介胄（名词作动词：披甲戴盔）、式（同“轼”，扶轼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愚公》用对话立场表读——其妻“献疑”（担心土石去向，是关切非反对）、智叟“笑而止之”（嘲讽否定）、愚公以“子子孙孙无穷匮也，而山不加增”驳之（发展的眼光）；神话结尾（天帝命夸娥氏二子背山）寄托古代人民征服自然的信念，不是“迷信”。《周亚夫军细柳》以霸上棘门“若儿戏耳”与细柳营“军中闻将军令，不闻天子之诏”对写，正面写军纪严明，侧面借文帝“此真将军矣”的评价塑形象——对比＋侧面描写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误区：神话结尾是寄托而非迷信；“先驱”指先头卫队，不是“先锋大将”。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《列子》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《史记》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对比衬托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正面与侧面描写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把神话结尾当“迷信”，看不出寄托的信念与恒心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200 / 405</a:t>
            </a:r>
            <a:endParaRPr lang="en-US" sz="115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文言文·《愚公移山》《周亚夫军细柳》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翻译“以君之力，曾不能损魁父之丘，如太行、王屋何”，并说出这话出自谁之口、持何立场。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落实词义：曾（用在“不”前，加强否定：简直）、损（削减）、丘（小山）、如……何（把……怎么样）。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连缀：凭您的力气，连魁父这样的小山都不能削平，能把太行、王屋两座大山怎么样呢？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判断立场：这是愚公之妻的“献疑”——出于关切提出实际困难（人力、土石去向），与智叟的嘲讽不同。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凭您的力量，连魁父这样的小山都动不了，能把太行、王屋怎么样呢？出自愚公之妻，是关切的献疑（提出真问题），并非智叟式的否定讥笑。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201 / 405</a:t>
            </a:r>
            <a:endParaRPr lang="en-US" sz="115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文言文·《愚公移山》《周亚夫军细柳》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课堂即时练：分别用一句话概括其妻、智叟对移山的态度及区别。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课后迁移：《周亚夫军细柳》如何用对比与侧面描写写出“真将军”？各举一处。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202 / 405</a:t>
            </a:r>
            <a:endParaRPr lang="en-US" sz="115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　诗词五首联读 ＋ 写作·表达要得体 ＋ 名著导读…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第六单元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陶渊明采菊东篱，杜牧赤壁怀古，李清照梦回天帝——五首诗词五种怀抱。顺带学学“怎么把话说得得体”，再去《昆虫记》里看一场虫子的盛宴。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诗词联读按情感标签分组：《饮酒》隐逸之趣（枢纽词“心远”——心志超然则闹处亦静）；《春望》忧国之痛（“感时花溅泪”移情于物）；《雁门太守行》悲壮（“甲光向日金鳞开”的浓墨重彩）；《赤壁》咏史翻案——“东风不与周郎便，铜雀春深锁二乔”以二乔命运反说东吴存亡，借假设论兴亡，反说手法最易漏析；《渔家傲》（李清照）“九万里风鹏正举”豪放之梦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写作落点“得体”：得体三看——看对象（对师长用敬语谦辞）、看场合（正式与随和）、看目的（请求、致歉、婉拒各有措辞）。练法：同一请求对同学与对老师各说一遍，比较称谓、语气、句式的差别。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名著落点《昆虫记》：“科学观察＋文学笔法”双栏笔记读一章——左栏记科学事实（蝉的洞穴、习性），右栏记文学表达（拟人、幽默）。误区：《赤壁》只述史实漏掉反说的议论，是高频丢分点。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咏史诗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科学观察笔记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得体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《赤壁》“铜雀春深锁二乔”的反说手法漏析，只述史实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203 / 405</a:t>
            </a:r>
            <a:endParaRPr lang="en-US" sz="1150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　诗词五首联读 ＋ 写作·表达要得体 ＋ 名著导读…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“东风不与周郎便，铜雀春深锁二乔”运用了怎样的写法？表达了诗人什么思考？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识手法：假设反说——假使东风不给周郎方便，东吴将败，二乔将被锁于铜雀台。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析巧思：不直说江山易主，而以两位美女的命运代指国家存亡，以小见大。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悟情志：杜牧借赤壁旧事抒怀才不遇之慨——英雄成事需凭机遇，暗含自己生不逢时之叹。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运用假设反说、以小见大的写法，借“二乔被锁”这一细节反推东吴败亡的结局，曲折表达对机遇与才略关系的思考及自己怀才不遇的感慨。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204 / 405</a:t>
            </a:r>
            <a:endParaRPr lang="en-US" sz="115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　诗词五首联读 ＋ 写作·表达要得体 ＋ 名著…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课堂即时练：用一句话解释《饮酒》中“心远地自偏”。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课后迁移：把“老师，把我的作业期限延到周五”改成一句对老师得体的请求。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205 / 405</a:t>
            </a:r>
            <a:endParaRPr lang="en-US" sz="1150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第六单元 · 情怀与哲思（诸子史传与诗词）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孟子的论辩有链条：先驳靶子再立正论，排比蓄势；盯牢使动用法“淫移屈”与通假“曾、拂、女”。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两篇文言读两样：对话立场表理清谁在关切谁在嘲讽；对比加侧面描写，让“真将军”立起来。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五首诗词五种怀抱：隐逸、忧国、悲壮、翻案、豪放；得体表达看对象场合目的；《昆虫记》用双栏笔…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翻译“天将降大任于是人也”一句，并列出其中的通假字；说明《周亚夫军细柳》如何用对比写出“真将军”。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206 / 405</a:t>
            </a:r>
            <a:endParaRPr lang="en-US" sz="1150" dirty="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· 阅读与鉴赏 ｜ 考查：情景交融、排比反复的语言气势、叙事线索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　民风民俗（多种文体读民俗）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读小说、诗、散文里的民俗，学仿写与应对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小说·《社戏》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诗歌散文联读（回延安／安塞腰鼓／灯笼）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写作·学习仿写 ＋ 口语交际·应对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小说·《社戏》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第一单元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那一夜的戏并不好看，豆也只是普通的豆，可鲁迅说“再没有吃到那夜似的好豆”。为什么？今天沿一条月夜的航船，去看《社戏》。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说读法（本课重在景物与人物）：以“盼看社戏—月夜行船—船头看戏—归航偷豆”理情节链；景物描写是重点——月夜行船一段从嗅觉、触觉、视觉多感官写行船之快，景中含情：一切景物都染着“我”的急切与欢悦，这就是情景交融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用结尾“再也没吃过那夜似的好豆，也不再看到那夜似的好戏”倒推——戏其实一般，豆也普通，那么“好”在哪？好在双喜的机敏有担当（“我写包票”）、阿发的无私（“偷我们的罢”）、伙伴间的情谊与月夜航船的自由——怀念的是人情美与自由美好的童年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误区：主题答成“社戏好看”是内容层未入门——须由“豆与戏其实平常”翻出“人情与童年的珍贵”这一层。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情景交融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详略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人情美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主题答成“社戏好看”，未读出对自由友爱童年的怀念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208 / 405</a:t>
            </a:r>
            <a:endParaRPr lang="en-US" sz="115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小说·《社戏》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“两岸的豆麦和河底的水草所发散出来的清香，夹杂在水气中扑面的吹来；月色便朦胧在这水气里。”这段景物描写有什么作用？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辨感官：清香（嗅）、扑面（触）、朦胧月色（视），多感官交织。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连心情：此时“我”正急切盼到赵庄，轻快的水气与朦胧的月色都染着少年人的欢悦。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看结构：与前文“我的很重的心忽而轻松了”衔接，景物推进了心情的转变，为下文看戏偷豆的美好回忆蓄势。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多感官描绘月夜行船所见所感，渲染水乡夜景的诗意；景物中处处含着“我”得以出门看戏的急切欢悦与舒畅，情景交融。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209 / 405</a:t>
            </a:r>
            <a:endParaRPr lang="en-US" sz="1150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小说·《社戏》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课堂即时练：指出月夜行船段的两个感官描写，并说明它们衬托了什么心情。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课后迁移：从文中找两处言行，概括双喜的形象特点。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210 / 405</a:t>
            </a:r>
            <a:endParaRPr lang="en-US" sz="1150" dirty="0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　诗歌散文联读（回延安／安塞腰鼓／灯笼）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第一单元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“羊肚子手巾哟三道道蓝”——信天游一开口，黄土地的气息扑面而来。贺敬之回延安为什么选用这种形式？今天联读三篇，看语言形式怎样承载深情。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读抓手是“形式与情感的匹配”：《回延安》用信天游两行一节、比兴起笔（“树梢树枝树根根，亲山亲水有亲人”），方言土语（“几回回”“白生生”）带出乡土味，形式本身就是“回到母亲怀抱”；《安塞腰鼓》以“好一个安塞腰鼓”的反复句分层（击鼓前的静—击鼓中的烈—鼓声歇后的余思），排比短句铿锵如鼓点；《灯笼》以物寄情，由童年灯笼联想到亲情与家国情怀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朗读落点：《回延安》读出陕北口音般的亲昵；《安塞腰鼓》分层读——静处轻，“骤雨一样，是急促的鼓点”处层层加速，反复句处最饱满。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误区：认为反复啰嗦是常见误读——反复是层层蓄势：一次比一次强化的赞叹，正是情感升级的阶梯；说效果须扣“蓄势、强调、升华”。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信天游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比兴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反复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排比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认为反复啰嗦，说不出层层蓄势的表达效果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211 / 405</a:t>
            </a:r>
            <a:endParaRPr lang="en-US" sz="1150" dirty="0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　诗歌散文联读（回延安／安塞腰鼓／灯笼）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《安塞腰鼓》中“好一个安塞腰鼓！”多次出现，有什么表达效果？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找位置：分别出现在鼓声骤起、场面高潮、声止情余之后，一唱三叹。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析反复：每出现一次，前面铺陈的力度就增加一层，赞叹随之升级，是层层蓄势。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结主题：反复句如鼓点，形式与内容（生命力量的奔涌）同构，读来气势磅礴。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反复咏叹层层蓄势，使赞叹不断升级；铿锵的句子节奏与腰鼓的鼓点同构，强烈表达对黄土高原旺盛生命力的礼赞。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212 / 405</a:t>
            </a:r>
            <a:endParaRPr lang="en-US" sz="1150" dirty="0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　诗歌散文联读（回延安／安塞腰鼓／灯笼）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课堂即时练：用信天游“两行一节、起兴开头”的形式仿写一句思念。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课后迁移：《灯笼》中“灯笼”串起了哪些联想？请按顺序列出三个。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213 / 405</a:t>
            </a:r>
            <a:endParaRPr lang="en-US" sz="1150" dirty="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　写作·学习仿写 ＋ 口语交际·应对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第一单元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仿写不是抄写——只换词语不学结构，是仿写最大的坑。今天学“标注仿点再改写”，顺带练一练机智得体的应对。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写两步：先标注仿点（仿句式——如“××一样，是××的××”的排比结构；仿结构——如总分、先抑后扬），再依仿点改写新内容。检验标准：仿句与原句句式同构、内容全新；只换词语属“伪仿写”。仿段落则仿其组合方式（如“静—动—思”三段式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做法：给《安塞腰鼓》一句“乱蛙一样，是蹦跳的脚步”，先拆句式（两个比喻性偏正短语构成的排比），再让学生以“教室清晨”为对象仿写；再给一段“先抑后扬”的段落结构仿写任务，检查结构对应而非词句相似。口语交际“应对”三步法：听清（对方问题的实质）—想清（我要表达什么）—答清（简洁得体）；幽默在巧，得体在不伤人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仿写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句式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仿写成抄写：只换词语，不学结构与句式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214 / 405</a:t>
            </a:r>
            <a:endParaRPr lang="en-US" sz="1150" dirty="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　写作·学习仿写 ＋ 口语交际·应对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仿照“骤雨一样，是急促的鼓点；旋风一样，是飞扬的流苏”写一组句子，写出运动会入场的气势。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标仿点：句式“××一样，是××的××”，构成排比，喻体与本体都是动态形象。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定内容：入场式的三个意象——旗帜、脚步、口号。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成句并自检：“旗帜一样，是招展的方阵；鼓点一样，是整齐的脚步；潮水一样，是涌动的欢呼。”句式同构、内容全新。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示例如第三步。判定要点：保留原句式骨架，意象与语境（运动会）全新，形成排比气势即为合格仿写。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215 / 405</a:t>
            </a:r>
            <a:endParaRPr lang="en-US" sz="1150" dirty="0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　写作·学习仿写 ＋ 口语交际·应对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课堂即时练：情境应对——亲戚问：“这次考了多少名啊？”请给出得体又真实的应对。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课后迁移：仿照《回延安》“树梢树枝树根根”的起兴句式，以“故乡”为主题写两行。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216 / 405</a:t>
            </a:r>
            <a:endParaRPr lang="en-US" sz="1150" dirty="0"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 · 民风民俗（多种文体读民俗）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《社戏》读两样：景语中的情语（情景交融），言行里的伙伴群像；结尾的“好豆好戏”是人情与自由…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三篇联读一个理：形式为情感而生——信天游载乡情，反复句鼓点般蓄势，灯笼串起亲情家国。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仿写先标仿点再动笔：句式同构、内容全新才算真仿；应对三步“听清—想清—答清”，幽默不失得体。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说出《社戏》月夜行船段的两个感官描写并讲其作用；用“信天游”两行体仿写一句思念。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217 / 405</a:t>
            </a:r>
            <a:endParaRPr lang="en-US" sz="1150" dirty="0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· 阅读与鉴赏 ｜ 考查：事理说明的顺序与逻辑、说明方法、句间关系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　科技之光（事理说明文）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读事理说明文，理清逻辑顺序与因果推断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事理说明文阅读（大自然的语言／阿西莫夫短文两篇）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语言与写法·科学小品（大雁归来／时间的脚印）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写作·说明的顺序 ＋ 综合性学习·倡导低碳生活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事理说明文阅读（大自然的语言／阿西莫夫短文两篇）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第二单元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为什么北京的花总比南京开得晚？物候现象背后藏着一条因果链。事理说明文不告诉你“是什么”，而告诉你“为什么”。今天学理清它。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理说明文的抓手是“因果链”：先问“这篇在解释什么现象”，再画因果链图（现象→原因→规律）。顺序多为逻辑顺序——由现象到本质、由主要到次要。《大自然的语言》先列物候现象（草木荣枯、候鸟去来），再讲四个决定因素：纬度差异（主因）、经度差异、高下差异、古今差异——层级关系是考点，注意“首先”“此外”等标层次的词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阿西莫夫短文两篇》示范“不同领域证据互证”的科学思维——恐龙化石在南极被发现（生物学发现）推出大陆漂移（地质学结论），两篇短文从不同角度互证“板块构造”理论；读时圈出“这证明了”“由此可以推断”等推理标志词，把证据与结论连线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误区：见文中有季节词就把顺序答成时间顺序——判断依据应是作者的说明思路（由现象到原理），不是文中出现的词语。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事理说明文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逻辑顺序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因果链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把事理说明顺序答成时间顺序，只因文中有季节词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219 / 405</a:t>
            </a:r>
            <a:endParaRPr lang="en-US" sz="1150" dirty="0"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事理说明文阅读（大自然的语言／阿西莫夫短文两篇）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《大自然的语言》中，决定物候现象来临的四个因素是按什么顺序排列的？为什么这样排？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找四因素：纬度差异、经度差异、高下差异、古今差异。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辨层级：纬度是影响物候的最主要因素（如早春南京桃花开而北京未开），经度、高下次之，古今差异属历史演变，影响最间接。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定顺序：由主到次的逻辑顺序，符合人们对影响因素重要性的认识，条理清晰。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按由主到次的逻辑顺序排列：纬度→经度→高下→古今；主要因素先说，层层递减，体现事理说明的逻辑条理。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220 / 405</a:t>
            </a:r>
            <a:endParaRPr lang="en-US" sz="1150" dirty="0"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事理说明文阅读（大自然的语言／阿西莫夫短文两…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课堂即时练：用一句话说出事理说明文与事物说明文的区别。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课后迁移：从《恐龙无处不有》中找出一组“证据—结论”，用“因为……所以……”复述推理过程。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221 / 405</a:t>
            </a:r>
            <a:endParaRPr lang="en-US" sz="1150" dirty="0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　语言与写法·科学小品（大雁归来／时间的脚印）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第二单元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大雁回巢也会“辩论”吗？《大雁归来》里的雁群会集会、会呜咽、会辩论——科学小品就是这样：科学的内容，文学的味道。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小品的语言观：准确与生动并存——拟人化表达（“辩论与喧鸣”）是文学笔法，但科学事实（雁数、时间、习性）必须精确，常用列数字与作比较保证准确性。读法：双栏笔记——左栏摘“科学事实句”，右栏摘“文学表达句”，检查二者是否协调不冲突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大雁归来》品“单调枯燥的数字”背后的情感（作者为能亲自观测而欣慰，见其观察之诚与爱之深），“孤雁”一段以科学观察托出对丧偶之雁的悲悯；《时间的脚印》讲岩石记录时间的方式（遗迹、化石、沉积），用逻辑顺序与设问推进（“岩石是怎样记下时间的呢？”），语言平实而条理分明，与《大雁归来》的抒情笔调形成对照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误区：说《大雁归来》语言“不准确”是误读——文学性不损科学性，拟人不改变数据与事实的准确。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拟人化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准确与生动并存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说《大雁归来》语言“不准确”，辨不清文学性与科学性可以兼容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222 / 405</a:t>
            </a:r>
            <a:endParaRPr lang="en-US" sz="1150" dirty="0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　语言与写法·科学小品（大雁归来／时间的脚印）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“它们都是些单调枯燥的数字，然而这些数字是我观测的结果”——“单调枯燥”与“然而”透露了作者怎样的情感与态度？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解字面：雁群数量等观测数据本身枯燥。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看转折：“然而”一转：这些数字是“我”亲自观测所得，是“我”与雁群长期相伴的证据。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品情感：为获得第一手数据而自珍自喜，见出科学工作者的执着与对大雁的深情。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“单调枯燥”是自谦数字本身，“然而”翻出珍视——亲自观测所得见证了他对大雁持久的爱与严谨的科学态度，准确中含深情，正是科学小品的笔法。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223 / 405</a:t>
            </a:r>
            <a:endParaRPr lang="en-US" sz="1150" dirty="0"/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　语言与写法·科学小品（大雁归来／时间的脚印）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课堂即时练：从《大雁归来》中各摘一句“科学事实句”与“文学表达句”并作说明。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课后迁移：《时间的脚印》由“时间一年一年地过去”到“岩石是怎样记下时间的呢？”用了什么方法引出说明对象？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224 / 405</a:t>
            </a:r>
            <a:endParaRPr lang="en-US" sz="1150" dirty="0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　写作·说明的顺序 ＋ 综合性学习·倡导低碳生活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第二单元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把“泡茶的过程”写成“茶叶的成分”，顺序一错，全盘皆乱。今天学“先定顺序再动笔”，顺带用逻辑段写一份低碳倡议书。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顺序的选择三问：对象是什么（事物的构造用空间，发展过程用时间，原理规律用逻辑）；读者要明白什么（先知道现象还是原理）；哪种顺序最能减少理解障碍。写前确定顺序，写中自检是否贯穿全文——逻辑段落里夹时间线是最常见的混乱源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做法：给三份材料（“一枚邮票的来历”“邮票的齿孔构造”“邮票防伪原理”），学生分别为其选择时间、空间、逻辑顺序并说理由；再用“画流程图”法检验——若文字内容画不出一条顺的流程线，说明顺序混乱。综合性学习“倡导低碳生活”：倡议书用“问题—原因—建议”逻辑段，格式（标题、称呼、正文、落款）与建议的可操作性一并落实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说明顺序的选择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倡议书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全文顺序混乱，逻辑段落中又夹时间线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225 / 405</a:t>
            </a:r>
            <a:endParaRPr lang="en-US" sz="1150" dirty="0"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　写作·说明的顺序 ＋ 综合性学习·倡导低碳生活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以“低碳生活，从我做起”为题写一份倡议书的正文提纲（用逻辑顺序）。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定顺序：倡议书面向全体同学说明“为何与如何”，选逻辑顺序：问题→原因→建议。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列段纲：第一段摆问题（数据：我校每天约消耗一次性餐具若干套）；第二段析原因（贪便利、分类设施不足、意识不强）；第三段提建议（自带水杯、光盘行动、随手关灯，分条列出，每条可操作）。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自检：三段各司其职、无时间线穿插；建议条条可执行，结尾一句号召。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提纲如上。检验标准：问题有数据、原因有分析、建议可操作，逻辑链“为何做—为何如此—怎么做”完整。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226 / 405</a:t>
            </a:r>
            <a:endParaRPr lang="en-US" sz="1150" dirty="0"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　写作·说明的顺序 ＋ 综合性学习·倡导低碳生活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课堂即时练：给“介绍我们学校”选一种说明顺序并说明理由。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课后迁移：把下面的乱序句排成逻辑通顺的一段：①使用布袋可以减少塑料消耗②塑料袋难以降解③所以我们倡议自带布袋购物④塑料袋污染土壤和水源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227 / 405</a:t>
            </a:r>
            <a:endParaRPr lang="en-US" sz="1150" dirty="0"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　写作·说明的顺序 ＋ 综合性学习·倡导低碳生活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8b-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事理说明文“现象—原因—规律”因果链结构图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三段流程链。左框“现象”：例句“大地回春，燕子归来”（物候现象）；中间向上展开四个并列原因框并注明层级：纬度差异（主因，例：早春三月南京桃花开而北京未开）、经度差异（例：沿海与内陆）、高下差异（例：山上山下）、古今差异；右框“规律／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228 / 405</a:t>
            </a:r>
            <a:endParaRPr lang="en-US" sz="1150" dirty="0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 · 科技之光（事理说明文）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事理说明文画因果链：现象→原因→规律；四因素分主次，推理标志词是证据与结论之间的桥。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科学小品两副面孔：科学事实要准（列数字、作比较），文学表达要美（拟人、抒情）；两者并存不冲…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说明先定顺序：时间、空间、逻辑三选一并贯穿始终；倡议书走“问题—原因—建议”的逻辑链。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画出《大自然的语言》决定物候四因素的层级关系图；判断一篇短文用了哪种说明顺序并说依据。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229 / 405</a:t>
            </a:r>
            <a:endParaRPr lang="en-US" sz="1150" dirty="0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0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· 阅读与鉴赏 ｜ 考查：古今异义与词句翻译、虚实结合、《诗经》重章叠句与比兴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　古人的理想（文言积累与《诗经》）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读桃花源的理想与石潭的清寂，积累文言，读《经典常谈》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文言文·《桃花源记》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文言文·《小石潭记》《核舟记》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诗歌·《诗经》二首（关雎／蒹葭） ＋ 名著导读·《经典常谈》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　文言文·《桃花源记》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第三单元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一位武陵渔人，沿着一片落英缤纷的桃花林，走进了那个中国人梦了一千六百年的地方。可他后来为什么再也找不到？今天读《桃花源记》。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言落实：重点古今异义——妻子（妻子儿女）、绝境（与世隔绝的地方）、无论（不要说，更不必说）、交通（交错相通）、不足（不值得）；重点词——缘（沿着）、鲜美（新鲜美好）、仿佛（隐隐约约）、俨然（整齐的样子）、叹惋（感叹惋惜）、诣（拜见）、具（详细地）、咸（都）。逐句落实以“具答之”“咸来问讯”等短句为抓手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以渔人行踪为线理结构：发现（缘溪行—忽逢桃花林）—进入（豁然开朗）—做客（设酒杀鸡作食）—离开（不足为外人道也）—再寻不复得（遂迷，不复得路）。讨论“写而复失”的虚实安排：桃花源本是虚构的理想社会，寻不到正暗示其非实有，寄托陶渊明对乱世中安宁生活的向往，“世外桃源”由此成为成语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误区：“率妻子邑人来此绝境”的“妻子”若按今义译作“配偶”即丢分，古义是“妻子儿女”。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陶渊明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古今异义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世外桃源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“率妻子邑人来此绝境”的“妻子”按今义误译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231 / 405</a:t>
            </a:r>
            <a:endParaRPr lang="en-US" sz="1150" dirty="0"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　文言文·《桃花源记》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翻译“率妻子邑人来此绝境，不复出焉，遂与外人间隔”，并指出其中的古今异义词。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标古今异义：妻子（古：妻子儿女；今：男子的配偶）、绝境（古：与世隔绝的地方；今：没有出路的境地）。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落实其余词：率（带领）、邑人（同乡人）、焉（于此，在那里）、间隔（隔绝、不通音讯）。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连缀并检验两个异义词是否按古义落实。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（他们）带领妻子儿女和同乡人来到这个与世隔绝的地方，不再从这里出去，于是就同外面的人隔绝了。古今异义：“妻子”“绝境”均须按古义翻译。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232 / 405</a:t>
            </a:r>
            <a:endParaRPr lang="en-US" sz="1150" dirty="0"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　文言文·《桃花源记》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课堂即时练：写出“无论魏晋”中“无论”的古今义并翻译本句。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课后迁移：桃花源为什么要写成“寻而不得”？谈谈你的理解。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233 / 405</a:t>
            </a:r>
            <a:endParaRPr lang="en-US" sz="1150" dirty="0"/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文言文·《小石潭记》《核舟记》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第三单元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柳宗元被贬永州，在无人处见到一泓清潭，先“心乐之”，后又“凄神寒骨”；而一块小小的桃核上，竟刻着一只船、五个人、八扇窗。今天读两篇“小”文章里的大学问。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言落实：《小石潭记》——坻（水中高地）、蒙络摇缀（覆盖缠绕、摇动连结）、佁然（静止不动的样子）、俶尔（忽然）、翕忽（轻快敏捷）、斗折蛇行（名词作状语：像北斗七星那样曲折、像蛇爬行那样蜿蜒）、犬牙差互（像狗牙那样参差交错）、悄怆（忧伤凄凉）；《核舟记》——贻（赠）、属（同“嘱”）、罔不（无不）、因势象形（就着原样雕刻）、诎（同“屈”）、衡（同“横”）、简（挑选）、曾不盈寸（竟然不满一寸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小石潭记》抓“乐—凄”情感转折：见鱼“似与游者相乐”是暂时的排遣，坐潭上“凄神寒骨”则见贬谪之痛渗出——乐是表，凄是里；《核舟记》按“总—分—总”的空间顺序：总说“奇巧人”与核舟概况，分说船舱—船头—船尾—船背，结尾“技亦灵怪矣哉”总收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误区：“斗折蛇行”只答“比喻生动”不给分——须说出写溪身曲折蜿蜒之状；约数词“可、许”（潭中鱼可百许头＝大约一百来条）是文言数量表达的重点。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柳宗元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山水游记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空间顺序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约数词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“斗折蛇行”只答“比喻生动”，不说出写溪岸曲折之状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234 / 405</a:t>
            </a:r>
            <a:endParaRPr lang="en-US" sz="1150" dirty="0"/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文言文·《小石潭记》《核舟记》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翻译“潭西南而望，斗折蛇行，明灭可见”，并说明“斗”“蛇”的用法。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辨活用：斗、蛇均为名词作状语——像北斗星那样（曲折）、像蛇爬行那样（蜿蜒）。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落实其余：西南（向西南，方位名词作状语）、明灭可见（时而看得见，时而看不见）。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连缀检验：向小石潭西南方向望去，溪水像北斗七星那样曲折，像蛇爬行那样蜿蜒，一段看得见一段看不见。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向潭西南方向望去，溪身像北斗七星一样曲折，像蛇爬行一样蜿蜒，时隐时现。“斗”“蛇”名词作状语，写出溪流曲折蜿蜒之态。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235 / 405</a:t>
            </a:r>
            <a:endParaRPr lang="en-US" sz="1150" dirty="0"/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文言文·《小石潭记》《核舟记》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课堂即时练：解释“潭中鱼可百许头，皆若空游无所依”中“可”“许”的意思并翻译。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课后迁移：说出《核舟记》主体部分的空间顺序，并用原文短语佐证每一步。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236 / 405</a:t>
            </a:r>
            <a:endParaRPr lang="en-US" sz="1150" dirty="0"/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　诗歌·《诗经》二首（关雎／蒹葭） ＋ 名著导读·…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第三单元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三千年前的河边，一位少年望着“在水一方”的伊人，溯洄从之，道阻且长。这份怅惘，为何至今动人？今天读《诗经》，认识中国人诗歌的源头。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诗经》常识与读法：四言为主、重章叠句、赋比兴。重章叠句——各章句式重复，只换少数词（蒹葭苍苍→萋萋→采采；白露为霜→未晞→未已），效果有三：回环往复的节奏、层层加深的情感、画面随换词微变（时间推移、地点转移）。比兴——先言他物以引起所咏之词：雎鸠和鸣起“窈窕淑女，君子好逑”，蒹葭白露起求而不得之思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关雎》读出由“求之不得，辗转反侧”到“琴瑟友之、钟鼓乐之”的想象性圆满，情感真挚而有节制；《蒹葭》抓“伊人”的朦胧——可望难即、上下求索，正是象征性的“美好而难及的目标”。名著《经典常谈》选读两章，做内容提要卡：章名—核心观点—一条新知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误区：“所谓伊人”指代不能坐实为某个人——它是可望难即的朦胧意象，答案应落在“求索不得的怅惘”这一象征层。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《诗经》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重章叠句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比兴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四言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“所谓伊人”指代答成具体某人，读不出可望难即的求索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237 / 405</a:t>
            </a:r>
            <a:endParaRPr lang="en-US" sz="1150" dirty="0"/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　诗歌·《诗经》二首（关雎／蒹葭） ＋ 名著导读·…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《蒹葭》三节反复，只换了“苍苍／萋萋／采采”“为霜／未晞／未已”“一方／湄／涘”等词，有什么表达效果？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辨形式：重章叠句——章法重复、句式一致，仅个别词变化。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析变化：时间在推移（霜—晞—已），地点在变换（一方—湄—涘），写出伊人若隐若现、求索不止的过程。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结效果：回环往复造成一唱三叹的节奏，情感（怅惘与执着）层层加深，画面亦随之流转。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重章叠句以复沓造节奏，以换词写推移：时间流逝、位置变换而伊人始终可望难即，使求索的怅惘与执着层层递进，余味悠长。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238 / 405</a:t>
            </a:r>
            <a:endParaRPr lang="en-US" sz="1150" dirty="0"/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　诗歌·《诗经》二首（关雎／蒹葭） ＋ 名著导…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课堂即时练：指出《关雎》首章使用的比兴手法并说明作用。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课后迁移：为《经典常谈》你选读的一章做内容提要卡（三行）。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239 / 405</a:t>
            </a:r>
            <a:endParaRPr lang="en-US" sz="1150" dirty="0"/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　诗歌·《诗经》二首（关雎／蒹葭） ＋ 名著导读·…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8b-3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《诗经》重章叠句与比兴结构图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半区“重章叠句”：《蒹葭》三节并排三个竖框，内容同为“蒹葭XX，白露XX”，只换词处用高亮标注（苍苍→萋萋→采采；为霜→未晞→未已；一方→湄→涘），三框下方一条向右加粗箭头标“回环往复，情感层层加深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240 / 405</a:t>
            </a:r>
            <a:endParaRPr lang="en-US" sz="1150" dirty="0"/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 · 古人的理想（文言积累与《诗经》）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《桃花源记》沿渔人行踪走一遍，“妻子、绝境、无论”按古义落实；寻而不得的结局，藏着虚实相生…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小石潭“乐—凄”两重奏，核舟“总—分—总”空间序；盯牢名词状语“斗、蛇”与约数词“可、许”。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《诗经》三把钥匙：重章叠句、比兴、四言；读《蒹葭》抓住“可望难即”，读《关雎》读出真挚而有…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写出《桃花源记》中三个古今异义词，并结合原句翻译；说明重章叠句的表达效果。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241 / 405</a:t>
            </a:r>
            <a:endParaRPr lang="en-US" sz="1150" dirty="0"/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2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· 表达与交流 ｜ 考查：演讲的听众意识、观点与材料配合、即席讲话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　思想的声音（活动·探究：演讲）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读演讲词的针对性与号召力，学写演讲稿、做即席讲话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演讲词阅读（最后一次讲演／应有格物致知精神／我一生中的重要抉择／庆祝奥林匹克运动复兴25周年）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撰写演讲稿 ＋ 口语交际·即席讲话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2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　演讲词阅读（最后一次讲演／应有格物致知精神／我一…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第四单元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闻一多在李公朴追悼会上拍案而起：“我们不怕死，我们有牺牲的精神！”这是最后一次讲演，也是最响亮的呐喊。演讲词怎么读？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词与一般议论文的区别在“听众意识”：演讲词面对现场听众，多用呼告、反问、感叹（“你们完了，快完了！”的“你们”直指特务），语言随现场情绪起伏。读法是“面对谁讲—为何讲—要听众做什么”三问。观点句仍要抓（《应有格物致知精神》的“实验精神”论点），但更须看观点与材料如何配合（丁肇中以自己的研究经历为亲历论据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最后一次讲演》标注感叹句问句读现场感——问句“凭什么要杀死李先生？”是当众质问，感叹句是鼓舞与预言，爱憎针锋相对；《我一生中的重要抉择》以幽默自嘲拉近听众；《庆祝奥林匹克运动复兴25周年》以庄重典雅的排比阐述体育理想。四篇做对比表：听众—场合—目的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误区：把演讲词只当议论文读，漏掉“现场呼应”——检验法：找出一处“只有文字没有听众就不成立”的表达。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演讲词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针对性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观点句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只当议论文读，忽略“听众意识”与现场呼应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243 / 405</a:t>
            </a:r>
            <a:endParaRPr lang="en-US" sz="1150" dirty="0"/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　演讲词阅读（最后一次讲演／应有格物致知精神／我一…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《最后一次讲演》中“凭什么要杀死李先生？”一句为何用问句而不用陈述句？分析其表达效果。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辨场景：现场有特务捣乱，听众群情激愤。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析问句功能：反问当众质问凶手，逼其无言以对，同时点燃听众的义愤；问号如当场拍案。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比陈述：若改为“他们没有理由杀死李先生”，义愤的锋芒与现场的召唤力顿失。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反问句当众质问特务，气势逼人、无可辩驳；同时激发听众共鸣，把个人的控诉变成现场的集体声浪——这正是演讲词“听众意识”的典型体现。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244 / 405</a:t>
            </a:r>
            <a:endParaRPr lang="en-US" sz="1150" dirty="0"/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　演讲词阅读（最后一次讲演／应有格物致知精神／…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课堂即时练：给四篇演讲词各填一行“面对谁讲—为何讲—要听众做什么”。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课后迁移：从《我一生中的重要抉择》找一处作者拉近听众距离的表达并作分析。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245 / 405</a:t>
            </a:r>
            <a:endParaRPr lang="en-US" sz="1150" dirty="0"/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　撰写演讲稿 ＋ 口语交际·即席讲话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第四单元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有的演讲稿读着像作文，讲起来催眠；有的演讲三句话就把人抓住。差别在哪？今天学“给谁听、希望他们做什么”这两问起步的演讲稿写作。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稿写作三步：定题先答两问（给谁听？希望他们做什么？）；草稿用“观点—故事—号召”三段式：观点一句话立住，故事给一个具体事例或场景，号召给出明确的行动指令。成稿后先讲给同伴听再改——演讲稿是“耳朵的文章”：长句要拆短，书面词换成口语词，停顿与呼告要设计进稿子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做法：给题目《我最想改变的一件事》示范三段式——观点（想改变“课间不出教室”的现状）—故事（同桌一上午没喝水、下课仍刷题）—号召（把课间十分钟还给身体）；学生对照检查自己的草稿：有没有长句堆叠？有没有一句直接的呼告？即席讲话练“一句观点＋一个例子”快速成段（我认为……因为……＋身边一例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误区：演讲稿写成作文腔——长句多、无停顿、无呼告设计，听众抓不住重点。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三段式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即席讲话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演讲稿写成作文腔：长句多、没有停顿与呼告设计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246 / 405</a:t>
            </a:r>
            <a:endParaRPr lang="en-US" sz="1150" dirty="0"/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　撰写演讲稿 ＋ 口语交际·即席讲话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以“读书要有选择”为观点，完成一篇90秒演讲稿的三段式提纲。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观点句：“开卷未必都有益，读书要有选择。”一句话立住判断，立场鲜明。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故事：同学小李月读十本网络小说，成绩下滑且作文空洞；对照精读《朝花夕拾》后写出获奖读后感——正反对照，细节具体。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号召：“让我们从今天起，把时间留给值得的书：挑经典，读原著，做笔记！”行动指令明确，结尾呼告抬升情绪。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提纲如上。合格标准：观点是判断句、故事有细节有对照、号召给出可执行的行动；朗读一遍90秒内完成、无催眠长句。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247 / 405</a:t>
            </a:r>
            <a:endParaRPr lang="en-US" sz="1150" dirty="0"/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　撰写演讲稿 ＋ 口语交际·即席讲话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课堂即时练：以“我最想改变的一件事”做90秒即席讲话，用“一句观点＋一个例子”结构。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课后迁移：为班级“课前三分演讲”写一篇演讲稿，自检三处：长句是否拆短、有无停顿设计、有无呼告。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248 / 405</a:t>
            </a:r>
            <a:endParaRPr lang="en-US" sz="1150" dirty="0"/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 · 思想的声音（活动·探究：演讲）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读演讲词三问：面对谁讲—为何讲—要听众做什么；问句感叹句是现场感的信号，别把它只当议论文。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演讲稿两问起步：给谁听、要他们做什么；“观点—故事—号召”三段式，写成“耳朵的文章”。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9905" y="2882646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9" name="Text 7"/>
          <p:cNvSpPr/>
          <p:nvPr/>
        </p:nvSpPr>
        <p:spPr>
          <a:xfrm>
            <a:off x="811073" y="295579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1073" y="3230118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指出《最后一次讲演》两处感叹句并说明其面向听众的表达效果；以“我最想改变的一件事”做90秒即席讲话。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249 / 405</a:t>
            </a:r>
            <a:endParaRPr lang="en-US" sz="1150" dirty="0"/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0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· 阅读与鉴赏 ｜ 考查：所至所见所感、定点换景、语言风格品析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第五单元　江山多娇（游记）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用游记三要素读名篇，学写有景有情思的游记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游记阅读·所至所见所感（壶口瀑布／在长江源头各拉丹冬／登勃朗峰／一滴水经过丽江）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语言品析与写法比较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写作·学写游记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游记阅读·所至所见所感（壶口瀑布／在长江源头各拉…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第五单元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同是写黄河，刘成章写腰鼓，梁衡写壶口——壶口的瀑布怎么会“搏击”出黄河的精神？游记三要素今天上场：所至、所见、所感。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记的抓手是三要素表：所至（行踪线：何时到何地）—所见（景物细描：形、声、色、势）—所感（情思：由景生的感悟）。三栏齐备才是游记；只写行程是流水账，只写感想是无根之情。《壶口瀑布》讲定点换景——立足河心石上，视角随水流变换，水的形态与黄河“博大宽厚，柔中有刚”的精神双重描写，由景入理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在长江源头各拉丹冬》以身体感受（疼痛、眩晕）交织景物长句，写人在极端海拔的体验；《登勃朗峰》前半散文后半小说笔法（车夫之王的奇遇），庄谐并济；《一滴水经过丽江》用独特叙述视角——一滴水自雪山滴落穿越古城，以水的行程串起丽江全貌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误区：只复述行踪丢掉“所感”是高频失分——检验法：读完能否说出作者借景悟出的那句话（壶口的答案是黄河的性格即民族的精神）。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游记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定点观察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叙述视角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只复述行踪，丢掉“所感”，读不出由景入理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251 / 405</a:t>
            </a:r>
            <a:endParaRPr lang="en-US" sz="1150" dirty="0"/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游记阅读·所至所见所感（壶口瀑布／在长江源头各拉…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《壶口瀑布》中，作者写水的多种形态（奔、跌、碎、汇）有什么用意？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定位写法：定点观察下多角度摹水——平面的、跌落的、被细分的、聚合的。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辨深意：水形态的多样对应河性——遇强则抗、遇弱则汇，柔中有刚。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由景及理：由水的千姿百态悟出黄河性格，进而升华为中华民族博大宽厚、百折不挠的精神。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写水的多种形态既再现壶口瀑布的奇观，更为由物及理作铺垫——从水的柔中带刚悟出黄河乃至民族博大宽厚、坚韧不屈的精神，完成游记“所见”向“所感”的升华。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252 / 405</a:t>
            </a:r>
            <a:endParaRPr lang="en-US" sz="1150" dirty="0"/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游记阅读·所至所见所感（壶口瀑布／在长江源头…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课堂即时练：用三栏表拆解《壶口瀑布》的首次见闻（所至—所见—所感各一行）。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课后迁移：《一滴水经过丽江》的叙述视角有什么妙处？用两句话说明。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253 / 405</a:t>
            </a:r>
            <a:endParaRPr lang="en-US" sz="1150" dirty="0"/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游记阅读·所至所见所感（壶口瀑布／在长江源头各拉…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8b-5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游记三要素“所至—所见—所感”结构图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栏横向结构，用箭头贯穿。第一栏“所至（行踪线）”：例《壶口瀑布》“第一次随雨季到／第二次枯水季节再到”；第二栏“所见（景物细描）”：内分四个小格“形、声、色、势”，例句“其时正是雨季……涛声隐隐如雷”；第三栏“所感（情思）”：例“黄河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254 / 405</a:t>
            </a:r>
            <a:endParaRPr lang="en-US" sz="1150" dirty="0"/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　语言品析与写法比较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第五单元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同是写山，为什么《各拉丹冬》的长句让人喘不过气，写急流的动词却让人心惊肉跳？语言有自己的呼吸。今天品节奏，比写法。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析抓手是“句式节奏与内容功能的匹配”：长句层层叠加适合写宏阔苍茫与身体感受的绵延——《各拉丹冬》品长句节奏与身体感受（头疼、气短）交织，高海拔的眩晕正由绵延不断的句子传递；短句急促适合写惊险果断。品动词精度：“夺路而走”的“夺”、“跌”入深谷的“跌”，比任何形容词都准确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落点：四篇游记比较叙述视角——定点观察的人、受苦的身体、乘兴的游客、一滴水——视角不同，取舍的景物与传递的情感随之不同。《登勃朗峰》散文与小说笔法并用（写实与奇遇、庄与谐），《一滴水经过丽江》以物的视角串全城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误区：认为写景就是堆形容词——真正的观察精度在动词与视角；把《各拉丹冬》的长句改成短句，苍茫感是否立刻散了？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比喻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语言风格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认为写景就是堆形容词，忽视动词的观察精度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255 / 405</a:t>
            </a:r>
            <a:endParaRPr lang="en-US" sz="1150" dirty="0"/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　语言品析与写法比较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从《在长江源头各拉丹冬》中品析“夺路而走”的“夺”字的妙处。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解字面：冰川融水在沟谷间奔突，遇到阻挡便从缺口冲出去。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品动词：“夺”比“流出”“淌过”更有力量感——写出水流的急、猛、不容阻挡。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结写法：一个动词既写尽冰塔林间水势之险，也暗含作者在极端环境中观察之细，动词精度即观察精度。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“夺”字以拟人化的强力动作写出融水夺路奔流的急猛之势，准确传神；它比任何形容词都更能传递高原急流的野性力量，体现作者观察与炼字的精度。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256 / 405</a:t>
            </a:r>
            <a:endParaRPr lang="en-US" sz="1150" dirty="0"/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　语言品析与写法比较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课堂即时练：从《各拉丹冬》摘一个写身体感受的句子，说明它与景物描写如何交织。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课后迁移：各用一个词概括《登勃朗峰》与《一滴水经过丽江》的叙述视角特点，并说明视角如何影响景物取舍。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257 / 405</a:t>
            </a:r>
            <a:endParaRPr lang="en-US" sz="1150" dirty="0"/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　写作·学写游记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第五单元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假期回来写游记，最容易写成“几点上车、几点吃饭”的日程表。今天学三步把行程变成游踪、把风景变成体验。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记写作三步：行程单先列“所至”（游踪线：按实际路线梳理，选定两三个最有特色的节点）；选两处景细写（每处用“一个观察点＋三种感官”，定点或移步皆须交代清楚）；末句点“所感”（由景而生的情思一句收束，忌空喊“真美啊”）。自检清单三问：游踪清不清？有没有一处细描？所感从景中长出来了吗？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做法：以“校园一角”为练手场——先画游踪图（教室—长廊—小花园），再选小花园一处细写：立足点（花坛边）、视角顺序（由花到叶到泥土）、三感官（花香、蜂鸣、指尖的湿凉），末句所感；参照《一滴水经过丽江》尝试换一个“物”的视角写一遍（“一片叶子经过校园”），体会视角对取舍的影响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误区：记游写成日程表——检验法：把时间词遮住，若文章立刻散架，说明游踪线全靠时间硬撑，缺景点之间的空间勾连。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游记结构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定点观察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记游写成“几点到、几点走”的日程表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258 / 405</a:t>
            </a:r>
            <a:endParaRPr lang="en-US" sz="1150" dirty="0"/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　写作·学写游记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题目《周末游湿地》，完成游记写作的三步设计。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理游踪：入口木栈道—观鸟亭—芦苇深处，三个节点串成线，段首各交代位置。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选景细写：细写“观鸟亭”一处——定点观察，由远（湖面白鹭掠水）及近（栏杆上停着的麻雀），视、听（鸟鸣与风声）、嗅（水草腥甜）各一句。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点所感：末句“城市之外，原来一直有这样一群安静的邻居”，由景生情，收束全文。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设计要点：三节点游踪清晰、一处景用“定点＋三感官”细写、所感从景中自然生长；日程表式的时间流水账全程不见。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259 / 405</a:t>
            </a:r>
            <a:endParaRPr lang="en-US" sz="1150" dirty="0"/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　写作·学写游记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课堂即时练：以“一片叶子经过校园”开头，用物的视角写两行游记。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课后迁移：用“一处景、三种感官”检查单写200字校园一角游记，末句点所感。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260 / 405</a:t>
            </a:r>
            <a:endParaRPr lang="en-US" sz="1150" dirty="0"/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第五单元 · 江山多娇（游记）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游记三栏表：所至理行踪，所见绘景物，所感悟情思；三栏贯通，景中才能见理。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语言有自己的呼吸：长句写苍茫绵延，短句写惊险果断；品游记盯动词精度与叙述视角，别只顾形容词。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学写游记三步：理游踪、细写一处景（定点＋三感官）、末句点所感；拒绝日程表，让空间勾连行程。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用三栏表拆解《壶口瀑布》，指出其定点位置与观察顺序的变化；写200字校园一角游记，含所感。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261 / 405</a:t>
            </a:r>
            <a:endParaRPr lang="en-US" sz="1150" dirty="0"/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2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· 阅读与鉴赏 ｜ 考查：文言虚词与句式、托物寓意、讽喻诗主旨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第六单元　古人的哲思（诸子与讽喻诗）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读庄子的想象、礼记的理想、马说的寄托与唐代的讽喻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文言文·《北冥有鱼》《庄子与惠子游于濠梁之上》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文言文·《虽有嘉肴》《大道之行也》《马说》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唐诗三首联读 ＋ 写作·学写故事 ＋ 名著导读·《钢铁是怎样炼成的》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　文言文·《北冥有鱼》《庄子与惠子游于濠梁之上》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第六单元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北海有条鱼，化作鸟，翅膀像垂天的云；濠水桥上，两位哲人争论水里的鱼快不快乐。今天读《庄子》——中国最浪漫也最机锋的书。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言落实：重点词——怒（振奋，这里指用力鼓动翅膀，非“生气”）、抟（盘旋飞翔）、徙（迁移）、志怪者也（志：记载）、扶摇（旋风）、野马（山野中的雾气，古今异义）、是鱼之乐（是：这）、固不知子（固：本来）、全矣（完全，确定无疑）、请循其本（循：遵循）。句式：“南冥者，天池也”判断句；“彼且奚适也”宾语前置（奚适＝到哪儿去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北冥有鱼》讲“鲲鹏”意象的奇大与“野马尘埃”的相对视野——鹏之巨大仍倚凭风力，万物皆“有所待”；一个“化”字（鲲化为鹏）点出万物流转的想象。《濠梁之辩》梳理两人逻辑线：庄子说鱼之乐→惠子以“子非鱼，安知鱼之乐”诘难（非彼则不知彼）→庄子以“我知之濠上也”收束（回到交谈起点，机锋迭起，各成其理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误区：“怒而飞”的“怒”按今义解作“生气”是高频错误——文言中此处“怒”表“振奋、奋发”，指鼓动翅膀。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《庄子》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鲲鹏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濠梁之辩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“怒而飞”的“怒”按今义解作“生气”，漏掉“振奋”义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263 / 405</a:t>
            </a:r>
            <a:endParaRPr lang="en-US" sz="1150" dirty="0"/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　文言文·《北冥有鱼》《庄子与惠子游于濠梁之上》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翻译“鹏之徙于南冥也，水击三千里，抟扶摇而上者九万里”，并说明其想象的特点。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落实词义：徙（迁移）、水击（翅膀击水）、抟（盘旋而上）、扶摇（旋风）。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连缀：大鹏迁徙到南海时，翅膀击水激起三千里波涛，乘着旋风盘旋而上九万里高空。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析想象：数字夸张（三千里、九万里）与画面宏阔，构成雄奇壮阔的意象，寄托对自由与超越的向往。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大鹏迁往南海时，翅膀拍击水面激起三千里浪涛，乘旋风盘旋飞上九万里高空。以极度夸张的数字和宏阔画面造境，想象雄奇，气象非凡。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264 / 405</a:t>
            </a:r>
            <a:endParaRPr lang="en-US" sz="1150" dirty="0"/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　文言文·《北冥有鱼》《庄子与惠子游于濠梁之上》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课堂即时练：解释“怒而飞，其翼若垂天之云”中“怒”的意思并翻译。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课后迁移：用自己的话复述濠梁之辩的推理过程，并说说两人各执什么立场。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265 / 405</a:t>
            </a:r>
            <a:endParaRPr lang="en-US" sz="1150" dirty="0"/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文言文·《虽有嘉肴》《大道之行也》《马说》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第六单元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好味道要尝过才知道，好道理要教过才明白；理想的社会“天下为公”；而一匹千里马，可能困在马厩里无人识。三篇短文，三重思考。今天一起读。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330702"/>
          </a:xfrm>
          <a:prstGeom prst="roundRect">
            <a:avLst>
              <a:gd name="adj" fmla="val 1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30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言落实：《虽有嘉肴》——虽（即使）、嘉肴（美味的菜）、旨（味美）、至道（最好的道理）、教学相长（教与学互相推动、互相促进）；《大道之行也》——与（通“举”，选拔）、修睦（培养和睦气氛）、分（职分，读fèn）、归（女子出嫁）、外户（从外面把门带上）；《马说》——祗（同“只”）、骈死（一同死于槽枥之间）、槽枥（马槽）、邪（同“耶”，表疑问）、策之（用鞭子驱赶它）、食马者（食读sì，通“饲”，喂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虽有嘉肴》讲类比推理链：嘉肴需尝→至道需学→教然后知困→教学相长，由生活常识推学习道理；《大道之行也》梳理“天下为公—选贤与能—讲信修睦”三句纲领与“老有所终……”的大同图景；《马说》抓三个“也”字句读层层递进的悲愤，托物寓意：千里马喻人才，伯乐喻识才之人，食马者喻埋没人才的统治者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误区：“食马者”的“食”读sì，通“饲”，喂马之义，读错则全句理解崩塌；《马说》主旨须落到“怀才不遇”的寄托层，不是论马。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《礼记》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大同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托物寓意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韩愈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“食马者”的“食”读错，通“饲”喂马之义不明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266 / 405</a:t>
            </a:r>
            <a:endParaRPr lang="en-US" sz="1150" dirty="0"/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文言文·《虽有嘉肴》《大道之行也》《马说》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翻译“世有伯乐，然后有千里马。千里马常有，而伯乐不常有”，并说明其寓意。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落实词义：然后（这样之后）、而（表转折，却）。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连缀：世上先有伯乐，然后才会有千里马。千里马经常有，但是伯乐却不常有。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由物及人：千里马喻人才，伯乐喻善于识别人才的人；先有识才者，人才才能被发现。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世上有了伯乐，然后才会有千里马。千里马经常有，可是伯乐却不常有。寓意：人才需要识别者与赏识者，识才者难得，故人才常被埋没——托物寓意，抒发怀才不遇之感。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267 / 405</a:t>
            </a:r>
            <a:endParaRPr lang="en-US" sz="1150" dirty="0"/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文言文·《虽有嘉肴》《大道之行也》《马说》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课堂即时练：《大道之行也》中“选贤与能”的“与”是什么用法？翻译本句。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课后迁移：找出《马说》中三个“也”字句，各用一词概括其语气。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268 / 405</a:t>
            </a:r>
            <a:endParaRPr lang="en-US" sz="1150" dirty="0"/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　唐诗三首联读 ＋ 写作·学写故事 ＋ 名著导读·…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第六单元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石壕村的哭声、茅屋上的秋风、卖炭翁的牛车——三首诗，三种苦难，苦难都由谁造成？今天联读对读，再学一手虚构的本事，最后看保尔·柯察金怎样炼成钢铁。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52374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读抓手：“苦难由谁造成”。《石壕吏》差吏夜捉人——战乱之祸逼得老妇“请从吏夜归”；《茅屋为秋风所破歌》秋风破屋、娇儿恶卧，而诗人却喊出“安得广厦千万间”——由己及人的推己情怀；《卖炭翁》“宫使驱将惜不得”——批判对象是宫市制度之弊，不是某个宫使个人（高频误区）。写法对照：《卖炭翁》白描叙事，不加议论而愤慨自见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落点“学写故事”：虚构三原则——情节合理（符合人物处境与历史情境）、细节支撑、有冲突有转折。练法：给《卖炭翁》写一个合理结局并自检历史情境（宫市仍在、制度未变，结局须与此兼容）。名著落点《钢铁是怎样炼成的》：用“摘抄＋笔记”法读保尔成长线——朱赫来引导、战场负伤、筑路磨砺、瘫痪写作，每格记“打击—选择—精神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白描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讽喻诗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推己及人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《卖炭翁》批判对象答成“宫使个人”，读不出宫市制度之弊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269 / 405</a:t>
            </a:r>
            <a:endParaRPr lang="en-US" sz="1150" dirty="0"/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　唐诗三首联读 ＋ 写作·学写故事 ＋ 名著导读·…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《卖炭翁》结尾“半匹红纱一丈绫，系向牛头充炭直”好在哪里？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看细节：千余斤炭只换来半匹红纱一丈绫，且“系向牛头”随手一挂，不屑与轻慢尽在其中。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辨写法：纯白描，无一句议论；与前文“惜不得”对照，愤慨自见。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由个别到制度：宫使的强夺不是个人恶行，而是宫市制度使然，批判锋芒指向制度。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以极不平等的交易细节控诉宫市之弊：低价强买、随手抛挂的轻慢写尽老翁的绝望；白描不着一字议论，而批判力量倍增，矛头直指宫廷掠夺制度。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270 / 405</a:t>
            </a:r>
            <a:endParaRPr lang="en-US" sz="1150" dirty="0"/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　唐诗三首联读 ＋ 写作·学写故事 ＋ 名著导…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课堂即时练：默写《茅屋为秋风所破歌》中表现推己及人的名句并翻译。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课后迁移：为保尔的成长线做四节点笔记（打击—选择—精神）。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271 / 405</a:t>
            </a:r>
            <a:endParaRPr lang="en-US" sz="1150" dirty="0"/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第六单元 · 古人的哲思（诸子与讽喻诗）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《庄子》两篇读两样：鲲鹏的奇大与“有所待”，濠梁的机锋与共感；盯牢“怒＝振奋”“奚适＝去哪…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三篇短文一条线：类比讲“教学相长”，纲领绘“大同”图景，“也”字句里藏着《马说》的层层悲愤…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三首诗对读“苦难由谁造成”：战祸、困顿、宫市；写作虚构要合理自洽；读保尔画成长线，摘抄加笔…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翻译“世有伯乐，然后有千里马”并说明其寓意；默写《茅屋为秋风所破歌》中表现推己及人的名句。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272 / 405</a:t>
            </a:r>
            <a:endParaRPr lang="en-US" sz="1150" dirty="0"/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3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· 表达与交流 ｜ 考查：意象与情感把握、诗歌朗诵设计、仿写创作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　活动·探究：诗歌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自主赏诗、设计朗诵、尝试创作，读《艾青诗选》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诗歌联读（沁园春·雪／我爱这土地／乡愁／你是人间的四月天／我看）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朗诵设计与创作尝试 ＋ 名著导读·《艾青诗选》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2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诗歌联读（沁园春·雪／我爱这土地／乡愁／你是人间…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第一单元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“为什么我的眼里常含泪水？因为我对这土地爱得深沉……”一句诗能承载多少深情？今天建“意象卡”，读五首风格迥异的诗。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诗联读的抓手是“意象”：意象是融入情感的物象，答题时“意象”栏填物象（土地、鸟、邮票），“象征义”栏填情感（对祖国的深沉之爱、游子乡愁），两者不能混。《沁园春·雪》是旧体词：上阕写景（北国风光，千里冰封），下阕论史（惜秦皇汉武……），主旨落在“数风流人物，还看今朝”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象卡落点：《我爱这土地》——“鸟”（用嘶哑的喉咙歌唱的全身心奉献者）、“土地”（多灾多难的祖国）、《乡愁》——“邮票、船票、坟墓、海峡”对应人生四阶段，乡愁由小及大层层升华；《你是人间的四月天》——“四月天”是爱、暖与希望的诗意综合体；《我看》——“春”与“飞鸟”“流云”写生命律动的欣喜。五首对比读：同是写景，情感落点各在何处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误区：意象与象征义混答——把“意象”填成“爱国之情”即错；先辨物象再释义，两栏分开。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意象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象征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上阕下阕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意象与象征义混答，“意象”栏填成情感词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274 / 405</a:t>
            </a:r>
            <a:endParaRPr lang="en-US" sz="1150" dirty="0"/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诗歌联读（沁园春·雪／我爱这土地／乡愁／你是人间…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艾青《我爱这土地》中“我也应该用嘶哑的喉咙歌唱”，“嘶哑”一词有什么表达效果？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辨意象：“鸟”是诗人的自喻，歌唱即写作与奉献。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品词：“嘶哑”不是“嘹亮”“婉转”——嗓子已唱到沙哑仍不停歇，写出长期、竭尽全力的歌唱。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结情感：嘶哑的歌声里有对土地爱得深沉的执着与悲怆，与结尾“眼里常含泪水”呼应。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“嘶哑”写出诗人甘愿耗尽嗓音、至死不休的奉献姿态；不用华丽辞藻而用真实的沙哑，使“爱得深沉”具体可感，悲怆而赤诚。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275 / 405</a:t>
            </a:r>
            <a:endParaRPr lang="en-US" sz="1150" dirty="0"/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诗歌联读（沁园春·雪／我爱这土地／乡愁／你是…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课堂即时练：为《乡愁》四个意象建卡：意象—对应阶段—象征义。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课后迁移：默写《沁园春·雪》的主旨句并说出全词上下阕的内容分工。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276 / 405</a:t>
            </a:r>
            <a:endParaRPr lang="en-US" sz="1150" dirty="0"/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　朗诵设计与创作尝试 ＋ 名著导读·《艾青诗选》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第一单元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同一首诗，有人读得平平如水，有人读得满座动容——差别在“设计”。重音落在哪、停连断在哪、语速怎么变？今天动手设计，也动手写诗。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诵设计三件套：重音（强调情感核心词）、停连（断在语义与情感转折处）、语速（抒情段放缓，激昂段加快）；每一处设计必须说明依据（情感依据或语义依据），不能“凭感觉”。创作落点：仿《乡愁》的结构——四节、每节“××是××”的比喻句式、意象递进，换新意象写四节小诗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做法：分组为《我爱这土地》设计朗读，在诗行上标注三件套并写依据；互评用“意象—情感—节奏”三指标：意象选得准不准、情感是否被设计传达、节奏起伏是否合理。名著落点《艾青诗选》按意象归组读：“土地”组（苦难与深爱）、“太阳”组（光明与希望），归纳艾青以土地和太阳为核心意象的诗歌地图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误区：仿写只换韵脚不换意象结构，写成打油诗——检验法：遮住作者名，仿句能否与原诗同构而内容全新。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朗诵设计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仿写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仿写只换韵脚不换意象结构，写成打油诗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277 / 405</a:t>
            </a:r>
            <a:endParaRPr lang="en-US" sz="1150" dirty="0"/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　朗诵设计与创作尝试 ＋ 名著导读·《艾青诗选》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为《我爱这土地》最后两句设计重音与停连并说明依据：“为什么我的眼里常含泪水？因为我对这土地爱得深沉……”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标重音：“泪水”“爱”“深沉”重读——三者是情感的核心词，重音即诗眼。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标停连：“这土地”后作半秒延长，“深沉”后拖长渐弱——延长停顿让“爱得深沉”的分量沉下去，省略号的拖音留下余韵。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定语速：问句稍快上扬（激愤之问），答句放缓下沉（深情之答），一扬一抑形成情感落差。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设计如上即可：重音落在情感核心，停顿服务于“深沉”的分量，语速的一扬一抑再现问与答的情感落差；每处设计都给出依据。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278 / 405</a:t>
            </a:r>
            <a:endParaRPr lang="en-US" sz="1150" dirty="0"/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　朗诵设计与创作尝试 ＋ 名著导读·《艾青诗选》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课堂即时练：以“桥”为意象写两行诗，要求意象与情感自洽。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课后迁移：从《艾青诗选》“太阳”组选一首，摘一句并批注其象征义。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279 / 405</a:t>
            </a:r>
            <a:endParaRPr lang="en-US" sz="1150" dirty="0"/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 · 活动·探究：诗歌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现代诗读意象：意象是物、象征是情，两栏分清；五首诗同景异情，建好意象卡便一通百通。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朗诵三件套：重音找诗眼，停连断情感，语速随起伏，处处说依据；仿诗先学结构再换意象，别写打油…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9905" y="2882646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9" name="Text 7"/>
          <p:cNvSpPr/>
          <p:nvPr/>
        </p:nvSpPr>
        <p:spPr>
          <a:xfrm>
            <a:off x="811073" y="295579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1073" y="3230118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为《我爱这土地》设计两处重音、一处停连并说明理由；以“桥”为意象写两行诗。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280 / 405</a:t>
            </a:r>
            <a:endParaRPr lang="en-US" sz="1150" dirty="0"/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1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· 阅读与鉴赏 ｜ 考查：中心论点提取、论据类型与作用、论证思路梳理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　观点与论证（议论文入门）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学会找论点、辨论据、看论证，初学写观点明确的议论段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议论文阅读·论点与论据（敬业与乐业／论教养／精神的三间小屋）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论证思路梳理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写作·观点要明确 ＋ 综合性学习·君子自强不息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议论文阅读·论点与论据（敬业与乐业／论教养／精神…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第二单元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“我确信‘敬业乐业’四个字，是人类生活的不二法门”——一句话立住了整篇文章。议论文怎么读？先学会找到并验证这句话。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论文三要素的抓手：论点是“作者对所论问题的见解和主张”，必须是完整的判断句，常居标题、开头、结尾；找论点三步——看标题（可能即论点或论题）、读首尾（开门见山或卒章显志）、全文验证（所有论据是否都支撑它）。论据两类：事实论据（事例、数据）与道理论据（名言、定理），答题三件套——论据类型＋概括内容＋支撑了什么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敬业与乐业》讲“有业—敬业—乐业”层进结构：先说有业是本（引百丈禅师“一日不做事，一日不吃饭”为事实论据），再说敬业的内涵（“主一无适便是敬”是道理论据），后说乐业的境界；《论教养》正反对照有无教养的言行；《精神的三间小屋》以“三间小屋”的比喻结构说理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误区：把论题当论点是最高频错误——检验法：论点必须能回答“作者主张什么”，“敬业与乐业”只是论题。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中心论点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分论点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事实论据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道理论据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把论题（敬业与乐业）当论点，找不到表达观点的判断句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282 / 405</a:t>
            </a:r>
            <a:endParaRPr lang="en-US" sz="1150" dirty="0"/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议论文阅读·论点与论据（敬业与乐业／论教养／精神…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用一句话写出《敬业与乐业》的中心论点，并从文中各举一个事实论据和一个道理论据。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按三步找论点：标题是论题；开头“我确信‘敬业乐业’四个字，是人类生活的不二法门”是完整判断句。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验证：有业、敬业、乐业三部分均围绕“敬业乐业”展开，论点成立。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配论据：事实论据——百丈禅师“一日不做事，一日不吃饭”；道理论据——朱子“主一无适便是敬”。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中心论点：“我确信‘敬业乐业’四个字，是人类生活的不二法门。”事实论据：百丈禅师日日做事不辍；道理论据：朱子所言“主一无适便是敬”。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283 / 405</a:t>
            </a:r>
            <a:endParaRPr lang="en-US" sz="1150" dirty="0"/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议论文阅读·论点与论据（敬业与乐业／论教养／…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课堂即时练：判断下列哪个是论点并说理由：①“敬业与乐业”②“凡职业都是有趣味的，只要你肯继续做下去，趣味自然会发生。”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课后迁移：给论点“坚持是最好的习惯”配一个事实论据和一个道理论据，各写一句阐释。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284 / 405</a:t>
            </a:r>
            <a:endParaRPr lang="en-US" sz="1150" dirty="0"/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议论文阅读·论点与论据（敬业与乐业／论教养／精神…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9a-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议论文“论点—论据—论证”三要素结构图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顶部“中心论点”框：例句“我确信‘敬业乐业’四个字，是人类生活的不二法门”，旁注“论点＝完整的判断句，常居标题、开头、结尾”。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285 / 405</a:t>
            </a:r>
            <a:endParaRPr lang="en-US" sz="1150" dirty="0"/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　论证思路梳理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第二单元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让你用三句话讲清一篇议论文“先说什么、再说什么、最后说什么”，说得清吗？今天练“论证思路”的口头复述。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证思路的复述模板：“先提出……（论点、问题），再分析……（用……论据论证），最后得出……（结论、号召）”。复述的关键不是罗列论据，而是说清论据如何支撑论点——每个论据后面跟一句“这说明……”。引用论证后的“阐释句”是论证的桥：名言不能自己证明论点，必须有作者的解释把名言与观点连起来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做法：给《敬业与乐业》“有业”部分做思路拆解：引孔子“饱食终日，无所用心”（名言）→加阐释“可见无业之弊”→举百丈禅师事例（事实）→加阐释“可见人人应当有业”→小结“有业之必要”。学生照此格式给“敬业”部分画思路链，箭头上写“如何支撑”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误区：复述思路只罗列论据（“文章引用了……还举了……”）不给分——缺了“如何支撑”的链条；检验法：同伴能否不看原文画出结构图。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论证思路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引用论证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复述思路只罗列论据，不说论据如何支撑论点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286 / 405</a:t>
            </a:r>
            <a:endParaRPr lang="en-US" sz="1150" dirty="0"/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　论证思路梳理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用三段模板口头复述《怀疑与学问》前半部分的论证思路。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找提出处：开头引程颐“学者先要会疑”，提出“治学必须有怀疑精神”，观点由名言引入并立即阐释。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理分析处：以“三皇五帝”“腐草为萤”等传说被质疑澄清的例子，论证怀疑是辨伪去妄的必须步骤。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合模板复述：先借名言提出观点，再用被质疑澄清的实例分析怀疑如何辨伪去妄，事例与名言共同支撑论点。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述示例：文章先引用程颐“学者先要会疑”并提出治学必须有怀疑精神的观点；继而用三皇五帝、腐草为萤等被怀疑后澄清的实例，论证怀疑能辨伪去妄；名言与事例共同支撑“怀疑是做一切学问的基本条件”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287 / 405</a:t>
            </a:r>
            <a:endParaRPr lang="en-US" sz="1150" dirty="0"/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　论证思路梳理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课堂即时练：给“引用论证”补一句阐释句：观点“实践出真知”＋名言“纸上得来终觉浅，绝知此事要躬行”。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课后迁移：用三段模板口头复述《敬业与乐业》全文思路，录音后自听一遍。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288 / 405</a:t>
            </a:r>
            <a:endParaRPr lang="en-US" sz="1150" dirty="0"/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　写作·观点要明确 ＋ 综合性学习·君子自强不息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第二单元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“我觉得这个事情吧，可能也许大概还不错”——这样的观点等于没有观点。今天练一句话立观点，立场鲜明不含糊。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52374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点句公式：对象＋明确判断＋理由提示（“我认为中学生应……，因为……”）。禁忌三条：以疑问句出现（“难道不是吗”不构成观点）、两面骑墙（“有利有弊”而不表态）、以事实代替观点。练法“观点句开路”改写：给一段观点模糊的文字，先删尽模糊词（可能、也许、大概），再在段首补一句旗帜鲜明的观点句，后文材料全部向它对齐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论段微结构：观点句—阐释句—材料句—分析句—结论句。课堂练一段成文：观点（中学生也要有规则意识）—阐释（规则是自由的边界）—材料（食堂排队与考场纪律的对比现象）—分析（守规则恰是保护每个人的自由）—结论（重申观点）。综合性学习“君子自强不息”：活动先定小切口，再查资料立观点，成果以“一句观点＋三个事例”的议论短文呈现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观点句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议论段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观点以疑问句或两面话出现，立场不明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289 / 405</a:t>
            </a:r>
            <a:endParaRPr lang="en-US" sz="1150" dirty="0"/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　写作·观点要明确 ＋ 综合性学习·君子自强不息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把下面这段观点模糊的文字改写为观点明确的议论段：“现在很多人玩手机。中学生也玩，可能不太好，但也不一定，也许控制好就行。”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定立场：不再骑墙，明确主张——中学生应当合理规划手机使用，让手机为学习服务。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补理由提示：“因为手机占用的正是自主学习的关键时间。”观点句自带理由方向。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对齐材料：补一个具体现象（某同学每天刷短视频两小时，月考明显下滑）与一句分析（失控的不是手机，是无规划的时间），材料全部支撑开头判断。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写示例：“中学生应当合理规划手机使用，让手机为学习服务，因为手机挤占的正是自主学习的关键时间。我班某同学每天刷短视频两小时，月考成绩明显下滑——失控的从来不是手机，而是没有规划的时间。”观点句开路，材料与分析对齐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290 / 405</a:t>
            </a:r>
            <a:endParaRPr lang="en-US" sz="1150" dirty="0"/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　写作·观点要明确 ＋ 综合性学习·君子自强不息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课堂即时练：判断下列句子是否为合格观点句，不合格的改写：“这道题难道不难吗？”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课后迁移：围绕“自强不息”写一个议论段（五句：观点—阐释—材料—分析—结论）。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291 / 405</a:t>
            </a:r>
            <a:endParaRPr lang="en-US" sz="1150" dirty="0"/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 · 观点与论证（议论文入门）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找论点三步：看标题、读首尾、全文验证；论点必是判断句，论据分事实与道理，答题三件套。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复述论证思路用三段模板，核心是“论据如何支撑论点”；引用名言后必须补阐释句作桥。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观点要明确：一句判断＋理由提示，删尽“可能大概也许”；议论段五句式，材料永远向观点对齐。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用一句话写出《敬业与乐业》的中心论点，并指出文中一个事实论据；口头复述该文论证思路。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292 / 405</a:t>
            </a:r>
            <a:endParaRPr lang="en-US" sz="1150" dirty="0"/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3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· 阅读与鉴赏 ｜ 考查：重点句翻译、主旨句理解、名篇默写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　忧乐情怀（文言名篇）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读岳阳楼与醉翁亭的境界，读湖心亭的痴，积累名句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文言文·《岳阳楼记》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文言文·《醉翁亭记》《湖心亭看雪》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诗词三首联读 ＋ 写作·议论要言之有据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　文言文·《岳阳楼记》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第三单元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一篇应朋友之邀而写的“看楼记”，却写成了千古士人的精神宣言。“先天下之忧而忧，后天下之乐而乐”——范仲淹凭什么说出这句话？今天读《岳阳楼记》。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330702"/>
          </a:xfrm>
          <a:prstGeom prst="roundRect">
            <a:avLst>
              <a:gd name="adj" fmla="val 1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30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言落实：重点词——胜状（美好景色）、衔远山（包含）、浩浩汤汤（水势浩大，读shāng）、朝晖夕阴（晖：日光）、大观（雄伟景象）、备（详尽）、迁客骚人（降职远调的官人和诗人）、宠辱偕忘（荣宠与屈辱一并忘却）、把酒临风（把：持、执）、微斯人（微：如果没有）、吾谁与归（宾语前置：与谁同道呢）；虚词“然则”（既然如此，那么）、“至若”（至于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理两幅画面对照结构——淫雨霏霏图（去国怀乡、忧谗畏讥→悲）与春和景明图（心旷神怡、宠辱偕忘→喜），迁客骚人之情随景而变；范仲淹笔锋一转：“不以物喜，不以己悲”——古仁人之心不因外物和自己（的得失）而或喜或悲，此处互文见义；主旨句“先天下之忧而忧，后天下之乐而乐”把个人忧乐升为天下忧乐，文题虽为“记”实以议论收束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误区：“不以物喜，不以己悲”拆开直译是高频错误——互文义为“不因外物和自己（的得失）而或喜或悲”；“微斯人”的“微”是“如果没有”，不是“稍微”。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范仲淹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互文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先忧后乐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“不以物喜，不以己悲”拆开直译，不知互文义为“不因外物和自己而或喜或悲”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294 / 405</a:t>
            </a:r>
            <a:endParaRPr lang="en-US" sz="1150" dirty="0"/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　文言文·《岳阳楼记》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翻译“先天下之忧而忧，后天下之乐而乐”，并指出它为什么成为千古名句。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落实词义：先、后均为意动用法——在……之前（忧）、在……之后（乐）。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连缀：在天下人忧愁之前先忧愁，在天下人快乐之后才快乐。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析境界：把个人忧乐的次序倒置于天下之后，立起以天下为己任的士人担当；与“不以物喜，不以己悲”呼应，超越个人悲喜。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在天下人忧愁之前先忧愁，在天下人快乐之后才快乐。“先”“后”的倒置写出以天下为己任的担当，超越一己悲喜，成为历代仁人志士的精神标尺。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295 / 405</a:t>
            </a:r>
            <a:endParaRPr lang="en-US" sz="1150" dirty="0"/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　文言文·《岳阳楼记》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课堂即时练：用互文见义翻译“不以物喜，不以己悲”。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课后迁移：说出两幅画面的景物特征与对应之情，各摘一句原文。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296 / 405</a:t>
            </a:r>
            <a:endParaRPr lang="en-US" sz="1150" dirty="0"/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文言文·《醉翁亭记》《湖心亭看雪》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第三单元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一位太守醉在山水宴游之间，一位文人在大雪三日后夜往湖心亭看雪。一个“乐”字，一个“痴”字——今天读两颗不同时代的心。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548329"/>
          </a:xfrm>
          <a:prstGeom prst="roundRect">
            <a:avLst>
              <a:gd name="adj" fmla="val 15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3274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言落实：《醉翁亭记》——蔚然而深秀（茂盛又幽深秀丽）、翼然临于泉上（像鸟张开翅膀，居高面下）、伛偻提携（老人弯腰小孩被牵，代指老幼宾客）、觥筹交错（酒杯与酒筹交互错杂）、颓然乎其间（醉醺醺地坐在众人中间）；“也”字句全文二十余个，读出回环往复之乐。《湖心亭看雪》——拏（撑、划）、毳衣（细毛皮衣）、雾凇沆砀（冰花周围白气弥漫）、焉得更有此人（哪能还有这样的人）、强饮三大白（强：尽力；白：酒杯）、客此（客居此地）、痴（痴迷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醉翁亭记》理三层乐：山水之乐（朝暮四时）—宴酣之乐（起坐喧哗）—与民同乐（太守之乐的实质：滁人出游、官民同欢，乐在政通人和）；《湖心亭看雪》白描镜头式缩放：“一痕—一点—一芥—两三粒”，由天地大景缩至人影微粒，天地的空阔与人的渺小、“痴”的孤独与雅致俱出；亭上遇“金陵人”又添一层惊喜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误区：《醉翁亭记》主旨答成“喝酒快乐”是误读——“醉”是表象，“乐”是与民同乐的襟怀；《湖心亭看雪》的“痴”是痴迷于雪夜山水与超然脱俗的心境。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欧阳修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张岱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白描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与民同乐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《醉翁亭记》主旨答成“喝酒快乐”，未到“与民同乐”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297 / 405</a:t>
            </a:r>
            <a:endParaRPr lang="en-US" sz="1150" dirty="0"/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文言文·《醉翁亭记》《湖心亭看雪》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翻译“雾凇沆砀，天与云与山与水，上下一白”，并说说这一句的写景妙处。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落实词义：雾凇（水汽凝成的冰花）、沆砀（白气弥漫的样子）、一（全）。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连缀：（湖上）冰花周围弥漫着白气，天与云与山与水，浑然一体，全都是白色。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析妙处：“与”字连用把天地万物融为一体，一个“一”字收拢全景；白描不施藻饰，写尽雪夜西湖的空阔混沌。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湖面上冰花一片弥漫，天、云、山、水，上上下下全是白茫茫一片。三个“与”字将万物连成浑然整体，“一”字总括全境；白描极简，境界空阔苍茫。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298 / 405</a:t>
            </a:r>
            <a:endParaRPr lang="en-US" sz="1150" dirty="0"/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文言文·《醉翁亭记》《湖心亭看雪》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课堂即时练：说出《醉翁亭记》中“乐”的三层内容，各用一句话概括。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课后迁移：解释“湖中焉得更有此人”并说明此时说话人的语气。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299 / 405</a:t>
            </a:r>
            <a:endParaRPr lang="en-US" sz="1150" dirty="0"/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　诗词三首联读 ＋ 写作·议论要言之有据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第三单元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李白被“赐金放还”，刘禹锡被贬二十三年，苏轼中秋怀弟——三人各有大挫折，笔下却都是昂扬、豁达与释然。今天读“逆境中的境界”，再学论据的使用。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首按“遭际—态度”对读：《行路难》“长风破浪会有时，直挂云帆济沧海”——仕途受阻而信念昂扬（用宗悫“乘长风破万里浪”典）；《酬乐天扬州初逢席上见赠》“沉舟侧畔千帆过，病树前头万木春”——二十三年贬谪而豁达自解，以新陈代谢的哲理化悲凉为开朗；《水调歌头》“人有悲欢离合……此事古难全”——从离别之憾到“但愿人长久”的释然，由怨转旷。名句的共同理趣：把个人遭遇放进更宏大的规律中观照，痛苦便被稀释升华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写作落点“议论要言之有据”：论据三分——事例（具体人物事件）、数据（统计数字）、名言（权威引语），且每一条论据后必须有阐释句（论据不能自证，须点明它如何支撑观点）。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误区：论据堆砌不加阐释，观点与材料“两张皮”——检验法：删掉你的阐释句，读者能否看出论据与观点的关系？看不出就是缺桥。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豪放词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理趣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论据阐释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论据堆砌不加阐释，观点与材料两张皮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300 / 405</a:t>
            </a:r>
            <a:endParaRPr lang="en-US" sz="1150" dirty="0"/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　诗词三首联读 ＋ 写作·议论要言之有据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“沉舟侧畔千帆过，病树前头万木春”为什么既是感伤又是豁达的？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解意象：沉舟、病树自喻久遭贬谪的自己，旁有千帆竞过、万木争春。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辨情感：个人的停滞与衰颓令人感伤（二十三年弃置之慨）；但新事物蓬勃向前，个人亦随之释然。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提炼理趣：新陈代谢、新旧更替是规律，把一己沉浮放进规律中看，悲凉便化为开朗。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诗人以沉舟病树自比，含被贬多年的辛酸；但“千帆过”“万木春”翻出豁达——承认新事物必将取代旧事物，把个人逆境置于规律之中而得解脱。感伤与豁达正是一句之两面。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301 / 405</a:t>
            </a:r>
            <a:endParaRPr lang="en-US" sz="1150" dirty="0"/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　诗词三首联读 ＋ 写作·议论要言之有据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课堂即时练：为观点“挫折催人奋进”配一个事例论据并写阐释句。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课后迁移：默写《水调歌头》中表达美好祝愿的句子并说明其由怨转旷的转折点。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302 / 405</a:t>
            </a:r>
            <a:endParaRPr lang="en-US" sz="1150" dirty="0"/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 · 忧乐情怀（文言名篇）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《岳阳楼记》两图对照引出古仁人之心：互文句“不以物喜，不以己悲”，主旨句“先忧后乐”——盯…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欧阳修醉在“与民同乐”，张岱痴在雪夜一白；数“也”字读回环之乐，品“一痕一点一芥”读镜头式…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三首诗词三种境界：昂扬、豁达、释然——把个人遭遇放进规律中观照；议论用论据必须带阐释句，别…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翻译“先天下之忧而忧，后天下之乐而乐”并指出本文主旨句；默写《行路难》中表现信念的名句。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303 / 405</a:t>
            </a:r>
            <a:endParaRPr lang="en-US" sz="1150" dirty="0"/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4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· 阅读与鉴赏 ｜ 考查：人物形象分析、环境描写作用、小说主题归纳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　成长与世相（小说）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读小说的情节、人物、环境与主题，读《水浒传》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小说阅读·人物与情节（故乡／我的叔叔于勒／孤独之旅）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环境描写与主题归纳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写作·学习缩写 ＋ 名著导读·《水浒传》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　小说阅读·人物与情节（故乡／我的叔叔于勒／孤独之…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第四单元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二十年前月下刺猹的小英雄，二十年后恭敬地喊出一声“老爷”。闰土怎么了？今天读小说的人物与情节，看“变”背后的东西。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说三要素的抓手：情节（开端—发展—高潮—结局）、人物（直接描写＋前后对比）、环境。本课读法核心是“前后对比表”：闰土少年（紫色圆脸、月下刺猹）与中年（灰黄皱纹、石像般木偶）对照，杨二嫂由“豆腐西施”变成尖刻的“圆规”；对比中逼出问题：是什么让他们变了？——“多子，饥荒，苛税，兵，匪，官，绅”，社会原因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我的叔叔于勒》以“称呼变化”为线索读菲利普夫妇的态度曲线——于勒富时是“正直的人、有良心的人”，穷时是“这个家伙”“贼”；称呼每变一次，金钱对亲情的侵蚀就深一分，“我”的十个铜子小费是孩子视角的善意对照。《孤独之旅》读杜小康的成长：家道中落—随父放鸭—风雨寻鸭—鸭下蛋，孤独由恐惧变为成长的养分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误区：概括人物用“好—坏”二分不得分——必须说出性格的社会成因，“同情中含批判”是这类小说的正确打开方式。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小说三要素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插叙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对比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概括人物用“好—坏”二分，看不出性格的社会成因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305 / 405</a:t>
            </a:r>
            <a:endParaRPr lang="en-US" sz="1150" dirty="0"/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　小说阅读·人物与情节（故乡／我的叔叔于勒／孤独之…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闰土见到“我”时“态度终于恭敬起来了，分明地叫道：‘老爷！……’”这一细节说明了什么？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定位对比：少年闰土与“我”以哥弟相称，无拘无束。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品细节：“终于”“分明”写出变化之彻底；“老爷”一出口，儿时的亲密被等级的墙隔断。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析成因：结合“多子，饥荒，苛税，兵，匪，官，绅”，可见是苦难生活与封建等级观念把小英雄变成了麻木的“木偶人”。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一声“老爷”画出两个人之间的精神隔膜：苦难与等级观念已把闰土变成了麻木顺从的人；“我”的悲哀正在于亲密的失去及其社会性的根由。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306 / 405</a:t>
            </a:r>
            <a:endParaRPr lang="en-US" sz="1150" dirty="0"/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　小说阅读·人物与情节（故乡／我的叔叔于勒／孤…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课堂即时练：完成闰土少年、中年对比表（外貌、动作语言、对“我”的态度三栏）。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课后迁移：按“称呼变化”画出菲利普夫妇对于勒的态度曲线。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307 / 405</a:t>
            </a:r>
            <a:endParaRPr lang="en-US" sz="1150" dirty="0"/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　环境描写与主题归纳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第四单元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“苍黄的天底下，远近横着几个萧索的荒村”——《故乡》开篇这一笔，为什么让全书一片灰色？今天学环境描写的作用与主题归纳三问。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描写作用的答题路径：自然环境（景物）烘托人物心境、渲染气氛、暗示时代背景，最终服务于主题；社会环境（人际关系、制度习俗）解释人物命运的社会成因。答题格式：“这段环境描写渲染了……气氛，烘托了……心境，为……（主题）作铺垫”。忌只答“交代背景”而不与人物关联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故乡》开头“苍黄的天”“萧索的荒村”渲染悲凉气氛，定下“我”回乡的心境基调；结尾“路”的意象——由眼前离路升华为对希望的实践性理解（希望在于践行）。《孤独之旅》鸭群、风雨与杜小康成长对应：暴风雨之夜寻鸭是他从恐惧走向坚忍的成人礼，芦苇荡的空旷正是“孤独”的具象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主题归纳三问：写了何事（内容）—人物何变（关键）—作者何意（态度）。误区：环境作用不与人物心境关联即半对；主题只答内容层未到意蕴层。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自然环境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社会环境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意象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环境描写作用只答“交代背景”，不与人物心境关联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308 / 405</a:t>
            </a:r>
            <a:endParaRPr lang="en-US" sz="1150" dirty="0"/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　环境描写与主题归纳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《故乡》结尾“我在朦胧中，眼前展开一片海边碧绿的沙地来……”这段描写有什么作用？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辨性质：这不是实写眼前，而是“我”想象中的故乡（希望中的图景）。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找关联：与前文“苍黄的天”的萧索故乡对照——碧绿沙地是“我”对新生活的想象与期盼。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连主题：紧接着“路”的议论把想象落为实践：希望要靠“走”来实现。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想象中的碧绿沙地与灰暗现实对照，寄托“我”对新生活的希望；它使结尾“希望是本无所谓有……也便成了路”的议论有了画面根基，深化了“以行动创造希望”的主题。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309 / 405</a:t>
            </a:r>
            <a:endParaRPr lang="en-US" sz="1150" dirty="0"/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　环境描写与主题归纳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课堂即时练：说出《故乡》开头环境描写的两点作用。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课后迁移：《孤独之旅》中暴风雨寻鸭一段的环境描写有何作用？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310 / 405</a:t>
            </a:r>
            <a:endParaRPr lang="en-US" sz="1150" dirty="0"/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　环境描写与主题归纳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9a-4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小说“三要素—主题”阅读路径结构图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框“小说＝讲人的故事”。外圈三个节点按阅读顺序排列：①情节（内分四格：开端—发展—高潮—结局，例：《我的叔叔于勒》以于勒贫富变化推动情节）；②人物（内分“直接描写：外貌语言动作心理”与“前后对比：例少年闰土‘紫色圆脸’→中年‘灰黄皱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311 / 405</a:t>
            </a:r>
            <a:endParaRPr lang="en-US" sz="1150" dirty="0"/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　写作·学习缩写 ＋ 名著导读·《水浒传》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第四单元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一篇两千字的小说要压成一百五十字，留什么、删什么？今天学“保主干删枝叶”，顺带走进一百单八将的水浒世界。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写三原则：保主干（情节链：开端—发展—高潮—结局不能断）、留关键（体现人物性格的关键对话与细节必须保留）、删枝叶（环境铺陈、次要人物、重复描写可大幅压缩或删去）。检验法：缩写后让没读过原文的同学复述，若主线与人物特点仍清晰即为合格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做法：给《孤独之旅》第一部分做两轮压缩——第一轮压到200字（保留“家道中落—随父放鸭”主线），第二轮压到80字；对照两轮，体会“保留什么”的不同层级。名著落点《水浒传》：人物绰号卡（豹子头林冲、花和尚鲁智深、智多星吴用……绰号即人物标签）与回目串联法（“林教头风雪山神庙”“景阳冈武松打虎”——回目即情节梗概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误区：缩写抄成情节简介，丢掉原文关键细节与对话，人物便成了影子。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缩写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章回体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缩写抄成情节简介，丢掉原文关键细节与对话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312 / 405</a:t>
            </a:r>
            <a:endParaRPr lang="en-US" sz="1150" dirty="0"/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　写作·学习缩写 ＋ 名著导读·《水浒传》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下面这段记叙压缩成50字左右，保留主干与关键细节：“那天下午，天空飘着细雨。我因为要赶公交车，在站台上跑得飞快，书包一颠一颠的。就在我冲上即将启动的公交车时，脚下一滑，眼看要摔倒。旁边一位老奶奶一把扶住了我，车门在我身后关上了。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91922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9192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79120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找主干：时间地点（雨天午后、站台）可略；核心事件：赶车—滑倒—被扶。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57759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5775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44957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定关键细节：“一把扶住”是人物品质的落点，必须保留。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423595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42359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410794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压缩成句：雨天，我赶车险些摔倒，一位老奶奶一把扶住了我。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82117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88518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示例：“雨天，我赶公交车时在站台滑倒，眼看要摔，一位老奶奶一把扶住了我。”主干完整、“一把扶住”细节保留，缩写合格。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313 / 405</a:t>
            </a:r>
            <a:endParaRPr lang="en-US" sz="1150" dirty="0"/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　写作·学习缩写 ＋ 名著导读·《水浒传》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课堂即时练：判断缩写正误并说理由——原文中范进中举后发疯的细节被缩写者全部删去，只写“范进中举后很高兴”。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课后迁移：为《水浒传》做一张绰号卡：绰号—人物—出处情节—性格。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314 / 405</a:t>
            </a:r>
            <a:endParaRPr lang="en-US" sz="1150" dirty="0"/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 · 成长与世相（小说）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读小说画对比表：人物的“变”是入口，变因里的社会根源是落点；称呼变化藏着金钱社会里亲情的曲…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环境描写答题三连：渲染气氛—烘托心境—铺垫主题，社会环境解释命运；主题归纳三问：何事—何变…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缩写保三样：情节链、高潮、关键对话；删环境铺陈与次要枝节。《水浒》用绰号卡与回目串联，读“…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各用一句话概括少年闰土与中年闰土的形象，并找出造成变化的关键句；把《我的叔叔于勒》缩写成150字。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315 / 405</a:t>
            </a:r>
            <a:endParaRPr lang="en-US" sz="1150" dirty="0"/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6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· 阅读与鉴赏 ｜ 考查：驳论结构辨析、论证语言的严密性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第五单元　怀疑与创造（立论与驳论）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学驳论“树靶子—驳论证—立观点”，练论证合理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驳论文阅读·《中国人失掉自信力了吗》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立论阅读·怀疑与创造（怀疑与学问／谈创造性思维／创造宣言）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写作·论证要合理 ＋ 口语交际·讨论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驳论文阅读·《中国人失掉自信力了吗》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第五单元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“九一八”三周年之际，有人叹“中国人失掉自信力了”。鲁迅提笔反击——可他不急着骂，先树靶子。驳论文怎么读？先找靶子。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驳论文的抓手是“树靶—驳倒—立论”三步：先找靶子（对方的论点与论据：论点“中国人失掉自信力了”，论据是先自夸地大物博、后信国联、再求神拜佛）；再辨驳的方式——驳论点（直指其错）、驳论据（揭其论据不实）、驳论证（指出论据推不出论点）。本文是驳论证的典范：失掉的只是“他信力”、发展着“自欺力”，论据根本撑不起结论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品“他信力”“自欺力”的仿词艺术——仿“自信力”生造新词，讽刺力量倍增；立论部分“我们从古以来，就有埋头苦干的人……这就是中国的脊梁”，用埋头苦干、拼命硬干、为民请命、舍身求法四类人正面立起自信力的根据；末段“脂粉”与“筋骨和脊梁”的对比揭示看与被看的错位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误区：混淆驳论与立论——本文以驳为主、驳中确立；检验法：能否用一句话说出“作者驳的是论证（论据推不出论点）”。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驳论文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靶子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仿词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立论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混淆驳论与立论，把全文当正面立论读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317 / 405</a:t>
            </a:r>
            <a:endParaRPr lang="en-US" sz="1150" dirty="0"/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驳论文阅读·《中国人失掉自信力了吗》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鲁迅为什么说“假使这也算一种‘信’，那也只能说中国人曾经有过‘他信力’”？这一句在驳论中起什么作用？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定位靶子：对方论据之一——曾经信过“国联”。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析仿词：仿“自信力”造“他信力”——信国联信的是“他者”，不是自信。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定驳法：这是驳论证——对方的论据（信他者）与结论（失掉自信力）之间被切断：从未自信，何谈失掉自信？靶子的逻辑根基被拆毁。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鲁迅仿词造“他信力”，指出信国联是对“他者”的依赖而非自信；这一拆解使对方“失掉自信力”的论据与论点脱节，属驳论证，为下文立论（中国的脊梁）扫清地基。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318 / 405</a:t>
            </a:r>
            <a:endParaRPr lang="en-US" sz="1150" dirty="0"/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驳论文阅读·《中国人失掉自信力了吗》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课堂即时练：用一句话说出本文的靶子与立论部分。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课后迁移：以“中学生不需要课外阅读”为靶子，写一段80字的驳论，先用驳论证的方式。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319 / 405</a:t>
            </a:r>
            <a:endParaRPr lang="en-US" sz="1150" dirty="0"/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驳论文阅读·《中国人失掉自信力了吗》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9a-5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驳论文“树靶—驳倒—立论”结构图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竖排三块，箭头向下。第一块“树靶子”：列出对方论点“中国人失掉自信力了”及其论据（自夸地大物博、信国联、求神拜佛），旁注“先弄清敌人打的是什么靶”。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320 / 405</a:t>
            </a:r>
            <a:endParaRPr lang="en-US" sz="1150" dirty="0"/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　立论阅读·怀疑与创造（怀疑与学问／谈创造性思维／…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第五单元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学问的进步，常常从一句“真的吗”开始。怀疑不是抬杠，而是在求真的路上先辨伪再创新。今天读三篇立论文，学怀疑的章法。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论文的抓手仍是“论点—论据—论证”，本课重点在“层进式”结构：《怀疑与学问》讲“怀疑—辨伪—创新”的治学链条——两个分论点“怀疑是辨伪去妄的必须步骤”“怀疑也是建设新学说、启迪新发明的基本条件”层层递进，由消极的破到积极的立；《谈创造性思维》破“正确答案只有一个”的思维定式；《创造宣言》以排比段与密集例证宣讲“处处是创造之地，天天是创造之时，人人是创造之人”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严密性练法：删词比较——删去“往往”“并非”后比较表达差异：“学问的基础是事实和证据”一类判断删去限定词是否绝对化；“并非所有的人都有创造力”与“我们没有创造力”的差异，体会议论文语言的分寸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误区：把“怀疑一切”当主旨是误读——主旨是“在怀疑基础上求真”：怀疑是手段，求真创新是目的；检验法：文中有没有说怀疑之后要做什么（辨伪、验证、建设新学说）。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分论点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层进式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严密性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把“怀疑一切”当主旨，漏掉“在怀疑基础上求真”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321 / 405</a:t>
            </a:r>
            <a:endParaRPr lang="en-US" sz="1150" dirty="0"/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　立论阅读·怀疑与创造（怀疑与学问／谈创造性思维／…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《怀疑与学问》中“我们不论对于哪一本书，哪一种学问，都要经过自己的怀疑”一句，“不论”“都”能否删去？为什么？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辨词性：“不论……都……”构成全称判断：无一例外。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试删：删后变成对某书某学问的个别要求，范围缩小，论述力度骤降，也与后文列举许多大学问家普遍例证不匹配。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结功能：限定词恰是立论严密的标志——主张无一例外的怀疑精神，用全称判断才与论点相称。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不能删。“不论……都……”构成全称判断，使“事事可疑、处处求真”的主张严密无漏；删去则范围缩小、表述的绝对性减弱，与论证力度不匹配。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322 / 405</a:t>
            </a:r>
            <a:endParaRPr lang="en-US" sz="1150" dirty="0"/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　立论阅读·怀疑与创造（怀疑与学问／谈创造性思…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课堂即时练：说出《怀疑与学问》的两个分论点及其递进关系。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课后迁移：围绕“处处是创造之地”列举三个你身边的“创造”，各一句话。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323 / 405</a:t>
            </a:r>
            <a:endParaRPr lang="en-US" sz="1150" dirty="0"/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　写作·论证要合理 ＋ 口语交际·讨论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第五单元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观点有了，论据也有了，可为什么还是说服不了人？常常是“论证不合理”——论据与观点对不上号。今天练匹配，也练讨论的规矩。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52374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证合理三检查：论据与观点匹配（拿“锲而不舍”的事例论证“兴趣最重要”就是错位）；论据真实典型（可靠来源、有代表性）；推理合逻辑（由论据到结论的路径成立，警惕以偏概全、强加因果）。练法“换论据说明为何不合”：给观点配三个论据，其中一个是错位的，指出并替换。议论段自检三问：观点句在哪里？论据与观点之间有没有“这说明”？结论是否只由这些论据推出？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语交际“讨论”落点：讨论规则三步——先复述对方观点（确认听懂且尊重），再反驳（对观点不对人），后小结（明确分歧与共识）。练法：小组围绕“中学生该不该带手机进校园”讨论，记录员填写“观点—理由—质疑—回应”四格表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论证合理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讨论规则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论据与观点错位仍觉自洽，缺少自检环节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324 / 405</a:t>
            </a:r>
            <a:endParaRPr lang="en-US" sz="1150" dirty="0"/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　写作·论证要合理 ＋ 口语交际·讨论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观点：“兴趣是最好的老师。”下列哪个论据与观点错位？为什么？①孔子“知之者不如好之者，好之者不如乐之者”；②某同学每天苦练书法三小时，终获大奖；③爱因斯坦因痴迷物理而废寝忘食。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91922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9192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79120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逐条对表：①以“好之、乐之”论学习动力，扣“兴趣”；③因痴迷而投入，扣“兴趣”。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57759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5775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44957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辨错位：②“苦练三小时”强调的是坚持与勤奋，而非兴趣驱动；它能论证“坚持出成果”，证明不了“兴趣是最好的老师”。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423595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42359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410794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替换：换成“该同学自幼痴迷书法，主动放弃游戏时间练字”，让“兴趣”成为动因。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82117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88518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②错位——它论证的是“勤奋坚持”而非“兴趣”，应换为体现兴趣驱动的事例。判定标准：论据的“核心品质”必须与观点的核心词一致。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325 / 405</a:t>
            </a:r>
            <a:endParaRPr lang="en-US" sz="1150" dirty="0"/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　写作·论证要合理 ＋ 口语交际·讨论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课堂即时练：讨论练习——先用一句话复述对方观点，再反驳：“中学生不该带手机进校园，因为会分心。”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课后迁移：给观点“网络用语会污染汉语”挑出一个错位论据并说明理由（候选：某网络流行语年度热词榜、某作家的用词习惯、某学生作文错字统计）。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326 / 405</a:t>
            </a:r>
            <a:endParaRPr lang="en-US" sz="1150" dirty="0"/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第五单元 · 怀疑与创造（立论与驳论）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驳论文三步：树靶—驳倒—立论；“他信力”“自欺力”的仿词拆掉论证，“中国的脊梁”立起自信。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立论读层进：由破到立，分论点步步向上；盯住“不论、都、并非”这类限定词，那是议论严密的指纹。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论证合理三检查：匹配、真实、合逻辑；讨论三规矩：先复述、再反驳、后小结——对观点不对人。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指出《中国人失掉自信力了吗》的靶子与立论部分；围绕一个观点选三个不同类型的论据，各写一句阐释。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327 / 405</a:t>
            </a:r>
            <a:endParaRPr lang="en-US" sz="1150" dirty="0"/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8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· 梳理与探究 ｜ 考查：古代白话词语、讽刺与衬托手法、人物性格把握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第六单元　古典小说（白话小说源流）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读四大名著选段，识人物、品讽刺、学改写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小说联读·情节与人物（智取生辰纲／范进中举／三顾茅庐／刘姥姥进大观园）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语言·古代白话的读法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写作·学习改写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　小说联读·情节与人物（智取生辰纲／范进中举／三顾…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第六单元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吴用智取生辰纲，杨志“智”在哪里输在哪里？胡屠户听说女婿中举，手竟“紧攥着酒壶”跑不直了。四篇白话小说经典，今天联读情节与人物。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读抓手是“情节结构＋人物塑造法”：明线杨志押送（处处谨慎：改时辰、催赶路、责军汉），暗线吴用设计（妆枣客、下蒙汗药）；杨志之“智失”（内讧失人心）正衬托吴用之“智取”，双线交汇于黄泥冈。《范进中举》抓胡屠户前后言行对比：中举前“现世宝、癞蛤蟆”骂不绝口，中举后“贤婿老爷、才学又高”赞不绝口——对比＋夸张成就讽刺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三顾茅庐》讲衬托——张飞之躁（要用麻绳缚他来）衬刘备之诚（三次亲往、侍立阶下），诸葛亮的高卧与醒后纵论天下则先声夺人；《刘姥姥进大观园》以刘姥姥的“笑”为镜：众人的百态笑相各有性格，喜剧场面里是世态人情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误区：《范进中举》主旨答成“读书改变命运”是把讽刺读反了——作者批判的是科举对士人的毒害与世态炎凉，范进的疯是喜中之悲。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章回小说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双线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讽刺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衬托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把《范进中举》主旨答成“读书改变命运”，读反了讽刺义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329 / 405</a:t>
            </a:r>
            <a:endParaRPr lang="en-US" sz="1150" dirty="0"/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　小说联读·情节与人物（智取生辰纲／范进中举／三顾…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《智取生辰纲》中“智取”的“智”体现在哪些地方？请结合情节说出两点。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看计谋设计：扮作贩枣客商消除戒心，白胜挑酒唱上山冈诱其买酒，利用杨志一行燥热口渴的天时。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看下药时机：先让众人喝一桶证“无毒”，再趁舀酒之机（第二桶）下蒙汗药，分寸拿捏精准。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结双线：明线杨志的猜疑被逐一化解，暗线环环相扣——“智”在算准人心。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体现在化装成枣客麻痹对方、借天时利诱买酒、分两桶设计下药时机等处；吴用等算准了杨志一行的人心与弱点，智在谋人，不只在谋事。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330 / 405</a:t>
            </a:r>
            <a:endParaRPr lang="en-US" sz="1150" dirty="0"/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　小说联读·情节与人物（智取生辰纲／范进中举／…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课堂即时练：各引一处原文，说明胡屠户中举前后对范进的称呼变化。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课后迁移：《三顾茅庐》用谁衬托谁？举一处衬托的描写。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331 / 405</a:t>
            </a:r>
            <a:endParaRPr lang="en-US" sz="1150" dirty="0"/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语言·古代白话的读法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第六单元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“你们计较什么？”“你兀自在那里理会什么？”——几百年前的白话，今天读来字字认识、句句陌生。古代白话怎么读？建随文卡。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代白话词卡的建法：随文积累“古今异义”词——计较（这里指争执、计较之意，须依语境定）、兀自（仍旧、还）、理会（懂得、明白；今义“关心照应”）、攀谈（拉扯攀附之意，今义“拉拢闲聊”）、官司（官府，今义指诉讼）、浑家（妻子）、干系（责任）。判断方法：今义代入不通，即查古义；例句回填检验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角色朗读落点：市井口气与人物身份对应——各类人物的圆滑、豪烈、殷勤各有语调；把“则个”“恁地”“直恁”等语气词读出市井味（“则个”带恳求，“恁地”带强调）。语气词是古代白话的“活化石”，读准了人物口吻才活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误区：按现代义硬解“计较”“攀谈”造成误读——检验法：把今义代入原句，若句意扞格不通，即须换古义；随文卡坚持“词—语境义—原句”三栏。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古代白话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古今异义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按现代义硬解“计较”“攀谈”等词造成误读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332 / 405</a:t>
            </a:r>
            <a:endParaRPr lang="en-US" sz="1150" dirty="0"/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语言·古代白话的读法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“武松道：‘你鸟做声！便真个有虎，老爷也不怕！’”中的“鸟做声”该怎么理解？依据什么判断？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今义试代入：“鸟”今为动物名，代入不通，知须另解。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查古义：“鸟”在此是市井詈词（骂人语），“鸟做声”即“胡乱叫嚷、再多嘴”。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语境验证：武松此处恼店家多言阻拦，语气豪烈，“不许多嘴”正合语境。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“鸟做声”意为“胡乱叫嚷、再多嘴”。“鸟”是市井骂詈语；判断依据是今义代入不通＋语境中武松不耐烦店家劝阻的豪烈口吻。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333 / 405</a:t>
            </a:r>
            <a:endParaRPr lang="en-US" sz="1150" dirty="0"/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语言·古代白话的读法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课堂即时练：解释下列句中加点词的语境义：①“你这厮兀自不肯去”②“我的浑家却才被他们欺负”。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课后迁移：从本单元课文中再摘两个古代白话词，建“词—语境义—原句”三栏卡。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334 / 405</a:t>
            </a:r>
            <a:endParaRPr lang="en-US" sz="1150" dirty="0"/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　写作·学习改写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第六单元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把小说改成剧本、把文言改成白话——改写是戴着镣铐跳舞。三原则记牢：忠于原意、变化文体、合理增删。今天练最有趣的一种：小说改剧本。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写三原则的操作：忠于原意（人物性格、情节走向、主题基调不可变）；变化文体（小说的叙述描写→剧本的台词、舞台说明、人物表）；合理增删（叙述性内容转为台词与动作提示，可增补符合人物口吻的台词，但不可新增情节走向）。对照检验：改写后与原文并排读，逐段问“意思变了吗？文体特征出来了吗？”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做法：取《刘姥姥进大观园》一段——叙述里“众人先是发怔，后来一想，上上下下都哈哈大笑起来”，改剧本须拆成：舞台说明（众人正吃茶）＋各人台词笑态（有人喷茶、有人笑岔气、有人滚进长辈怀里——由对白与括注动作呈现）；人物表、括注动作、台词是剧本三大文体标志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误区：改写随意增删情节、偏离原作意图是硬伤——检验法：把改写中“原文没有的新事件”圈出来逐条审查，推动情节的新情节一律删去，符合人物口吻的新台词可留。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改写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剧本体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改写随意增删情节，偏离原作意图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335 / 405</a:t>
            </a:r>
            <a:endParaRPr lang="en-US" sz="1150" dirty="0"/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　写作·学习改写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将“刘姥姥便伸筷子要夹那里的鸽子蛋，满碗里闹了一阵，好容易撮起一个来，才伸着脖子要吃，偏又滑下来滚在地上”改为剧本片段。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定格式：加舞台说明（酒席正酣）与人物动作括注。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转台词与动作：刘姥姥（伸长筷子在满碗里拨弄，好容易撮起一个，伸着脖子正要吃，蛋滑落滚地，忙起身要捡）；众人（先发怔，继而哄堂大笑）。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自检：人物（刘姥姥的乡趣扮傻、众人的百态）未变，情节未增删，文体已由叙述变为“台词＋舞台说明＋括注动作”。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示例改法如上。合格标准：三大文体标志（人物表、括注动作、台词）齐备，原意与情节忠实，新增台词符合人物口吻。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336 / 405</a:t>
            </a:r>
            <a:endParaRPr lang="en-US" sz="1150" dirty="0"/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　写作·学习改写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课堂即时练：把“林黛玉进了贾府，步步留心，时时在意”改成一个含舞台说明的剧本开头。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课后迁移：把《木兰诗》“万里赴戎机”六句改写成剧本一幕（含场景说明与两三句台词）。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337 / 405</a:t>
            </a:r>
            <a:endParaRPr lang="en-US" sz="1150" dirty="0"/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第六单元 · 古典小说（白话小说源流）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四篇联读：双线看“智取”，对比读“讽刺”，衬托品“诚与躁”，笑相见世情——情节结构各不同，…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古代白话读法两件套：随文卡“词—语境义—原句”，今义不通查古义；分角色朗读把“则个、恁地”…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改写三原则：忠于原意、变化文体、合理增删；剧本三标志——人物表、括注动作、台词，新增内容只…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各引一处原文，说明胡屠户在范进中举前后的态度反差；说说《三顾茅庐》用谁衬托谁。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338 / 405</a:t>
            </a:r>
            <a:endParaRPr lang="en-US" sz="1150" dirty="0"/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9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· 表达与交流 ｜ 考查：意象群体与时代背景、象征手法辨析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　活动·探究：诗歌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知人论世读诗，把握象征系统，学扩写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诗歌联读（祖国啊，我亲爱的祖国／梅岭三章／短诗五首／海燕）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写作·学习扩写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2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诗歌联读（祖国啊，我亲爱的祖国／梅岭三章／短诗五…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第一单元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“我是你河边上破旧的老水车”——舒婷用一个又一个意象诉说祖国；高尔基的海燕却在暴风雨来临前大声叫喊。今天读象征，也读时代。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象征诗读法：象征义必须结合时代背景（知人论世），由意象特征推出。《祖国啊，我亲爱的祖国》四组意象有时代层次：老水车、熏黑的矿灯（历史的贫困）→疲惫的稻穗、失修的路基（苦难的深重）→簇新的理想、雪被下古莲的胚芽（希望的萌动）→挂着眼泪的笑涡、雪白的起跑线（崭新的黎明），“我—你”的呼告把个体与祖国血脉相连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海燕》以海鸥、海鸭、企鹅的恐惧反衬海燕高傲的飞翔，暴风雨象征革命风暴，海燕象征无畏的革命者——俄国二十世纪初的黑暗统治是理解的钥匙。《梅岭三章》用“小序＋三章”的结构读断头之际的豪情：小序交代背景（“虑不得脱”），三章由“断头今日意如何”起，回忆与展望交织，以“人间遍种自由花”收束理想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误区：象征义脱离时代空谈是高频失分——说不出“暴风雨”所指，象征分析便悬空；检验法：每个象征义都要能回答“为什么这个意象适合这个对象”。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象征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知人论世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小序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象征义脱离时代背景空谈，说不出“暴风雨”所指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340 / 405</a:t>
            </a:r>
            <a:endParaRPr lang="en-US" sz="1150" dirty="0"/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诗歌联读（祖国啊，我亲爱的祖国／梅岭三章／短诗五…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《海燕》中，海鸥、海鸭、企鹅三个形象有什么作用？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归类：三者都是暴风雨来临前恐惧躲避的形象（呻吟、逃窜、胆怯）。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辨手法：与海燕“黑色的闪电”般高傲飞翔对照，构成反衬（对比衬托）。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结象征：它们反衬海燕的勇敢乐观，也象征现实中惧怕革命、逃避斗争的种种人群，使象征系统更完整。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三个反面形象与海燕形成鲜明反衬：愈写海鸥们的恐惧躲藏，愈显海燕的高傲无畏；它们象征畏惧革命浪潮的怯懦者，使海燕这一革命者的象征更加突出。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341 / 405</a:t>
            </a:r>
            <a:endParaRPr lang="en-US" sz="1150" dirty="0"/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诗歌联读（祖国啊，我亲爱的祖国／梅岭三章／短…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课堂即时练：说出《祖国啊》四组意象各自的时代层次。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课后迁移：《梅岭三章》小序中“虑不得脱”几个字为什么不能删？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342 / 405</a:t>
            </a:r>
            <a:endParaRPr lang="en-US" sz="1150" dirty="0"/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　写作·学习扩写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第一单元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只有一句“他是勇敢的”，你能把它扩成八十字的鲜活画面吗？扩写不是注水，是“给骨架添血肉”。今天学三个扩写方向。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写三向加细：动作向（把“他冲了上去”拆成多个连贯动作）、环境向（补天气、光线、声响，让事件有舞台）、心理向（补人物的念头与情感波动）。但扩写有铁律：忠于原意——中心事件、人物关系、基本走向不许变；自检三问——原意变了吗？细节合理吗（合乎人物身份与情境逻辑）？重心保住了吗？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做法：给句子“消防员抱起孩子冲出火海”，师生共扩：动作向（猫腰、护头、踏碎玻璃）＋环境向（浓烟呛人、火光映墙）＋心理向（孩子在怀里哭，这哭声是命令）；扩后对照原句检查三问，体会扩写前后“信息量”与“画面感”的差别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误区：扩写跑题——细节很多但偏离中心事件（给消防员写起外貌小传就偏了）；检验法：删去扩写内容再读，原意是否还在？在，说明扩的是“血肉”；不在，说明扩歪了。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扩写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细节描写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扩写跑题：细节很多但偏离原文中心事件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343 / 405</a:t>
            </a:r>
            <a:endParaRPr lang="en-US" sz="1150" dirty="0"/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　写作·学习扩写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把“老渔夫盯着海面，等鱼上钩”扩写成80字左右的场景，用三向加细法。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动作向：老渔夫半蹲船头，握竿的手指微微发白，一动不动。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环境向：海面雾气未散，浮标在浪里一起一伏，四周只有桨叶偶尔搅水的轻响。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心理向：他数着浮标沉浮的次数，心里默念：再等等，鱼群就在下面。三向合成场景，中心事件（等鱼上钩）未变。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“老渔夫半蹲在船头，握竿的手指微微发白。雾气未散，浮标在浪里一起一伏，四周只有桨叶偶尔搅水的轻响。他默数着浮标沉浮，心里念着：再等等，鱼群就在下面。”原意未变，画面立起，即为合格扩写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344 / 405</a:t>
            </a:r>
            <a:endParaRPr lang="en-US" sz="1150" dirty="0"/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　写作·学习扩写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课堂即时练：把“教室里很安静”扩写成两句，分别用环境向与心理向。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课后迁移：把一句古诗（如“月落乌啼霜满天”）扩写成80字短景，自检三问。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345 / 405</a:t>
            </a:r>
            <a:endParaRPr lang="en-US" sz="1150" dirty="0"/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 · 活动·探究：诗歌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象征诗两把钥匙：意象特征与时代背景；反面形象常是正面形象的反衬，《梅岭三章》的小序是豪情的…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扩写三向加细：动作、环境、心理；铁律是忠于原意——扩完自问“原意变了吗、合理吗、重心在吗”。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9905" y="2882646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9" name="Text 7"/>
          <p:cNvSpPr/>
          <p:nvPr/>
        </p:nvSpPr>
        <p:spPr>
          <a:xfrm>
            <a:off x="811073" y="295579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1073" y="3230118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说出《海燕》中三个反面形象及其象征对象；把一句古诗扩写成80字短景。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346 / 405</a:t>
            </a:r>
            <a:endParaRPr lang="en-US" sz="1150" dirty="0"/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7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· 阅读与鉴赏 ｜ 考查：人物复杂性格、细节与语言的讽刺力、作文审题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　人物画廊（小说笔法）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读复杂人物与讽刺艺术，比较中外小说笔法，学审题立意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小说阅读·复杂人物（孔乙己／变色龙）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笔法比较·《溜索》《蒲柳人家》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写作·审题立意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小说阅读·复杂人物（孔乙己／变色龙）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第二单元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孔乙己是站着喝酒而穿长衫的唯一的人。他可笑、可悲，却也把茴香豆分给孩子们吃。好的人物从不只有一个标签。今天读复杂人物。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人物读法：用“细节链”串人物——《孔乙己》集“手”的动作细节：排出九文大钱（炫耀于短衣帮前的得意）→伸开五指罩住碟子（穷酸中护食的窘迫）→用这手“走”去（被打断腿后的惨状）——一条手链串出命运线；再数“笑”字：掌柜笑、酒客笑、小伙计笑，孔乙己在笑声中出场、在笑声中消失——看客的凉薄是悲剧的底色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人物评价忌单一标签：善良（分豆、教字）、迂腐（满口之乎者也、窃书之辩）、可怜又可笑并存才是完整的孔乙己。《变色龙》表格化五次“变色”——奥楚蔑洛夫的态度随“狗是不是将军家的”这一证据翻转五次，脱大衣穿大衣只是道具；讽刺的是趋炎附势的奴性人格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误区：给孔乙己贴“懒惰”单标签、给奥楚蔑洛夫只答“善变”，都停在现象层——须说出复杂性格的构成与造成它的社会土壤（封建科举的毒害、专制的等级）。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圆形人物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看客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讽刺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给孔乙己贴“懒惰”单标签，看不出善良、迂腐并存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348 / 405</a:t>
            </a:r>
            <a:endParaRPr lang="en-US" sz="1150" dirty="0"/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小说阅读·复杂人物（孔乙己／变色龙）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“他从破衣袋里摸出四文大钱，放在我手里”与前文“排出九文大钱”的“排”对照，说明了什么？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比动词：“排”是坦然陈列，带得意与炫耀；“摸”是摸索掏找，钱少而艰难。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连命运：从“排”到“摸”，是落魄、伤残、被榨干的过程。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见笔法：同是付钱细节，一字之差写尽命运坠落，细节链正是人物史的年轮。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“排”见其得意炫耀，“摸”见其穷困潦倒；从“排”到“摸”的动词变化，浓缩了孔乙己由虚荣体面到伤残落魄的命运轨迹，细节即命运。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349 / 405</a:t>
            </a:r>
            <a:endParaRPr lang="en-US" sz="1150" dirty="0"/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小说阅读·复杂人物（孔乙己／变色龙）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课堂即时练：找出《孔乙己》中三处“手”的描写并说明递进含义。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课后迁移：完成《变色龙》五次“变色”表：每次关于狗主人的判断—奥楚蔑洛夫对狗、对赫留金的态度。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350 / 405</a:t>
            </a:r>
            <a:endParaRPr lang="en-US" sz="1150" dirty="0"/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小说阅读·复杂人物（孔乙己／变色龙）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9b-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作文审题立意五步流程图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向五步流程，每步一个方框加一句操作说明：第一步“圈关键词”（区分限定词、中心词、修饰词，例：题目《跨越》圈出“跨”）；第二步“三问”（写了什么—为什么—写给谁）；第三步“列意”（正向／反向／新颖至少列三个立意，例：跨过的是距离／跨过的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351 / 405</a:t>
            </a:r>
            <a:endParaRPr lang="en-US" sz="1150" dirty="0"/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　笔法比较·《溜索》《蒲柳人家》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第二单元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同是写人，一个用刀削斧劈般的短句，一个用热气腾腾的乡土口语。语言不只是工具，它自带人物的性格与气质。今天比较两篇笔法。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法比较的抓手是“语言节奏—人物气质”的对应：《溜索》短句白描，节奏急促如溜索本身，惊险中人物不着一字夸赞而自见沉雄——首领“懒懒说话”、腰背一挺的寥寥数笔，冷静自持的硬汉立起来；《蒲柳人家》乡土口语（一丈青大娘泼辣的夸饰），节奏热闹酣畅，何满子的顽皮、大娘的豪爽仗义、爷爷的豪阔在语言里活蹦乱跳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落点：两篇对比——语言的节奏与色彩如何塑造人物：短句冷色（克制、惊险、硬汉）对长句暖色（夸饰、热闹、豪侠）；叙述视角亦有别（《溜索》跟随“我”的紧张体感，《蒲柳人家》以何满子为线索串起祖辈群像）。品析时问三问：句子长还是短？色彩冷还是暖？气质刚还是泼？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误区：只复述情节，说不出语言与人物气质的关联是常见空答——检验法：把《溜索》的句子拉长改写，惊险感是否立刻散了？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白描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乡土文学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语言节奏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只复述情节，说不出语言与人物气质的关联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352 / 405</a:t>
            </a:r>
            <a:endParaRPr lang="en-US" sz="1150" dirty="0"/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　笔法比较·《溜索》《蒲柳人家》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《溜索》中“牛们早卧在地下，两眼哀哀地慢慢眨”一句有何表现力？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看对象：以牛的哀惧写溜索之险，是侧面烘托（连牲口都惧）。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品节奏：句子短促、白描不施修饰，与全文冷峻简劲的语言一致。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反衬人物：牲口尚且哀惧，马帮汉子却照常过溜，人的胆气与历练在对照中愈显。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以牛的哀惧侧面写溜索之险，白描短句与全文语言风格一致；牲口的胆怯反衬出马帮汉子面对天险的沉着本领，人物气度不写自现。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353 / 405</a:t>
            </a:r>
            <a:endParaRPr lang="en-US" sz="1150" dirty="0"/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　笔法比较·《溜索》《蒲柳人家》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课堂即时练：各用一个词概括《溜索》与《蒲柳人家》的语言气质，并各引一处佐证。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课后迁移：把“首领把两个爷们儿拢在一处”改写成30字左右的长句，再比较与原句的表达差异。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354 / 405</a:t>
            </a:r>
            <a:endParaRPr lang="en-US" sz="1150" dirty="0"/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　写作·审题立意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第二单元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拿到题目《跨越》，十个人有九个写“跨过一条沟”。审题不深，立意必俗。今天学五步审题法，让你的作文从第一眼就与众不同。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题立意五步：圈关键词（区分限定词、中心词、修饰词）；三问（写了什么—为什么—写给谁）；列意（正向、反向、新颖至少列三个立意）；筛选（标准：熟悉有料、深一层、切口小）；定纲（一句话中心＋材料清单）。“近—反—新”三向是立意的扩容器：正向（跨越困难）、反向（跨不过去的心障）、新颖（跨越的是自己昨天的影子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做法：以《跨越》为例走五步——圈出“跨”（动作性、过程性）；列意三个（跨过体育中考的横杆／跨过与父亲的隔阂／跨不过的是自己的胆怯）；用三标准筛选（第三者切口小、有内心冲突、可深写）；定纲：“以一次跳高训练的失败与再试，写我跨过心理的横杆。”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误区：立意停留在字面（见“路”只写走路）、选材雷同——检验法：把你的立意念给同桌，若同桌猜到了你的全部情节，就再挖一层。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审题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立意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立意停留在字面，选材雷同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355 / 405</a:t>
            </a:r>
            <a:endParaRPr lang="en-US" sz="1150" dirty="0"/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　写作·审题立意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题目《灯火》，用五步法完成审题立意。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圈关键词＋三问：圈出“灯”（实体与象征）与“火”（温度、传递）；再问写什么（一盏灯的故事）、为什么动人（等待、指引、传承）、写给谁（所有等待过灯的人）。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列意三向：正向——母亲留的晚归灯；反向——我为母亲点灯（角色互换）；新——灯火在三代人手中传递（外婆的灶火—母亲的台灯—我的学习灯），灯是家的接力。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筛选：以“熟悉有料、深一层、切口小”三标准衡量，“新”方向胜出——熟悉可写真事、落在传承、切口只有一盏灯。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5625" y="4620006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7" name="Text 15"/>
          <p:cNvSpPr/>
          <p:nvPr/>
        </p:nvSpPr>
        <p:spPr>
          <a:xfrm>
            <a:off x="655625" y="462000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85393" y="4491990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定纲：“以外婆的灶火到我的台灯为线，写灯火里三代人的牵挂与传承。”一句话中心＋可写的材料清单。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09905" y="5205222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20" name="Text 18"/>
          <p:cNvSpPr/>
          <p:nvPr/>
        </p:nvSpPr>
        <p:spPr>
          <a:xfrm>
            <a:off x="811073" y="5269230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五步示范如上。合格标志：立意超越“灯照我写作业”的字面层，落在“传承与牵挂”，且材料清单具体可写。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356 / 405</a:t>
            </a:r>
            <a:endParaRPr lang="en-US" sz="1150" dirty="0"/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　写作·审题立意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课堂即时练：为《回声》列三个不同角度的立意。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课后迁移：用五步法为《窗外》定纲，写出关键第五步。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357 / 405</a:t>
            </a:r>
            <a:endParaRPr lang="en-US" sz="1150" dirty="0"/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 · 人物画廊（小说笔法）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读复杂人物用细节链与反复词：一条“手”链串命运，数“笑”字见看客；拒绝单标签，性格是复色的。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笔法比较三问：句长句短、色冷色暖、气质刚泼；《溜索》短句出惊险，《蒲柳人家》口语出豪情——…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审题五步：圈词—三问—列意—筛选—定纲；立意用“近—反—新”扩容，标准是熟悉有料、深一层、…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找出《孔乙己》中三处“手”的描写并说明其递进含义；为一道作文题立两个不同角度的意。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358 / 405</a:t>
            </a:r>
            <a:endParaRPr lang="en-US" sz="1150" dirty="0"/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9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· 阅读与鉴赏 ｜ 考查：议论文言的论证、实词虚词、爱国词默写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　古人的抉择（义利与使臣风骨）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读舍生取义、使臣不辱、苦学成才，读爱国词四首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文言文·《鱼我所欲也》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文言文·《唐雎不辱使命》《送东阳马生序》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词四首联读 ＋ 写作·布局谋篇 ＋ 名著导读（儒林外史／简·爱）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　文言文·《鱼我所欲也》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第三单元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鱼，我所欲也；熊掌，亦我所欲也——二者不可得兼，怎么办？孟子的回答是中国人精神史上最响亮的选择题。今天读《鱼我所欲也》。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104388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83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言落实：重点词——所欲有甚于生者（甚于：比……更重要）、苟得（苟且取得）、患（祸患、灾难）、辟（通“避”，躲避）、如使（假如）、豆（古代盛食物的器具）、呼尔（轻蔑地呼喝）、蹴尔（用脚踢）、不屑（认为不值得接受）、乡（通“向”，从前）、已（停止，此指“罢了”）、本心（羞恶之心、天性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理“舍生取义”论证链：以“舍鱼取熊掌”类比起讲（鱼喻生、熊掌喻义，二者不可得兼则舍轻取重）→正面立论“生亦我所欲，所欲有甚于生者”→举例印证（呼尔蹴尔而与之，乞人不屑）→反面收束（不辩礼义而受万钟即“失其本心”）。排比与反问的论辩力度是孟文特色：气势如潮，不容置疑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误区：“非独贤者有是心也”的“是”是代词“这（种心）”，不是判断词；“故患有所不辟也”的“辟”通“避”须标注。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《孟子》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类比论证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舍生取义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“非独贤者有是心也”的“是”误作判断词，漏掉代词“这”义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360 / 405</a:t>
            </a:r>
            <a:endParaRPr lang="en-US" sz="1150" dirty="0"/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　文言文·《鱼我所欲也》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翻译“二者不可得兼，舍生而取义者也”，并指出“而”的用法。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落实词义：得兼（同时得到）、舍（舍弃）、取（选取）。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辨“而”：连接“舍生”与“取义”两个动作，表顺承（就）。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连缀并点旨：在生命与大义不能同时保全时，就舍弃生命而选取大义；这是全文的中心论点，由“舍鱼取熊掌”的类比引出。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如果这两样东西不能同时得到，（我宁愿）舍弃生命而选取大义。“而”表顺承；本句是中心论点，承上文鱼的类比而来，奠定全文“舍生取义”的基调。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361 / 405</a:t>
            </a:r>
            <a:endParaRPr lang="en-US" sz="1150" dirty="0"/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　文言文·《鱼我所欲也》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课堂即时练：解释“蹴尔而与之，乞人不屑也”中“蹴尔”“不屑”的意思并翻译。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课后迁移：理出本文“类比—正论—例证—诘问”的论证环节，各配一句原文。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362 / 405</a:t>
            </a:r>
            <a:endParaRPr lang="en-US" sz="1150" dirty="0"/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　文言文·《鱼我所欲也》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9b-3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文言特殊句式体系图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框“文言特殊句式”，四个分支，每支含句式标签＋标志＋统编教材课文原句：①判断句（标志“……者……也”或“乃、即”，例：“鱼，我所欲也”“臣本布衣”）；②省略句（常见省主语、省介词宾语，例：《桃花源记》“（桃花源中人）便要（渔人）还家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363 / 405</a:t>
            </a:r>
            <a:endParaRPr lang="en-US" sz="1150" dirty="0"/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文言文·《唐雎不辱使命》《送东阳… · 讲解（讲解 1/2）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第三单元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秦王说“天子之怒，伏尸百万”，唐雎答“布衣之怒，流血五步”。一场强弱悬殊的对峙，如何靠言辞扳回？另一边，宋濂把求学的苦写成了一封勉励后生的信。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202686"/>
          </a:xfrm>
          <a:prstGeom prst="roundRect">
            <a:avLst>
              <a:gd name="adj" fmla="val 17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928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言落实：《唐雎不辱使命》——使（出使）、易（交换）、其（表期望语气，“安陵君其许寡人”）、休祲（吉凶征兆，“休”吉、“祲”凶）、色挠（脸色沮丧，挠：屈服）、谢（道歉）、谕（通“喻”，明白）、以君为长者（把……当作）。《送东阳马生序》——嗜学（特别爱好学习）、援疑质理（提出疑难、询问道理）、叱咄（呵斥）、负箧曳屣（背着箱子拖着鞋子）、皲裂（皮肤因寒冷干燥而开裂）、媵人（服侍的人）、持汤沃灌（汤：热水）、腰（腰佩，名词作动词）、容臭（香袋）、烨然（光彩照人的样子）、缊袍敝衣（破旧棉袍）、口体之奉（吃的穿的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唐雎》讲外交辞令的进退：唐雎先以“受地于先王而守之”婉拒（守礼），再以“布衣之怒”对“天子之怒”（针锋相对），秦王“长跪而谢”——对比中见不畏强权；《送东阳》先叙己苦（无书—手自笔录；无师—趋百里外；生活—缊袍敝衣）再勉后生，对比（同舍生华丽与“我”缊袍敝衣而“略无慕艳意”）与以身作则并行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《战国策》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对比论证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序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“休祲降于天”按字面猜译，不解吉凶征兆之义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364 / 405</a:t>
            </a:r>
            <a:endParaRPr lang="en-US" sz="1150" dirty="0"/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文言文·《唐雎不辱使命》《送东阳… · 讲解（讲解 2/2）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第三单元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1037844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5937" y="1821942"/>
            <a:ext cx="731520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误区：“休祲降于天”按字面猜译必错——休祲是吉凶的征兆；“持汤沃灌”的“汤”是热水，不是菜汤。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365 / 405</a:t>
            </a:r>
            <a:endParaRPr lang="en-US" sz="1150" dirty="0"/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文言文·《唐雎不辱使命》《送东阳马生序》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翻译“安陵君其许寡人！”并分析“其”的表达作用。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辨词性：“其”在此不是代词，是表期望、命令的语气副词。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落实句意：安陵君可要答应我啊（希望安陵君一定要答应我）！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析语气：以“其”传命令式期望，居高临下，正是秦王恃强索地的傲慢口吻，为后文唐雎的抗辩蓄势。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安陵君可要答应我啊！“其”表期望（命令）语气；这一口吻写出秦王以强凌弱的傲慢，与唐雎不卑不亢的应对形成对照。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366 / 405</a:t>
            </a:r>
            <a:endParaRPr lang="en-US" sz="1150" dirty="0"/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文言文·《唐雎不辱使命》《送东阳马生序》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课堂即时练：解释“徒以有先生也”中“徒”的意思并翻译本句。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课后迁移：宋濂写自己求学之苦用了哪几组对比？各举一例。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367 / 405</a:t>
            </a:r>
            <a:endParaRPr lang="en-US" sz="1150" dirty="0"/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　词四首联读 ＋ 写作·布局谋篇 ＋ 名著导读（儒…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第三单元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白发将军在塞下泪光里望乡，辛弃疾梦里点兵，秋瑾慨叹“身不得，男儿列”——四首词，四种报国心绪。今天联读，顺带学布局谋篇，再认识两部名著中的经典形象。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548329"/>
          </a:xfrm>
          <a:prstGeom prst="roundRect">
            <a:avLst>
              <a:gd name="adj" fmla="val 15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3274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四首对读按“秋思—出猎—壮词—巾帼”：范仲淹《渔家傲·秋思》“浊酒一杯家万里”——将士思乡与功业未建的矛盾（“燕然未勒归无计”）；苏轼《江城子·密州出猎》“会挽雕弓如满月”——报国豪情（用典：亲射虎、遣冯唐、射天狼）；辛弃疾《破阵子》“了却君王天下事”的梦境豪壮与“可怜白发生”的现实悲愤——落差是本词的魂；秋瑾《满江红》“身不得，男儿列，心却比，男儿烈”——身为女子的报国之志与苦闷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布局谋篇落点：练两种结构——小标题式（全文分三节各冠小标题，脉络醒目，适合多片段写人记事）与欲扬先抑式（先抑后扬，情感落差成就感染力）；写前列“结构路线图”，标出转折点与详写点。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著落点：《儒林外史》做讽刺人物卡（周进撞号板、范进中举发疯——科举异化读书人；严监生两根灯芯——吝啬入骨）；《简·爱》画成长线对照卡（盖茨黑德—洛伍德—桑菲尔德—沼泽居，每站记“遭遇—选择—精神”）。误区：《破阵子》只读出豪壮漏掉悲愤落差，是最高频失分点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豪放词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布局谋篇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讽刺小说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《破阵子》只读出豪壮，漏掉“可怜白发生”的悲愤落差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368 / 405</a:t>
            </a:r>
            <a:endParaRPr lang="en-US" sz="1150" dirty="0"/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　词四首联读 ＋ 写作·布局谋篇 ＋ 名著导读（儒…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《破阵子》中“了却君王天下事，赢得生前身后名。可怜白发生！”的情感是如何转折的？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看梦境：前文写看剑、闻角、分麾、奏乐、点兵，全是梦中军营与沙场的豪壮。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找转折：“了却……赢得……”把豪情推到顶点，紧接着“可怜白发生”一语跌落：梦醒，壮志未酬，白发已生。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析落差：理想（梦里点兵）与现实（白发闲居）的巨大反差，铸成“悲壮”而非单纯“豪放”的基调。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由梦中沙场点兵、了却天下事的极豪壮，陡然跌至“可怜白发生”的现实悲愤；九句蓄势一句跌落，落差越大，悲愤越深——这才是全词的真正基调。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369 / 405</a:t>
            </a:r>
            <a:endParaRPr lang="en-US" sz="1150" dirty="0"/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　词四首联读 ＋ 写作·布局谋篇 ＋ 名著导读…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课堂即时练：各用一个词概括四首词的情感基调。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课后迁移：为题目《那盏灯》分别设计“小标题式”与“欲扬先抑式”两种结构提纲。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370 / 405</a:t>
            </a:r>
            <a:endParaRPr lang="en-US" sz="1150" dirty="0"/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 · 古人的抉择（义利与使臣风骨）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《孟子》论辩如潮：类比起、排比承、反问收；盯牢“辟通避、乡通向”与“是＝这”，舍生取义自在…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唐雎以布衣之怒对天子之怒，宋濂以自叙之苦勉后生；盯牢“休祲＝吉凶征兆”“汤＝热水”与“以……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四首词四种心绪：思乡、豪迈、悲愤、激昂；《破阵子》九句蓄势一句跌落——读词读落差，作文学布…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翻译“二者不可得兼，舍生而取义者也”；各用一个词概括四首词的情感基调。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371 / 405</a:t>
            </a:r>
            <a:endParaRPr lang="en-US" sz="1150" dirty="0"/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2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· 阅读与鉴赏 ｜ 考查：观点提炼、举例论证、批读方法迁移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　读书与审美（文艺论文）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读读书法与鉴赏法，学会用例证讲清一个道理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议论文联读·读书之法（谈读书／不求甚解）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文艺论文·鉴赏方法（山水画的意境／无言之美／驱遣我们的想象）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写作·修改润色 ＋ 口语交际·辩论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　议论文联读·读书之法（谈读书／不求甚解）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第四单元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培根说“读书足以怡情，足以傅彩，足以长才”；马南邨却替“不求甚解”翻案——到底该怎么读书？两篇对读，各取一瓢。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330702"/>
          </a:xfrm>
          <a:prstGeom prst="roundRect">
            <a:avLst>
              <a:gd name="adj" fmla="val 1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30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读抓手是“观点对读＋论证方法辨析”：培根的《谈读书》是格言体——排比与比喻密集（“书有可浅尝者，有可吞食者”分喻不同读法；“读史使人明智，读诗使人灵秀”排比列举各书之功），读法是先分类再品味。《不求甚解》是翻案文章——先摆靶子（对“不求甚解”的贬义理解），再考源（陶渊明原意是读书要会意），后立论（虚心领会要旨与“观其大略”的博览），驳立结合，另引陆象山语作道理论据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读落点：精读与博览如何互补——培根分书施读（浅尝、吞食、细嚼），恰是“不求甚解”中“观其大略”的西方版本；两文同主张：读书贵在会意与致用，不贵死读。论证方法上，《谈读书》以比喻论证与排比见长，《不求甚解》以驳立结合、引用论证取胜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误区：把“不求甚解”当贬义成语用是未读出马南邨的辩证——文中的用法是读书方法（不抠字眼、领会要旨）；检验法：能否一句话说出翻案依据（陶渊明原意＋“未晓处且放过”的通达）。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比喻论证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驳立结合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把“不求甚解”当贬义成语用，未读出马南邨的辩证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373 / 405</a:t>
            </a:r>
            <a:endParaRPr lang="en-US" sz="1150" dirty="0"/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　议论文联读·读书之法（谈读书／不求甚解）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“书有可浅尝者，有可吞食者，少数则须咀嚼消化”用了什么论证方法？有何效果？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辨方法：以进食方式喻读书方式，比喻论证（兼排比铺陈）。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对位：浅尝＝浏览即可，吞食＝只需知其梗概，咀嚼消化＝须精读深研——把抽象的读书方法讲得具体可感。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结效果：化抽象为形象，分类清晰，读者极易对照自己的读书习惯。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比喻论证。以“浅尝、吞食、咀嚼消化”三种进食方式对应三类读法，形象而条理地说明读书须因书施法——有的浏览、有的略读、有的精读。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374 / 405</a:t>
            </a:r>
            <a:endParaRPr lang="en-US" sz="1150" dirty="0"/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　议论文联读·读书之法（谈读书／不求甚解）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课堂即时练：用一句话说出《不求甚解》为“不求甚解”翻案的核心依据。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课后迁移：结合两文写一句话回答“精读与博览如何互补”。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375 / 405</a:t>
            </a:r>
            <a:endParaRPr lang="en-US" sz="1150" dirty="0"/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　文艺论文·鉴赏方法（山水画的意境／无言之美／驱遣…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第四单元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中国山水画讲究“意境”——画的不只是山，更是山背后的情。怎么讲清“意境”“无言之美”这些概念？以实例开路。今天读三篇文艺论文。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艺论文读法：先读例再读论——用文中的实例（诗、画、文）理解观点，再用观点回观实例，例证法双向印证。《山水画的意境》以实例讲“意境＝景与情的结合”：李白送别诗“孤帆远影碧空尽，唯见长江天际流”——全句写景而依依惜别之情自在其中；画画若只描对象外形而无画家思想感情，就只有“术”没有“艺”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无言之美》以文学例证讲含蓄之美——“言有尽而意无穷”：文学以部分暗示全部，举证皆先读例再悟理；《驱遣我们的想象》讲鉴赏方法：文艺作品的文字只是符号，须驱遣想象把文字还原为形象与情境，才能与作者情意相通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误区：摘抄术语不举例（“这首诗有意境”“体现了无言之美”）是空答——检验法：任何鉴赏判断必须配一个具体文本实例，说清“景（象）是什么、情（意）是什么、二者如何结合”。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意境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含蓄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例证法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摘抄术语不举例，答不出意境如何生成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376 / 405</a:t>
            </a:r>
            <a:endParaRPr lang="en-US" sz="1150" dirty="0"/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　文艺论文·鉴赏方法（山水画的意境／无言之美／驱遣…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结合《山水画的意境》的观点，说明“孤帆远影碧空尽，唯见长江天际流”为什么有意境。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述观点：意境是景与情的结合；情寓于景，景中见情，方有意境。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析景：诗人立于江边，望孤帆渐远，直至消失于碧空尽头，只见江水流向天际——全是眼前之景。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见情：“唯见”写出伫立之久、凝望之痴；不舍与牵挂全在不言中——景愈远，情愈深，景情交融即意境。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该句纯写送别所见之景：孤帆远去、江流天际；而“唯见”的凝望里盛满依依惜别之情——景是情的外化，情是景的内核，正是“景与情的结合”，故有意境。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377 / 405</a:t>
            </a:r>
            <a:endParaRPr lang="en-US" sz="1150" dirty="0"/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　文艺论文·鉴赏方法（山水画的意境／无言之美／…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课堂即时练：用“言有尽而意无穷”解释“大漠孤烟直，长河落日圆”的含蓄之美。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课后迁移：用“驱遣想象”的方法读“假如我是一只鸟”，写出你“看见”的画面。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378 / 405</a:t>
            </a:r>
            <a:endParaRPr lang="en-US" sz="1150" dirty="0"/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　写作·修改润色 ＋ 口语交际·辩论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第四单元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好文章是改出来的——第一稿解决“有没有”，修改解决“好不好”。改两轮：先动结构，再磨字句。今天学改稿次序，也学辩论的章法。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两轮法的次序有讲究：第一轮查中心与结构（中心是否一以贯之？段落顺序是否合理？详略是否得当？材料是否都指向中心？）——结构问题是大手术，先做；第二轮磨字句（删冗余词、换准确词、调节奏、核标点）——局部小修，后做。次序颠倒会白改。修改实操：朗读法（拗口处往往即病处）、冷却法（放半天再读）、对照法（对照提纲检查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润色落点：换词三问——这个词比原词多给了读者什么？（更准确？更形象？更有力？）若答不出，就不是有效的润色，只是炫技。口语交际“辩论”落点：三环节分工——立论（亮观点、给论据、划界定）、质询（抓对方论证漏洞：论据不实、推不出、偷换概念；提问短促有力）、小结（重申立场、点出对方最大漏洞、不做人身攻击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误区：修改只纠错别字，不动结构与逻辑——那是最无效的“改稿”。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修改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辩论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修改只纠错别字，不动结构与逻辑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379 / 405</a:t>
            </a:r>
            <a:endParaRPr lang="en-US" sz="1150" dirty="0"/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　写作·修改润色 ＋ 口语交际·辩论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下面这段习作的修改应先动哪一层？请给出第一轮修改方案：“我的妈妈是个好人。她很勤劳，也很善良，对我也很好。她每天都很辛苦。我爱我的妈妈。”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91922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9192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79120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诊断层级：问题不在字句，而在结构与内容——全段是评价句堆叠，无一个具体事例，中心空泛。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57759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5775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44957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第一轮方案（结构层）：确立一个具体中心（如“妈妈的勤劳藏在细节里”），换入一件真事——深夜她在灯下为“我”缝补校服袖口（动作细节）；删去“勤劳善良很好”的空评，让事件自己说话。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423595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42359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410794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留待第二轮的字句工作：待结构定了，再磨“很好”“很辛苦”这类模糊词。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82117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88518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先动结构层：以具体事件替换空泛评价，让中心立起来；字句的打磨放到第二轮。修改次序：先中心结构，后字句润色。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380 / 405</a:t>
            </a:r>
            <a:endParaRPr lang="en-US" sz="1150" dirty="0"/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　写作·修改润色 ＋ 口语交际·辩论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课堂即时练：辩论练习——就“开卷有益”立论，要求含界定与一个论据。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课后迁移：给你的上一篇作文做两轮修改，第一轮只动结构，并列出改动清单。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381 / 405</a:t>
            </a:r>
            <a:endParaRPr lang="en-US" sz="1150" dirty="0"/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 · 读书与审美（文艺论文）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两篇对读：培根分书施法，马南邨为“不求甚解”翻案——读书贵在会意与致用；精读与博览互补，不…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文艺论文先读例再读论：意境是景与情的结合，无言之美在以少总多，鉴赏须驱遣想象把文字还原成画…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修改先结构后字句：第一轮查中心详略，第二轮磨词句节奏；辩论三环节立论—质询—小结，对观点不…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用文中实例说明“意境”的含义；为一篇习作提出一处结构层面的修改建议。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382 / 405</a:t>
            </a:r>
            <a:endParaRPr lang="en-US" sz="1150" dirty="0"/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3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· 表达与交流 ｜ 考查：戏剧冲突、潜台词、舞台说明的作用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第五单元　活动·探究：戏剧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读剧本的冲突与潜台词，动手排演一幕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剧本阅读·冲突与台词（屈原／天下第一楼／枣儿）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排演实践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2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剧本阅读·冲突与台词（屈原／天下第一楼／枣儿）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第五单元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“我没有病！”——舞台上一句嘶喊，比小说十页心理描写更震撼。剧本是“演出来”的文学：冲突、台词、潜台词、舞台说明，四件套缺一不可。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330702"/>
          </a:xfrm>
          <a:prstGeom prst="roundRect">
            <a:avLst>
              <a:gd name="adj" fmla="val 1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30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四件套的读法：戏剧冲突（人物之间或人物内心的对抗，是剧本的发动机——读剧本先问“谁与谁在争什么”）；台词（人物语言，须个性化——屈原的独白如雷电奔涌，符合其悲愤与诗人气质）；潜台词（台词背后的言外之意——角色说的与想的未必一致）；舞台说明（括号里的时间、布景、动作、表情提示，不是“没用的括号”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屈原》的“雷电颂”独白——屈原被囚，风、雷、电成为倾诉对象（呼告与象征：雷电象征变革的力量），抒情在独白中爆发；《天下第一楼》理人物矛盾网——卢孟实与各方各有其争（争经营、争尊严、争利益），一张网就是老字号的兴衰；《枣儿》读潜台词——老人念叨“枣儿”与等儿子，男孩等爸爸，“甜是甜，不比往日的甜”表面说枣，实言人情与亲情的变味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误区：把舞台说明当“没用的括号”是高频错误——检验法：删去一段舞台说明再读，人物的动机、气氛的转换是否失去依据？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独白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舞台说明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潜台词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戏剧冲突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把舞台说明当“没用的括号”，忽略其提示动作与气氛的作用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384 / 405</a:t>
            </a:r>
            <a:endParaRPr lang="en-US" sz="1150" dirty="0"/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剧本阅读·冲突与台词（屈原／天下第一楼／枣儿）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《枣儿》中老人说“甜是甜，不比往日的甜”，这句台词的潜台词是什么？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找明面义：眼前的枣儿依然是甜的。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寻反常：“不比往日”是转折，暗示“甜”里缺了什么。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联系情境：老人守着枣树等儿子归来；往日的甜是儿孙绕膝的天伦之甜。潜台词：物是人非，亲情疏离，日子甜味不再。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潜台词：枣还甜，可儿子远走、亲人离散，往日团圆的甜味一去不返；一句谈枣的话，托出老人空巢守望的孤独与对亲情回归的渴望。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385 / 405</a:t>
            </a:r>
            <a:endParaRPr lang="en-US" sz="1150" dirty="0"/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剧本阅读·冲突与台词（屈原／天下第一楼／枣儿）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课堂即时练：从《屈原》“雷电颂”中找两处呼告，说明独白的抒情特点。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课后迁移：指出《天下第一楼》一处舞台说明，说说它提示了什么。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386 / 405</a:t>
            </a:r>
            <a:endParaRPr lang="en-US" sz="1150" dirty="0"/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　排演实践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第五单元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读了一单元剧本，现在轮到你们把文字立到台上。选一场戏，五分钟，排出它的冲突来。今天动手排演。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60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演流程：选场（选冲突集中、人物两三人的场次）—围读（先弄清每句台词的潜台词）—定走位与语气（谁在台左台右、何时逼近何时退开；哪句重读、哪句停顿）—写“导演阐释”三句（这场戏的核心冲突是什么／我想让矛盾在哪个瞬间最尖锐／我用哪个动作或停顿表现它）—排练—演出—评议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议双指标：冲突是否立住（观众能否一眼看出谁与谁在争什么、矛盾有无起伏）；台词是否达意（语气、停顿是否传达了潜台词）。排演误区：只背台词不设计动作与停顿——戏剧是动作的艺术，站着背书冲突就扁了；停顿本身是台词的一部分，沉默常比喊叫更有力量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与阅读的互证：排演迫使你做出每个细节的解释——你让角色在哪里提高声音，就是你对该处潜台词的理解；导演阐释三句是检验精读深度的标尺。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导演阐释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评议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排演只背台词不设计动作与停顿，冲突扁平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387 / 405</a:t>
            </a:r>
            <a:endParaRPr lang="en-US" sz="1150" dirty="0"/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　排演实践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小组排演《枣儿》选段，请写出三句“导演阐释”。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定核心冲突：老人盼儿归的守望与男孩等爸爸的失落相互映照，核心是“等待中的孤独”。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定尖锐点：男孩问“你的儿子为什么回来不了”后停顿两秒，让老人望向枣树再开口——亲情的缺失在此最尖锐。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定表现手段：结尾两人齐望远方喊“枣儿甜，枣儿香”，声音由响转轻——以齐声的期盼收束，把孤独推向观众。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三句导演阐释如上。合格标志：冲突说得清、尖锐点有时空设计（停顿、走位）、手段与冲突对应。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388 / 405</a:t>
            </a:r>
            <a:endParaRPr lang="en-US" sz="1150" dirty="0"/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　排演实践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课堂即时练：为“老人给男孩讲故事”一段设计一处停顿，并说明理由。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课后迁移：小组完成一幕五分钟排演并互评“冲突是否立住—台词是否达意”两项。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389 / 405</a:t>
            </a:r>
            <a:endParaRPr lang="en-US" sz="1150" dirty="0"/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第五单元 · 活动·探究：戏剧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读剧本四件套：冲突找发动机，台词看个性，潜台词挖言外之意，舞台说明不是括号废纸——删掉它再…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排演五步：选场—围读—定走位语气—写导演阐释—演出评议；冲突要立住，停顿也是台词。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9905" y="2882646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9" name="Text 7"/>
          <p:cNvSpPr/>
          <p:nvPr/>
        </p:nvSpPr>
        <p:spPr>
          <a:xfrm>
            <a:off x="811073" y="295579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1073" y="3230118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指出《枣儿》中一句潜台词并说明言外之意；小组完成一幕五分钟的排演。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390 / 405</a:t>
            </a:r>
            <a:endParaRPr lang="en-US" sz="1150" dirty="0"/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1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916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· 梳理与探究 ｜ 考查：文言综合（实词、句式、翻译）、名篇名句默写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第六单元　沙场与苍生（史传论说与诗词曲）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读战争智慧与讽谏艺术，梳理三年文言，收束初中学习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文言文·《曹刿论战》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文言文·《邹忌讽齐王纳谏》《出师表》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诗词曲五首联读 ＋ 写作·有创意地表达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　文言文·《曹刿论战》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第六单元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长勺之战，弱鲁胜强齐。一介平民曹刿请见国君，问了一句“何以战”——凭什么作战？这一问，问出了全部胜机。今天读《曹刿论战》。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330702"/>
          </a:xfrm>
          <a:prstGeom prst="roundRect">
            <a:avLst>
              <a:gd name="adj" fmla="val 1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30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言落实：重点古今异义——鄙（目光短浅，非“卑鄙”）、牺牲（祭祀用的猪牛羊等，非“献身”）、狱（案件）、虽（即使）、可以（可以凭借）、情（实情）、忠（尽力做好分内的事）；重点词——间（参与）、徧（通“遍”，遍及）、弗敢加也（虚报）、察（明察）、必以情（以：按照）、驰（驱车追赶）、辙（车轮印）、轼（车前横木）、盈（充满，此指士气旺盛）、竭（竭尽）、测（推测、估计）、伏（埋伏）、靡（倒下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以“战前—战中—战后”三问三答理叙事与论断：战前问“何以战”——曹刿以“小大之狱，虽不能察，必以情”定“忠之属”（取信于民是作战的根本）；战中两个“未可”与两个“可矣”的判断（齐人三鼓后击；下视其辙、登轼望之而后追）；战后曹刿自解两处“可矣”的依据——叙事与论断结合，“肉食者鄙，未能远谋”贯穿始终作对照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误区：“牺牲玉帛”按今义“为正义献身”误译是经典错误；“小大之狱”的“狱”是“案件”非“监狱”；“可以一战”须补出“以”的宾语（凭借这个条件）。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《左传》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古今异义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一鼓作气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“牺牲玉帛”按今义“献身”误译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392 / 405</a:t>
            </a:r>
            <a:endParaRPr lang="en-US" sz="1150" dirty="0"/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　文言文·《曹刿论战》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翻译“小大之狱，虽不能察，必以情”，并指出“之”“虽”的意义。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落实古今异义：狱——案件（古义）；虽——即使（古义，非“虽然”）。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辨“之”：结构助词“的”（小大的案件）。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连缀并检验：大大小小的案件，即使不能件件都了解得清楚，但一定要根据实情（合理裁决）；“必以情”的“以”译“按照”。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大大小小的诉讼案件，即使不能一一明察，但（我）一定根据实情来处理。“狱”为案件（古义），“虽”为即使，“之”是助词“的”。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393 / 405</a:t>
            </a:r>
            <a:endParaRPr lang="en-US" sz="1150" dirty="0"/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　文言文·《曹刿论战》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课堂即时练：解释“肉食者谋之，又何间焉”中“肉食者”“间”的意思并翻译。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课后迁移：曹刿两次说“未可”、两次说“可矣”分别依据什么？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394 / 405</a:t>
            </a:r>
            <a:endParaRPr lang="en-US" sz="1150" dirty="0"/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文言文·《邹忌讽齐王纳谏》《出师… · 讲解（讲解 1/2）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第六单元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妻说我美，妾说我美，客人也说我美——邹忌照着镜子想了想：他们都骗我。由这件家事，他给齐王上了一堂治国课。另一边，诸葛亮出征前上表，句句叮嘱。今天读讽谏与忠恳。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202686"/>
          </a:xfrm>
          <a:prstGeom prst="roundRect">
            <a:avLst>
              <a:gd name="adj" fmla="val 17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928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言落实：《邹忌讽齐王纳谏》——修（长，此指身高）、昳丽（光艳美丽）、窥镜（照镜子）、弗如远甚（远远不如）、寝（躺着休息）、私（偏爱）、蔽（受蒙蔽）、面刺（当面指责）、谤讥于市朝（在公共场所议论批评，古义中性）、期年（满一年）、间进（偶尔进谏）、门庭若市；《出师表》——崩殂（死）、恢弘（发扬扩大）、引喻失义（说话不恰当）、陟罚臧否（提拔惩罚、评定好坏）、作奸犯科（干坏事犯法纪）、夙夜忧叹（早晚）、斟酌损益（权衡取舍）、临表涕零（落泪）；“三顾臣于草庐之中”是状语后置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目落点：《邹忌》讲类比讽谏的思路链：家事（妻私我—妾畏我—客有求于我→皆以美我）→国事（宫妇私王—朝臣畏王—四境之内有求于王→王之蔽甚矣）——由小及大、由己及君，“讽”胜于“谏”；齐王三赏与“三变”（门庭若市→时时间进→无可进者）写出纳谏之效。《出师表》理“三顾草庐—临危受命—北定中原”的忠恳层次与三条建议（开张圣听、赏罚分明、亲贤远佞）——“开张圣听”是贯穿全表的劝谏主线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《战国策》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诸葛亮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表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类比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《出师表》当抒情文读，漏掉“开张圣听”的劝谏主线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395 / 405</a:t>
            </a:r>
            <a:endParaRPr lang="en-US" sz="1150" dirty="0"/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文言文·《邹忌讽齐王纳谏》《出师… · 讲解（讲解 2/2）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第六单元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1037844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5937" y="1821942"/>
            <a:ext cx="731520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误区：《出师表》当抒情文读漏掉“开张圣听”的劝谏主线；“以光先帝遗德”的“光”是“发扬光大”（名词作动词）。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396 / 405</a:t>
            </a:r>
            <a:endParaRPr lang="en-US" sz="1150" dirty="0"/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文言文·《邹忌讽齐王纳谏》《出师表》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翻译“吾妻之美我者，私我也”，并指出“美”的用法。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辨活用：“美”是形容词的意动用法——认为……美。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落实词义：私——偏爱。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连缀并明思路：我的妻子认为我美，是因为偏爱我；此句是邹忌自省的关键——由“谁说了什么”追问“为什么这样说”，为类比讽谏张本。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我的妻子认为我美，是因为偏爱我。“美”为意动用法（认为美）；这一追问揭开“美我”背后的“私”，成为邹忌由家事推及国事、讽谏齐王的推理起点。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397 / 405</a:t>
            </a:r>
            <a:endParaRPr lang="en-US" sz="1150" dirty="0"/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文言文·《邹忌讽齐王纳谏》《出师表》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课堂即时练：翻译“能谤讥于市朝，闻寡人之耳者，受下赏”，并说说“谤讥”的古今义。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课后迁移：说出《出师表》三条建议的原文表述，并指出贯穿全表的劝谏主线。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398 / 405</a:t>
            </a:r>
            <a:endParaRPr lang="en-US" sz="1150" dirty="0"/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文言文·《邹忌讽齐王纳谏》《出师表》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9b-6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文言虚词“之”用法思维导图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圈“之”。四个分支，每支含“用法标签＋语法说明＋统编教材课文原句”：①代词（代人／事／物，例：“学而时习之”——它）；②结构助词“的”（例：《曹刿论战》“小大之狱”——的案件）；③用在主谓之间取消句子独立性（不译，例：《爱莲说》“予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399 / 405</a:t>
            </a:r>
            <a:endParaRPr lang="en-US" sz="1150" dirty="0"/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　诗词曲五首联读 ＋ 写作·有创意地表达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第六单元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戍楼刁斗，零丁洋上的孤舟，潼关古道的宫阙——五首诗词曲，五种家国之叹。今天联读收束三年诗词学习，再学一招“有创意地表达”。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3548329"/>
          </a:xfrm>
          <a:prstGeom prst="roundRect">
            <a:avLst>
              <a:gd name="adj" fmla="val 15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3274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首按“边愁—送别—咏史—明志—怀古”对读：《十五从军征》老兵归家见“松柏冢累累”——八十始得归的彻骨悲凉（乐府叙事）；《白雪歌送武判官归京》“忽如一夜春风来，千树万树梨花开”——以春花喻冬雪的奇喻，酷寒顿生暖意，随后折柳送别的愁绪在“风掣红旗冻不翻”的奇寒中凝住；《南乡子·登京口北固亭有怀》“生子当如孙仲谋”借赞孙权讽南宋无抗金之君（咏史讽今）；《过零丁洋》“人生自古谁无死，留取丹心照汗青”以死明志——地名双关（惶恐滩、零丁洋）最易漏析；《山坡羊·潼关怀古》“兴，百姓苦；亡，百姓苦”对举主旨——无论朝代兴亡，受苦的都是百姓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细读落点：《白雪歌》的转换艺术——前半咏雪（奇喻暖笔）后半送别（愁绪冷笔），“中军置酒饮归客”是转轴；《过零丁洋》“身世浮沉雨打萍”的比喻链。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落点“有创意地表达”：形式创意练——同一题目（《放学路上》）分别用书信体（写给三年后的自己）与日记体（当晚三则）各写一段，比较形式对内容与语气的改造：书信体见倾诉感，日记体见碎片真实。创意三来源：换形式、换视角（以物为叙述者）、换时空（未来回望）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咏史诗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元曲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创意表达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《过零丁洋》“惶恐滩—零丁洋”的双关地名漏析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400 / 405</a:t>
            </a:r>
            <a:endParaRPr lang="en-US" sz="1150" dirty="0"/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　诗词曲五首联读 ＋ 写作·有创意地表达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“峰峦如聚，波涛如怒，山河表里潼关路”中“聚”“怒”二字妙在何处？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辨活用与拟人：“聚”写群峰如从四面八方会聚而来，“怒”写黄河波涛如发怒咆哮，皆是拟人化的动态描写。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品效果：化静为动、赋山河以性情，潼关的险要气势扑面而来。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9E544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结主旨铺垫：山河之雄险正是历代争战之地，为下文“兴，百姓苦；亡，百姓苦”的感慨蓄势。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“聚”使群峰有了会聚奔涌之势，“怒”使河涛有了震怒之声；二字化静为动、以情写物，极言潼关形势之险要，为怀古伤今的主旨作了雄浑的铺垫。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401 / 405</a:t>
            </a:r>
            <a:endParaRPr lang="en-US" sz="1150" dirty="0"/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　诗词曲五首联读 ＋ 写作·有创意地表达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课堂即时练：说明“惶恐滩头说惶恐，零丁洋里叹零丁”的双关之妙。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3129534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361" y="3220974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课后迁移：以“放学路上”为题，用日记体写两则短文（各50字左右），要求语气与内容贴合日记形式。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402 / 405</a:t>
            </a:r>
            <a:endParaRPr lang="en-US" sz="1150" dirty="0"/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第六单元 · 沙场与苍生（史传论说与诗词曲）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《曹刿论战》三问三答立“远谋”：取信于民是根本，一鼓作气是战机，察辙望旗防埋伏；“牺牲、狱…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邹忌以家事喻国事层层类比，诸葛亮以三条建议拳拳忠恳；“美”是意动、“谤讥”是古义中性——讽…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五首收束三年：边愁、奇喻、咏史、丹心、民苦——“兴亡百姓苦”最见高度；创意表达可换形式、换…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翻译“小大之狱，虽不能察，必以情”并指出“之”的用法；默写“人生自古谁无死，留取丹心照汗青”。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403 / 405</a:t>
            </a:r>
            <a:endParaRPr lang="en-US" sz="1150" dirty="0"/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考试聚焦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章章有侧重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712214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第一单元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写景散文语言品析、修辞辨析与朗…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第二单元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记事文章的线索与细节作用；《世…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905" y="2297430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第三单元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默读概括能力；《论语》十二章名…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905" y="2590038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第四单元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关键句勾画与内容概括、人物精神…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905" y="2882646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第五单元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中心句与中心概括；《狼》的实词…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905" y="3175254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第六单元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快速阅读与信息提取、想象与夸张…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905" y="3467862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第一单元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人物精神品质与典型事例的对应；…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905" y="3760470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第二单元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抒情方式辨析、朗读设计；《木兰…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9905" y="4053078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第三单元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细节描写的作用、人物情感态度变…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9905" y="4345686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第四单元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略读与中心把握；《陋室铭》《爱…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905" y="4638294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第五单元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托物言志手法辨析、古诗名句理解…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905" y="4930902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第六单元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浏览与信息提取、伏笔照应；《活…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58640" y="1712214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第一单元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消息的倒金字塔结构、导语拟写、…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58640" y="2004822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第二单元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典型事件与细节写人、作者情感把…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58640" y="2297430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第三单元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文言写景句翻译、名篇默写、景物…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58640" y="2590038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第四单元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《背影》的细节与情感、《白杨礼…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58640" y="2882646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第五单元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说明方法辨识与作用、说明顺序、…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58640" y="3175254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第六单元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文言实词虚词与句式、人物形象概…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58640" y="3467862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第一单元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情景交融、排比反复的语言气势、…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58640" y="3760470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第二单元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事理说明的顺序与逻辑、说明方法…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58640" y="4053078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第三单元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古今异义与词句翻译、虚实结合、…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58640" y="4345686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第四单元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演讲的听众意识、观点与材料配合…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58640" y="4638294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第五单元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所至所见所感、定点换景、语言风…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58640" y="4930902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第六单元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文言虚词与句式、托物寓意、讽喻…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07375" y="1712214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第一单元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意象与情感把握、诗歌朗诵设计、…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07375" y="2004822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第二单元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中心论点提取、论据类型与作用、…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107375" y="2297430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第三单元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重点句翻译、主旨句理解、名篇默写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07375" y="2590038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第四单元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人物形象分析、环境描写作用、小…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07375" y="2882646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第五单元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驳论结构辨析、论证语言的严密性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07375" y="3175254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第六单元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古代白话词语、讽刺与衬托手法、…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107375" y="3467862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第一单元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意象群体与时代背景、象征手法辨析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07375" y="3760470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第二单元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人物复杂性格、细节与语言的讽刺…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107375" y="4053078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第三单元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议论文言的论证、实词虚词、爱国…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07375" y="4345686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第四单元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观点提炼、举例论证、批读方法迁移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107375" y="4638294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第五单元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戏剧冲突、潜台词、舞台说明的作用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07375" y="4930902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第六单元</a:t>
            </a:r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文言综合（实词、句式、翻译）、…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节级精细课件 ｜ 九科教辅规范包 v1.0 ｜ 404 / 405</a:t>
            </a:r>
            <a:endParaRPr lang="en-US" sz="1150" dirty="0"/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5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65836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学科出口自检（独立完成）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合上课本完成以下任务；评价标准在教师手册（course.json），先独立作答再对照自评。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905" y="1783080"/>
            <a:ext cx="10971886" cy="896112"/>
          </a:xfrm>
          <a:prstGeom prst="roundRect">
            <a:avLst>
              <a:gd name="adj" fmla="val 6122"/>
            </a:avLst>
          </a:prstGeom>
          <a:solidFill>
            <a:srgbClr val="F5F2EA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9385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51153" y="1874520"/>
            <a:ext cx="98288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不回看课本，按“学习方法／学习态度／修身做人”各写出《论语》两句原句，并翻译其中一句。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905" y="2807208"/>
            <a:ext cx="10971886" cy="896112"/>
          </a:xfrm>
          <a:prstGeom prst="roundRect">
            <a:avLst>
              <a:gd name="adj" fmla="val 6122"/>
            </a:avLst>
          </a:prstGeom>
          <a:solidFill>
            <a:srgbClr val="F5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8505" y="296265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51153" y="2898648"/>
            <a:ext cx="98288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翻译“庭下如积水空明，水中藻、荇交横”并说明其妙处；默写《使至塞上》颈联。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05" y="3831336"/>
            <a:ext cx="10971886" cy="896112"/>
          </a:xfrm>
          <a:prstGeom prst="roundRect">
            <a:avLst>
              <a:gd name="adj" fmla="val 6122"/>
            </a:avLst>
          </a:prstGeom>
          <a:solidFill>
            <a:srgbClr val="F5F2EA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39867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451153" y="3922776"/>
            <a:ext cx="98288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翻译“二者不可得兼，舍生而取义者也”；各用一个词概括四首词的情感基调。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905" y="5852160"/>
            <a:ext cx="109718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薄弱分支：讲解页回看对应节；例题卡壳 → 回例题页跟步骤重做；练习出错 → 找教师按提示阶梯重做。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405</Slides>
  <Notes>405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405</vt:i4>
      </vt:variant>
    </vt:vector>
  </HeadingPairs>
  <TitlesOfParts>
    <vt:vector size="40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  <vt:lpstr>Slide 250</vt:lpstr>
      <vt:lpstr>Slide 251</vt:lpstr>
      <vt:lpstr>Slide 252</vt:lpstr>
      <vt:lpstr>Slide 253</vt:lpstr>
      <vt:lpstr>Slide 254</vt:lpstr>
      <vt:lpstr>Slide 255</vt:lpstr>
      <vt:lpstr>Slide 256</vt:lpstr>
      <vt:lpstr>Slide 257</vt:lpstr>
      <vt:lpstr>Slide 258</vt:lpstr>
      <vt:lpstr>Slide 259</vt:lpstr>
      <vt:lpstr>Slide 260</vt:lpstr>
      <vt:lpstr>Slide 261</vt:lpstr>
      <vt:lpstr>Slide 262</vt:lpstr>
      <vt:lpstr>Slide 263</vt:lpstr>
      <vt:lpstr>Slide 264</vt:lpstr>
      <vt:lpstr>Slide 265</vt:lpstr>
      <vt:lpstr>Slide 266</vt:lpstr>
      <vt:lpstr>Slide 267</vt:lpstr>
      <vt:lpstr>Slide 268</vt:lpstr>
      <vt:lpstr>Slide 269</vt:lpstr>
      <vt:lpstr>Slide 270</vt:lpstr>
      <vt:lpstr>Slide 271</vt:lpstr>
      <vt:lpstr>Slide 272</vt:lpstr>
      <vt:lpstr>Slide 273</vt:lpstr>
      <vt:lpstr>Slide 274</vt:lpstr>
      <vt:lpstr>Slide 275</vt:lpstr>
      <vt:lpstr>Slide 276</vt:lpstr>
      <vt:lpstr>Slide 277</vt:lpstr>
      <vt:lpstr>Slide 278</vt:lpstr>
      <vt:lpstr>Slide 279</vt:lpstr>
      <vt:lpstr>Slide 280</vt:lpstr>
      <vt:lpstr>Slide 281</vt:lpstr>
      <vt:lpstr>Slide 282</vt:lpstr>
      <vt:lpstr>Slide 283</vt:lpstr>
      <vt:lpstr>Slide 284</vt:lpstr>
      <vt:lpstr>Slide 285</vt:lpstr>
      <vt:lpstr>Slide 286</vt:lpstr>
      <vt:lpstr>Slide 287</vt:lpstr>
      <vt:lpstr>Slide 288</vt:lpstr>
      <vt:lpstr>Slide 289</vt:lpstr>
      <vt:lpstr>Slide 290</vt:lpstr>
      <vt:lpstr>Slide 291</vt:lpstr>
      <vt:lpstr>Slide 292</vt:lpstr>
      <vt:lpstr>Slide 293</vt:lpstr>
      <vt:lpstr>Slide 294</vt:lpstr>
      <vt:lpstr>Slide 295</vt:lpstr>
      <vt:lpstr>Slide 296</vt:lpstr>
      <vt:lpstr>Slide 297</vt:lpstr>
      <vt:lpstr>Slide 298</vt:lpstr>
      <vt:lpstr>Slide 299</vt:lpstr>
      <vt:lpstr>Slide 300</vt:lpstr>
      <vt:lpstr>Slide 301</vt:lpstr>
      <vt:lpstr>Slide 302</vt:lpstr>
      <vt:lpstr>Slide 303</vt:lpstr>
      <vt:lpstr>Slide 304</vt:lpstr>
      <vt:lpstr>Slide 305</vt:lpstr>
      <vt:lpstr>Slide 306</vt:lpstr>
      <vt:lpstr>Slide 307</vt:lpstr>
      <vt:lpstr>Slide 308</vt:lpstr>
      <vt:lpstr>Slide 309</vt:lpstr>
      <vt:lpstr>Slide 310</vt:lpstr>
      <vt:lpstr>Slide 311</vt:lpstr>
      <vt:lpstr>Slide 312</vt:lpstr>
      <vt:lpstr>Slide 313</vt:lpstr>
      <vt:lpstr>Slide 314</vt:lpstr>
      <vt:lpstr>Slide 315</vt:lpstr>
      <vt:lpstr>Slide 316</vt:lpstr>
      <vt:lpstr>Slide 317</vt:lpstr>
      <vt:lpstr>Slide 318</vt:lpstr>
      <vt:lpstr>Slide 319</vt:lpstr>
      <vt:lpstr>Slide 320</vt:lpstr>
      <vt:lpstr>Slide 321</vt:lpstr>
      <vt:lpstr>Slide 322</vt:lpstr>
      <vt:lpstr>Slide 323</vt:lpstr>
      <vt:lpstr>Slide 324</vt:lpstr>
      <vt:lpstr>Slide 325</vt:lpstr>
      <vt:lpstr>Slide 326</vt:lpstr>
      <vt:lpstr>Slide 327</vt:lpstr>
      <vt:lpstr>Slide 328</vt:lpstr>
      <vt:lpstr>Slide 329</vt:lpstr>
      <vt:lpstr>Slide 330</vt:lpstr>
      <vt:lpstr>Slide 331</vt:lpstr>
      <vt:lpstr>Slide 332</vt:lpstr>
      <vt:lpstr>Slide 333</vt:lpstr>
      <vt:lpstr>Slide 334</vt:lpstr>
      <vt:lpstr>Slide 335</vt:lpstr>
      <vt:lpstr>Slide 336</vt:lpstr>
      <vt:lpstr>Slide 337</vt:lpstr>
      <vt:lpstr>Slide 338</vt:lpstr>
      <vt:lpstr>Slide 339</vt:lpstr>
      <vt:lpstr>Slide 340</vt:lpstr>
      <vt:lpstr>Slide 341</vt:lpstr>
      <vt:lpstr>Slide 342</vt:lpstr>
      <vt:lpstr>Slide 343</vt:lpstr>
      <vt:lpstr>Slide 344</vt:lpstr>
      <vt:lpstr>Slide 345</vt:lpstr>
      <vt:lpstr>Slide 346</vt:lpstr>
      <vt:lpstr>Slide 347</vt:lpstr>
      <vt:lpstr>Slide 348</vt:lpstr>
      <vt:lpstr>Slide 349</vt:lpstr>
      <vt:lpstr>Slide 350</vt:lpstr>
      <vt:lpstr>Slide 351</vt:lpstr>
      <vt:lpstr>Slide 352</vt:lpstr>
      <vt:lpstr>Slide 353</vt:lpstr>
      <vt:lpstr>Slide 354</vt:lpstr>
      <vt:lpstr>Slide 355</vt:lpstr>
      <vt:lpstr>Slide 356</vt:lpstr>
      <vt:lpstr>Slide 357</vt:lpstr>
      <vt:lpstr>Slide 358</vt:lpstr>
      <vt:lpstr>Slide 359</vt:lpstr>
      <vt:lpstr>Slide 360</vt:lpstr>
      <vt:lpstr>Slide 361</vt:lpstr>
      <vt:lpstr>Slide 362</vt:lpstr>
      <vt:lpstr>Slide 363</vt:lpstr>
      <vt:lpstr>Slide 364</vt:lpstr>
      <vt:lpstr>Slide 365</vt:lpstr>
      <vt:lpstr>Slide 366</vt:lpstr>
      <vt:lpstr>Slide 367</vt:lpstr>
      <vt:lpstr>Slide 368</vt:lpstr>
      <vt:lpstr>Slide 369</vt:lpstr>
      <vt:lpstr>Slide 370</vt:lpstr>
      <vt:lpstr>Slide 371</vt:lpstr>
      <vt:lpstr>Slide 372</vt:lpstr>
      <vt:lpstr>Slide 373</vt:lpstr>
      <vt:lpstr>Slide 374</vt:lpstr>
      <vt:lpstr>Slide 375</vt:lpstr>
      <vt:lpstr>Slide 376</vt:lpstr>
      <vt:lpstr>Slide 377</vt:lpstr>
      <vt:lpstr>Slide 378</vt:lpstr>
      <vt:lpstr>Slide 379</vt:lpstr>
      <vt:lpstr>Slide 380</vt:lpstr>
      <vt:lpstr>Slide 381</vt:lpstr>
      <vt:lpstr>Slide 382</vt:lpstr>
      <vt:lpstr>Slide 383</vt:lpstr>
      <vt:lpstr>Slide 384</vt:lpstr>
      <vt:lpstr>Slide 385</vt:lpstr>
      <vt:lpstr>Slide 386</vt:lpstr>
      <vt:lpstr>Slide 387</vt:lpstr>
      <vt:lpstr>Slide 388</vt:lpstr>
      <vt:lpstr>Slide 389</vt:lpstr>
      <vt:lpstr>Slide 390</vt:lpstr>
      <vt:lpstr>Slide 391</vt:lpstr>
      <vt:lpstr>Slide 392</vt:lpstr>
      <vt:lpstr>Slide 393</vt:lpstr>
      <vt:lpstr>Slide 394</vt:lpstr>
      <vt:lpstr>Slide 395</vt:lpstr>
      <vt:lpstr>Slide 396</vt:lpstr>
      <vt:lpstr>Slide 397</vt:lpstr>
      <vt:lpstr>Slide 398</vt:lpstr>
      <vt:lpstr>Slide 399</vt:lpstr>
      <vt:lpstr>Slide 400</vt:lpstr>
      <vt:lpstr>Slide 401</vt:lpstr>
      <vt:lpstr>Slide 402</vt:lpstr>
      <vt:lpstr>Slide 403</vt:lpstr>
      <vt:lpstr>Slide 404</vt:lpstr>
      <vt:lpstr>Slide 405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语文·节级精细讲解课件</dc:title>
  <dc:subject>PptxGenJS Presentation</dc:subject>
  <dc:creator>Wilson</dc:creator>
  <cp:lastModifiedBy>Wilson</cp:lastModifiedBy>
  <cp:revision>1</cp:revision>
  <dcterms:created xsi:type="dcterms:W3CDTF">2026-09-16T17:41:22Z</dcterms:created>
  <dcterms:modified xsi:type="dcterms:W3CDTF">2026-09-16T17:41:22Z</dcterms:modified>
</cp:coreProperties>
</file>