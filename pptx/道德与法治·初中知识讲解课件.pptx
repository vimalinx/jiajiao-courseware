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46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统编版（教育部组织编写，人民教育出版社出版）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核心素养：政治认同 · 道德修养 · 法治观念 · 健全人格 · 责任意识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统编版（教育部组织编写，人民教育出版社出版）（六册（七至九年级上下））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政治认同、道德修养、法治观念、健全人格、责任意识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 / 32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成长的节拍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334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友谊的天空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663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师长情谊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992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生命的思考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3321558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9633" y="363245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第一至二单元 青春时光与情绪管理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9633" y="396163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在集体中成长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9633" y="4290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走进法治天地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5" y="462000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9633" y="493090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第一至二单元 社会生活与规则责任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5596" y="169392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第三至四单元 国家利益与国家安全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5868" y="2023110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5596" y="2334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第一至二单元 宪法与公民权利义务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5596" y="2663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第三至四单元 国家机构与自由平等公平正义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5868" y="2992374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5596" y="330327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第一至二单元 富强与创新、民主与法治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5596" y="363245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第三至四单元 文明与家园、和谐与梦想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5868" y="3961638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65596" y="427253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第一至二单元 我们共同的世界与世界舞台上的中国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65596" y="460171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走向未来的少年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3 / 32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A｜第一单元 · 成长的节拍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道德教育 · 考查：中学时代的意义、正确认识自我、学习新天地）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中学时代与梦想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用“成长时间轴”让学生列出中学新变化再提炼意义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梦想教学：个人梦与中国梦联结，先讲身边目标再上升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正确认识自我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三途径认识自我：自我评价、他人评价、集体比较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用“优点盲区”活动：自评与他评对照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把学习只理解为考试得分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他人评价全盘接受或全盘否定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4 / 32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D｜第一单元 · 成长的节拍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认识自我的三条途径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中心圆“我”，三条辐射路径：自我评价（观察反思）、他人评价（倾听甄别）、集体与实践中认识（做事比较），每条配一句方法关键词，箭头均指向中心。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5 / 32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A｜第二单元 · 友谊的天空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道德教育 · 考查：友谊特质、交友原则、网上交友）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友谊的特质与澄清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三种特质逐条配情境判断题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澄清四个“不是”：竞争不属于、需要经营等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网上交友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两维度讨论：便利与风险各举一例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学会求助与保护个人信息三招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竞争必然伤害友谊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虚拟交往替代现实交往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6 / 32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A｜第三单元 · 师长情谊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道德教育 · 考查：师生交往、亲子冲突化解）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师生交往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“教学相长”用课堂真实案例讨论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面对老师批评：先接纳情绪再区分对错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亲子冲突与化解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冲突根源：独立性与依赖性并存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化解三步：觉察情绪—换位表达—共商规则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把批评对立为针对自己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冲突=家庭关系破裂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7 / 32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D｜第三单元 · 师长情谊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7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亲子冲突化解三步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三步流程：觉察情绪（暂停、深呼吸）→换位表达（我信息句式：我感到…因为…我希望…）→共商规则（约定使用电子产品的时长），箭头连接，每步配一句示例话术。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8 / 32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A｜第四单元 · 生命的思考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生命安全与健康教育 · 考查：生命特点、敬畏生命、增强生命韧性）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生命的特点与敬畏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生命特点四词：来之不易、独特的、不可逆的、短暂的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敬畏生命：从“休戚与共”讲生命联结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增强生命韧性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挫折双面性：消极感受与成长契机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求救与自助清单：六类可求助资源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只把敬畏理解为珍惜自己生命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遇到挫折求助是软弱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9 / 32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D｜第四单元 · 生命的思考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7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生命的关系网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中心“我的生命”，三个连接方向：与他人休戚与共、与社会相融、与自然共生，每方向配一例关键词（互助、志愿服务、保护动植物）。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10 / 32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A｜第一至二单元 · 青春时光与情绪管理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生命安全与健康教育 · 考查：青春期生理心理变化、情绪调节方法）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青春期的变化与矛盾心理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变化三类：身体、认知、情绪，先匿名的“烦恼箱”活动导入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矛盾心理两面性：成长契机也可能成为阻碍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情绪的表达与调节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情绪四基本类型+复杂情绪辨析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调节方法实操：认知调节、转移注意、合理宣泄、放松训练各配一句示范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青春期烦恼是病态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调节情绪=压抑情绪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11 / 32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D｜第一至二单元 · 青春时光与情绪管理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7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情绪调节方法卡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四象限卡片：认知调节（换个想法）、转移注意（运动听歌）、合理宣泄（倾诉书写）、放松训练（深呼吸），每格一句示例，中心标题“我的情绪调节工具箱”。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12 / 32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A｜第三单元 · 在集体中成长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道德教育 · 考查：集体力量、集体愿景、个人与集体的关系）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集体的力量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集体联结度三要素：目标、分工、默契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用班级活动实例说明集体的慰藉与成长功能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人多就是集体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13 / 32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A｜第四单元 · 走进法治天地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法治教育 · 考查：法律特征、未成年人特殊保护）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法律的本质与特征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三特征：由国家制定或认可、靠国家强制力保证实施、对全体社会成员普遍约束力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与道德纪律对比表辨析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未成年人特殊保护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六道防线：家庭学校社会网络政府司法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自我保护两招：及时求助、保留证据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违法=犯罪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受到侵害时以暴制暴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14 / 32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D｜第四单元 · 走进法治天地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7b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424" y="1876806"/>
            <a:ext cx="280120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行为规范三者对比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三列对比表：道德、纪律、法律——产生方式、实施力量、约束范围三行逐列对比，法律列用主色加框强调“国家强制力”。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civics/civ-7b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424" y="4089654"/>
            <a:ext cx="2801202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未成年人保护六道防线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伞状结构图：伞面“未成年人保护”，六根伞骨分别标 家庭保护、学校保护、社会保护、网络保护、政府保护、司法保护，每骨一句职责关键词。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15 / 32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A1｜第一至二单元 · 社会生活与规则责任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国情教育 · 考查：规则与自由、责任与角色）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个人与社会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人的身份在社会关系中确定：列“我的身份圈”活动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亲社会行为三途径：谦让、分享、帮助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规则与自由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自由与规则不可分：规则划定边界、保障自由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如何改进规则：遵守—提醒—改进三层次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网络空间不受规则约束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规则限制自由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16 / 32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A2｜第一至二单元 · 社会生活与规则责任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国情教育 · 考查：规则与自由、责任与角色）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责任与角色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角色与责任对应表：学生、子女、公民各举一责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责任的来源：对他人的承诺、职业要求、法律规定等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履行责任只有付出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17 / 32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D｜第一至二单元 · 社会生活与规则责任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8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自由与规则的关系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交通类比图：道路车道线（规则）内车辆自由通行，越线车辆警示碰撞；右侧两句话：规则划定自由边界、规则保障自由实现，用箭头双向连接。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18 / 32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A｜第三至四单元 · 国家利益与国家安全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国情教育 · 考查：国家利益内涵、国家安全观）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国家利益至上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国家利益三层：核心利益、重大利益、一般利益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用身边事（粮食安全、网络安全）讲利益关联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国家安全只是军事安全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19 / 32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D｜第三至四单元 · 国家利益与国家安全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总体国家安全观领域图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中心圆“总体国家安全观”，环绕十个领域小圆：政治、国土、军事、经济、文化、社会、科技、网络、生态、粮食安全，用连线连向中心，每圆一词。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20 / 32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A｜第一至二单元 · 宪法与公民权利义务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法治教育 · 考查：宪法地位、公民基本权利与义务）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宪法是国家的根本法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宪法地位三点：规定根本制度与任务、最高法律效力、制定修改程序更严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用“法律金字塔”图示位阶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公民权利与义务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基本权利四类：政治、人身、社会经济与文化教育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权利义务一致性：两者相互依存、相互促进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行使权利有界限：不得损害国家社会集体与他人合法权益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宪法只管国家机关不管公民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先享有权利再履行义务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21 / 32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D｜第一至二单元 · 宪法与公民权利义务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8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424" y="1876806"/>
            <a:ext cx="280120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法律位阶金字塔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金字塔四层自上而下：宪法（根本法，标“最高法律效力”）→基本法律（刑法、民法典等）→普通法律→行政法规与地方性法规，上层约束下层，箭头标注“不得与上位法相抵触”。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civics/civ-8b-2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424" y="4089654"/>
            <a:ext cx="2801202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权利义务一致性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左右两圆相交图：左圆“公民权利”（受教育权、劳动权等），右圆“公民义务”（受教育义务、劳动义务等），交集标“受教育、劳动既是权利又是义务”，下方一句“相互依存、相互促进”。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22 / 32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A｜第三至四单元 · 国家机构与自由平等公平正义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法治教育 · 考查：国家机构职权、法治价值追求）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国家机构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权力机关（人大）—执行机关（政府）—监察/审判/检察机关分工图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民主集中制原则贯穿其中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自由平等公平正义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法治与自由相辅相成：无法治无自由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公平正义的意义与社会制度维护机制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政府权力高于人大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公平=平均主义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23 / 32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D｜第三至四单元 · 国家机构与自由平等公平正义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8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人大与国家机构关系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结构图：人民→（选举）人民代表大会（权力机关）→产生并监督：人民政府（行政）、监察委（监察）、法院（审判）、检察院（检察），箭头标注“产生、负责、监督”。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24 / 32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A｜第一至二单元 · 富强与创新、民主与法治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国情教育 · 考查：改革开放、创新驱动发展、人民民主）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改革与创新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改革进行时：用身边变化（支付、出行）引入发展成就与挑战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创新是引领发展第一动力：三个“越来越”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民主与法治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人民民主真谛：有事好商量、众人的事情众人商量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法治要求：良法之治、共同之治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创新只是科学家的事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民主=少数服从多数即可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25 / 32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D｜第一至二单元 · 富强与创新、民主与法治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9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法治与民主关系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双环图：左环“人民民主”（选举民主+协商民主），右环“全面依法治国”（科学立法、严格执法、公正司法、全民守法），中间交集标“人民当家作主”，箭头互指“保障/依凭”。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26 / 32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A｜第三至四单元 · 文明与家园、和谐与梦想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国情教育 · 考查：文化自信、绿色发展、民族关系、中国梦）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文化自信与绿色发展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中华文化的力量：根深叶茂比喻+三例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绿水青山就是金山银山：发展与环境权衡案例讨论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民族团结与中国梦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民族关系：平等团结互助和谐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中国梦本质：国家富强、民族振兴、人民幸福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保护环境就不能发展经济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中国梦只是国家目标与个人无关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27 / 32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A｜第一至二单元 · 我们共同的世界与世界舞台上的中国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国情教育 · 考查：经济全球化、构建人类命运共同体、中国担当）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开放互动的世界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经济全球化表现：商品生产全球分工一例讲透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文化多样性：尊重差异、交流互鉴两原则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中国担当与人类命运共同体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中国担当举例：维和、援助、气候承诺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构建人类命运共同体：持久和平共同繁荣的和谐世界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全球化=美国化/单一化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命运共同体=中国主导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28 / 32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D｜第一至二单元 · 我们共同的世界与世界舞台上的中国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ivics/civ-9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一部手机的全球之旅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流程图：设计（美国）→芯片（东亚）→屏幕（韩国）→组装（中国）→全球销售，环状箭头体现全球分工协作，中心标注“经济全球化：生产与贸易的全球协作”。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29 / 32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A｜第三单元 · 走向未来的少年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道德教育 · 考查：责任担当、走向未来）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少年的责任与担当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责任传承：从家庭责任到国家民族责任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规划未来：兴趣能力与国家需要的结合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规划未来只是选职业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30 / 32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　中学时代的意义、正确认识自我、学习新天地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1996928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　友谊特质、交友原则、网上交友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81641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　师生交往、亲子冲突化解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66355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　生命特点、敬畏生命、增强生命韧性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51069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第一至二单元　青春期生理心理变化、情绪调节方法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35782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　集体力量、集体愿景、个人与集体的关系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20496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第四单元　法律特征、未成年人特殊保护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05210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第一至二单元　规则与自由、责任与角色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3989923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第三至四单元　国家利益内涵、国家安全观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4274637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第一至二单元　宪法地位、公民基本权利与义务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5" y="4559351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第三至四单元　国家机构职权、法治价值追求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5" y="4844064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第一至二单元　改革开放、创新驱动发展、人民民主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905" y="5128778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第三至四单元　文化自信、绿色发展、民族关系、中国梦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5" y="5413492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第一至二单元　经济全球化、构建人类命运共同体、中国担当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905" y="5698206"/>
            <a:ext cx="10971886" cy="284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　责任担当、走向未来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初中知识讲解课件 ｜ 九科教辅规范包 v1.0 ｜ 31 / 32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046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设计一句“我信息”表达化解一次亲子分歧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举两例说明中学生如何维护国家安全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96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写一份三年学业规划要点并说明与国家需要的联结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道德与法治·初中知识讲解课件</dc:title>
  <dc:subject>PptxGenJS Presentation</dc:subject>
  <dc:creator>Wilson</dc:creator>
  <cp:lastModifiedBy>Wilson</cp:lastModifiedBy>
  <cp:revision>1</cp:revision>
  <dcterms:created xsi:type="dcterms:W3CDTF">2026-09-15T20:26:52Z</dcterms:created>
  <dcterms:modified xsi:type="dcterms:W3CDTF">2026-09-15T20:26:52Z</dcterms:modified>
</cp:coreProperties>
</file>