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34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932688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84225" y="7863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标准课件 · 学科知识讲解（教师用）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905" y="1481328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09905" y="27432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初中知识体系 · 详细讲解课件 ｜ 统编版（教育部组织编写，人民教育出版社出版）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905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09905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24505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124505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章/单元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39105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639105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节/课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53705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153705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学科图示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9905" y="52578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核心素养：唯物史观 · 时空观念 · 史料实证 · 历史解释 · 家国情怀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9905" y="62636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制作依据：九科教辅规范包 v1.0 ｜ 知识体系依据 2022 年版义务教育课程标准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学科身份与课件使用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统编版（教育部组织编写，人民教育出版社出版）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94510"/>
            <a:ext cx="5340096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42609" y="1794510"/>
            <a:ext cx="5340096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84225" y="199567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学科身份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84225" y="2361438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4225" y="2599182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统编版（教育部组织编写，人民教育出版社出版）（四册（七年级上/下、八年级上/下，世界史部分按现行安排））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4225" y="3038094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4225" y="3275838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 年版义务教育课程标准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84225" y="3714750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核心素养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84225" y="3952494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唯物史观、时空观念、史料实证、历史解释、家国情怀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4225" y="439140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课件定位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4225" y="4629150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知识体系讲解导航：先结构、再讲解、后图示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4225" y="5068062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版本说明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4225" y="5305806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知识提纲为课标通用体系，按现行教材单元结构组织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16929" y="199567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课件结构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16929" y="23431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00977" y="2343150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讲解页 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按节组织：讲解要点（怎么讲）＋ 核心术语 ＋ 易错警示；每页最多 2 节。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16929" y="318439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00977" y="3184398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图示页 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学科专业图示：按学科特点绘制结构、过程、数据与关系图，矢量脚本绘制。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16929" y="402564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00977" y="4025646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考试聚焦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每章标注考查侧重；末页给学科出口自检。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16929" y="486689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00977" y="4866894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配套使用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与各册课本对照使用；图示为教学示意，精确数据图保留数据来源说明。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 · 初中知识讲解课件 ｜ 九科教辅规范包 v1.0 ｜ 2 / 29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知识体系总览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先见森林，再进细节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9633" y="2004822"/>
            <a:ext cx="10862158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第一单元 史前时期：中国境内早期人类与文明起源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04465" y="2004822"/>
            <a:ext cx="6491326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从远古人类到农耕文明起源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387230" y="2004822"/>
            <a:ext cx="2194560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中国古代史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387230" y="2004822"/>
            <a:ext cx="2194560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中国古代史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19633" y="2271741"/>
            <a:ext cx="10862158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第二单元 夏商周时期：早期国家与社会变革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04465" y="2271741"/>
            <a:ext cx="6491326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早期国家制度与春秋战国变革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387230" y="2271741"/>
            <a:ext cx="2194560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中国古代史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387230" y="2271741"/>
            <a:ext cx="2194560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中国古代史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19633" y="2538660"/>
            <a:ext cx="10862158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第三单元 秦汉时期：统一多民族国家的建立和巩固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04465" y="2538660"/>
            <a:ext cx="6491326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大一统制度的建立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387230" y="2538660"/>
            <a:ext cx="2194560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中国古代史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387230" y="2538660"/>
            <a:ext cx="2194560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中国古代史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19633" y="2805579"/>
            <a:ext cx="10862158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第四单元 三国两晋南北朝：政权分立与民族交融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804465" y="2805579"/>
            <a:ext cx="6491326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分裂中孕育交融与江南开发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387230" y="2805579"/>
            <a:ext cx="2194560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中国古代史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387230" y="2805579"/>
            <a:ext cx="2194560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中国古代史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09905" y="3072498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9633" y="3383394"/>
            <a:ext cx="10862158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第一单元 隋唐时期：繁荣与开放的时代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804465" y="3383394"/>
            <a:ext cx="6491326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制度创新与开放包容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387230" y="3383394"/>
            <a:ext cx="2194560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中国古代史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387230" y="3383394"/>
            <a:ext cx="2194560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中国古代史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19633" y="3650313"/>
            <a:ext cx="10862158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第二单元 辽宋夏金元时期：民族关系发展和社会变化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804465" y="3650313"/>
            <a:ext cx="6491326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政权并立到统一，经济重心南移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387230" y="3650313"/>
            <a:ext cx="2194560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中国古代史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387230" y="3650313"/>
            <a:ext cx="2194560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中国古代史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19633" y="3917232"/>
            <a:ext cx="10862158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第三单元 明清时期：统一多民族国家的巩固与发展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804465" y="3917232"/>
            <a:ext cx="6491326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君主专制强化与盛世危机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387230" y="3917232"/>
            <a:ext cx="2194560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中国古代史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387230" y="3917232"/>
            <a:ext cx="2194560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中国古代史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09905" y="4184152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19633" y="4495048"/>
            <a:ext cx="10862158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第一至三单元 中国开始沦为半殖民地半封建社会与近代化探索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804465" y="4495048"/>
            <a:ext cx="6491326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列强冲击下的救亡图存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387230" y="4495048"/>
            <a:ext cx="2194560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中国近代史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387230" y="4495048"/>
            <a:ext cx="2194560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中国近代史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19633" y="4761967"/>
            <a:ext cx="10862158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第四至六单元 资产阶级民主革命与新民主主义革命的兴起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2804465" y="4761967"/>
            <a:ext cx="6491326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旧民主主义革命到新民主主义革命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9387230" y="4761967"/>
            <a:ext cx="2194560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中国近代史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9387230" y="4761967"/>
            <a:ext cx="2194560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中国近代史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719633" y="5028886"/>
            <a:ext cx="10862158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第七至八单元 中华民族的抗日战争与人民解放战争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2804465" y="5028886"/>
            <a:ext cx="6491326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全民族抗战与两种命运决战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9387230" y="5028886"/>
            <a:ext cx="2194560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中国近代史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9387230" y="5028886"/>
            <a:ext cx="2194560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中国近代史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09905" y="5295805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19633" y="5606701"/>
            <a:ext cx="10862158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第一至三单元 中华人民共和国的成立和社会主义制度的建立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2804465" y="5606701"/>
            <a:ext cx="6491326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新中国政权巩固与制度奠基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9387230" y="5606701"/>
            <a:ext cx="2194560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中国现代史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9387230" y="5606701"/>
            <a:ext cx="2194560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中国现代史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719633" y="5873620"/>
            <a:ext cx="10862158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第四至八单元 中国特色社会主义道路的建设与发展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2804465" y="5873620"/>
            <a:ext cx="6491326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探索、转折与改革开放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9387230" y="5873620"/>
            <a:ext cx="2194560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中国现代史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9387230" y="5873620"/>
            <a:ext cx="2194560" cy="26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中国现代史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 · 初中知识讲解课件 ｜ 九科教辅规范包 v1.0 ｜ 3 / 29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A｜第一单元 · 史前时期：中国境内早期人类与文明起源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中国古代史 · 考查：北京人特征、半坡河姆渡农耕对比）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第1课  中国境内早期人类的代表——北京人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用“直接证据—化石”引入，讲清化石是研究史前史的主要证据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对比北京人与山顶洞人的体貌、工具、用火三要素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第2课  原始农耕生活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用“南稻北粟”对比表讲河姆渡与半坡：房屋、作物、工具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引导学生从自然环境解释房屋差异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北京人已会人工取火（实为使用天然火）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两地作物记混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 · 初中知识讲解课件 ｜ 九科教辅规范包 v1.0 ｜ 4 / 29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D｜第一单元 · 史前时期：中国境内早期人类与文明起源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history/his-7a-1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5" y="1914434"/>
            <a:ext cx="6949440" cy="37720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史前时期时间轴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时间轴：约170万年前元谋人、约70-20万年前北京人、约3万年前山顶洞人、约1万年前原始农耕开始、约五六千年前半坡与河姆渡，事件上下交错标注。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 · 初中知识讲解课件 ｜ 九科教辅规范包 v1.0 ｜ 5 / 29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A1｜第二单元 · 夏商周时期：早期国家与社会变革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中国古代史 · 考查：分封制、商鞅变法、百家争鸣）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第4课  夏商周的更替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用朝代更替示意图梳理世系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“国人暴动”“平王东迁”等节点放回时间轴定位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第7课  战国时期的社会变化（商鞅变法）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先给三则材料（奖励耕战、立木为信、推行县制），让学生归类变法措施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讨论：变法为何在秦国成功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分封制与郡县制混淆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把“废井田”理解为废除土地私有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 · 初中知识讲解课件 ｜ 九科教辅规范包 v1.0 ｜ 6 / 29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A2｜第二单元 · 夏商周时期：早期国家与社会变革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中国古代史 · 考查：分封制、商鞅变法、百家争鸣）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第8-9课  百家争鸣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用“诸子救世方案”情境化：各家对同一问题开什么药方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表格梳理学派—代表—主张，配记忆口诀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4034790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4418838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老子与孔子年代先后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 · 初中知识讲解课件 ｜ 九科教辅规范包 v1.0 ｜ 7 / 29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D｜第二单元 · 夏商周时期：早期国家与社会变革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history/his-7a-2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5424" y="1876806"/>
            <a:ext cx="2801202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分封制等级示意图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金字塔分层图：周天子→诸侯→卿大夫→士→平民与奴隶，每层左侧标身份、右侧标义务关键词（纳贡、作战、服从），箭头自上而下表分封、自下而上表义务。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history/his-7a-2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424" y="4089654"/>
            <a:ext cx="2801202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百家争鸣学派主张结构图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节点“百家争鸣”，五分支：儒家（孔子：仁；孟子：仁政）、道家（老子：无为而治）、墨家（墨子：兼爱非攻）、法家（韩非：法治中央集权）、兵家（孙武：知己知彼），每分支标代表人物与核心主张关键词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 · 初中知识讲解课件 ｜ 九科教辅规范包 v1.0 ｜ 8 / 29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A｜第三单元 · 秦汉时期：统一多民族国家的建立和巩固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中国古代史 · 考查：秦统一与中央集权措施、汉武帝巩固大一统、丝绸之路）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第9-10课  秦统一中国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统一意义落在“制度”而非“疆域”一层讲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中央集权措施用“皇帝—三公—郡县”结构图梳理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第14课  丝绸之路的开通与经营西域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路线图按“长安→河西走廊→西域→中亚欧洲”四段讲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讨论：丝路交流是双向的（物种、技术、文化各举一例）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郡县制等同于分封制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丝路是一条单线固定道路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 · 初中知识讲解课件 ｜ 九科教辅规范包 v1.0 ｜ 9 / 29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D｜第三单元 · 秦汉时期：统一多民族国家的建立和巩固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history/his-7a-3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5424" y="1876806"/>
            <a:ext cx="2801202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秦朝中央集权制度结构图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顶层“皇帝”，下接中央三公（丞相-行政、太尉-军事、御史大夫-监察），再下接“郡→县”两级地方，右侧标注“皇帝直接任免”，用箭头表达垂直管理。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history/his-7a-3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637" y="4089654"/>
            <a:ext cx="3270775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张骞出使西域与丝路大事时间轴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时间轴：公元前138年第一次出使、公元前126年返回、公元前119年第二次出使、公元前60年西域都护设立，附路线关键词长安-河西走廊-西域-大秦。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 · 初中知识讲解课件 ｜ 九科教辅规范包 v1.0 ｜ 10 / 29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A｜第四单元 · 三国两晋南北朝：政权分立与民族交融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中国古代史 · 考查：北魏孝文帝改革、江南开发原因）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第19课  北魏孝文帝改革与民族交融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用“迁都洛阳—说汉话、穿汉服、用汉姓”措施链讲改革逻辑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讨论民族交融的双向性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339846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43128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3723894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把交融理解为单向同化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 · 初中知识讲解课件 ｜ 九科教辅规范包 v1.0 ｜ 11 / 29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A｜第一单元 · 隋唐时期：繁荣与开放的时代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中国古代史 · 考查：科举制、大运河、开元盛世、民族交往与中外交流）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第1-2课  隋朝兴亡与唐朝建立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大运河三点四段五河记忆法配示意图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从隋亡教训引出唐初治国调整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第3-6课  从贞观到开元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用“统治措施对比表”梳理唐太宗、武则天、唐玄宗前期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盛世表现落到农业、手工业、商业、城市四维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把科举制的创立记为唐太宗（隋朝创立、唐朝完善）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盛世=没有社会问题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 · 初中知识讲解课件 ｜ 九科教辅规范包 v1.0 ｜ 12 / 29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D｜第一单元 · 隋唐时期：繁荣与开放的时代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history/his-7b-1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5581" y="1876806"/>
            <a:ext cx="6075287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大运河示意图要点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简化示意图：中心点洛阳，北达涿郡、南至余杭，四段（永济渠、通济渠、邗沟、江南河）依次连线标注，五条水源（海河黄河淮河长江钱塘江）用小圆点标注交汇处。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 · 初中知识讲解课件 ｜ 九科教辅规范包 v1.0 ｜ 13 / 29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A｜第二单元 · 辽宋夏金元时期：民族关系发展和社会变化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中国古代史 · 考查：经济重心南移、宋代社会生活、行省制度）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第6-9课  宋代经济发展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“南移”用粮食、手工业、商业三条线索各举证据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交子引入：从铁币笨重讲世界最早纸币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第11课  元朝的统治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行省制度用“中央—行省—路府州县”层级图讲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对比郡县制：行省是古今地方行政的重要一环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认为经济重心南移完成于明清（实为南宋最终完成）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行省与郡县性质相同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 · 初中知识讲解课件 ｜ 九科教辅规范包 v1.0 ｜ 14 / 29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D｜第二单元 · 辽宋夏金元时期：民族关系发展和社会变化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history/his-7b-2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5" y="2113598"/>
            <a:ext cx="6949440" cy="33737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经济重心南移进程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时间轴三阶段：魏晋南朝（开始开发/奠基）→唐朝中后期（加速）→南宋（完成：中央财政收入主要来自南方），每阶段附一条证据关键词。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 · 初中知识讲解课件 ｜ 九科教辅规范包 v1.0 ｜ 15 / 29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A｜第三单元 · 明清时期：统一多民族国家的巩固与发展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中国古代史 · 考查：明清强化君权措施、郑和下西洋、闭关政策）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第14-15课  明朝的统治与对外关系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君权强化三措施：废丞相、设厂卫、八股取士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郑和下西洋与后来海禁对比讲开放与保守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第20-21课  清朝君主专制强化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军机处讲成“皇权达到顶峰的标志”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文字狱与文化专制的联系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郑和首航时间1405年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闭关=完全断绝往来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 · 初中知识讲解课件 ｜ 九科教辅规范包 v1.0 ｜ 16 / 29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D｜第三单元 · 明清时期：统一多民族国家的巩固与发展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history/his-7b-3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5" y="1915928"/>
            <a:ext cx="6949440" cy="37690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郑和下西洋概要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时间轴：1405-1433 年七次远航，标注最远到达非洲东海岸和红海沿岸、船队规模关键词（两百多艘、两万余人），对比条目：晚于西方新航路开辟约半个世纪且规模更大。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 · 初中知识讲解课件 ｜ 九科教辅规范包 v1.0 ｜ 17 / 29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A｜第一至三单元 · 中国开始沦为半殖民地半封建社会与近代化探索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中国近代史 · 考查：鸦片战争影响、洋务运动、戊戌变法）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第1-2课  鸦片战争与第二次鸦片战争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用“社会性质变化”这一核心讲战争影响，回到《南京条约》条款逐条对应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半殖民地半封建概念用示意图拆解两半含义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第4-6课  洋务运动与戊戌变法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洋务运动按“自强—求富”两期梳理企业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维新变法用公车上书—百日维新—失败链条讲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引导学生评价：性质与局限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把鸦片战争影响仅记为赔款割地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洋务运动学习西方制度（实为技术）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 · 初中知识讲解课件 ｜ 九科教辅规范包 v1.0 ｜ 18 / 29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D｜第一至三单元 · 中国开始沦为半殖民地半封建社会与近代化探索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history/his-8a-1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0357" y="1876806"/>
            <a:ext cx="3431336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近代前期列强侵华主要节点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时间轴：1840 鸦片战争、1856 第二次鸦片战争、1894 甲午战争、1900 八国联军，对应条约《南京条约》《马关条约》《辛丑条约》上下对应标注，底部一行“社会性质逐步沦为半殖民地半封建社会”。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history/his-8a-1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424" y="4089654"/>
            <a:ext cx="2801202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近代化探索三级递进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三级台阶图：技术（洋务运动）→制度（戊戌变法、辛亥革命）→思想文化（新文化运动），每级标注代表事件与核心主张，箭头向上标“由表及里、逐步深入”。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 · 初中知识讲解课件 ｜ 九科教辅规范包 v1.0 ｜ 19 / 29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A｜第四至六单元 · 资产阶级民主革命与新民主主义革命的兴起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中国近代史 · 考查：辛亥革命、五四运动、中国共产党成立）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第8-10课  辛亥革命与中华民国建立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同盟会纲领与三民主义对应讲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评价辛亥革命：推翻帝制与未改变社会性质两面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第13-14课  五四运动与中国共产党成立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五四运动“新民主主义革命开端”的依据：领导阶级与指导思想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建党用时间地点人物三要素+南湖红船情境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辛亥革命完成反帝反封建任务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中共成立时间1921年7月23日开会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 · 初中知识讲解课件 ｜ 九科教辅规范包 v1.0 ｜ 20 / 29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D｜第四至六单元 · 资产阶级民主革命与新民主主义革命的兴起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history/his-8a-2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5" y="1975181"/>
            <a:ext cx="6949440" cy="36505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新民主主义革命兴起时间轴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时间轴：1915 新文化运动、1919 五四运动、1921 中共一大、1924 国共合作、1927 南昌起义，每节点附一句意义关键词。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 · 初中知识讲解课件 ｜ 九科教辅规范包 v1.0 ｜ 21 / 29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A｜第七至八单元 · 中华民族的抗日战争与人民解放战争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中国近代史 · 考查：抗战重要战役与胜利原因、解放战争转折）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第18-22课  抗日战争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十四年抗战与局部抗战/全面抗战两阶段梳理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正面战场与敌后战场相互配合的视角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胜利原因多角度：民族觉醒、持久战、世界反法西斯配合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第23-25课  人民解放战争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用战略防御—反攻—决战—胜利四阶段地图化讲述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土地改革与民心向背的因果讨论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抗战起点是1931年九一八事变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三大战役名称与顺序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 · 初中知识讲解课件 ｜ 九科教辅规范包 v1.0 ｜ 22 / 29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D｜第七至八单元 · 中华民族的抗日战争与人民解放战争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history/his-8a-3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5" y="1914434"/>
            <a:ext cx="6949440" cy="37720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抗日战争大事时间轴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时间轴：1931 九一八事变（局部抗战开始）、1936 西安事变和平解决、1937 七七事变（全面抗战开始）、1938 台儿庄战役、1940 百团大战、1945 日本宣布投降，标注两个“开始”节点区分局部与全面。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 · 初中知识讲解课件 ｜ 九科教辅规范包 v1.0 ｜ 23 / 29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A｜第一至三单元 · 中华人民共和国的成立和社会主义制度的建立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中国现代史 · 考查：开国大典、抗美援朝、一五计划与三大改造）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第1-3课  新中国成立与政权巩固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开国大典“站起来”的历史意义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抗美援朝、土地改革两大巩固措施各配一张任务卡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第4-6课  工业化起步与制度建立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一五计划成就按工业门类归类记忆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三大改造讲清“生产资料私有变公有”的制度意义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新中国成立即完成社会主义革命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三大改造完成才标志社会主义制度建立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 · 初中知识讲解课件 ｜ 九科教辅规范包 v1.0 ｜ 24 / 29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D｜第一至三单元 · 中华人民共和国的成立和社会主义制度的建立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history/his-8b-1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5" y="2017566"/>
            <a:ext cx="6949440" cy="35658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新中国成立与巩固时间轴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时间轴：1949.10 开国大典、1950 抗美援朝出兵与土地改革法颁布、1953 抗美援朝胜利、1952 土改基本完成，每节点一句意义。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 · 初中知识讲解课件 ｜ 九科教辅规范包 v1.0 ｜ 25 / 29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A｜第四至八单元 · 中国特色社会主义道路的建设与发展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中国现代史 · 考查：十一届三中全会、经济特区、新时代成就）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第7-9课  伟大历史转折与改革开放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十一届三中全会三个转变（思想/工作重心/组织）逐条讲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经济特区“窗口”作用用深圳举例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第16-18课  民族团结、祖国统一与国防外交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“一国两制”构想的提出与港澳回归实践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和平共处五项原则与新时代大国外交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改革开放起点是 1978 年十一届三中全会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一国两制先用于香港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 · 初中知识讲解课件 ｜ 九科教辅规范包 v1.0 ｜ 26 / 29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D｜第四至八单元 · 中国特色社会主义道路的建设与发展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history/his-8b-2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5581" y="1876806"/>
            <a:ext cx="6075287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改革开放推进逻辑链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流程图：十一届三中全会（伟大转折）→农村改革（家庭联产承包）→城市改革（国企）→对外开放（特区→沿海→内地）→社会主义市场经济体制，箭头连接，每节点关键词式标注。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 · 初中知识讲解课件 ｜ 九科教辅规范包 v1.0 ｜ 27 / 29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考试聚焦与出口自检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章章有侧重，册册能自检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712214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第一单元　北京人特征、半坡河姆渡农耕对比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905" y="200482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第二单元　分封制、商鞅变法、百家争鸣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905" y="2297430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第三单元　秦统一与中央集权措施、汉武帝巩固大一统、丝绸之路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905" y="2590038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第四单元　北魏孝文帝改革、江南开发原因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2882646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第一单元　科举制、大运河、开元盛世、民族交往与中外交流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905" y="3175254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第二单元　经济重心南移、宋代社会生活、行省制度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346786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第三单元　明清强化君权措施、郑和下西洋、闭关政策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905" y="3760470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第一至三单元　鸦片战争影响、洋务运动、戊戌变法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4053078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第四至六单元　辛亥革命、五四运动、中国共产党成立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905" y="4345686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第七至八单元　抗战重要战役与胜利原因、解放战争转折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9905" y="4638294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第一至三单元　开国大典、抗美援朝、一五计划与三大改造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9905" y="493090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第四至八单元　十一届三中全会、经济特区、新时代成就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 · 初中知识讲解课件 ｜ 九科教辅规范包 v1.0 ｜ 28 / 29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634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658368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84225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学科出口自检（独立完成）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905" y="11704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合上课本完成以下任务；评价标准在教师手册（course.json），先独立作答再对照自评。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09905" y="1783080"/>
            <a:ext cx="10971886" cy="841248"/>
          </a:xfrm>
          <a:prstGeom prst="roundRect">
            <a:avLst>
              <a:gd name="adj" fmla="val 6522"/>
            </a:avLst>
          </a:prstGeom>
          <a:solidFill>
            <a:srgbClr val="F5F2EA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192938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51153" y="1874520"/>
            <a:ext cx="98288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　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列出汉武帝巩固大一统的三条措施并各配一句作用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09905" y="2752344"/>
            <a:ext cx="10971886" cy="841248"/>
          </a:xfrm>
          <a:prstGeom prst="roundRect">
            <a:avLst>
              <a:gd name="adj" fmla="val 6522"/>
            </a:avLst>
          </a:prstGeom>
          <a:solidFill>
            <a:srgbClr val="F5F2EA"/>
          </a:solidFill>
          <a:ln/>
        </p:spPr>
      </p:sp>
      <p:sp>
        <p:nvSpPr>
          <p:cNvPr id="9" name="Text 7"/>
          <p:cNvSpPr/>
          <p:nvPr/>
        </p:nvSpPr>
        <p:spPr>
          <a:xfrm>
            <a:off x="838505" y="289864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451153" y="2843784"/>
            <a:ext cx="98288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　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概述明清强化君主专制的三条措施及其影响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09905" y="3721608"/>
            <a:ext cx="10971886" cy="841248"/>
          </a:xfrm>
          <a:prstGeom prst="roundRect">
            <a:avLst>
              <a:gd name="adj" fmla="val 6522"/>
            </a:avLst>
          </a:prstGeom>
          <a:solidFill>
            <a:srgbClr val="F5F2EA"/>
          </a:solidFill>
          <a:ln/>
        </p:spPr>
      </p:sp>
      <p:sp>
        <p:nvSpPr>
          <p:cNvPr id="12" name="Text 10"/>
          <p:cNvSpPr/>
          <p:nvPr/>
        </p:nvSpPr>
        <p:spPr>
          <a:xfrm>
            <a:off x="838505" y="386791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451153" y="3813048"/>
            <a:ext cx="98288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896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　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为什么说十一届三中全会是伟大历史转折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09905" y="5806440"/>
            <a:ext cx="109718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薄弱分支：讲解页回看对应章节 A 页；图示读不懂 → 回 D 页对照；出口题出错 → 找教师按提示阶梯重做。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历史·初中知识讲解课件</dc:title>
  <dc:subject>PptxGenJS Presentation</dc:subject>
  <dc:creator>Wilson</dc:creator>
  <cp:lastModifiedBy>Wilson</cp:lastModifiedBy>
  <cp:revision>1</cp:revision>
  <dcterms:created xsi:type="dcterms:W3CDTF">2026-09-15T20:26:52Z</dcterms:created>
  <dcterms:modified xsi:type="dcterms:W3CDTF">2026-09-15T20:26:52Z</dcterms:modified>
</cp:coreProperties>
</file>