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4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人教版（人民教育出版社出版，2022年版课程标准修订教材）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核心素养：语言能力：在社会情境中听、说、读、写、看，理解与表达意义、意图和情感 · 文化意识：理解中外文化异同，形成正确价值取向与跨文化沟通姿态 · 思维品质：在观察、比较、推断、评价中发展逻辑性与创新性思维 · 学习能力：掌握拼读、笔记、自主复习等策略，保持学习兴趣与信心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人教版（人民教育出版社出版，2022年版课程标准修订教材）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人教版（人民教育出版社出版，2022年版课程标准修订教材）（六册（七至九年级上下；九年级全一册按上下分册组织））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语言能力：在社会情境中听、说、读、写、看，理解与表达意义、意图和情感、文化意识：…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 / 82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2502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Starter Units 1–3 Good 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271741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 My name's Gina.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538660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2 This is my siste…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805579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3 Is this your pen…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633" y="3072498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4 Where's my schoo…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3" y="3339417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5 Do you have a so…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9633" y="360633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6 Do you like bana…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9633" y="387325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7 How much are the…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14017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8 When is your bir…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40709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9 My favorite subj…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905" y="4674013"/>
            <a:ext cx="2502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9633" y="4984909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 Can you play the…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9633" y="5251828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2 What time do you…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9633" y="5518747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3 How do you get t…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9633" y="578566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4 Don't eat in cla…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42614" y="169392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5 Why do you like 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42614" y="196084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6 I'm watching TV.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42614" y="222776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7 It's raining!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42614" y="2494683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8 Is there a post 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42614" y="2761602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9 What does he loo…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42614" y="3028521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10 I'd like some n…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42614" y="3295440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11 How was your sc…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42614" y="3562360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12 What did you do…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32886" y="3829279"/>
            <a:ext cx="2502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42614" y="414017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 Where did you go…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42614" y="440709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2 How often do you…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42614" y="4674013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3 I'm more outgoin…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42614" y="4940932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4 What's the best 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42614" y="5207851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5 Do you want to w…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42614" y="5474770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6 I'm going to stu…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42614" y="5741689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7 Will people have…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65596" y="169392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8 How do you make 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65596" y="196084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9 Can you come to 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65596" y="222776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10 If you go to th…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55868" y="2494683"/>
            <a:ext cx="2502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65596" y="2805579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 What's the matte…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65596" y="3072498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2 I'll help to cle…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65596" y="3339417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3 Could you please…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65596" y="360633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4 Why don't you ta…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65596" y="387325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5 What were you do…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65596" y="414017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6 An old man tried…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65596" y="440709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7 What's the highe…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65596" y="4674013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8 Have you read Tr…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65596" y="4940932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9 Have you ever be…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65596" y="5207851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10 I've had this b…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55868" y="5474770"/>
            <a:ext cx="2502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65596" y="578566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 How can we becom…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188577" y="169392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2 I think that moo…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88577" y="196084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3 Could you please…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88577" y="222776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4 I used to be afr…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88577" y="2494683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5 What are the shi…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88577" y="2761602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6 When was it inve…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188577" y="3028521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7 Teenagers should…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078849" y="3295440"/>
            <a:ext cx="2502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8–14）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188577" y="360633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8 It must belong t…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188577" y="3873256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9 I like music tha…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188577" y="4140175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10 You're supposed…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188577" y="4407094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11 Sad movies make…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188577" y="4674013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12 Life is full of…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188577" y="4940932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13 We're trying to…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188577" y="5207851"/>
            <a:ext cx="2393213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14 I remember meet…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 / 82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A1｜Starter Units 1–3 · Good morning! / What's this in English? / What color is it?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考查：字母大小写与顺序、基础问候语、指认物品与颜色）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用“Good morning. / How are you? I'm fine, thanks.”完成三轮问候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指认教室物品：“What's this in English? It's a map.”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用“What color is it? It's red.”描述身边物品颜色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从“It is a map.”出发练缩写 It's，初识 be 动词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this/that 近指远指对比讲解，配教室实物演示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冠词 a/an：用 an orange 与 a pen 对比归纳“按发音”选冠词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字母读音与汉语拼音混淆：g/j、e/i 分不清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见元音字母就用 an，忽略按发音判断（a useful book）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 / 82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A2｜Starter Units 1–3 · Good morning! / What's this in English? / What color is it?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考查：字母大小写与顺序、基础问候语、指认物品与颜色）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Skills &amp; Output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26个字母大小写听写过关，含笔顺与四线三格占位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辅音＋元音拼读示范（b-a-g→bag），先听后拼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制作“我的英文名牌”，互相介绍并互致问候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默写字母漏写小写或笔顺倒置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 / 82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A1｜Unit 1 · My name's Gina.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考查：be 动词三种形式、形容词性物主代词、特殊疑问句语序）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自我介绍与询问姓名：“What's your name? My name's Gina. / I'm Gina.”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询问电话号码并记录：“What's your telephone number? It's 281-9176.”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初次见面用 Nice to meet you! 与 Nice to meet you, too. 得体应答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动词与人称搭配表：I am—you are—he/she/it is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缩写与否定：I'm=I am；isn't/aren't 的构成与读音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特殊疑问句语序拆解：疑问词＋be＋主语（What's your name?）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my/your/his/her 四词与性别、人称一一对应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应答 Nice to meet you 时漏掉 too，语用生硬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人称与 be 动词错配（He are…）；缩写漏撇号写成 Im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 / 82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A2｜Unit 1 · My name's Gina.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考查：be 动词三种形式、形容词性物主代词、特殊疑问句语序）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Skills &amp; Output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制作同学信息卡（name/phone number），四人小组口头汇报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用“Do you have a…? / What's your…number?”完成信息交换问答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汇报时把电话号码逐位读成单词而非数字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 / 82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1 · My name's Gina.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动词句型四式转换结构图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中心源句框“She is my sister.”，向右伸出四条箭头指向四个句式框：①肯定句 She is my sister.（标注 be 动词高亮 is）；②否定句 She is not my sister. / She isn't 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8 / 82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2 · This is my sister.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主题 · 考查：指示代词 this/that/these/those、who…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带照片介绍家人：“This is my mother. These are my parents.”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认读家谱图，说出家庭成员称谓与关系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介绍他人时的礼仪语：“Dad, this is my friend Mary.”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指示代词单复数对应：this/that↔these/those，配实物演示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 引导特殊疑问句：“Who's she? She's my sister. Who're they?”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名词复数规则变化初识：加 -s/-es，与 these/those 搭配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grandparent 等称谓不分父系母系，翻译成中文时混淆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these/those 后接单数名词或单数 be（These is my books）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9 / 82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3 · Is this your pencil?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考查：形容词性与名词性物主代词、名词所有格's、一般疑问句及答语）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失物招领场景：确认物品归属“Is this your pencil? Yes, it is. It's mine.”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辨认学习用品词汇，写失物招领启事与寻物启事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Excuse me 开启询问，用 Thank you 结束对话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一般疑问句“Is this/that your…?”及完整答语 Yes, it is. / No, it isn't.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两类物主代词对比表：my book=mine；her pen=hers（名词性后不再加名词）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名词所有格's：Tom's pen 与 this is Jim's and Tom's 的语义差异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启事中漏写联系人信息，交际功能不完整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名词性物主代词后再加名词（my a book→应为 mine）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10 / 82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4 · Where's my schoolbag?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考查：方位介词 in/on/under、where 特殊疑问句…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寻找物品：“Where's my schoolbag? It's under the table.”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in/on/under 描述房间陈设并画示意图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礼貌回应：“I don't know. / Is it on your desk?”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句型单复数两种形式：Where's the map? / Where are my keys?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答语一致性：复数提问用 They're…，单数用 It's…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连接并列信息：“The keys are on the table and the chair.”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方位关系颠倒：把“桌子上的书”说成 in the desk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复数提问误用 It's 回答，主谓数不一致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11 / 82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5 · Do you have a soccer ball?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考查：have/has、一般现在时疑问否定、let's 提建议…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谈论拥有的球类：“Do you have a ping-pong ball? Yes, I do.”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表达喜好与评价：“I like sports. It's relaxing. That sounds fun.”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用“Let's play basketball.”发出建议并回应（That sounds good.）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have/has 第三人称单数变化及否定 don't have/doesn't have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一般现在时（have 类）一般疑问：Do/Does…have…? 及答语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let's＋动词原形提建议，注意 let us 与 let's 语气差异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评价性形容词张冠李戴：把 boring 当褒义使用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三单主语漏用 has/does（He have a ball / Does he has…）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12 / 82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6 · Do you like bananas?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考查：可数与不可数名词、like 的一般现在时三态、want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谈论喜好：“Do you like salad? Yes, I do. / No, I don't.”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谈论三餐与水果蔬菜词汇，提出健康饮食建议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表达意愿：“I want to have chicken for lunch.”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可数与不可数名词分类：banana 可数，milk/bread/rice 不可数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可数复数变化三规则：加-s / 加-es / 变y为i加-es（strawberry→strawberries）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like 三态：likes／doesn't like／Does she like…? 与三单一致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fruit、food 当可数名词乱加复数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不可数名词加-s（milks）或误用冠词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13 / 82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6 · Do you like bananas?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7a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可数与不可数名词分类结构图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顶部中心框“food 名词”。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14 / 82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7 · How much are these socks?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主题 · 考查：how much 问价格、基数词 1–100、购物对话）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购物对话：“Can I help you? — Yes, please. I want a sweater.”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问价与还价：“How much is it? It's nine dollars.”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衣物词汇与颜色大小搭配：a big blue hat 的表达顺序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much 单复数两种问法：How much is this T-shirt? / are these socks?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基数词 1–100 构成：13–19 的 -teen 与 30–90 的 -ty 对比听辨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this/that/these/those 在购物语境中按远近与单复数选用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把价格回答成数量：How much is it? 答成 Two socks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thirteen 与 thirty 听辨混淆，价格听写出错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15 / 82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8 · When is your birthday?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语言知识 · 考查：序数词构成、日期表达、when 特殊疑问句）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询问与回答生日：“When is your birthday? It's on June 3rd.”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谈论生日活动：“We have a birthday party.” 及年龄表达 How old…?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制作班级生日表并口头汇报同学生日月份分布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序数词构成：first/second/third 特殊，其余加-th；缩写 3rd/5th/21st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日期书写与读法：June 3rd=June the third；介词 on＋具体日期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引导特殊疑问句与 on/in 时间介词初步区分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日期读法错误：June 3rd 读成 June three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序数词缩写错位：2th（应为 2nd）、3th（应为 3rd）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16 / 82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9 · My favorite subject is science.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主题 · 考查：favorite 表达、why…because 因果问答、七…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谈论学科喜好：“What's your favorite subject? My favorite subject is science.”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说明理由：“Why do you like it? Because it's interesting.”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描述课程表与作息：“We have math on Monday.”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favorite 作形容词：“my favorite subject”与“What's your favorite…?”句型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问原因、because 答原因的一问一答链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综合复习七上疑问词：what/where/when/who/why/how much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because 与 so 同句连用（Because it's fun, so I like it.）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答语用 so：Why do you like music? — So it's relaxing.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17 / 82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9 · My favorite subject is science.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7a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七上疑问词思维导图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中心圈“Wh-/How questions”。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18 / 82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 · Can you play the guitar?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语言知识 · 考查：can 表能力的三种句式、play 与乐器球类的搭配）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社团招募对话：“What club do you want to join? I want to join the music club.”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谈论能力：“I can sing and dance. / He can play the guitar.”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写社团招募海报，列出所需才能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can＋动词原形：肯定 Can't 否定 can't=cannot；疑问把 can 提前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情态动词后动词不加 to、不加-s（He can swims→can swim）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 搭配：play the guitar 加 the，play soccer 零冠词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谈论能力时夸大其词，海报与自述能力不符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can 后接 to do 或三单形式（can to sing / can sings）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19 / 82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1 · Can you play the guitar?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7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 句型四式转换结构图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中心源句框“I can swim.”，向右伸出四条箭头分别指向四个句式框：肯定句 I can swim.；否定句 I can't swim.（标注 can't=cannot）；一般疑问句 Can you swim?（标注 can 提到主…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20 / 82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2 · What time do you go to school?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主题 · 考查：时间表达法、时间介词 at、频度副词位置）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问答作息：“What time do you usually get up? I get up at six thirty.”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时间两种读法：six thirty=half past six（听懂即可）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描述一天安排并比较谁的时间更健康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time 问具体时刻、when 问较宽时间段的差异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频度副词 usually/always/never 置于实义动词之前、be 动词之后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时间介词：at＋时刻，on＋具体某天，in＋上午下午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时间前介词乱用：at Monday / in six thirty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频度副词位置错误：I go usually to school at seven.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21 / 82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3 · How do you get to school?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主题 · 考查：交通方式表达、how long/how far 问答、数字百…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谈论交通方式：“I ride my bike to school. / She takes the subway.”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问路程与时间：“How long does it take? How far is it from home to school?”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比较不同出行方式的时间与环保性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交通表达三结构：by bus / take the bus / on foot（介词短语与动词短语）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 后直接加交通工具，不加 the（by the bus 为误）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数字扩展：hundred 的用法（two hundred 不加-s）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how long 与 how far 混用：How long is it? 答成 About two kilometers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by 后加冠词；hundred 误加-s（two thousands）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22 / 82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4 · Don't eat in class.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语言知识 · 考查：祈使句肯定与否定、have to/has to 变化、m…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谈论规则：“What are the rules? We can't arrive late for class.”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表达必须：“We have to wear uniforms. / I must do my homework.”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为班级起草规则清单，区分“可以/不可以/必须”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祈使句：肯定 Listen carefully.／否定 Don't be late.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 to 随人称变化：I have to / She has to，疑问 Do you have to…?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表主观义务与 have to 表客观要求的意义差异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把规则说成命令语气，缺少 can't/have to 等规范表达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Don't 后接三单或进行式（Don't eats in class.）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23 / 82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5 · Why do you like pandas?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主题 · 考查：动物词汇与描述性形容词、why…because 问答链、ki…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谈论动物喜好：“Why do you like pandas? Because they're kind of cute.”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用描述性形容词（cute, smart, scary, beautiful）评价动物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讨论濒危动物保护：“Pandas are in danger. Let's save them.”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问原因、because 引导原因作答，注意 because 与 so 不并用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because 引导原因状语从句初识：从句用完整句子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let's 与 should 提出保护建议并给理由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kind of 后接名词（kind of cute 为形容词用法）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答语只用短语不成句：Why? — Kind of cute.（缺 because）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24 / 82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6 · I'm watching TV.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语言知识 · 考查：现在进行时构成与 V-ing 规则、与一般现在时对比、电…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描述此刻活动：“I'm watching TV. What are you doing?”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电话用语：“This is Jenny speaking. Who's that?”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描述照片或图片中人们正在进行的活动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构成：be（am/is/are）＋V-ing；漏 be 是高频错误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V-ing 三条规则：直接加-ing（reading）、去e加-ing（writing）、双写（running）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与一般现在时意义对比：此刻正在做 vs 经常习惯做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误用 This is… speaking 以外的自我称呼造成电话语用错误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漏 be 动词（I watching TV）；双写规则漏用（runing）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25 / 82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6 · I'm watching TV.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7b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三种时态对比时间轴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画一条水平时间轴，标注过去、现在、将来三个区域。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26 / 82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7 · It's raining!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主题 · 考查：天气问法两种句型、How's it going? 问候语、天…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问天气两种句型：“How's the weather? = What's the weather like?”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远程问候：“How's it going? Great! / Not bad.”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把天气与正在做的事连起来说：“It's raining. I'm reading at home.”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现在进行时描述天气：It's raining/snowing（动词化表达）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天气与活动安排的表达：“When it rains, I stay at home.”初步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不同城市天气对比口头播报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weather 前加冠词或加-s（a weather / weathers）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It's raining 说成 It's rain / It rains now.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27 / 82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8 · Is there a post office near here?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语言知识 · 考查：there be 就近原则、方位介词 next to/a…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问路：“Is there a post office near here? Where is the hotel?”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指路：“Go along the street. Turn left at the first crossing. It's on your right.”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描述社区场所位置关系并画简图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there be 句型：There is a bank near here. / There are two parks.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就近原则：There is a book and two pens on the desk.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方位介词扩展：next to, across from, between…and…, in front of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指路方位混乱：听者与说者左右视角不分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 There have… 代替 There is/are；between 后误用 and 以外的词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28 / 82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8 · Is there a post office near here?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7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185" y="1876806"/>
            <a:ext cx="566608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there be 句型与方位介词结构图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上半区“there be”：左右两栏，左栏单数句式“There is ＋ 单数名词 ＋ 地点短语”，例句 There is a bank near here.；右栏复数句式“There are ＋ 复数名词 ＋ 地点短语”，例句 The…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29 / 82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9 · What does he look like?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主题 · 考查：外貌描述句、be like 与 look like 区分、h…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描述外貌：“What does he look like? He's tall and thin.”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描述发型：“She has long straight black hair.”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为走失者或笔友画像，写一段外貌描述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look like 问外貌与 be like 问性格的区分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多个形容词的常见排列：长短→形状→颜色（long curly black hair）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描述性表达 be＋形容词 与 have＋名词短语两种句式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描述特征漏用 have/has（He long hair→He has long hair）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What's he like? 误答外貌而非性格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30 / 82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10 · I'd like some noodles.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主题 · 考查：would like 与 like 区分、礼貌邀请与点餐、s…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点餐对话：“May I take your order? — I'd like beef noodles.”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礼貌询问：“Would you like some tea? Yes, please. / No, thanks.”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说明食物种类与分量：a large bowl of noodles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would like=want 的礼貌形式，'d like＋名词/动词不定式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would like 与 like 语义区分：意愿点餐 vs 一贯喜好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some/any：肯定句用 some，疑问否定多用 any，诚意邀请可用 some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点餐时生硬使用 I want，不懂 would like 更礼貌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would like 后接 V-ing；Would you like…? 回答漏 please/thanks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31 / 82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11 · How was your school trip?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语言知识 · 考查：was/were 与主语搭配、规则动词过去式及 -ed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谈论经历：“How was your trip? It was great! / terrible.”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描述过去所见所为：“We saw some farms and picked strawberries.”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写三四句旅行日记，交代时间地点与感受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was/were 与人称搭配：I/He was…；We/They were…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规则动词过去式加-ed，读音分 /t/ /d/ /ɪd/ 三类（liked, played, visited）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过去时间标志词：yesterday, last week, two days ago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评价过去经历仍用 is/fun 原形（How is your trip? 谈昨天）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-ed 全部读成 /ɪd/（played 误读）；was/were 与主语错配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32 / 82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12 · What did you do last weekend?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语言知识 · 考查：常见不规则动词过去式、did 疑问句语序、一般过去时否定）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谈论周末：“What did you do last weekend? I visited my grandparents.”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按时间顺序讲一个小事件，交代起因与结果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给同伴写留言条，转述周末做过的事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不规则动词过去式集中记：go→went, do→did, see→saw, buy→bought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did 特殊疑问句：did＋主语＋动词原形（What did you do?）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否定式 didn't＋动词原形：I didn't go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叙述混用时态，前句 did 后句 do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特殊疑问句保留过去式（What did you did?）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33 / 82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A1｜Unit 1 · Where did you go on vacation?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考查：一般过去时综合运用、不定代词 something/any…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问答假期去向与活动：“Where did you go? I went to the mountains.”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用形容词评价假期：“The food was delicious. It was wonderful.”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写一篇假期日记，包含时间线与感受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复合不定代词：something/anything/nothing/everyone 的用法与替换规则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形容词后置：something interesting（形容词放在不定代词之后）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反身代词初步：enjoy myself/himself 的搭配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叙述过去经历时 be 动词与实义动词时态不一致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词序颠倒：interesting something；everyone 后误接复数动词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34 / 82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A2｜Unit 1 · Where did you go on vacation?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考查：一般过去时综合运用、不定代词 something/any…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Skills &amp; Output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采访两位同学的假期并在班内做三句话汇报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把采访记录按“去向—活动—感受”三栏整理成过去时短句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转述他人假期时人称混乱（He go→went）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35 / 82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2 · How often do you exercise?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主题 · 考查：频度副词等级、how often 问答、maybe 与 ma…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谈论频率：“How often do you exercise? Twice a week.”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谈论健康习惯：“I hardly ever stay up late.” 及作息评价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做班级健康习惯调查并形成简单结论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频度等级轴：always→usually→often→sometimes→hardly ever→never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often 问频率，答语用次数＋时间段（three times a week）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maybe（副词，也许）与 may be（可能是）的区分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how often 与 how long 混淆：答频率却用 for two hours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频度副词位置错误：I exercise usually in the morning.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36 / 82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3 · I'm more outgoing than my sister.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考查：比较级规则与不规则变化、than 句型、as…as 同级…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比较性格：“I'm more outgoing than my sister.”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描述异同：“We both like sports. / Lily and Lucy look the same.”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写一段比较自己与好友的短文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比较级规则变化：单音节加-er、重读闭音节双写、辅音＋y 变 i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不规则比较级：good/well→better, bad→worse, many/much→more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句型：A…than B；“比较级＋and＋比较级”与“the＋比较级, the＋比较级”初步；as…as 同级比较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比较对象不对等：My hair is longer than she.（应为 hers）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双重比较：more taller；as…as 中误用比较级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37 / 82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3 · I'm more outgoing than my sister.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500" y="1876806"/>
            <a:ext cx="596545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比较级与最高级构成规则结构图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树状图。根节点“形容词变化三式”（原级→比较级→最高级）。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38 / 82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4 · What's the best movie theater?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考查：最高级构成与 the 搭配、in/of 表范围、one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比较并选择场所：“What's the best movie theater? Town Cinema.”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说明理由：“It has the biggest screens and the most comfortable seats.”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为班级推荐餐厅/书店并给出三条理由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最高级构成：与比较级规则对应，前加 the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范围表达：in＋范围（the best in our class）／of＋同类（of all the cinemas）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句型：one of the＋最高级＋复数名词（one of the best movies）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评价理由与最高级结论脱节，只说 good 不及最高级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最高级漏 the；one of 后接单数名词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39 / 82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5 · Do you want to watch a game show?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主题 · 考查：want/plan/hope to do 不定式、节目类型词…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谈论节目喜好：“What do you think of talk shows? I can't stand them.”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节目类型词汇：talk show, soap opera, sports show, game show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表达计划：“I plan to watch a comedy tonight.”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动词不定式作宾语：want/plan/hope/decide to do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不定式否定：hope not to be late 的表达位置初步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谈论意图与安排的三连问：想做什么—何时—和谁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评价程度排序混乱：把 don't mind 当作最不喜欢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want 后接 doing（want watching→want to watch）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40 / 82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6 · I'm going to study computer science.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考查：be going to 表计划、when 引导的时间状语…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谈论理想职业：“What are you going to be? I'm going to be a pilot.”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说明实现计划的做法：“I'm going to study math really hard.”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写新年计划清单，包含三个具体行动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going to＋动词原形：计划打算（已决定）的将来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引导时间状语从句表将来：从句用一般现在时（When I grow up…）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going to 与 will 的语义初步对比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计划句漏 be（I going to be a doctor）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when 从句误用将来时（When I will grow up…）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41 / 82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7 · Will people have robots?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考查：will/won't 一般将来时、will 与 be g…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预测未来：“Will people have robots? Yes, they will.”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谈论未来生活变化：环境、学习、交通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对未来提建议：“Kids won't go to school. They'll study at home.”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will＋动词原形：预测与临时决定；won't 否定；There will be 句型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 与 be going to 语义对比：预测义两可，计划用 be going to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more/fewer/less：可数复数用 fewer，不可数用 less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will 后接 to do 或三单（will goes→will go）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fewer/less 混用（less books→fewer books）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42 / 82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7 · Will people have robots?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8a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一般将来时 will 与 be going to 对比结构图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左右双栏对比。左栏标题“be going to”：语义标注“计划、打算（说话前已决定）”，例句 I'm going to study medicine next year.；右栏标题“will”：语义标注“预测、临时决定”，例句 I'l…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43 / 82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8 · How do you make a banana milk shake?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考查：祈使句步骤指令、first/next/then/fina…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说明制作过程：“Peel the bananas. Pour the milk into the blender.”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按顺序讲清步骤，用 first, next, then, finally 连接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给同伴口头下达两步指令并检验理解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祈使句作指令：动词原形开头，否定 Don't＋原形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many＋可数复数 / how much＋不可数 的区分复习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可数不可数名词在食材语境中的灵活判断（two cups of yogurt）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步骤说明缺连接词，指令顺序混乱不可执行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How much bananas do we need?（可数误用 how much）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44 / 82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9 · Can you come to my party?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主题 · 考查：can 表邀请、接受与婉拒及理由、时间安排表达）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发出邀请：“Can you come to my party on Saturday?”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接受：“Sure, I'd love to.”；婉拒并说明理由：“Sorry, I have to study for a test.”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写邀请函：包含时间、地点、活动三要素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 表邀请与许可：Can you…? 的两种语气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 to 说明客观原因的婉拒，与 don't want to 的语气差异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时间安排表达：on Saturday afternoon, at six, until ten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接受邀请答成 Yes, I'd love（漏 to）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婉拒不给理由，语用上显得生硬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45 / 82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10 · If you go to the party, you'll have a great time!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语言知识 · 考查：if 条件句主将从现、unless 初步、给建议与决策表达）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讨论问题与后果：“If you go to the party, you'll have a great time.”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if 句分析选择：上学迟到、考试、友谊小烦恼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给同伴提建议并用 if 句预测结果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引导条件状语从句：主句 will do，从句一般现在时（主将从现）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从句可后置：You'll be late if you don't hurry.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unless=if not 初步：Unless you work hard, you'll fail.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从句误用将来时：If you will go…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主句漏 will：If it rains, we stay home.（表将来时误）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46 / 82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10 · If you go to the party, you'll have a great time!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8a-1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条件句“主将从现”流程图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左侧起点框“提出条件”，向右箭头进入“if 从句框”，框内标注“用一般现在时”，例 If it rains tomorrow；再向右箭头进入“主句框”，标注“用 will＋动词原形”，例 we will stay at home.。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47 / 82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 · What's the matter?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主题 · 考查：病症表达、should/shouldn't 建议、反身代词复习）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询问与描述病情：“What's the matter? I have a stomachache.”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给予建议：“You should lie down and rest. / You shouldn't eat so much.”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模拟就医对话：问症状—提建议—表达关心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 a cold/fever/headache/sore throat 等固定病症搭配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should＋动词原形提建议，否定 shouldn't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反身代词复习：hurt oneself, enjoy oneself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What's the matter? 误答 Fine, thanks.（应答病症）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have 后漏冠词：have cold→have a cold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48 / 82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2 · I'll help to clean up the city parks.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主题 · 考查：动词短语 clean up/give out、help to…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谈论志愿计划：“I'll help to clean up the city parks.”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描述志愿活动：visit the sick kids, give out food, raise money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制定一次小组志愿服务方案并分工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动词短语：动词＋副词可分离（give it out），动词＋介词不可分离（look after him）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help to do 与 help do 两种结构均可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want sb to do 不定式作宾补：The teacher wants us to help old people.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cheer up 等短语动词拆错：cheer them up 不说 cheer up them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代词放在短语动词之后（give out it→give it out）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49 / 82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3 · Could you please clean your room?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语言知识 · 考查：Could you please…? 句型、borrow…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礼貌请求：“Could you please take out the rubbish? Sure. / Sorry, I have to…”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请求许可：“Could I invite my friends to a party?”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讨论家务分工并列家庭公约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Could you please＋动词原形：礼貌请求，答语 Sure. / Sorry, 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Could I…? 请求许可与 Could you…? 请求对方做事的指向差异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borrow 与 lend 方向区分：borrow sth from sb / lend sth to sb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Could you please 后接 doing（please cleaning→clean）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borrow 与 lend 方向混用（Can you borrow me your pen?）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50 / 82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4 · Why don't you talk to your parents?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语言知识 · 考查：提建议句型族、until/so that/althoug…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倾诉烦恼：“My parents don't allow me to hang out with friends.”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给出建议：“Why don't you talk to them? / What about writing a letter?”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角色扮演“知心朋友”对话：倾听—共情—建议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提建议句型族：Why don't you…?=Why not…? / You should… / What about doing…?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until 引导时间从句：I talk to my friend until late.（继续到某时）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that 引导目的、although 引导让步：初识并各配一句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Why don't you 后接动名词（talking→talk）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although 与 but 同句连用（汉语习惯负迁移）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51 / 82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4 · Why don't you talk to your parents?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8b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提建议句型族谱图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中心框“给别人提建议”。五个分支，每支含句型＋例句＋语气标签：①Why don't you talk to her?（最常用）；②Why not ask the teacher for help?（口语化，=Why don't you）…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52 / 82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5 · What were you doing when the rainstorm came?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语言知识 · 考查：过去进行时构成、when 与 while 引导从句的差异…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描述过去的某一刻：“At 8:00 last night, I was doing my homework.”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讲述突发事件：“The rainstorm came while I was walking home.”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讲一则“难忘时刻”短事：开头交代时间，再讲正在做什么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构成：was/were＋V-ing，表示过去某时正在进行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when＋短暂动作（过去时），while＋延续动作（进行时）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组合叙事：I was reading when the phone rang.（进行被打断）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叙事全程误用过去进行时，不与一般过去时搭配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while 后用瞬间动词（While I saw him…应为 When）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53 / 82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5 · What were you doing when the rainstorm came?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8b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401" y="1876806"/>
            <a:ext cx="615164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过去进行时 when/while 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画一条过去时间轴。轴上放一条横跨的粗线段表示延续动作（I was sleeping），线上某一点放一个圆点表示短暂动作（the phone rang）。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54 / 82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6 · An old man tried to move the mountains.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主题 · 考查：unless、as soon as、so…that 从句、故…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讲故事框架：背景—任务—困难—解决—结局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复述《愚公移山》《西游记》等经典故事情节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讨论故事寓意：“Unless we keep trying, we won't succeed.”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unless=if not：Unless you move, you'll be late.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 soon as：As soon as he finished, he ran home.（一……就……）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so…that：The story is so moving that I cried.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故事时态混乱：背景用过去时、评论却跳回现在时无提示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so…that 中间误接名词短语（so good weather that）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55 / 82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7 · What's the highest mountain in the world?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主题 · 考查：thousand/million/billion、much/…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谈论地理之最：“Qomolangma is the highest mountain in the world.”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陈述数字事实：“It's 8,848.86 meters high. It's much higher than K2.”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制作“世界之最”卡片：最高、最长、最大、最深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大数字表达：hundred/thousand/million 前有具体数字不加-s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much/even/a little＋比较级：much bigger than…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倍数表达初步：three times bigger than / times as…as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数字读法不熟：8,848.86 读断句混乱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two thousands people（thousand 误加-s）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56 / 82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8 · Have you read Treasure Island yet?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语言知识 · 考查：have/has＋过去分词、already/yet、不规…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谈论读书：“Have you read Treasure Island yet? Yes, I have. / Not yet.”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简介书的内容与感受：“It's about four children on an island.”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做读书推荐卡：书名—主要内容—一句话推荐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构成：have/has＋过去分词；疑问把 have/has 提前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already（肯定句中）、yet（疑问否定句尾）、just 的位置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不规则过去分词集中记：read-read-read, see-seen, be-been, buy-bought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书名与内容张冠李戴，推荐理由空泛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过去分词误用过去式（have saw→have seen）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57 / 82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8 · Have you read Treasure Island yet?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8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988" y="1876806"/>
            <a:ext cx="611647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现在完成时时间轴与标志词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画一条时间轴，“过去某点”与“现在”两个节点间用一条双向连接的弧线标“过去的动作/经历，影响现在或延续到现在”。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58 / 82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9 · Have you ever been to a museum?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语言知识 · 考查：have been to/gone to/been in…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谈论游历：“Have you ever been to a science museum? Yes, twice.”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谈论未去过的意愿：“I've never been to an amusement park. Me neither.”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制作“我到过的地方”地图并标注次数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 been to（去过已回）／have gone to（去了未回）／have been in（待在）三分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ever/never 与完成时连用及位置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现在完成时与一般过去时对比：经历无具体过去时间 vs 有明确过去时间用过去时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Me neither 与 Me too 用错对象（否定回应用 neither）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说自己经历误用 have gone to（去了没回来）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59 / 82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10 · I've had this bike for three years.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语言知识 · 考查：for/since 搭配、瞬间动词转延续表达、How l…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谈论旧物与时长：“I've had this bike for three years.”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谈论家乡变化：“My hometown has changed a lot since 2020.”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举办“旧物故事会”：带来一件旧物讲它的来历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for＋时间段 / since＋时间点或过去从句，与现在完成时连用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瞬间动词转延续：buy→have had, come→be here, leave→be away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long have you…? 问答与信息延续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for 后接时间点（for 2020→since 2020）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瞬间动词与时间段连用（I've bought it for two years.）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60 / 82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 · How can we become good learners?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学习策略 · 考查：by＋动名词表方式、…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谈论学习方式：“How do you study English? By reading aloud.”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交流问题与建议：“I can't get the pronunciation right. — Try listening…”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制定个人学习计划并说明选择的理由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by＋doing 表方式手段：by asking the teacher for help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动名词作主语与宾语：Doing exercises is helpful. / enjoy doing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构词法扩展：-er/-tion/-ful/un- 等词缀猜词义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by 后接动词原形（by read→by reading）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enjoy/finish 后误接不定式（enjoy to read→enjoy reading）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61 / 82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2 · I think that mooncakes are delicious!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语言知识 · 考查：that/if 引导…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介绍节日：“Mid-Autumn Festival is a time for family.”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表达看法：“I think that mooncakes are delicious. / I wonder if…”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比较中外节日习俗并做口头报告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宾语从句引入：think/believe/know that＋陈述语序从句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wonder/if 引导宾语从句表疑问：I wonder if they'll have races.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感叹句：What＋a/an＋adj＋n! / How＋adj/adv!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节日名前冠词误加（the Spring Festival 与 at Spring Festival 用法混淆）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宾语从句用疑问语序（I think that are they delicious→they are）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62 / 82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3 · Could you please tell me where the restrooms are?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语言知识 · 考查：wh- 宾语从句语序…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礼貌求助：“Excuse me, could you tell me where the restrooms are?”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委婉询问信息：“Do you know when the bookstore closes?”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比较直接问与间接问的礼貌层级并选用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wh- 词引导宾语从句：疑问词＋主语＋谓语（陈述语序）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引导词选择：连接代词 who/what/which，连接副词 where/when/how/why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含礼貌短语的复合句：Could you please tell me＋从句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间接问句保留疑问语序（where are the restrooms）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忽略主句时态对从句时态的牵制（He asked where is it→was）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63 / 82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3 · Could you please tell me where the restrooms are?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9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500" y="1876806"/>
            <a:ext cx="596545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宾语从句三要素结构图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中心框“宾语从句三要素”，周围三个大框：①连接词框，内分三类并配例：that（陈述句变来，无词义可省）、if/whether（一般疑问句变来：I wonder if he will come.）、wh-词（特殊疑问句变来：where/w…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64 / 82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4 · I used to be afraid of the dark.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语言知识 · 考查：used to do…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谈论过去：“I used to be short and afraid of the dark.”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谈论变化：“You've changed a lot. You used to be quiet, right?”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写“三个我”对比短文：过去—现在—将来的自己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used to＋动词原形：过去的习惯或状态，现在不再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否定与疑问：didn't use to… / Did you use to…?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三组对比：used to do（过去常做）/ be used to doing（习惯于做）/ be used to do（被用来做）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used to 后接动名词（used to playing 表过去习惯为误）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三种 used to 结构混用，否定式误写 didn't used 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65 / 82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4 · I used to be afraid of the dark.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9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used to 三种结构对比图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三栏对比表，每栏含“结构＋含义＋例句＋否定疑问形式”：①used to do：过去常常做某事（现在不再），例 I used to get up late.，否定 didn't use to get up late，疑问 Did you 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66 / 82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5 · What are the shirts made of?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语言知识 · 考查：be made of…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谈论产品：“What are the shirts made of? Cotton. Where are they made? In China.”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介绍中国元素产品：茶叶、丝绸、陶瓷的产地与工艺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写一段“中国制造”产品介绍（三句以上）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被动语态构成：be＋过去分词，一般现在时 am/is/are done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被动句适用场景：强调动作对象或不知道施动者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主动句与被动句互转的对应关系（主语—谓语—宾语的换位）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of/from 不分：看得出原料用 of（桌子 be made of wood），看不出用 from（纸 be made from wood）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遗漏 be（The shirts made of cotton→are made）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67 / 82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5 · What are the shirts made of?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9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988" y="1876806"/>
            <a:ext cx="611647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主动变被动三步流程图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流程三步框，每步配示例变换。第一步“找宾语提前作主语”：People make shirts in China. → Shirts…（原宾语 shirts 前移）；第二步“谓语改为 be＋过去分词”：随新主语和时态确定 be（一般现在时…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68 / 82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6 · When was it invented?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语言知识 · 考查：was/were＋过…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谈论发明：“When was the car invented? It was invented in 1885.”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说明发明用途与影响：“It's used for serving really cold ice-cream.”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讲述一项中国发明的故事（如茶、纸、指南针）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一般过去时被动：was/were＋过去分词（The car was invented…）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 短语引出施动者：It was invented by Karl Benz.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不确定施动者时被动句的应用与省略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be used for 后接动词原形（for serve→for serving）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疑问语序错误（When was invented it→was it invented）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69 / 82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7 · Teenagers should be allowed to choose their own clothes.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讲解要点（九年级上（九年级全一册 Units 1–7） · 语言知识 · 考查：should be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讨论家规校规：“Teenagers should be allowed to choose their own clothes.”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表达立场：“I agree/don't think teenagers should…”并给出理由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举行微型辩论：课余使用手机该不该被允许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含情态动词的被动：should/must/can＋be＋过去分词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 句族：allow sb to do / be allowed to do 互转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被动句中主语的确定：规则的承受者作主语（Students should be treated…）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表达反对误用 I am agree（agree 是动词）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漏 be：Teenagers should allowed to…→should be allowed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70 / 82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8 · It must belong to Carla.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语言知识 · 考查：情态动词表推测的确…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依据线索推测归属：“It must be Carla's. She's the only one who…”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表达不确定：“It might/could be a dog. It can't be a teacher.”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玩“神秘物品”游戏：给三条线索让同伴推测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推测确定度：must（肯定）→may/might/could（可能）→can't（不可能）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belong to 用法：无被动、无进行时（It must belong to Carla.）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be doing 对正在发生的事进行推测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否定推测用 mustn't（应为 can't be；mustn't 表禁止）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belong to 误加进行时或被动（is belonging to）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71 / 82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8 · It must belong to Carla.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9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情态动词推测强度刻度图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画一条水平刻度线，左端标“几乎确定”，右端标“几乎不可能”。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72 / 82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9 · I like music that I can dance to.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语言知识 · 考查：that/who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表达偏好：“I like music that I can dance to.” / “She likes singers who write their own songs.”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比较喜好：“I prefer movies that are funny.” prefer A to B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推荐一部电影或一首歌并说明适合谁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先行词为人用 who/that，为物用 that/which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关系代词作从句主语时不可省；作宾语时可省略（the music (that) I like）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从句谓语与先行词数一致：a singer who sings… / singers who sing…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 what 引导定语从句（the music what I like→that）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关系词后从句用疑问语序；从句谓语与先行词数不一致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73 / 82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9 · I like music that I can dance 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9b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40" y="1876806"/>
            <a:ext cx="613936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定语从句关系词选择思维导图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中心框“定语从句关系词”。第一层分两支：先行词是人（who/that）与先行词是物（that/which），各配例句：I like teachers who are patient. / I like movies that are f…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74 / 82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10 · You're supposed to shake hands.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文化知识 · 考查：be suppos…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谈论见面礼仪：“You're supposed to shake hands in China.”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对比各国习俗：bow in Japan, kiss in France, shake hands in Brazil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做“入境随俗”建议卡：到某国该做与不该做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supposed to do：按习俗规定应该做（强调外界规约）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should 对比：should 表建议看法，be supposed to 表规定期待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It's polite/impolite to do 与 You are expected to do 的补充表达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对不同国家习俗贴统一标签，忽视文化差异的准确性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supposed 漏 be，或与 supposing 混淆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75 / 82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11 · Sad movies make me cry.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语言知识 · 考查：make sb d…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描述感受：“Sad movies make me cry. / Loud music makes me nervous.”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谈论影视与情绪：喜剧让人放松，悲剧引人深思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写一段观影感受（两句感受＋一句推荐）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sb do sth：使役结构省 to，被动中 to 还原（be made to do）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sb/sth＋形容词：The news made everyone sad.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would rather do than do 表取舍：I'd rather stay home than go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make sb 后多加 to（make me to cry→make me cry）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make sb＋名词误作 make sb＋doing 表状态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76 / 82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12 · Life is full of the unexpected.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语言知识 · 考查：had＋过去分词、…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讲述意外：“By the time I got up, my brother had gone out.”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叙述尴尬或幸运时刻：迟到、忘带钥匙、错过班车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写一则“意外的一天”三段小故事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过去完成时：had＋过去分词，表示“过去的过去”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 the time＋过去时从句，主句用过去完成时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before/after/when 连接的多时态叙事：理清先后再选时态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没有“过去基准点”就滥用过去完成时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had done 与一般过去时混用，先后关系不清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77 / 82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13 · We're trying to save the earth!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主题 · 考查：时态综合辨识（依据时间…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谈论环境问题：“The river used to be clean, but now it's dirty.”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谈论行动：“We're trying to save the earth. / We have set up…/We will…”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设计环保海报或倡议：reduce, reuse, recycle 三原则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按时间标志词辨析时态：now/ago/already/by the time 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现在进行时表当前持续努力：We are trying to…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一般过去时（过去事实）→现在完成时（对现在影响）→一般将来时（行动计划）的链条表达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倡议书时态混乱，问题用过去、行动用将来的逻辑不清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yesterday 与现在完成时连用；will 与 be going to 随意混换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78 / 82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A｜Unit 14 · I remember meeting all of you in Grade 7.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讲解要点（九年级下（九年级全一册 Units 8–14） · 主题 · 考查：remember do…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  Topic &amp;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回忆初中：“I remember meeting all of you in Grade 7.”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分享“最难忘的三件事”并致谢师长同窗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写毕业赠言与未来展望（hope to, will, look forward to doing）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  Grammar &amp; Structures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remember/forget doing（事已做）与 to do（事未做）语义区分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动名词作宾语动词汇总：enjoy, finish, mind, practice, keep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look forward to doing 中 to 为介词的易错点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感谢对象与事情不对应，赠言套话空洞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look forward to 后接原形（to hear→to hearing）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79 / 82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D｜Unit 14 · I remember meeting all of you in Grade 7.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english/en-9b-1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27" y="1876806"/>
            <a:ext cx="687159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初中八大时态总览时间轴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一条长水平时间轴，按时间顺序放置七个时态卡，每卡含“名称＋动词形式＋一个标志词＋一句例句”：过去完成时（had done；by the time；By the time I arrived, the train had left.）→过…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80 / 82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Starter Units 1–…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1　be 动词三种形式…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2　指示代词 this…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3　形容词性与名词性物…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4　方位介词 in/o…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5　have/has、…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6　可数与不可数名词、…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7　how much 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8　序数词构成、日期表…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Unit 9　favorite 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905" y="463829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1　can 表能力的三…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905" y="493090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2　时间表达法、时间介…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905" y="522351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3　交通方式表达、ho…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905" y="551611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4　祈使句肯定与否定、…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1456" y="171221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5　动物词汇与描述性形…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1456" y="200482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6　现在进行时构成与 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1456" y="229743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7　天气问法两种句型、…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1456" y="259003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8　there be 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1456" y="288264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9　外貌描述句、be 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1456" y="317525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10　would li…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1456" y="346786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11　was/were…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1456" y="376047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Unit 12　常见不规则动词过…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1456" y="405307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1　一般过去时综合运用…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1456" y="434568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2　频度副词等级、ho…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1456" y="463829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3　比较级规则与不规则…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1456" y="493090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4　最高级构成与 th…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1456" y="522351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5　want/plan…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21456" y="551611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6　be going 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3008" y="171221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7　will/won'…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3008" y="200482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8　祈使句步骤指令、f…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3008" y="229743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9　can 表邀请、接…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33008" y="259003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Unit 10　if 条件句主将…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3008" y="288264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1　病症表达、shou…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33008" y="317525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2　动词短语 clea…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3008" y="346786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3　Could you…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33008" y="376047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4　提建议句型族、un…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33008" y="405307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5　过去进行时构成、w…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33008" y="434568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6　unless、as…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3008" y="463829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7　thousand/…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33008" y="493090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8　have/has＋…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3008" y="522351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9　have been…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33008" y="551611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Unit 10　for/sinc…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044559" y="171221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44559" y="200482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44559" y="229743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44559" y="259003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44559" y="288264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044559" y="317525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044559" y="346786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九年级上（九年级全一册 Units 1–7…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044559" y="376047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044559" y="405307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044559" y="4345686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044559" y="4638294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044559" y="4930902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044559" y="5223510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44559" y="5516118"/>
            <a:ext cx="2537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8–1…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初中知识讲解课件 ｜ 九科教辅规范包 v1.0 ｜ 81 / 82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324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用五句话向同伴介绍一张全家福，其中至少两句用 These are… / Those are…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写一段60词短文从三个方面比较你与好友，并各用一次 than 与 as…as。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6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九年级下（九年级全一册 Units 8–14）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选一个国家写三条“入境须知”：两句 be supposed to，一句 It's impolite to。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英语·初中知识讲解课件</dc:title>
  <dc:subject>PptxGenJS Presentation</dc:subject>
  <dc:creator>Wilson</dc:creator>
  <cp:lastModifiedBy>Wilson</cp:lastModifiedBy>
  <cp:revision>1</cp:revision>
  <dcterms:created xsi:type="dcterms:W3CDTF">2026-09-15T20:26:51Z</dcterms:created>
  <dcterms:modified xsi:type="dcterms:W3CDTF">2026-09-15T20:26:51Z</dcterms:modified>
</cp:coreProperties>
</file>