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notesMasterIdLst>
    <p:notesMasterId r:id="rId7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93268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7863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标准课件 · 学科知识讲解（教师用）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905" y="1481328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09905" y="27432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初中知识体系 · 详细讲解课件 ｜ 人教版（2022年版课标新修订教材）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9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099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245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1245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章/单元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391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391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节/课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3705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153705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学科图示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905" y="5257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核心素养：物理观念 · 科学思维 · 科学探究 · 科学态度与责任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9905" y="62636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制作依据：九科教辅规范包 v1.0 ｜ 知识体系依据 2022 年版义务教育课程标准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学科身份与课件使用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人教版（2022年版课标新修订教材）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42609" y="1794510"/>
            <a:ext cx="5340096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4225" y="199567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学科身份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4225" y="236143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4225" y="2599182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人教版（2022年版课标新修订教材）（四册（八年级上/下、九年级上/下））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4225" y="3038094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4225" y="3275838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 年版义务教育课程标准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4225" y="3714750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4225" y="3952494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物理观念、科学思维、科学探究、科学态度与责任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4225" y="4391406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课件定位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4225" y="4629150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知识体系讲解导航：先结构、再讲解、后图示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4225" y="5068062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版本说明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4225" y="5305806"/>
            <a:ext cx="4791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知识提纲为课标通用体系，按现行教材单元结构组织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6929" y="199567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课件结构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16929" y="23431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0977" y="2343150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讲解页 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按节组织：讲解要点（怎么讲）＋ 核心术语 ＋ 易错警示；每页最多 2 节。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6929" y="31843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0977" y="3184398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图示页 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学科专业图示：按学科特点绘制结构、过程、数据与关系图，矢量脚本绘制。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6929" y="40256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0977" y="4025646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考试聚焦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每章标注考查侧重；末页给学科出口自检。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6929" y="486689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0977" y="4866894"/>
            <a:ext cx="43799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配套使用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与各册课本对照使用；图示为教学示意，精确数据图保留数据来源说明。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2 / 75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知识体系总览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先见森林，再进细节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693926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9633" y="2004822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机械运动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9633" y="2333338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声现象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9633" y="2661854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物态变化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9633" y="2990369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光现象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9633" y="3318885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透镜及其应用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9633" y="3647401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 质量与密度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905" y="3975917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9633" y="4286813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力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9633" y="4615328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 运动和力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9633" y="4943844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 压强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9633" y="5272360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第十章 浮力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9633" y="5600876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第十一章 功和机械能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65596" y="1693926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第十二章 简单机械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55868" y="2022442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65596" y="2333338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第十三章 内能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65596" y="2661854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第十四章 内能的利用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65596" y="2990369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第十五章 电流和电路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65596" y="3318885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第十六章 电压 电阻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65596" y="3647401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第十七章 欧姆定律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55868" y="3975917"/>
            <a:ext cx="53259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65596" y="4286813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第十八章 电功率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65596" y="4615328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第十九章 生活用电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65596" y="4943844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第二十章 电与磁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65596" y="5272360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第二十一章 信息的传递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65596" y="5600876"/>
            <a:ext cx="5216195" cy="32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第二十二章 能源与可持续发展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3 / 75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A1｜第一章 · 机械运动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运动与相互作用 · 考查：刻度尺读数与单位换算、参照物判断、v=s/t 计算…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长度和时间的测量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先让学生估课桌长度再实测，用估计与真值的落差引出“测量需要统一单位”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刻度尺按“选、认、放、看、读、记”六步讲，突出刻线贴紧、视线正对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读数必须估读到分度值下一位，用 2.5 cm 与 2.50 cm 对比纠错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误差与错误对比讲：多次测量求平均只能减小误差，不能消灭误差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运动的描述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用“行驶列车里的乘客动没动”两种答案引入参照物，先选参照物再下判断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机械运动定义落到“位置随时间变化”，每道判断题都先写明参照物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用电梯里的乘客与站台上的人互看，讲相对性并让学生再举两例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 2.5 cm 与 2.50 cm 一样，漏掉估读位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把多次测量求平均值当成“消除误差”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4 / 75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A2｜第一章 · 机械运动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运动与相互作用 · 考查：刻度尺读数与单位换算、参照物判断、v=s/t 计算…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运动的快慢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用百米成绩与汽车里程表对比，引出“单位时间内的路程”即速度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 72 km/h = 20 m/s 的换算（÷3.6）后让学生互出题互批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s-t 图像先认横纵轴：过原点直线为匀速，水平线为静止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 测量平均速度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斜面小车分组实验：全程与上半段的平均速度分开测、分开算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引导发现两段平均速度不同，体会“平均速度只对应确定的一段路程”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复盘误差来源：分段计时反应时间、斜面坡度过小车过快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km/h 与 m/s 换算时 3.6 的乘除方向记反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 s-t 图像中的水平线读成匀速运动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5 / 75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D｜第一章 · 机械运动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a-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422" y="1876806"/>
            <a:ext cx="2499205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刻度尺读数与估读位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画一把分度值 1 mm 的刻度尺，零刻线未对齐物体：木块左端对齐 2.00 cm 刻线，右端位于 5.2 cm 与 5.3 cm 之间约 5.25 cm 处；标签：分度值 1 mm、起点 2.00 cm、末读数 5.25 cm、物体长度…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8a-1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898" y="4089654"/>
            <a:ext cx="2706254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s-t 图像：匀速与静止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s-t 图像：横轴 t/s 刻度 0–6，纵轴 s/m 刻度 0–24；数据 t=[0,1,2,3,4]，s=[0,6,12,18,24] 为过原点直线，续 t=[4,5,6]，s=[24,24,24] 为水平段；标注：0–4 s 匀速…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6 / 75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A1｜第二章 · 声现象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声与光 · 考查：产生与传播条件、三特性的波形图判断、超声次声应用与噪声控制…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 声音的产生与传播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音叉触水面溅出水花，把“看不见的振动”转成可见证据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真空罩抽气铃声渐弱，外推“真空不能传声”，点明这是实验加推理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记牢 15 ℃ 空气中声速 340 m/s，配“见烟到听声的时间差”求距离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 声音的特性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钢尺伸出短→振动快→音调高，一个实验串起频率与音调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同一钢尺重拨幅度大→响度大，把振幅与频率两个变量分开控制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波形图三看法：疏密定音调、高低定响度、形状定音色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认为真空能传声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把“振动停止”误解为“声音立即消失”（介质中已传出的声音还在）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7 / 75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A2｜第二章 · 声现象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声与光 · 考查：产生与传播条件、三特性的波形图判断、超声次声应用与噪声控制…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 声的利用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用“传递信息/传递能量”二分表归类：B超、声呐传信息，超声碎石传能量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回声测距公式 s=vt/2 配一道测海深的完整例题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 噪声的危害和控制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从发声体、传播路径、人耳三环节对应消声、吸声、隔声各举一例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用分贝尺讲 0 dB 是人耳刚能听到的最弱声，不是“没有声音”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超声（高于 20000 Hz）与次声（低于 20 Hz）的频率界限记混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认为乐器的声音一定不是噪声（干扰他人即噪声）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8 / 75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D｜第二章 · 声现象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a-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6015" y="1876806"/>
            <a:ext cx="2860019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真空罩中的闹铃实验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画玻璃钟罩，罩内悬挂正在响的小电铃，罩底橡胶塞接抽气机；钟罩外画声波弧线随抽气由密变疏；标签：抽气中→铃声变弱、推理：真空不能传声；右下角文字注明“实验+理想推理”。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8a-2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176" y="4089654"/>
            <a:ext cx="2749698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三组波形对比判音调、响度、音色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同一横轴 t/ms 画三行波形：第一行甲与乙振幅相同、疏密不同（f乙=2f甲），标“音调不同”；第二行丙与甲同频率但振幅更大，标“响度不同”；第三行丁与甲同频同幅但曲线形状不同（钢琴与长笛对比），标“音色不同”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9 / 75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A1｜第三章 · 物态变化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物质 · 考查：温度计使用与读数、晶体熔化图像分析、蒸发沸腾对比、物态变化归…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 温度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先摸铁栏与木栏“感觉不同温”再实测相同，引出可靠测量的必要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温度计按“估、选、读”三步讲：玻璃泡全浸、示数稳定后再读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体温计缩口结构用“离开人体读数不变”与普通温度计对比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 熔化和凝固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冰与蜡对比加热：晶体有固定熔点、熔化中温度保持不变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熔化图像分段读：固段升温、平台熔化、液段升温，平台对应熔点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用冰水混合物维持 0 ℃ 说明熔化吸热但不升温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把温度计拿出液体再读数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体温计不甩就直接测下一个人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10 / 75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A2｜第三章 · 物态变化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物质 · 考查：温度计使用与读数、晶体熔化图像分析、蒸发沸腾对比、物态变化归…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 汽化和液化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蒸发与沸腾列表比：温度条件、发生部位、剧烈程度三行对照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沸腾实验先问“水开了温度还升吗”，用 98 ℃ 平台破除直觉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影响蒸发快慢三因素各配生活例：摊开、通风、向阳晒衣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液化两途径（降温、压缩体积）用“白气”与液化气罐对号入座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  升华和凝华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碘粒加热变紫气、遇冷玻璃片凝回固态，双向演示一次讲全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干冰造雾归升华吸热，霜与窗花归凝华放热，现象对号入座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把“白气”当成水蒸气（实为液化成的小水滴）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认为蒸发只在高温下发生（任何温度都可蒸发）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11 / 75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D｜第三章 · 物态变化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a-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2351" y="1876806"/>
            <a:ext cx="2727348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晶体熔化图像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晶体（冰）熔化图像：横轴 t/min 0–8，纵轴 T/℃ −20~30；数据 t=[0,1,2,3,4,5,6,7,8]，T=[-20,-10,0,0,0,0,10,20,30]；标注：0–2 min 固态吸热升温，2–5 min 熔…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8a-3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968" y="4089654"/>
            <a:ext cx="2742113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水沸腾图像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水沸腾图像：横轴 t/min 0–9，纵轴 T/℃ 80~105；数据 t=[0,1,2,3,4,5,6,7,8,9]，T=[85,88,92,95,97,98,98,98,98,98]；标注：沸腾前吸热升温（旁画小图：气泡上升变小），…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12 / 75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A1｜第四章 · 光现象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声与光 · 考查：反射定律作图与镜面/漫反射区分、平面镜成像特点与作图、折射…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 光的直线传播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激光笔穿过喷雾或水滴烟箱显出光路，锁定“同种均匀介质中沿直线”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影子、日食月食、激光准直三例归到直线传播一条线上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光速 c=3×10⁸ m/s 与声速对比，解释先见闪电后闻雷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 光的反射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激光射到镜面当场画出入射线、法线、反射线，验证三线共面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反射定律按“三线共面、法线居中、角相等”顺序记忆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镜面反射与漫反射都遵守反射定律，漫反射用“各人看各人的”讲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漏掉“同种均匀介质”条件，认为光永远沿直线传播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把反射角当成光线与镜面的夹角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13 / 75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A2｜第四章 · 光现象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声与光 · 考查：反射定律作图与镜面/漫反射区分、平面镜成像特点与作图、折射…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 平面镜成像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玻璃板替代镜面做实验：后方未点燃蜡烛与像重合，证等大、等距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成像特点口诀“等大、等距、垂直、虚像”，物动像动同步演示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作图三步：找对称点、虚线画像、标直角符号，虚像一律用虚线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  光的折射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筷子在水中“折断”引入，先画界面与法线，再比较两角定方向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记“空气中总是大角”判光线偏折，配池底变浅、硬币“升高”解释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垂直入射时角为零、传播方向不变，作特例点明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认为人远离镜子时像变小（像始终与物等大）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虚像用实线画，混淆虚实像的画法约定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14 / 75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A3｜第四章 · 光现象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声与光 · 考查：反射定律作图与镜面/漫反射区分、平面镜成像特点与作图、折射…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  光的色散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三棱镜分光演示白光是复色光，红橙黄绿蓝靛紫顺序记牢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红花只反射红光：不透明体颜色由反射色光决定，透明体由透过色光决定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红外线热效应、紫外线验钞各配一个应用实例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认为透明体颜色由反射光决定（应由透过的色光决定）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15 / 75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D｜第四章 · 光现象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a-4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7250" y="1876806"/>
            <a:ext cx="2677550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光的反射定律光路图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画水平镜面 MN，O 为入射点，法线 NO 用虚线竖直画出；入射光线 AO 与法线成 40°，反射光线 OB 与法线成 40°，两光线画箭头标传播方向；标注：入射角 i=40°、反射角 r=40°、i=r；文字注“三线共面、法线居中、两…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8a-4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145" y="4089654"/>
            <a:ext cx="2137759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平面镜成像作图法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画竖直平面镜 MM'，镜前蜡烛 AB（A 在上）；过 A、B 分别向镜面作垂线并延长到镜后等距处得对称点 A'、B'，用虚线连接 A'B' 表示虚像；标注：AA'⊥MM'、AA'=A'A、像与物等大、像用虚线；垂足处画直角符号。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16 / 75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A1｜第五章 · 透镜及其应用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声与光 · 考查：凸透镜成像规律（一倍焦距分虚实、二倍焦距分大小）、眼睛成像…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透镜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激光过凸、凹透镜打光屏对比光斑，会聚与发散当场可见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阳光聚焦测焦距当堂操作，建立“焦点—焦距”的实物对应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三条特殊光线先画先记：过光心不偏折、平行主轴过焦点、过焦点平行主轴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生活中的透镜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照相机、投影仪、放大镜三例先行，先认“实像倒立、虚像正立”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用手机拍照与水滴放大树叶文字引入，贴近生活再入模型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认为凹透镜不折光（仍折射，只是起发散作用）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先入为主认为“实像必缩小、虚像必放大”，与后节规律表冲突时再修正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17 / 75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A2｜第五章 · 透镜及其应用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声与光 · 考查：凸透镜成像规律（一倍焦距分虚实、二倍焦距分大小）、眼睛成像…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 凸透镜成像的规律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光具座分组实验：按 u&gt;2f、u=2f、f&lt;u&lt;2f、u&lt;f 逐段填成像表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口诀“一倍焦距分虚实、二倍焦距分大小”对应表格两条分界线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成实像时“物近像远像变大”，用口诀、表格、再验证三步巩固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 眼睛和眼镜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把眼球当“可调焦相机”讲：晶状体成像应落在视网膜上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近视像成在视网膜前、凹透镜矫正；远视相反，成对记忆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u=2f 与 u=f 两个分界点处的成像特征记混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遮住透镜一半认为只能成半个像（像完整但变暗）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18 / 75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A3｜第五章 · 透镜及其应用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声与光 · 考查：凸透镜成像规律（一倍焦距分虚实、二倍焦距分大小）、眼睛成像…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 显微镜和望远镜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显微镜两次放大：物镜成放大实像、目镜再放大虚像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望远镜物镜把远处成缩小实像“拉近”、目镜放大视角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认为望远镜里看到的天体比实际大（只是视角变大）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19 / 75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D｜第五章 · 透镜及其应用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a-5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942" y="1876806"/>
            <a:ext cx="2568165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凸透镜与三条特殊光线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画凸透镜及水平主光轴，标光心 O；上方画平行主光轴的光束经透镜会聚于焦点 F，标 f；下方画三条特殊光线：过光心的直线不偏折、平行主光轴的折向焦点、过焦点的折后平行主光轴；标签：光心 O、焦点 F、焦距 f。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8a-5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829" y="4089654"/>
            <a:ext cx="4466392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近视眼的成因与矫正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画眼球剖面简图（晶状体等效凸透镜、后壁为视网膜弧线），平行光经晶状体会聚于视网膜前一点，标“近视：像成在视网膜前”；右侧同图在晶状体前加一个凹透镜，光线先发散后会聚点恰好落在视网膜上，标“配凹透镜矫正”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20 / 75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A1｜第六章 · 质量与密度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物质 · 考查：天平与量筒读数、测固体液体密度的实验设计与误差分析、密度公式…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 质量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冰化水、橡皮捏扁、货物运上月球三个情境证质量不随状态、形状、位置变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天平按“放、调、测、读”四步示范：游码归零、左物右码、镊子取码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游码读数看左边缘，砝码从大到小试加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  密度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同体积的水与食用油质量不同，引出“单位体积的质量”定义密度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 1 g/cm³=1000 kg/m³ 换算后让学生换算铝、酒精的密度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强调密度是物质特性：一杯水与一滴水密度相同，不随 m、V 改变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物码放反又用游码时直接相加（应 m物=m码−m游）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 1 kg 铁比 1 kg 棉花“重”（质量相同）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21 / 75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A2｜第六章 · 质量与密度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讲解要点（八年级上 · 物质 · 考查：天平与量筒读数、测固体液体密度的实验设计与误差分析、密度公式…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  测量物质的密度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先画流程图再动手：天平测 m、量筒排水法测 V、ρ=m/V 求值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测小石块先称质量后测体积，防止沾水使质量偏大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测盐水用“烧杯倒出一部分”差值法，减小杯壁残留误差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  密度与社会生活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判断空心：算出同质量实心体积与实际体积比较，配铁球空心例题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温度影响密度讲水的反常膨胀：4 ℃ 密度最大，解释冰下鱼能过冬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先测体积再测质量，质量偏大、密度偏大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量筒俯视读数使 V 偏大、密度偏小（视线应与凹液面最低处相平）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22 / 75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D｜第六章 · 质量与密度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a-6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180" y="1876806"/>
            <a:ext cx="3351689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托盘天平的结构与使用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画托盘天平：底座、横梁、左右托盘、两端平衡螺母、分度盘与指针、标尺和游码；标注使用要点：放水平桌面、游码归零后调平衡螺母、左物右码；旁附标尺放大图：量程 0–5 g、分度值 0.2 g、游码左缘对齐 2.4 g。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8a-6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108" y="4089654"/>
            <a:ext cx="2699834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m-V 图像与密度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m-V 图像：横轴 V/cm³ 0–30，纵轴 m/g 0–90；铝的数据 V=[10,20,30]，m=[27,54,81]，为过原点直线；另画水的直线 V=[10,20,30]，m=[10,20,30] 作对比；标注：同种物质 m/…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23 / 75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A1｜第七章 · 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运动与相互作用 · 考查：力的三要素与示意图、弹簧测力计使用、G=mg 计算…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7.1  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拍手、拉弓成对举例：施力物体同时也是受力物体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力的两类作用效果（改变形状、改变运动状态）各配一个演示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示意图三要素：作用点画在受力物体上、沿方向画箭头、标符号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7.2  弹力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压弹簧、拉橡皮筋引出弹力产生条件：发生弹性形变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弹簧测力计使用先查指针归零，力沿轴线方向，读数带单位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挂不同个数钩码的数据表验证“限内伸长与拉力成正比”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认为不接触就没有力（重力、磁力是非接触力）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把力的作用点画到施力物体上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24 / 75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A2｜第七章 · 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运动与相互作用 · 考查：力的三要素与示意图、弹簧测力计使用、G=mg 计算…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  重力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重锤线演示重力方向竖直向下，纠正“垂直向下”的说法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G=mg 计算 g 先取 10 N/kg，题目给 9.8 则按 9.8，单位随写随查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质地均匀、形状规则物体重心在几何中心，用不倒翁反例激趣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把重力方向说成“垂直向下”（应为竖直向下）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认为重心一定在物体上（圆环、空心球的重心不在）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25 / 75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D｜第七章 · 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b-7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945" y="1876806"/>
            <a:ext cx="2016160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弹簧测力计的结构与读数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画弹簧测力计：吊环、外壳、刻度板、弹簧、指针、挂钩；刻度 0–5 N、分度值 0.2 N，指针指在 2.4 N；标注：使用前调零、读数时视线正对刻度、被测力沿轴线方向。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8b-7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849" y="4089654"/>
            <a:ext cx="2720352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斜面上静止木块的受力示意图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 30° 斜面，其上木块为方块，从重心画三条带箭头线段：重力 G 竖直向下、支持力 F支 垂直斜面向外、摩擦力 f 沿斜面向上，三箭头共起点于重心；标注：G、F支、f 各力名称与符号；文字注“静止=三力平衡”。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26 / 75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A1｜第八章 · 运动和力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运动与相互作用 · 考查：惯性现象解释、二力平衡条件的判断、摩擦力方向的确定…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  牛顿第一定律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小车从同高度斜面滑下，在毛巾、棉布、木板上滑行距离逐一比较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强调“实验+推理”：绝对光滑做不到，定律是在实验基础上的推理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惯性是物体的属性不是力：急刹车人前倾用“保持原速度”解释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  二力平衡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静止吊灯引入平衡状态，用“同体还是异体”区分平衡力与相互作用力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小卡片两端挂钩码实验：等大、反向、共线、同体四条件缺一不可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受力分析按“一重二弹三摩擦”顺序：先画重力再依次补齐其他力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说“受到惯性作用”“惯性力”（惯性不是力）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认为速度越大惯性越大（惯性只与质量有关）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27 / 75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A2｜第八章 · 运动和力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运动与相互作用 · 考查：惯性现象解释、二力平衡条件的判断、摩擦力方向的确定…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  摩擦力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手压桌面推动感受阻碍，先定“与相对运动（趋势）方向相反”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控制变量测滑动摩擦：只改压力或只改接触面粗糙程度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增大有益、减小有害摩擦各举两例：轮胎花纹、轴承加润滑油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认为摩擦力总与运动方向相反（人走路时地面给脚的摩擦向前）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认为滑动摩擦力与接触面积有关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28 / 75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D｜第八章 · 运动和力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b-8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2448" y="1876806"/>
            <a:ext cx="3727153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阻力对物体运动的影响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同一斜面与三种水平面（毛巾、棉布、木板），小车三次都从斜面同一高度释放；用三条长短不同的虚线轨迹表示滑行距离：毛巾最短、木板最长；标注：初速度相同、表面越光滑阻力越小滑得越远、推理“无阻力则永远匀速运动”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8b-8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775" y="4089654"/>
            <a:ext cx="2230499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静止吊灯的二力平衡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画天花板—电线—吊灯：灯的重心上画 G 竖直向下、电线拉力 F 沿线向上，两箭头等长、共线、反向；标注：G=F、二力平衡、同体等大反向共线。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29 / 75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A1｜第九章 · 压强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运动与相互作用 · 考查：p=F/S 与 p=ρgh 计算（受力面积与深度是…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9.1  压强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图钉按手与宽书包带两例引入“效果由压力和受力面积共同决定”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p=F/S 计算强调 S 是接触面积，示范 1 m²=10⁴ cm² 换算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增大减小压强各配两例：磨刀切菜、坦克履带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  液体的压强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压强计探头入水，U 形管高度差随深度、随方向变化，自下而上归纳规律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p=ρgh 强调 h 是该点到自由液面的竖直深度，不是到容器底的距离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连通器用茶壶、船闸统一讲：同种液体静止时各容器液面相平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把压力当重力（只有物体水平放置时两者大小才相等）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受力面积误取物体整个表面积而非接触面积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30 / 75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A2｜第九章 · 压强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运动与相互作用 · 考查：p=F/S 与 p=ρgh 计算（受力面积与深度是…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9.3  大气压强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覆杯实验、吸盘挂钩引出大气压存在，穿插马德堡半球科学史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托里拆利实验读 760 mm 水银柱对应 1.013×10⁵ Pa，演示画图读数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大气压随高度升高而减小，接高压锅“增压提沸点”的生活应用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9.4  流体压强与流速的关系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向两纸间吹气纸向中间靠拢，先做后讲“流速大的位置压强小”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飞机机翼升力、并排航船相吸、站台安全线归到同一原理解释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认为吸饮料靠“吸力”（实为管内气压减小、大气压把液压上来）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认为托里拆利管倾斜或加粗后高度差会改变（竖直高度差不变）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31 / 75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D｜第九章 · 压强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b-9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240" y="1876806"/>
            <a:ext cx="3633569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微小压强计探究液体内部压强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画水槽与微小压强计：蒙橡皮膜的金属探头经橡胶管连 U 形管，两侧液面出现高度差 Δh；三幅小图对比：同深度朝向不同高度差相同、深度越深高度差越大；标注：高度差反映压强大小、同种液体同一深度各方向压强相等、深度越大压强越大。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8b-9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549" y="4089654"/>
            <a:ext cx="3092951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托里拆利实验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画水银槽与竖直玻璃管：管内水银柱上方标“真空”，槽内液面到管内水银面的高度差标 760 mm；标注：p₀=760 mm 水银柱=1.013×10⁵ Pa；旁画对比小图：玻璃管倾斜时水银柱变长但竖直高度差仍为 760 mm。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32 / 75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A1｜第十章 · 浮力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运动与相互作用 · 考查：阿基米德原理 F浮=ρ液gV排 的计算（V排 是易…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  浮力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弹簧测力计吊石块缓缓入水，示数变小引入“向上的托力”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称重法 F浮=G−F示 配一道完整数据计算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浮力方向竖直向上、施力物体是液体，气体同样提供浮力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10.2  阿基米德原理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溢水杯实验当堂记数：排开的水重恰好等于测力计示数差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F浮=ρ液gV排 强调 V排 是排开液体的体积，浸没时才等于物体体积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用同体积的清水与盐水对比，突出 ρ液 对浮力的影响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认为下沉的物体不受浮力（示数变小证明受浮力）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把浸入液体后的测力计示数当成浮力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33 / 75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A2｜第十章 · 浮力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运动与相互作用 · 考查：阿基米德原理 F浮=ρ液gV排 的计算（V排 是易…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10.3  物体的浮沉条件及应用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上浮、悬浮、漂浮、下沉四态按 F浮 与 G 的大小列表一次讲全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轮船“空心增大 V排”、潜水艇“改变自重”、气球“改变自身体积”对应归位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密度计原理：漂浮时 F浮=G，刻度值上小下大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认为重的物体一定下沉、轻的物体一定上浮（取决于密度比较）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认为轮船从长江驶入大海浮力变小（浮力仍等于重力，吃水线变浅）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34 / 75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D｜第十章 · 浮力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b-10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6842" y="1876806"/>
            <a:ext cx="3118366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称重法与阿基米德原理验证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画弹簧测力计吊石块：空气中示数 G=4 N；下方溢水杯装满水，石块浸没后测力计示数 F=2.5 N，溢出的水流入旁边小烧杯；标注：F浮=G−F示=1.5 N、称出排开的水 G排=1.5 N、F浮=G排，验证阿基米德原理。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8b-10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885" y="4089654"/>
            <a:ext cx="3020279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漂浮与悬浮的受力对比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左图：木块漂浮在水面（一部分露出液面），重心画 F浮 竖直向上、G 竖直向下，两箭头等长，标 F浮=G、V排&lt;V物；右图：小球悬浮在盐水中（完全浸没静止），F浮=G、V排=V物；文字注：静止时浮力都等于重力，差别在排开液体的体积。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35 / 75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A1｜第十一章 · 功和机械能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能量 · 考查：做功判断与 W=Fs 计算、P=W/t 及 P=Fv、动能势…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11.1  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提箱水平走等“劳而无功”三情形当堂判：有力无距离、有距离无力、力距垂直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W=Fs 强调 s 是沿力方向移动的距离，代入前先统一单位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11.2  功率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两人搬砖上楼比快慢，引出“单位时间内所做的功”即功率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与速度类比记忆：功率表示做功快慢，不表示做功多少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推导 P=Fv 并配机车匀速行驶的牵引力例题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认为只要有力就做了功（必须在力的方向上移动距离）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提着箱子水平匀速走也算做功（支持力与移动方向垂直不做功）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36 / 75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A2｜第十一章 · 功和机械能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能量 · 考查：做功判断与 W=Fs 计算、P=W/t 及 P=Fv、动能势…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11.3  动能和势能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斜面钢球撞木块实验：同球不同高度、异球同高度两组控制变量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重力势能看质量与高度，弹性势能看弹性形变大小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11.4  机械能及其转化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滚摆升降演示动能与重力势能此消彼长，标出最高点与最低点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单摆、过山车、卫星近远地点统一归到“势能↔动能”的转化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强调守恒条件：不计阻力时机械能总量保持不变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认为速度大的物体动能一定大（还要比较质量，注意控制变量）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认为摆动的球机械能永不减少（实际有阻力会逐渐减小）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37 / 75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D｜第十一章 · 功和机械能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b-1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4938" y="1876806"/>
            <a:ext cx="3142174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探究动能大小的影响因素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画斜面与水平面：钢球从高度 h 处释放滑下，撞击水平面上的木块使其移动距离 s；两幅对比小图：同一钢球从不同高度释放、质量不同的钢球从同一高度释放；标注：木块被撞得越远钢球动能越大、控制变量法。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8b-11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565" y="4089654"/>
            <a:ext cx="2572921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滚摆的机械能转化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滚摆两个位置：最高点（悬线缠绕最长，标“重力势能最大、动能为零”）与最低点（标“动能最大、重力势能最小”），两侧用箭头标下降与上升；标注：下降时重力势能转化为动能、上升相反；注“实际存在空气阻力，机械能逐渐减小”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38 / 75</a:t>
            </a:r>
            <a:endParaRPr lang="en-US" sz="11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A1｜第十二章 · 简单机械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运动与相互作用 · 考查：杠杆平衡条件与最小动力问题、滑轮组 F=(G+G动…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12.1  杠杆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撬棒开瓶盖演示，现场画支点、动力、阻力与两个力臂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力臂是支点到力作用线的垂线段，不是支点到作用点的连线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F1L1=F2L2 配“最小动力即最长力臂”的作图题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12.2  滑轮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定滑轮实质是等臂杠杆只改变方向，动滑轮省一半力费一倍距离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滑轮组绕绳口诀“奇动偶定”，n 只数拉着动滑轮的绳段数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不计摩擦和绳重时 F=(G+G动)/n、绳端移动 s=nh 配例题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把力臂画成支点到力作用点的连线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认为省力杠杆同时省距离（省力必费距离）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39 / 75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A2｜第十二章 · 简单机械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讲解要点（八年级下 · 运动与相互作用 · 考查：杠杆平衡条件与最小动力问题、滑轮组 F=(G+G动…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12.3  机械效率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用“提水上楼连桶的重量也算功”引入额外功，有用+额外=总功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η=W有/W总 恒小于 1；分组测滑轮组效率并当堂算出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提效两条思路：减小额外功（减动滑轮重、减摩擦）或增大有用功占比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认为机械效率可以达到 100%（额外功不可能为零）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认为越省力的机械效率越高（两者没有必然联系）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40 / 75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D｜第十二章 · 简单机械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8b-1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0463" y="1876806"/>
            <a:ext cx="3611124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杠杆平衡与力臂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画水平杠杆，支点 O；左侧距 O 20 cm 处挂 2 个钩码（各 0.5 N），右侧距 O 40 cm 处挂 1 个钩码恰好平衡；标注：F1=1 N、L1=20 cm，F2=0.5 N、L2=40 cm，F1L1=F2L2；力臂用支点…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8b-12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909" y="4089654"/>
            <a:ext cx="2216231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滑轮组的绕绳与省力计算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画一个定滑轮与一个动滑轮组成的滑轮组，绳的固定端系在定滑轮的挂钩上，依次绕过动滑轮、定滑轮，自由端向上拉，承担重物的绳段 n=3（用三条箭头逐段清点）；标注：F=(G+G动)/3、s=3h、物重 G 与动滑轮重 G动 分别标出。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41 / 75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A1｜第十三章 · 内能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能量 · 考查：扩散现象与分子动理论、改变内能的两种途径、热量计算 Q=cm…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13.1  分子热运动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红墨水在冷水热水中扩散快慢对比，得出温度越高运动越剧烈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两铅柱压紧后下挂重物演示分子间引力，与扩散现象分工讲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固液气三态用分子间距与作用力的模型图对比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13.2  内能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内能=物体内所有分子动能与分子势能的总和，一切物体都有内能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搓手与烤火对比，做功与热传递是改变内能的两条等效途径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热量是过程量，只能说“吸收/放出”，不能说“含有多少热量”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认为扩散只是液体现象（气体、固体也能扩散）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把灰尘、烟雾的飞舞当成分子运动（分子肉眼不可见）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42 / 75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A2｜第十三章 · 内能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能量 · 考查：扩散现象与分子动理论、改变内能的两种途径、热量计算 Q=cm…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13.3  比热容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相同质量的水与煤油用同热源加热，看升温快慢引出比热容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水的比热容 4.2×10³ J/(kg·℃) 大：解释沿海温差小、暖气用水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Q=cmΔt 配一道烧水计算，强调 Δt=t末−t初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认为吸热多温度一定升得多（还取决于比热容与质量）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Δt 与末温、初温关系弄混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43 / 75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D｜第十三章 · 内能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a-13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5045" y="1876806"/>
            <a:ext cx="3541959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扩散现象演示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两只烧杯清水各滴入一滴红墨水，一杯热水一杯冷水：热水杯中红色扩散均匀更快；标注：温度越高分子热运动越剧烈、扩散现象证明分子在不停运动；旁画气体扩散小图：上瓶空气、下瓶红棕色二氧化氮（密度大的放下方），抽去玻璃板后颜色混合，说明不是重力…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9a-13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933" y="4089654"/>
            <a:ext cx="2668183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水与煤油吸热升温对比图像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升温图像：横轴 t/min 0–8，纵轴 T/℃ 20~40；相同质量的水：t=[0,2,4,6,8]，T=[20,22,24,26,28]；相同质量的煤油：t=[0,2,4,6,8]，T=[20,24,28,32,36]；标注：相同加…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44 / 75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A1｜第十四章 · 内能的利用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能量 · 考查：四冲程的识别与能量转化、热机效率相关计算、能量守恒定律的表述…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14.1  热机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试管水蒸气冲开塞子演示“内能对外做功”，顺势引入热机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汽油机四冲程按吸气、压缩、做功、排气顺序对着图逐一辨认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两个转化点标红：压缩冲程机械能转内能、做功冲程内能转机械能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14.2  热机的效率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画能量流向带：燃料化学能大头被废气与散热带走，有用功只占一角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η=W有用/Q放 配一道效率计算，用数据说明效率为何低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提效途径联系生活：热电联产利用余热、定期保养减小摩擦损耗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认为四个冲程都点火（只有做功冲程火花塞点火）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气门开闭与活塞方向对应关系记错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45 / 75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A2｜第十四章 · 内能的利用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能量 · 考查：四冲程的识别与能量转化、热机效率相关计算、能量守恒定律的表述…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14.3  能量的转化和守恒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滚摆、电动机发电等实例归到“能量转化，总量不变”，完整表述守恒定律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区分“转移”与“转化”：热传递是转移，摩擦生热是转化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2992374"/>
            <a:ext cx="3976726" cy="950976"/>
          </a:xfrm>
          <a:prstGeom prst="roundRect">
            <a:avLst>
              <a:gd name="adj" fmla="val 4808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08381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376422"/>
            <a:ext cx="36109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认为不消耗能量的永动机可以造出来（违背能量守恒）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46 / 75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D｜第十四章 · 内能的利用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a-14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6956" y="1876806"/>
            <a:ext cx="3258138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汽油机四冲程示意图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四联剖面图，每幅含气缸、活塞（标上/下行箭头）、进气门、排气门、火花塞：①吸气冲程（进气门开、活塞下行）②压缩冲程（两门关闭、活塞上行）③做功冲程（两门关闭、火花塞点火、活塞下行）④排气冲程（排气门开、活塞上行）；标注：压缩冲程机械能…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9a-14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360" y="4089654"/>
            <a:ext cx="3915330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内燃机的能量流向图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画从左到右的能量流带图：输入端“燃料化学能 100%”，向右分为四条宽度不等的流带：有用机械功 25%、废气带走 40%、缸体散热 25%、机械摩擦 10%；标注：η=W有用/Q放=25%，流带宽度按百分比示意。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47 / 75</a:t>
            </a: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A1｜第十五章 · 电流和电路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能量 · 考查：电路识别与三种状态、串并联电路电流规律、电流表的规范使用与读…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15.1  两种电荷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摩擦过的梳子吸碎纸演示引入，正负电荷以丝绸摩擦玻璃棒为规定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验电器金属箔张开讲“同种电荷相斥”的检验原理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导体与绝缘体按“容易导电与否”二分，各举三个实例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15.2  电流和电路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电路四元件（电源、用电器、开关、导线）对号入座画一遍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通路、断路、短路三状态对比，短路的危害用视频替代实物演示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电流方向规定为正电荷定向移动的方向，与金属中电子移动方向相反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认为摩擦“创造”了电荷（实为电子从一个物体转移到另一物体）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把“绝缘体绝不导电、导体处处导电”绝对化（条件变化时可能转变）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48 / 75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A2｜第十五章 · 电流和电路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能量 · 考查：电路识别与三种状态、串并联电路电流规律、电流表的规范使用与读…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15.3  串联和并联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两只灯泡“一灭全灭与互不影响”两种情境对比引入串并联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教电流路径法识别：拆掉一个用电器，看另一个还能否工作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串联只有一条路径，并联分干路与支路，画等效电路图练规范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15.4  电流的测量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电流表三步示范：串联接入、正进负出、先选量程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用大量程试触定档再换小量程，读数先看量程再算分度值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把干路开关画到某条支路上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只凭“两灯排成一排”判断串联（要看电流路径是否只有一条）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49 / 75</a:t>
            </a:r>
            <a:endParaRPr lang="en-US" sz="11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A3｜第十五章 · 电流和电路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能量 · 考查：电路识别与三种状态、串并联电路电流规律、电流表的规范使用与读…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15.5  串、并联电路中电流的规律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分组实验：串联电路三点各测、并联干路与两支路各测，填表归纳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I串=I1=I2、I干=I1+I2，用“水流不分流/分流”类比巩固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各组数据不一致时保留原始值，分析误差来源，不凑数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339846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43128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3723894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认为串联中离电源近的电流更大（电流处处相等）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认为并联干路电流可能小于支路电流（干路等于支路之和）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50 / 75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D｜第十五章 · 电流和电路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a-15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5889" y="1876806"/>
            <a:ext cx="2840272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串联电路与电流表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电路图元件：电源（电池组符号）、开关 S、灯 L1、电流表 A、灯 L2 依次首尾相连成一个回路；标注：只有一条电流路径、I=IA=I1=I2、取下 L1 则 L2 熄灭；电流表画在 L1 与 L2 之间并标“A”。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9a-15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197" y="4089654"/>
            <a:ext cx="2407656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并联电路与干支路电流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电路图元件：电源、干路开关 S、干路电流表 A；两条支路分别为开关 S1 串灯 L1（支路电流表 A1 串入）与开关 S2 串灯 L2；标注节点分流位置：IA=IA1+IL2 支路之和，取下 L1 则 L2 仍亮；文字注“干路电流等于各…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51 / 75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A1｜第十六章 · 电压 电阻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能量 · 考查：电压表使用与读数、串并联电压规律、影响电阻大小的因素与滑动变…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16.1  电压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用“水压驱动水流”类比电压是使电荷定向移动的原因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电压表并联在被测两端：正进负出、量程先大后小试触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常见电压值记牢：干电池 1.5 V、家庭电路 220 V、安全电压不高于 36 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16.2  串、并联电路中电压的规律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实验测串联各段与并联各支路电压，归纳 U串=U1+U2、U并=U1=U2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用“分段水压相加、并联水压相同”类比巩固两条规律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串联分压与电阻成正比，为欧姆定律埋伏笔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把电压表串联接入电路（近似断路，示数约等于电源电压）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认为有电压就一定有电流（电路还必须是通路）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52 / 75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A2｜第十六章 · 电压 电阻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能量 · 考查：电压表使用与读数、串并联电压规律、影响电阻大小的因素与滑动变…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16.3  电阻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演示长度、横截面积两因素对电阻的影响，材料与温度用数据表补充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强调电阻是导体本身的性质，与是否接电压、有无电流无关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16.4  变阻器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滑动变阻器“一上一下”接入，移动滑片改变接入电路的电阻线长度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拆解铭牌“50 Ω 1.5 A”：最大阻值与允许通过的最大电流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闭合开关前把滑片移到阻值最大端，演示保护电路的作用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由 R=U/I 推出“R 与 U 成正比”（R 是比值定义的定值）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忽略温度对电阻的影响（灯丝电阻随温度明显变化）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53 / 75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D｜第十六章 · 电压 电阻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a-16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9902" y="1876806"/>
            <a:ext cx="2872245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电压表测量灯泡两端电压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电路图元件：电源、开关 S、灯 L1、灯 L2 串联；电压表 V 的两根引线分别接在 L1 左右两端（并联），表盘标“V”；标注：电压表并联在被测用电器两端、U总=U1+U2；旁注：若电压表并在电源两端则读数为总电压。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9a-16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534" y="4089654"/>
            <a:ext cx="4102981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滑动变阻器的结构与接法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画滑动变阻器：瓷筒上绕电阻线、上方金属杆带滑片 P、四个接线柱（下 A、B，上 C、D）；标注：一上一下接入才有效，接 A、C 时滑片右移电阻变大；铭牌“50 Ω 1.5 A”含义用文字标注。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54 / 75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A1｜第十七章 · 欧姆定律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能量 · 考查：探究 I 与 U、R 关系的实验设计、欧姆定律及串并联应用、…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17.1  电流与电压和电阻的关系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定电阻改电压、定电压换电阻，两次实验都先说清控制了什么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数据先列表再画 I-U 图，过原点直线对应正比关系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点明滑动变阻器的双重作用：改变定值电阻两端电压、保护电路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17.2  欧姆定律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I=U/R 及变形求 U、R 各配一道，强调“同一导体、同一时刻”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代入前统一单位：U 用伏、I 用安、R 用欧，写公式再代数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不做多次测量、不调节变阻器就下结论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把“I 与 R 成反比”说成“I 与 R 的比值不变”（反比是乘积不变）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55 / 75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A2｜第十七章 · 欧姆定律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讲解要点（九年级上 · 能量 · 考查：探究 I 与 U、R 关系的实验设计、欧姆定律及串并联应用、…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17.3  电阻的测量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伏安法电路按“串安并伏”次序连接，先画图后接线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定值电阻多次测量取平均减小偶然误差；小灯泡不取平均（电阻随温度变）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故障排查套路：电压表有示数、电流表无示数→被测电阻断路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17.4  欧姆定律在串并联电路中的应用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推导串联分压 U1/U2=R1/R2、并联分流 I1/I2=R2/R1，成对记忆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开关通断类综合题先画等效电路再列式，标清每个量属于哪一状态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滑动变阻器接成同上或同下，滑片失效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把小灯泡几次测得的电阻取平均当作“定值”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56 / 75</a:t>
            </a:r>
            <a:endParaRPr lang="en-US" sz="11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D｜第十七章 · 欧姆定律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a-17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4460" y="1876806"/>
            <a:ext cx="2723129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定值电阻与小灯泡的 I-U 图像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I-U 图像：横轴 U/V 0–3，纵轴 I/A 0–0.6；定值电阻（R=5 Ω）数据 U=[0,1,2,3]，I=[0,0.2,0.4,0.6]，为过原点直线；小灯泡数据 U=[0,0.5,1,1.5,2,2.5,3]，I=[0,0…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9a-17-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62" y="4089654"/>
            <a:ext cx="2992525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伏安法测电阻电路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电路图元件：电源、开关 S、滑动变阻器 R′、电流表 A、待测电阻 Rx 依次串联；电压表 V 并联在 Rx 两端；标注：电流表串联读 I、电压表并联读 U、Rx=U/I；滑片初始位于阻值最大端，文字注“变阻器：保护电路+多次测量”。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57 / 75</a:t>
            </a:r>
            <a:endParaRPr lang="en-US" sz="11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A1｜第十八章 · 电功率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能量 · 考查：电能表读数与电费计算、额定功率与实际功率、伏安法测功率、焦耳…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18.1  电能 电功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现场读电能表并按“3000 r/kW·h”由转数算用电器消耗的电能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W=UIt 与机械功衔接，示范 1 kW·h=3.6×10⁶ J 换算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18.2  电功率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从“100 W 灯比 40 W 灯亮”引入 P=UI，即电流在单位时间内做的功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额定电压/额定功率与实际工作状态分开：U实&lt;U额 时 P实&lt;P额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P=W/t 与 P=UI 按已知量选用，配两道对比例题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 kW·h 当成功率单位（它是电能/电功的单位）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电能表最后一位红色框内是小数，读数时漏看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58 / 75</a:t>
            </a:r>
            <a:endParaRPr lang="en-US" sz="11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A2｜第十八章 · 电功率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能量 · 考查：电能表读数与电费计算、额定功率与实际功率、伏安法测功率、焦耳…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18.3  测量小灯泡的电功率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伏安法测 P=UI：调滑动变阻器使电压表读数等于额定电压再读电流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与测电阻实验对比：多次测量的目的不同——测不同电压下的实际功率，不取平均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18.4  焦耳定律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电炉丝热得发红而导线几乎不热，引入 Q 与 I、R 的关系再出定律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Q=I²Rt；纯电阻电路 W=Q，电动机等非纯电阻 W&gt;Q，各举一例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把几次测得的功率取平均当作额定功率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电压表误并在滑动变阻器两端，读数当成灯泡电压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59 / 75</a:t>
            </a:r>
            <a:endParaRPr lang="en-US" sz="11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D｜第十八章 · 电功率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b-18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964" y="1876806"/>
            <a:ext cx="3646121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电能表铭牌与读数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画电能表面板：五位读数窗显示 04328（最后一位用红框标出，表示 0.8 kW·h 的小数位）、转盘小窗、铭牌“220 V 10(40) A 3000 r/kW·h”；标注：读数 432.8 kW·h、每转 3000 转消耗 1 kW…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9b-18-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62" y="4089654"/>
            <a:ext cx="2992525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伏安法测小灯泡电功率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电路图元件：电源、开关 S、滑动变阻器 R′、电流表 A、小灯泡 L 依次串联；电压表 V 并联在 L 两端；标注：调节滑片使 V 读数等于灯的额定电压（如 2.5 V），读电流 I，P=UI；滑片初始位于阻值最大端。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60 / 75</a:t>
            </a:r>
            <a:endParaRPr lang="en-US" sz="11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A1｜第十九章 · 生活用电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能量 · 考查：家庭电路连接规范（开关接火线）、测电笔使用、电流过大原因分析…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19.1  家庭电路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按进户线到灯座的顺序画家庭电路流程图，逐级认件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火线零线间 220 V；测电笔氖管亮判火线，当场示范握笔手势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连接规范三句话：开关接火线、螺口灯座螺旋接零线、三孔插座不可缺地线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19.2  家庭电路中电流过大的原因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短路、用电器总功率过大两条原因各配一个情景与计算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保险丝选“电阻率大、熔点低”的材料，空气开关跳闸原理与复位讲清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把开关接在零线上（断开后灯座仍带电，检修危险）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认为三孔插座的地线可有可无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61 / 75</a:t>
            </a:r>
            <a:endParaRPr lang="en-US" sz="11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A2｜第十九章 · 生活用电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能量 · 考查：家庭电路连接规范（开关接火线）、测电笔使用、电流过大原因分析…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19.3  安全用电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单线触电与双线触电两条路径配示意图，指出电流都经过人体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安全原则按“不接触低压带电体、不靠近高压带电体”等四条记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湿手拨开关、高压线落地跨步等情境做判断练习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认为只有高压电才危险（220 V 足以致命）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高压线落地后靠近查看（跨步电压触电）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62 / 75</a:t>
            </a:r>
            <a:endParaRPr lang="en-US" sz="11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D｜第十九章 · 生活用电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b-19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912" y="1876806"/>
            <a:ext cx="4304225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家庭电路的组成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画家庭电路组成：进户线（火线 L、零线 N）→电能表→总开关→保险装置→并联的用电器支路；其中灯支路：开关 S 接在火线上、螺口灯座螺旋套接零线；插座支路：三孔插座（上孔 E 接地线、左孔 N、右孔 L）；标注：各用电器并联、火零之间 …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9b-19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952" y="4089654"/>
            <a:ext cx="3128146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三孔插座与外壳接地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画三孔插座正面与三脚插头：插座上孔 E 接地线、左孔 N 接零线、右孔 L 接火线（口诀“左零右火上接地”）；插头三脚与之一一对应，金属外壳电器的地线脚连接外壳；标注：外壳漏电时电流经地线导入大地，保护人体。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63 / 75</a:t>
            </a:r>
            <a:endParaRPr lang="en-US" sz="11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A1｜第二十章 · 电与磁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运动与相互作用 · 考查：安培定则判断 N/S 极、电磁继电器应用、感应电流…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20.1  磁现象 磁场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条形磁铁吸铁屑两端最多，引出磁极；同名相斥异名相吸当堂验证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磁感线从 N 出 S 入、永不相交，画条形与蹄形磁铁两种场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地磁场解释指南针，提及磁偏角与科学史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20.2  电生磁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重做奥斯特实验：导线通电瞬间小磁针偏转，电与磁联系的第一次证据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通电螺线管外部磁场与条形磁铁相似，用安培定则（右手）判 N 极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电磁铁磁性强弱三因素（电流大小、匝数、有无铁芯）控制变量演示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认为磁感线是真实存在的线（它是理想模型）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认为磁铁分割后可以得到单一磁极（每段仍有 N、S 两极）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64 / 75</a:t>
            </a:r>
            <a:endParaRPr lang="en-US" sz="11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A2｜第二十章 · 电与磁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运动与相互作用 · 考查：安培定则判断 N/S 极、电磁继电器应用、感应电流…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20.3  电磁铁 电磁继电器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继电器用“低电压小电流控制高电压大电流”的模型图讲两套电路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电磁阀、电铃、水位自动报警器各归到继电器的应用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20.4  电动机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通电线圈在磁场中受力转动演示，能量转化电能→机械能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换向器每转过半圈自动改变线圈中电流方向，使线圈持续转动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把控制电路与工作电路的元件画混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把电动机的原理说成电磁感应（那是发电机的原理）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65 / 75</a:t>
            </a:r>
            <a:endParaRPr lang="en-US" sz="11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A3｜第二十章 · 电与磁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运动与相互作用 · 考查：安培定则判断 N/S 极、电磁继电器应用、感应电流…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20.5  磁生电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导体棒在磁场中切割磁感线，灵敏电流计偏转；闭合、部分导体、切割三条件缺一不可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发电机机械能→电能，与电动机成对比较记忆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我国交流电 50 Hz，每秒电流方向变化 100 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05065" y="3687318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9" name="Text 7"/>
          <p:cNvSpPr/>
          <p:nvPr/>
        </p:nvSpPr>
        <p:spPr>
          <a:xfrm>
            <a:off x="7787945" y="377875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87945" y="4071366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导体平行磁感线运动也认为有感应电流（必须切割）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发电机与电动机的能量转化方向记反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66 / 75</a:t>
            </a:r>
            <a:endParaRPr lang="en-US" sz="11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D｜第二十章 · 电与磁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b-20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3996" y="1876806"/>
            <a:ext cx="3324058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通电螺线管与安培定则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画通电螺线管，绕线方向画清（正面导线电流方向向上，用箭头标出），管旁画一只右手示意：四指弯曲方向顺电流、拇指指向标 N 极；标注：外部磁感线从 N 出 S 入、管内磁场由 S 指 N；旁画管旁小磁针静止时 N 极指向与磁感线一致。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9b-20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283" y="4089654"/>
            <a:ext cx="3137484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电磁感应实验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画蹄形磁铁（N 极在上、S 极在下），导体棒 ab 水平置于磁极之间，ab 两端经导线与灵敏电流计连成闭合回路；箭头标 ab 向右运动切割磁感线，电流计指针偏转；标注：产生感应电流的三个条件——电路闭合、一部分导体、做切割磁感线运动；旁…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67 / 75</a:t>
            </a:r>
            <a:endParaRPr lang="en-US" sz="11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A1｜第二十一章 · 信息的传递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运动与相互作用 · 考查：电磁波的产生与传播（可在真空中传播）、c=λf 的…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21.1  现代顺风耳——电话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话筒把声变成变化的电流、听筒把电流还原成声，互逆结构对着图讲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模拟信号与数字信号对比：数字信号抗干扰能力强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21.2  电磁波的海洋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导线在收音机旁时断时通产生“咔咔”声，演示电磁波的产生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波长、频率、波速三量在波形图上认读，c=λf 配一道计算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认为电话线里传的是声音本身（传递的是随声音变化的电流）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认为电磁波传播需要介质（可在真空中传播）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68 / 75</a:t>
            </a:r>
            <a:endParaRPr lang="en-US" sz="11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A2｜第二十一章 · 信息的传递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运动与相互作用 · 考查：电磁波的产生与传播（可在真空中传播）、c=λf 的…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21.3  广播、电视和移动通信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发射—接收框图讲：音频/视频信号调制到高频载波再由天线发射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手机既是发射机又是接收机，必须依靠基站中继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21.4  越来越宽的信息之路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微波中继、卫星通信、光纤、网络四条“路”按载波频率与介质列表比较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光纤靠光的全反射传递光信号，容量大、损耗小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认为手机间直接通话不需要电磁波（语音靠电磁波经基站传递）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认为光纤里传输的是电信号（是携带信息的激光/光信号）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69 / 75</a:t>
            </a:r>
            <a:endParaRPr lang="en-US" sz="11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D｜第二十一章 · 信息的传递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4176522"/>
          </a:xfrm>
          <a:prstGeom prst="roundRect">
            <a:avLst>
              <a:gd name="adj" fmla="val 13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b-21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6844" y="1876806"/>
            <a:ext cx="5172761" cy="3847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62265" y="1895094"/>
            <a:ext cx="3290926" cy="3810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电磁波波形与 c=λf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画一条连续正弦波（横轴为距离或时间，画约 3 个周期），相邻两波峰间距用双箭头标 λ；标注：波速 c=λf=3×10⁸ m/s、频率 f 为 1 s 内振动的次数；旁画两条波长不同的波对比：波形更密者波长更短、频率更高。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70 / 75</a:t>
            </a:r>
            <a:endParaRPr lang="en-US" sz="11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A1｜第二十二章 · 能源与可持续发展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能量 · 考查：一次/二次与可再生/不可再生能源的分类、核裂变与聚变的区分、…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22.1  能源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一次/二次能源与可再生/不可再生两组分类交叉列表填例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化石能源不可再生，风、水、太阳能可再生，各对号入座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22.2  核能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裂变“中子轰击重核发生链式反应”与聚变“轻核聚合成重核”对比图讲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核电站用可控链式反应（控制棒调节），聚变目前尚不可控利用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核能能量密度大的同时，乏料处理与安全是代价，两面都讲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把电能当成一次能源（由一次能源转化而来，属二次能源）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把“能源”与所有“自然资源”混为一谈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71 / 75</a:t>
            </a:r>
            <a:endParaRPr lang="en-US" sz="11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95790" y="1371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CE4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4" name="Text 2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A2｜第二十二章 · 能源与可持续发展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67563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讲解要点（九年级下 · 能量 · 考查：一次/二次与可再生/不可再生能源的分类、核裂变与聚变的区分、…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9905" y="209626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22.3  太阳能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505" y="2480310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太阳能两种利用路径：光热转换（热水器）与光电转换（光伏电池）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把风能、水能、化石能源统一溯源到太阳辐射能，形成能量谱系图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905" y="4204183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22.4  能源与可持续发展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505" y="4588231"/>
            <a:ext cx="6629400" cy="1467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能量虽守恒但“可用性”在退化，由此引出节能的必要性</a:t>
            </a:r>
            <a:endParaRPr lang="en-US" sz="130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给出能源消费结构数据，让学生摆数据说观点，讨论结构调整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05065" y="4034790"/>
            <a:ext cx="3976726" cy="1499616"/>
          </a:xfrm>
          <a:prstGeom prst="roundRect">
            <a:avLst>
              <a:gd name="adj" fmla="val 3049"/>
            </a:avLst>
          </a:prstGeom>
          <a:solidFill>
            <a:srgbClr val="F2E3DC"/>
          </a:solidFill>
          <a:ln/>
        </p:spPr>
      </p:sp>
      <p:sp>
        <p:nvSpPr>
          <p:cNvPr id="11" name="Text 9"/>
          <p:cNvSpPr/>
          <p:nvPr/>
        </p:nvSpPr>
        <p:spPr>
          <a:xfrm>
            <a:off x="7787945" y="412623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易错警示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87945" y="4418838"/>
            <a:ext cx="361096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认为太阳能“取之不尽”就没有成本（转化效率与储能仍是瓶颈）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认为能量守恒就不会有能源危机（可用能源的品质在降低）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72 / 75</a:t>
            </a:r>
            <a:endParaRPr lang="en-US" sz="11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D｜第二十二章 · 能源与可持续发展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学科专业图示（教学示意）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905" y="1712214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6" name="Image 0" descr="/home/vimalinx/MakeMoney/JiaJiao/课件/assets/physics/phy-9b-22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7852" y="1876806"/>
            <a:ext cx="3556346" cy="17739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47865" y="1895094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核电站能量转化流程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核电站流程框图：核反应堆（可控链式裂变，核能→内能）→蒸汽发生器与管道→汽轮机（内能→机械能）→发电机（机械能→电能）→输电；冷凝器画循环水回路；标注：控制棒调节反应速率、反应堆与汽水回路隔离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905" y="3925062"/>
            <a:ext cx="1097188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3600000">
              <a:srgbClr val="3A3A32">
                <a:alpha val="16000"/>
              </a:srgbClr>
            </a:outerShdw>
          </a:effectLst>
        </p:spPr>
      </p:sp>
      <p:pic>
        <p:nvPicPr>
          <p:cNvPr id="9" name="Image 1" descr="/home/vimalinx/MakeMoney/JiaJiao/课件/assets/physics/phy-9b-22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962" y="4089654"/>
            <a:ext cx="2260126" cy="17739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7865" y="4107942"/>
            <a:ext cx="42053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我国一次能源消费结构（示意数据）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A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画饼图并附数据数组：煤炭 55%、石油 18%、天然气 10%、非化石能源 17%（数据为教学示意）；标注：化石能源合计约 83%，引出“提高非化石能源占比”的讨论话题。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73 / 75</a:t>
            </a:r>
            <a:endParaRPr lang="en-US" sz="11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566928"/>
            <a:ext cx="128016" cy="128016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47649" y="418795"/>
            <a:ext cx="79543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考试聚焦与出口自检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55710" y="491947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章章有侧重，册册能自检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905" y="171221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第一章　刻度尺读数与单位换算、参照物判断、v=s/t 计算与 s-t…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905" y="2004822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第二章　产生与传播条件、三特性的波形图判断、超声次声应用与噪声控制途…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905" y="2297430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第三章　温度计使用与读数、晶体熔化图像分析、蒸发沸腾对比、物态变化归…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905" y="2590038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第四章　反射定律作图与镜面/漫反射区分、平面镜成像特点与作图、折射规…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905" y="2882646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第五章　凸透镜成像规律（一倍焦距分虚实、二倍焦距分大小）、眼睛成像缺…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905" y="317525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 第六章　天平与量筒读数、测固体液体密度的实验设计与误差分析、密度公式…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905" y="3467862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第七章　力的三要素与示意图、弹簧测力计使用、G=mg 计算与重力方向…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905" y="3760470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第八章　惯性现象解释、二力平衡条件的判断、摩擦力方向的确定与增减摩擦…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905" y="4053078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第九章　p=F/S 与 p=ρgh 计算（受力面积与深度是易错点）、…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905" y="4345686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第十章　阿基米德原理 F浮=ρ液gV排 的计算（V排 是易错点）、浮…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905" y="463829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第十一章　做功判断与 W=Fs 计算、P=W/t 及 P=Fv、动能…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3008" y="171221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 第十二章　杠杆平衡条件与最小动力问题、滑轮组 F=(G+G动)/n 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3008" y="2004822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第十三章　扩散现象与分子动理论、改变内能的两种途径、热量计算 Q=c…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3008" y="2297430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第十四章　四冲程的识别与能量转化、热机效率相关计算、能量守恒定律的表…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3008" y="2590038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第十五章　电路识别与三种状态、串并联电路电流规律、电流表的规范使用与…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3008" y="2882646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第十六章　电压表使用与读数、串并联电压规律、影响电阻大小的因素与滑动…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33008" y="317525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九年级上 第十七章　探究 I 与 U、R 关系的实验设计、欧姆定律及串并联应用…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3008" y="3467862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第十八章　电能表读数与电费计算、额定功率与实际功率、伏安法测功率、焦…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33008" y="3760470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第十九章　家庭电路连接规范（开关接火线）、测电笔使用、电流过大原因分…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3008" y="4053078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第二十章　安培定则判断 N/S 极、电磁继电器应用、感应电流产生条件…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33008" y="4345686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第二十一章　电磁波的产生与传播（可在真空中传播）、c=λf 的计算、…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33008" y="4638294"/>
            <a:ext cx="53487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 第二十二章　一次/二次与可再生/不可再生能源的分类、核裂变与聚变的区…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9905" y="6248095"/>
            <a:ext cx="1097188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 · 初中知识讲解课件 ｜ 九科教辅规范包 v1.0 ｜ 74 / 75</a:t>
            </a:r>
            <a:endParaRPr lang="en-US" sz="11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354E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658368"/>
            <a:ext cx="146304" cy="146304"/>
          </a:xfrm>
          <a:prstGeom prst="rect">
            <a:avLst/>
          </a:prstGeom>
          <a:solidFill>
            <a:srgbClr val="B45F47"/>
          </a:solidFill>
          <a:ln/>
        </p:spPr>
      </p:sp>
      <p:sp>
        <p:nvSpPr>
          <p:cNvPr id="3" name="Text 1"/>
          <p:cNvSpPr/>
          <p:nvPr/>
        </p:nvSpPr>
        <p:spPr>
          <a:xfrm>
            <a:off x="884225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学科出口自检（独立完成）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905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合上课本完成以下任务；评价标准在教师手册（course.json），先独立作答再对照自评。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905" y="1783080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9293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51153" y="1874520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八年级上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说出雾、露、霜各自的形成物态变化并判断吸放热；晶体熔化图像中水平段说明什么？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905" y="2752344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9" name="Text 7"/>
          <p:cNvSpPr/>
          <p:nvPr/>
        </p:nvSpPr>
        <p:spPr>
          <a:xfrm>
            <a:off x="838505" y="28986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51153" y="2843784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八年级下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60 kg 的人双脚站立（每只鞋底 150 cm²），对地面的压强多大？用连通器说明船闸如何让船过坝。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9905" y="3721608"/>
            <a:ext cx="10971886" cy="841248"/>
          </a:xfrm>
          <a:prstGeom prst="roundRect">
            <a:avLst>
              <a:gd name="adj" fmla="val 6522"/>
            </a:avLst>
          </a:prstGeom>
          <a:solidFill>
            <a:srgbClr val="F5F2E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8679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51153" y="3813048"/>
            <a:ext cx="98288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496C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九年级下　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02D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给绕向和电流方向已知的通电螺线管标出 N/S 极；发电机与电动机的能量转化各是什么？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09905" y="5806440"/>
            <a:ext cx="109718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2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薄弱分支：讲解页回看对应章节 A 页；图示读不懂 → 回 D 页对照；出口题出错 → 找教师按提示阶梯重做。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物理·初中知识讲解课件</dc:title>
  <dc:subject>PptxGenJS Presentation</dc:subject>
  <dc:creator>Wilson</dc:creator>
  <cp:lastModifiedBy>Wilson</cp:lastModifiedBy>
  <cp:revision>1</cp:revision>
  <dcterms:created xsi:type="dcterms:W3CDTF">2026-09-15T20:26:52Z</dcterms:created>
  <dcterms:modified xsi:type="dcterms:W3CDTF">2026-09-15T20:26:52Z</dcterms:modified>
</cp:coreProperties>
</file>