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</p:sldIdLst>
  <p:notesMasterIdLst>
    <p:notesMasterId r:id="rId9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notesMaster" Target="notesMasters/notesMaster1.xml"/><Relationship Id="rId92" Type="http://schemas.openxmlformats.org/officeDocument/2006/relationships/presProps" Target="presProps.xml"/><Relationship Id="rId93" Type="http://schemas.openxmlformats.org/officeDocument/2006/relationships/viewProps" Target="viewProps.xml"/><Relationship Id="rId94" Type="http://schemas.openxmlformats.org/officeDocument/2006/relationships/theme" Target="theme/theme1.xml"/><Relationship Id="rId9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723C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932688"/>
            <a:ext cx="146304" cy="146304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84225" y="786384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300" kern="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标准课件 · 学科知识讲解（教师用）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09905" y="1481328"/>
            <a:ext cx="10058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609905" y="274320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初中知识体系 · 详细讲解课件 ｜ 统编版（教育部组织编写，人民教育出版社出版）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09905" y="37033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09905" y="446227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册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124505" y="37033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36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124505" y="446227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章/单元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39105" y="37033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103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5639105" y="446227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节/课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53705" y="37033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8153705" y="446227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学科图示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09905" y="52578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核心素养：文化自信：在经典诗文与中华优秀传统文化中建立认同，主动积累与传承 · 语言运用：在真实语境中积累、梳理语言经验，表达准确、得体、有逻辑 · 思维能力：借助比较、归纳、推断与质疑，发展逻辑思维与辩证思维 · 审美创造：感受、鉴赏语言文字与文学作品之美，并尝试个性化表达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09905" y="626364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制作依据：九科教辅规范包 v1.0 ｜ 知识体系依据 2022 年版义务教育课程标准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学科身份与课件使用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统编版（教育部组织编写，人民教育出版社出版）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9905" y="1794510"/>
            <a:ext cx="5340096" cy="397764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242609" y="1794510"/>
            <a:ext cx="5340096" cy="397764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84225" y="199567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学科身份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84225" y="2361438"/>
            <a:ext cx="4791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教材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84225" y="2599182"/>
            <a:ext cx="4791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统编版（教育部组织编写，人民教育出版社出版）（六册（七至九年级上下））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84225" y="3038094"/>
            <a:ext cx="4791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4225" y="3275838"/>
            <a:ext cx="4791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2022 年版义务教育课程标准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84225" y="3714750"/>
            <a:ext cx="4791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核心素养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84225" y="3952494"/>
            <a:ext cx="4791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文化自信：在经典诗文与中华优秀传统文化中建立认同，主动积累与传承、语言运用：在真…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84225" y="4391406"/>
            <a:ext cx="4791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课件定位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84225" y="4629150"/>
            <a:ext cx="4791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知识体系讲解导航：先结构、再讲解、后图示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84225" y="5068062"/>
            <a:ext cx="4791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版本说明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84225" y="5305806"/>
            <a:ext cx="4791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知识提纲为课标通用体系，按现行教材单元结构组织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16929" y="199567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课件结构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516929" y="234315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900977" y="2343150"/>
            <a:ext cx="43799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讲解页 A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按节组织：讲解要点（怎么讲）＋ 核心术语 ＋ 易错警示；每页最多 2 节。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16929" y="318439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900977" y="3184398"/>
            <a:ext cx="43799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图示页 D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学科专业图示：按学科特点绘制结构、过程、数据与关系图，矢量脚本绘制。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516929" y="402564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900977" y="4025646"/>
            <a:ext cx="43799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考试聚焦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每章标注考查侧重；末页给学科出口自检。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516929" y="486689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900977" y="4866894"/>
            <a:ext cx="43799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配套使用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与各册课本对照使用；图示为教学示意，精确数据图保留数据来源说明。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初中知识讲解课件 ｜ 九科教辅规范包 v1.0 ｜ 2 / 89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知识体系总览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先见森林，再进细节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905" y="1693926"/>
            <a:ext cx="34439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七年级上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19633" y="2004822"/>
            <a:ext cx="3334207" cy="305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第一单元 四季美景（朗读与写景）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19633" y="2309872"/>
            <a:ext cx="3334207" cy="305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第二单元 至爱亲情（记事与笔记小说）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19633" y="2614923"/>
            <a:ext cx="3334207" cy="305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第三单元 学习生活（默读与《论语》）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19633" y="2919973"/>
            <a:ext cx="3334207" cy="305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第四单元 人生之舟（勾画关键句）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19633" y="3225023"/>
            <a:ext cx="3334207" cy="305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第五单元 动物与人（概括中心）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19633" y="3530074"/>
            <a:ext cx="3334207" cy="305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第六单元 想象之翼（快速阅读与想象）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09905" y="3835124"/>
            <a:ext cx="34439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七年级下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19633" y="4146020"/>
            <a:ext cx="3334207" cy="305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第一单元 群星闪耀（写出人物精神）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19633" y="4451071"/>
            <a:ext cx="3334207" cy="305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第二单元 家国情怀（抒情方式）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19633" y="4756121"/>
            <a:ext cx="3334207" cy="305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第三单元 凡人小事（细节描写）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19633" y="5061171"/>
            <a:ext cx="3334207" cy="305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第四单元 修身正己（略读与托物言志）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19633" y="5366222"/>
            <a:ext cx="3334207" cy="305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第五单元 哲理之思（托物言志与登临诗）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19633" y="5671272"/>
            <a:ext cx="3334207" cy="305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第六单元 科幻探险（浏览长文）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373880" y="1693926"/>
            <a:ext cx="34439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八年级上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483608" y="2004822"/>
            <a:ext cx="3334207" cy="305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第一单元 活动·探究：新闻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483608" y="2309872"/>
            <a:ext cx="3334207" cy="305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第二单元 品格与光辉（回忆性散文与传记）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483608" y="2614923"/>
            <a:ext cx="3334207" cy="305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第三单元 山水之美（文言写景与唐诗）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483608" y="2919973"/>
            <a:ext cx="3334207" cy="305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第四单元 情感与哲思（背影与白杨）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483608" y="3225023"/>
            <a:ext cx="3334207" cy="305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第五单元 文明的印迹（说明文）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483608" y="3530074"/>
            <a:ext cx="3334207" cy="305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第六单元 情怀与哲思（诸子史传与诗词）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373880" y="3835124"/>
            <a:ext cx="34439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八年级下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483608" y="4146020"/>
            <a:ext cx="3334207" cy="305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第一单元 民风民俗（多种文体读民俗）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483608" y="4451071"/>
            <a:ext cx="3334207" cy="305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第二单元 科技之光（事理说明文）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483608" y="4756121"/>
            <a:ext cx="3334207" cy="305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第三单元 古人的理想（文言积累与《诗经》）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483608" y="5061171"/>
            <a:ext cx="3334207" cy="305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第四单元 思想的声音（活动·探究：演讲）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483608" y="5366222"/>
            <a:ext cx="3334207" cy="305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第五单元 江山多娇（游记）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483608" y="5671272"/>
            <a:ext cx="3334207" cy="305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第六单元 古人的哲思（诸子与讽喻诗）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137855" y="1693926"/>
            <a:ext cx="34439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九年级上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247583" y="2004822"/>
            <a:ext cx="3334207" cy="305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第一单元 活动·探究：诗歌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247583" y="2309872"/>
            <a:ext cx="3334207" cy="305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第二单元 观点与论证（议论文入门）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247583" y="2614923"/>
            <a:ext cx="3334207" cy="305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第三单元 忧乐情怀（文言名篇）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247583" y="2919973"/>
            <a:ext cx="3334207" cy="305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第四单元 成长与世相（小说）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247583" y="3225023"/>
            <a:ext cx="3334207" cy="305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第五单元 怀疑与创造（立论与驳论）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247583" y="3530074"/>
            <a:ext cx="3334207" cy="305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第六单元 古典小说（白话小说源流）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137855" y="3835124"/>
            <a:ext cx="34439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九年级下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247583" y="4146020"/>
            <a:ext cx="3334207" cy="305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第一单元 活动·探究：诗歌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247583" y="4451071"/>
            <a:ext cx="3334207" cy="305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第二单元 人物画廊（小说笔法）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247583" y="4756121"/>
            <a:ext cx="3334207" cy="305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第三单元 古人的抉择（义利与使臣风骨）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247583" y="5061171"/>
            <a:ext cx="3334207" cy="305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第四单元 读书与审美（文艺论文）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8247583" y="5366222"/>
            <a:ext cx="3334207" cy="305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第五单元 活动·探究：戏剧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8247583" y="5671272"/>
            <a:ext cx="3334207" cy="305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第六单元 沙场与苍生（史传论说与诗词曲）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初中知识讲解课件 ｜ 九科教辅规范包 v1.0 ｜ 3 / 89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A1｜第一单元 · 四季美景（朗读与写景）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讲解要点（七年级上 · 阅读与鉴赏 · 考查：写景散文语言品析、修辞辨析与朗读设计是高频考点）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  现代文阅读·写景散文（《春》《济南的冬天》《雨的四季》）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先示范朗读定基调，再让学生圈画景物描写句，归类直接描写与侧面烘托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用“换掉这个词行不行”比较措辞，落到比喻、比拟的表达效果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按“景物特点＋作者情感”双线归纳段意，防止只抄形容词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  古诗词诵读·四首（《观沧海》《闻王昌龄左迁龙标遥有此寄》《次北固山下》《天净沙·秋思》）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先正音断句再疏通意象，用“画面还原法”讲日、月、星汉等景物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每首抓一个情感词，串起“写了什么景—抒了什么情”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《天净沙·秋思》讲九个名词并置的意象叠加，让学生自己排列组合画面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把比拟只当修辞名词，说不出被写物获得了怎样的人性或情态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朗读只求响亮，不会用停连、重音表现层次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初中知识讲解课件 ｜ 九科教辅规范包 v1.0 ｜ 4 / 89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A2｜第一单元 · 四季美景（朗读与写景）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讲解要点（七年级上 · 阅读与鉴赏 · 考查：写景散文语言品析、修辞辨析与朗读设计是高频考点）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  写作·热爱生活，热爱写作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用“五感观察清单”带学生重走上学路，先说后写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讲“以小见大”：从一片落叶写秋天，不贪大求全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605065" y="3339846"/>
            <a:ext cx="3976726" cy="950976"/>
          </a:xfrm>
          <a:prstGeom prst="roundRect">
            <a:avLst>
              <a:gd name="adj" fmla="val 4808"/>
            </a:avLst>
          </a:prstGeom>
          <a:solidFill>
            <a:srgbClr val="F2E3DC"/>
          </a:solidFill>
          <a:ln/>
        </p:spPr>
      </p:sp>
      <p:sp>
        <p:nvSpPr>
          <p:cNvPr id="9" name="Text 7"/>
          <p:cNvSpPr/>
          <p:nvPr/>
        </p:nvSpPr>
        <p:spPr>
          <a:xfrm>
            <a:off x="7787945" y="343128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87945" y="3723894"/>
            <a:ext cx="361096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开头结尾喊口号抒情，中间缺少具体景物支撑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初中知识讲解课件 ｜ 九科教辅规范包 v1.0 ｜ 5 / 89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D｜第一单元 · 四季美景（朗读与写景）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4176522"/>
          </a:xfrm>
          <a:prstGeom prst="roundRect">
            <a:avLst>
              <a:gd name="adj" fmla="val 13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chinese/ch-7a-1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5354" y="1876806"/>
            <a:ext cx="6155741" cy="38473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62265" y="1895094"/>
            <a:ext cx="3290926" cy="381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比喻与比拟辨析结构图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顶部中心框“把景物写活”。左分支“比喻”：标注三要素“本体＋喻体＋相似点”，下分三格：明喻（有“像、似”，例句：像牛毛，像花针，像细丝——写春雨密而细）、暗喻（用“是、成了”，例句：小小的摇篮——写小芽）、借喻（只出现喻体）。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初中知识讲解课件 ｜ 九科教辅规范包 v1.0 ｜ 6 / 89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A1｜第二单元 · 至爱亲情（记事与笔记小说）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讲解要点（七年级上 · 阅读与鉴赏 · 考查：记事文章的线索与细节作用；《世说新语》二则词句理解）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  现代文阅读·叙事散文（《秋天的怀念》《散步》《散文诗二首》）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先圈动作、语言细节，再追问“删掉这个细节少了什么”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用《散步》讲对称句式与“分歧—解决”情节，理清线索与主旨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对比《秋天的怀念》两次“看花”，画出“我”的情感变化线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  文言文·《世说新语》二则（《咏雪》《陈太丘与友期行》）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先讲谢家咏雪情境，再让学生比较“柳絮因风起”与“撒盐空中”孰优并说理由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《陈太丘》抓“期日中”讲省略，落实“尊君、顾、去”等词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用复述故事检验疏通，不逐字串讲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概括事件丢六要素，“谁”或“结果”缺失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把“相委而去”的“去”按今义解作“前往”，漏掉“离开”义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初中知识讲解课件 ｜ 九科教辅规范包 v1.0 ｜ 7 / 89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A2｜第二单元 · 至爱亲情（记事与笔记小说）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讲解要点（七年级上 · 阅读与鉴赏 · 考查：记事文章的线索与细节作用；《世说新语》二则词句理解）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  写作·学会记事 ＋ 综合性学习·有朋自远方来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用六要素表格改一篇流水账，先练“写得清楚”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加一处动作或语言细节改写，再练“写得动人”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综合性学习搜集交友名言，小组举办“交友之道”展示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605065" y="3339846"/>
            <a:ext cx="3976726" cy="950976"/>
          </a:xfrm>
          <a:prstGeom prst="roundRect">
            <a:avLst>
              <a:gd name="adj" fmla="val 4808"/>
            </a:avLst>
          </a:prstGeom>
          <a:solidFill>
            <a:srgbClr val="F2E3DC"/>
          </a:solidFill>
          <a:ln/>
        </p:spPr>
      </p:sp>
      <p:sp>
        <p:nvSpPr>
          <p:cNvPr id="9" name="Text 7"/>
          <p:cNvSpPr/>
          <p:nvPr/>
        </p:nvSpPr>
        <p:spPr>
          <a:xfrm>
            <a:off x="7787945" y="343128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87945" y="3723894"/>
            <a:ext cx="361096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记事平均用力，与中心无关的过程写得太多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初中知识讲解课件 ｜ 九科教辅规范包 v1.0 ｜ 8 / 89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D｜第二单元 · 至爱亲情（记事与笔记小说）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4176522"/>
          </a:xfrm>
          <a:prstGeom prst="roundRect">
            <a:avLst>
              <a:gd name="adj" fmla="val 13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chinese/ch-7a-2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5354" y="1876806"/>
            <a:ext cx="6155741" cy="38473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62265" y="1895094"/>
            <a:ext cx="3290926" cy="381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记叙文六要素与详略结构图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顶部“记叙一件事”。第一层横排六个卡片：时间、地点、人物、起因、经过、结果，每个卡片内写提示语（如“人物：谁做了什么”）。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初中知识讲解课件 ｜ 九科教辅规范包 v1.0 ｜ 9 / 89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A1｜第三单元 · 学习生活（默读与《论语》）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讲解要点（七年级上 · 阅读与鉴赏 · 考查：默读概括能力；《论语》十二章名句默写与理解）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3.1  现代文阅读·默读与概括（《从百草园到三味书屋》《再塑生命的人》）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限时默读训练：不出声、不动唇、不指读，读后按标题倒推主要内容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百草园—三味书屋两段生活对比表：乐趣各是什么、笔调有何不同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《再塑生命的人》抓“再塑”前后对比，理解莎莉文老师的引导方式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3.2  文言文·《论语》十二章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先整体感知再字字落实：每章抓一个关键词（学、思、省、义）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分类梳理板书：学习方法、学习态度、修身做人三栏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集中讲“而”的用法：顺承、转折、并列各找一句原例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概括段落照抄原文长句，不会压缩成一句主谓句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“温故而知新”的“而”误判为并列；“不亦说乎”的“说”读错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初中知识讲解课件 ｜ 九科教辅规范包 v1.0 ｜ 10 / 89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A2｜第三单元 · 学习生活（默读与《论语》）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讲解要点（七年级上 · 阅读与鉴赏 · 考查：默读概括能力；《论语》十二章名句默写与理解）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3.3  名著导读·《朝花夕拾》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按“童年—求学—故人”三主题串读，做人物与事件卡片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讲“双重视角”：儿时的感受与写作时的回忆彼此交织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605065" y="3339846"/>
            <a:ext cx="3976726" cy="950976"/>
          </a:xfrm>
          <a:prstGeom prst="roundRect">
            <a:avLst>
              <a:gd name="adj" fmla="val 4808"/>
            </a:avLst>
          </a:prstGeom>
          <a:solidFill>
            <a:srgbClr val="F2E3DC"/>
          </a:solidFill>
          <a:ln/>
        </p:spPr>
      </p:sp>
      <p:sp>
        <p:nvSpPr>
          <p:cNvPr id="9" name="Text 7"/>
          <p:cNvSpPr/>
          <p:nvPr/>
        </p:nvSpPr>
        <p:spPr>
          <a:xfrm>
            <a:off x="7787945" y="343128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87945" y="3723894"/>
            <a:ext cx="361096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只读故事情节，看不出温馨回忆与理性批判并存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初中知识讲解课件 ｜ 九科教辅规范包 v1.0 ｜ 11 / 89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A1｜第四单元 · 人生之舟（勾画关键句）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讲解要点（七年级上 · 阅读与鉴赏 · 考查：关键句勾画与内容概括、人物精神归纳；《诫子书》词句）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4.1  现代文阅读·勾画关键句（《纪念白求恩》《植树的牧羊人》《走一步，再走一步》）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教“每段画一处关键句再连缀成要”的概括路径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《纪念白求恩》讲赞美与批评的对照，初识议论文提出观点的方式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《植树的牧羊人》用三次到访时间轴梳理所见变化，讲第一人称见证视角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4.2  文言文·《诫子书》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抓“静以修身，俭以养德”领起，讲“非……无以……”双重否定句式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梳理“志—学—才”关系链：非学无以广才，非志无以成学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概括人物品质只贴“无私”“伟大”标签，不给文中事件支撑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“淫慢则不能励精”的“淫”按今义硬解，漏掉“放纵”义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初中知识讲解课件 ｜ 九科教辅规范包 v1.0 ｜ 12 / 89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A2｜第四单元 · 人生之舟（勾画关键句）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讲解要点（七年级上 · 阅读与鉴赏 · 考查：关键句勾画与内容概括、人物精神归纳；《诫子书》词句）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4.3  写作·思路要清晰 ＋ 综合性学习·少年正是读书时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先口头说提纲“先写什么—再写什么—为什么这样排”，再动笔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综合性学习列个人读书清单，互相推荐一本书并说推荐理由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605065" y="3339846"/>
            <a:ext cx="3976726" cy="950976"/>
          </a:xfrm>
          <a:prstGeom prst="roundRect">
            <a:avLst>
              <a:gd name="adj" fmla="val 4808"/>
            </a:avLst>
          </a:prstGeom>
          <a:solidFill>
            <a:srgbClr val="F2E3DC"/>
          </a:solidFill>
          <a:ln/>
        </p:spPr>
      </p:sp>
      <p:sp>
        <p:nvSpPr>
          <p:cNvPr id="9" name="Text 7"/>
          <p:cNvSpPr/>
          <p:nvPr/>
        </p:nvSpPr>
        <p:spPr>
          <a:xfrm>
            <a:off x="7787945" y="343128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87945" y="3723894"/>
            <a:ext cx="361096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段落之间缺少过渡句，文章像段落拼盘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初中知识讲解课件 ｜ 九科教辅规范包 v1.0 ｜ 13 / 89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A1｜第五单元 · 动物与人（概括中心）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讲解要点（七年级上 · 阅读与鉴赏 · 考查：中心句与中心概括；《狼》的实词虚词与主旨）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5.1  现代文阅读·概括中心（《猫》《动物笑谈》）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教“结尾找主旨句＋中间找情感词”的中心概括路径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《猫》用三次养猫经历对照表，落点在“我”的自省与偏见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5.2  文言文·《狼》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先理故事线：遇狼—惧狼—御狼—杀狼，再落实“缀行甚远”等实词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集中讲“其、之、以”在本文的用法，各配一句原例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讨论结尾两句议论与故事的关系：画龙点睛式点题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主题答成“猫很可怜”，停在内容层，未进“善待生命、反思偏见”层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“其一犬坐于前”误读为“其中一只狗”，看不出“犬”是名词作状语“像狗一样”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初中知识讲解课件 ｜ 九科教辅规范包 v1.0 ｜ 14 / 89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A2｜第五单元 · 动物与人（概括中心）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讲解要点（七年级上 · 阅读与鉴赏 · 考查：中心句与中心概括；《狼》的实词虚词与主旨）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5.3  写作·如何突出中心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教“一线串珠”：全文材料围绕一句话中心取舍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用升降格对照改文：同一材料如何向中心靠拢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605065" y="3339846"/>
            <a:ext cx="3976726" cy="950976"/>
          </a:xfrm>
          <a:prstGeom prst="roundRect">
            <a:avLst>
              <a:gd name="adj" fmla="val 4808"/>
            </a:avLst>
          </a:prstGeom>
          <a:solidFill>
            <a:srgbClr val="F2E3DC"/>
          </a:solidFill>
          <a:ln/>
        </p:spPr>
      </p:sp>
      <p:sp>
        <p:nvSpPr>
          <p:cNvPr id="9" name="Text 7"/>
          <p:cNvSpPr/>
          <p:nvPr/>
        </p:nvSpPr>
        <p:spPr>
          <a:xfrm>
            <a:off x="7787945" y="343128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87945" y="3723894"/>
            <a:ext cx="361096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中心句只在开头出现，中间材料跑偏而不自知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初中知识讲解课件 ｜ 九科教辅规范包 v1.0 ｜ 15 / 89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A1｜第六单元 · 想象之翼（快速阅读与想象）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讲解要点（七年级上 · 阅读与鉴赏 · 考查：快速阅读与信息提取、想象与夸张手法、寓言寓意概括）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6.1  现代文阅读·童话与快速阅读（《皇帝的新装》）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限时读《皇帝的新装》，讲以“骗”为线索的情节链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讨论让孩子说出真话的结局设计，体会童话的夸张与讽刺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《西游记》导读：精读与跳读结合，选回目做情节链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  诗与神话·想象的世界（《天上的街市》《女娲造人》）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《天上的街市》讲由“街灯—明星”展开的联想与想象路径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《女娲造人》与古籍记载对照，看神话想象如何添枝加叶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寓意答成“骗子聪明”，偏离讽刺虚伪、呼唤真诚的主题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混淆联想（由此及彼）与想象（创造新形象）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初中知识讲解课件 ｜ 九科教辅规范包 v1.0 ｜ 16 / 89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A2｜第六单元 · 想象之翼（快速阅读与想象）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讲解要点（七年级上 · 阅读与鉴赏 · 考查：快速阅读与信息提取、想象与夸张手法、寓言寓意概括）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6.3  文言文·《寓言四则》 ＋ 写作·发挥联想和想象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《穿井得一人》《杞人忧天》先演后讲，落实“得一人之使”句意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寓意由学生自述并互评“是否覆盖故事”，不背现成答案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写作做“续写一个画面”练习，讨论想象合理的边界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605065" y="3687318"/>
            <a:ext cx="3976726" cy="950976"/>
          </a:xfrm>
          <a:prstGeom prst="roundRect">
            <a:avLst>
              <a:gd name="adj" fmla="val 4808"/>
            </a:avLst>
          </a:prstGeom>
          <a:solidFill>
            <a:srgbClr val="F2E3DC"/>
          </a:solidFill>
          <a:ln/>
        </p:spPr>
      </p:sp>
      <p:sp>
        <p:nvSpPr>
          <p:cNvPr id="9" name="Text 7"/>
          <p:cNvSpPr/>
          <p:nvPr/>
        </p:nvSpPr>
        <p:spPr>
          <a:xfrm>
            <a:off x="7787945" y="377875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87945" y="4071366"/>
            <a:ext cx="361096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“穿井得一人”寓意答成“劳动有收获”，未读出“以讹传讹、核实求真”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初中知识讲解课件 ｜ 九科教辅规范包 v1.0 ｜ 17 / 89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A1｜第一单元 · 群星闪耀（写出人物精神）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讲解要点（七年级下 · 阅读与鉴赏 · 考查：人物精神品质与典型事例的对应；《孙权劝学》词句与成语）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  现代文阅读·人物传记类文本（《邓稼先》《说和做》《回忆鲁迅先生》）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先圈典型事例，再归类直接评价句，分清“事证”与“评语”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《邓稼先》用小标题结构讲“板块式”思路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《说和做》抓过渡段与对称句式，理解闻一多“言行一致”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  文言文·《孙权劝学》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分角色朗读，读出“劝—辞—赞”三步对话的语气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落实“辞、涉猎、见往事、刮目相待”等词，讲“吴下阿蒙”“刮目相待”的成语源流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事例与品质错位：拿“治学严谨”的事例去证明“爱国”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“但当涉猎”的“但”按今义译成“但是”，漏掉“只、仅仅”义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初中知识讲解课件 ｜ 九科教辅规范包 v1.0 ｜ 18 / 89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A2｜第一单元 · 群星闪耀（写出人物精神）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讲解要点（七年级下 · 阅读与鉴赏 · 考查：人物精神品质与典型事例的对应；《孙权劝学》词句与成语）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  写作·写出人物的精神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先列“事例＋细节”双栏提纲再动笔，防止空喊品质词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讲对比与衬托显精神：写他“做什么”，更要写他“不做什么”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605065" y="3339846"/>
            <a:ext cx="3976726" cy="950976"/>
          </a:xfrm>
          <a:prstGeom prst="roundRect">
            <a:avLst>
              <a:gd name="adj" fmla="val 4808"/>
            </a:avLst>
          </a:prstGeom>
          <a:solidFill>
            <a:srgbClr val="F2E3DC"/>
          </a:solidFill>
          <a:ln/>
        </p:spPr>
      </p:sp>
      <p:sp>
        <p:nvSpPr>
          <p:cNvPr id="9" name="Text 7"/>
          <p:cNvSpPr/>
          <p:nvPr/>
        </p:nvSpPr>
        <p:spPr>
          <a:xfrm>
            <a:off x="7787945" y="343128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87945" y="3723894"/>
            <a:ext cx="361096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通篇“他很伟大”式评价，无一处具体言行支撑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初中知识讲解课件 ｜ 九科教辅规范包 v1.0 ｜ 19 / 89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D｜第一单元 · 群星闪耀（写出人物精神）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4176522"/>
          </a:xfrm>
          <a:prstGeom prst="roundRect">
            <a:avLst>
              <a:gd name="adj" fmla="val 13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chinese/ch-7b-1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5354" y="1876806"/>
            <a:ext cx="6155741" cy="38473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62265" y="1895094"/>
            <a:ext cx="3290926" cy="381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人物描写方法与精神表达体系图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顶层框“写出人物的精神”。左主干“直接描写”下挂五个卡片：外貌（例：头发凌乱——写治学之专）、语言（例：《孙权劝学》对话显语气）、动作、心理、神态；右主干“间接描写”下挂三个卡片：他人评价（例：鲁肃赞吕蒙“非复吴下阿蒙”）、环境衬托、侧…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初中知识讲解课件 ｜ 九科教辅规范包 v1.0 ｜ 20 / 89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A1｜第二单元 · 家国情怀（抒情方式）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讲解要点（七年级下 · 阅读与鉴赏 · 考查：抒情方式辨析、朗读设计；《木兰诗》互文与详略）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  现代文阅读·抒情散文（《黄河颂》《老山界》《土地的誓言》）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双色笔标注《土地的誓言》：直接抒情句与借景物抒情处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《老山界》按时间与地点双线梳理翻山经过，体会难而不苦的乐观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《黄河颂》用节拍表设计朗读，读出“颂”的气势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  乐府诗·《木兰诗》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按“代父从军—征途思亲—十年征战—辞官还乡”四段梳理叙事结构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集中讲互文、排比、对偶：以“东市买骏马”四句为例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讨论详略：为何十年征战一笔带过，而思亲与还乡写得细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把所有感叹句都当“直接抒情”，忽略其依托的具体描写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“将军百战死，壮士十年归”按字面直译，不懂互文见义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初中知识讲解课件 ｜ 九科教辅规范包 v1.0 ｜ 21 / 89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A2｜第二单元 · 家国情怀（抒情方式）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讲解要点（七年级下 · 阅读与鉴赏 · 考查：抒情方式辨析、朗读设计；《木兰诗》互文与详略）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  写作·学习抒情 ＋ 综合性学习·天下国家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练“先叙一事后抒一句”的节制抒情，杜绝空喊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综合性学习开爱国故事会：材料先筛选再脱稿讲述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605065" y="3339846"/>
            <a:ext cx="3976726" cy="950976"/>
          </a:xfrm>
          <a:prstGeom prst="roundRect">
            <a:avLst>
              <a:gd name="adj" fmla="val 4808"/>
            </a:avLst>
          </a:prstGeom>
          <a:solidFill>
            <a:srgbClr val="F2E3DC"/>
          </a:solidFill>
          <a:ln/>
        </p:spPr>
      </p:sp>
      <p:sp>
        <p:nvSpPr>
          <p:cNvPr id="9" name="Text 7"/>
          <p:cNvSpPr/>
          <p:nvPr/>
        </p:nvSpPr>
        <p:spPr>
          <a:xfrm>
            <a:off x="7787945" y="343128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87945" y="3723894"/>
            <a:ext cx="361096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抒情句与事件脱节，“感动”没有来由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初中知识讲解课件 ｜ 九科教辅规范包 v1.0 ｜ 22 / 89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D｜第二单元 · 家国情怀（抒情方式）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4176522"/>
          </a:xfrm>
          <a:prstGeom prst="roundRect">
            <a:avLst>
              <a:gd name="adj" fmla="val 13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chinese/ch-7b-2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5354" y="1876806"/>
            <a:ext cx="6155741" cy="38473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62265" y="1895094"/>
            <a:ext cx="3290926" cy="381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抒情方式分类结构图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顶部“抒情”。左分支“直接抒情（直抒胸臆）”：例句“啊！黄河！你是中华民族的摇篮”（呼告式赞叹）。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初中知识讲解课件 ｜ 九科教辅规范包 v1.0 ｜ 23 / 89</a:t>
            </a:r>
            <a:endParaRPr lang="en-US" sz="1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A1｜第三单元 · 凡人小事（细节描写）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讲解要点（七年级下 · 阅读与鉴赏 · 考查：细节描写的作用、人物情感态度变化；《卖油翁》实词）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3.1  现代文阅读·写人记事散文（《阿长与〈山海经〉》《老王》《台阶》）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圈外貌、动作、语言细节，填“细节—人物形象”对应表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《老王》抓“愧怍”一词倒推全文情感逻辑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《台阶》以台阶为线索，讲象征与父亲形象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3.2  文言文·《卖油翁》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用“睨—微颔”的神态变化讲“唯手熟尔”之理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对比陈尧咨的矜持与卖油翁的从容，讨论“以我酌油知之”的自信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分析细节只答“生动形象”，不说写出人物什么特点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“但手熟尔”的“尔”误译为“你”，漏掉“罢了”的轻描淡写语气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初中知识讲解课件 ｜ 九科教辅规范包 v1.0 ｜ 24 / 89</a:t>
            </a:r>
            <a:endParaRPr lang="en-US" sz="11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A2｜第三单元 · 凡人小事（细节描写）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讲解要点（七年级下 · 阅读与鉴赏 · 考查：细节描写的作用、人物情感态度变化；《卖油翁》实词）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3.3  名著导读·《骆驼祥子》 ＋ 写作·抓住细节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按“三起三落”时间轴梳理祥子命运，标注每次打击的社会原因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写作练“慢镜头”：把一秒钟的动作拆成三个细节写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605065" y="3687318"/>
            <a:ext cx="3976726" cy="950976"/>
          </a:xfrm>
          <a:prstGeom prst="roundRect">
            <a:avLst>
              <a:gd name="adj" fmla="val 4808"/>
            </a:avLst>
          </a:prstGeom>
          <a:solidFill>
            <a:srgbClr val="F2E3DC"/>
          </a:solidFill>
          <a:ln/>
        </p:spPr>
      </p:sp>
      <p:sp>
        <p:nvSpPr>
          <p:cNvPr id="9" name="Text 7"/>
          <p:cNvSpPr/>
          <p:nvPr/>
        </p:nvSpPr>
        <p:spPr>
          <a:xfrm>
            <a:off x="7787945" y="377875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87945" y="4071366"/>
            <a:ext cx="361096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主题只答“祥子很惨”，读不出“个人奋斗在黑暗社会中的幻灭”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初中知识讲解课件 ｜ 九科教辅规范包 v1.0 ｜ 25 / 89</a:t>
            </a:r>
            <a:endParaRPr lang="en-US" sz="11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A1｜第四单元 · 修身正己（略读与托物言志）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讲解要点（七年级下 · 阅读与鉴赏 · 考查：略读与中心把握；《陋室铭》《爱莲说》托物言志与词句）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4.1  现代文阅读·说理散文与悬念叙事（《叶圣陶先生二三事》《驿路梨花》）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略读先抓中心句“待人厚、律己严”，再回文验证事例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《驿路梨花》讲三次悬念、两次误会，理清插叙与倒叙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4.2  文言文·《陋室铭》《爱莲说》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先讲“铭”“说”文体，再抓“惟吾德馨”主旨句回读全篇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“出淤泥而不染”三句逐句对应君子之德，讲托物言志的路径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对比“菊—牡丹—莲”的衬托关系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《驿路梨花》叙述顺序梳理错乱，把插叙当顺叙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“苔痕上阶绿”的“上”当普通名词，看不出名词作动词“长上”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初中知识讲解课件 ｜ 九科教辅规范包 v1.0 ｜ 26 / 89</a:t>
            </a:r>
            <a:endParaRPr lang="en-US" sz="11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A2｜第四单元 · 修身正己（略读与托物言志）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讲解要点（七年级下 · 阅读与鉴赏 · 考查：略读与中心把握；《陋室铭》《爱莲说》托物言志与词句）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4.3  写作·怎样选材 ＋ 综合性学习·孝亲敬老，从我做起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用“熟悉度—新意度”双坐标筛素材，先淘汰再三选一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综合性学习为长辈做一件事并写过程记录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605065" y="3339846"/>
            <a:ext cx="3976726" cy="950976"/>
          </a:xfrm>
          <a:prstGeom prst="roundRect">
            <a:avLst>
              <a:gd name="adj" fmla="val 4808"/>
            </a:avLst>
          </a:prstGeom>
          <a:solidFill>
            <a:srgbClr val="F2E3DC"/>
          </a:solidFill>
          <a:ln/>
        </p:spPr>
      </p:sp>
      <p:sp>
        <p:nvSpPr>
          <p:cNvPr id="9" name="Text 7"/>
          <p:cNvSpPr/>
          <p:nvPr/>
        </p:nvSpPr>
        <p:spPr>
          <a:xfrm>
            <a:off x="7787945" y="343128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87945" y="3723894"/>
            <a:ext cx="361096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选材贪“大事件”，身边小事写不出真感受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初中知识讲解课件 ｜ 九科教辅规范包 v1.0 ｜ 27 / 89</a:t>
            </a:r>
            <a:endParaRPr lang="en-US" sz="11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A1｜第五单元 · 哲理之思（托物言志与登临诗）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讲解要点（七年级下 · 阅读与鉴赏 · 考查：托物言志手法辨析、古诗名句理解与默写）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5.1  现代文阅读·托物言志散文（《紫藤萝瀑布》《一棵小桃树》）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画“物”的描写线与“志”的议论抒情线，找出交会句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《紫藤萝瀑布》抓“生命长河”，理出由悲转喜的情感曲线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对比《一棵小桃树》的“我的”叙述，体会物我合一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5.2  诗歌联读·外国诗二首（假如生活欺骗了你／未选择的路）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《假如生活欺骗了你》读直白劝告式说理诗的语气层次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《未选择的路》用“路”的象征讲人生选择，两首对读“直面与回望”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只答“紫藤萝开得美”，说不出由物及人的“志”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把“路”实解为林间小路，读不出象征义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初中知识讲解课件 ｜ 九科教辅规范包 v1.0 ｜ 28 / 89</a:t>
            </a:r>
            <a:endParaRPr lang="en-US" sz="11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A2｜第五单元 · 哲理之思（托物言志与登临诗）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讲解要点（七年级下 · 阅读与鉴赏 · 考查：托物言志手法辨析、古诗名句理解与默写）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5.3  古代诗歌五首联读（登幽州台歌／望岳／登飞来峰／游山西村／己亥杂诗）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按登临诗三问梳理：登何处—见何景—抒何情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炼字集中练：“会当”“割”“遮”各说一处表达效果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建立晨读默写单：名句按“写景／说理／言志”分栏过关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605065" y="3687318"/>
            <a:ext cx="3976726" cy="950976"/>
          </a:xfrm>
          <a:prstGeom prst="roundRect">
            <a:avLst>
              <a:gd name="adj" fmla="val 4808"/>
            </a:avLst>
          </a:prstGeom>
          <a:solidFill>
            <a:srgbClr val="F2E3DC"/>
          </a:solidFill>
          <a:ln/>
        </p:spPr>
      </p:sp>
      <p:sp>
        <p:nvSpPr>
          <p:cNvPr id="9" name="Text 7"/>
          <p:cNvSpPr/>
          <p:nvPr/>
        </p:nvSpPr>
        <p:spPr>
          <a:xfrm>
            <a:off x="7787945" y="377875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87945" y="4071366"/>
            <a:ext cx="361096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“不畏浮云遮望眼”的理趣答成“写景优美”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初中知识讲解课件 ｜ 九科教辅规范包 v1.0 ｜ 29 / 89</a:t>
            </a:r>
            <a:endParaRPr lang="en-US" sz="11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D｜第五单元 · 哲理之思（托物言志与登临诗）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4176522"/>
          </a:xfrm>
          <a:prstGeom prst="roundRect">
            <a:avLst>
              <a:gd name="adj" fmla="val 13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chinese/ch-7b-5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5354" y="1876806"/>
            <a:ext cx="6155741" cy="38473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62265" y="1895094"/>
            <a:ext cx="3290926" cy="381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托物言志“物—理—志”三级路径图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级向上的台阶式流程：第一级“绘物”：抓外形与习性特征，例：紫藤萝“像一条瀑布，从空中垂下”；第二级“悟理”：由物及人，例：“花和人都会遇到各种各样的不幸，但是生命的长河是无止境的”；第三级“明志”：卒章显志，例：“我不觉加快了脚步”。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初中知识讲解课件 ｜ 九科教辅规范包 v1.0 ｜ 30 / 89</a:t>
            </a:r>
            <a:endParaRPr lang="en-US" sz="11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A1｜第六单元 · 科幻探险（浏览长文）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讲解要点（七年级下 · 阅读与鉴赏 · 考查：浏览与信息提取、伏笔照应；《活板》说明性文言词句）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6.1  现代文阅读·浏览与信息提取（《伟大的悲剧》《太空一日》）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定时浏览《伟大的悲剧》，只记五人行程节点再回头补细节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《太空一日》用小标题列“意外事件清单”，讲纪实文学的真实与惊险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  科幻小说·《带上她的眼睛》 ＋ 名著导读·《海底两万里》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先设悬念猜“眼睛”是什么，再讲伏笔与反转结构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讨论科幻设定与科学依据的边界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《海底两万里》练快速阅读：每章只记“地点—事件”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浏览时逐词回读，速度与信息提取双双落空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把伏笔当“多余描写”，看不出与前文的照应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初中知识讲解课件 ｜ 九科教辅规范包 v1.0 ｜ 31 / 89</a:t>
            </a:r>
            <a:endParaRPr lang="en-US" sz="11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A2｜第六单元 · 科幻探险（浏览长文）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讲解要点（七年级下 · 阅读与鉴赏 · 考查：浏览与信息提取、伏笔照应；《活板》说明性文言词句）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6.3  文言文·《活板》 ＋ 写作·语言简明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按“制字—排版—印刷—拆版”工序流程图疏通全文动词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讲“火烧令坚”的省略与“火”的活用；写作练删冗余句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605065" y="4034790"/>
            <a:ext cx="3976726" cy="950976"/>
          </a:xfrm>
          <a:prstGeom prst="roundRect">
            <a:avLst>
              <a:gd name="adj" fmla="val 4808"/>
            </a:avLst>
          </a:prstGeom>
          <a:solidFill>
            <a:srgbClr val="F2E3DC"/>
          </a:solidFill>
          <a:ln/>
        </p:spPr>
      </p:sp>
      <p:sp>
        <p:nvSpPr>
          <p:cNvPr id="9" name="Text 7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87945" y="4418838"/>
            <a:ext cx="361096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“火烧令坚”的“火”不解为名词作状语“用火”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初中知识讲解课件 ｜ 九科教辅规范包 v1.0 ｜ 32 / 89</a:t>
            </a:r>
            <a:endParaRPr lang="en-US" sz="11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A｜第一单元 · 活动·探究：新闻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讲解要点（八年级上 · 表达与交流 · 考查：消息的倒金字塔结构、导语拟写、新闻语言的准确客观）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  新闻阅读·消息的结构（消息二则／首届诺贝尔奖颁发／“飞天”凌空／一着惊海天）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用一篇消息拆五部分：标题—导语—主体—背景—结语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讲倒金字塔：重要性递减，导语用“六要素”问答法检验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对比《“飞天”凌空》特写与消息：细节慢镜头与快讯的差异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  新闻采访与写作实践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拟采访提纲：先列“要知道什么”，再排问题顺序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写校园消息，练“导语一句话说清谁在何时何地做了什么”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修改练“删形容词”，体会新闻语言的客观与准确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把导语写成时间地点的流水账，丢掉最核心的事实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消息里加主观评论词（如“非常感人”），破坏客观性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初中知识讲解课件 ｜ 九科教辅规范包 v1.0 ｜ 33 / 89</a:t>
            </a:r>
            <a:endParaRPr lang="en-US" sz="11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D｜第一单元 · 活动·探究：新闻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4176522"/>
          </a:xfrm>
          <a:prstGeom prst="roundRect">
            <a:avLst>
              <a:gd name="adj" fmla="val 13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chinese/ch-8a-1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5354" y="1876806"/>
            <a:ext cx="6155741" cy="38473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62265" y="1895094"/>
            <a:ext cx="3290926" cy="381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消息倒金字塔结构图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画一个倒置三角形分三层：顶层“标题”（旁注：可含引题、主标题、副题）；中层“导语”（第一二句话，旁注：何时、何地、何人、何事等核心要素，并摘录例句“新华社长江前线二十二日二时电　英勇的人民解放军二十一日已有大约三十万人渡过长江”）；底层…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初中知识讲解课件 ｜ 九科教辅规范包 v1.0 ｜ 34 / 89</a:t>
            </a:r>
            <a:endParaRPr lang="en-US" sz="11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A1｜第二单元 · 品格与光辉（回忆性散文与传记）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讲解要点（八年级上 · 阅读与鉴赏 · 考查：典型事件与细节写人、作者情感把握、传记的真实性）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  现代文阅读·回忆性散文（《藤野先生》《回忆我的母亲》）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区分“事件线”与“情感线”双线读《藤野先生》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圈出“我”的悔愧、感激句，讲回忆散文的今昔双视角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《列夫·托尔斯泰》前抑后扬的外貌描写，讲欲扬先抑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  传记阅读·《美丽的颜色》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在引文（居里夫人原话）与叙述交替处做批注，体会真实感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讨论提炼镭的场景细节，理解“美丽”的双关：镭之光与信念之美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把《藤野先生》主题答成“师生情深”，忽略弱国学生的自尊与觉醒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“美丽的颜色”只答“镭的光”，不指信念与热爱之美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初中知识讲解课件 ｜ 九科教辅规范包 v1.0 ｜ 35 / 89</a:t>
            </a:r>
            <a:endParaRPr lang="en-US" sz="11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A2｜第二单元 · 品格与光辉（回忆性散文与传记）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讲解要点（八年级上 · 阅读与鉴赏 · 考查：典型事件与细节写人、作者情感把握、传记的真实性）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  写作·学写传记 ＋ 综合性学习·人无信不立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写传记先列“年份＋事件”大事记，再选两件事细写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综合性学习搜集诚信格言，访谈身边守信故事并成文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605065" y="3339846"/>
            <a:ext cx="3976726" cy="950976"/>
          </a:xfrm>
          <a:prstGeom prst="roundRect">
            <a:avLst>
              <a:gd name="adj" fmla="val 4808"/>
            </a:avLst>
          </a:prstGeom>
          <a:solidFill>
            <a:srgbClr val="F2E3DC"/>
          </a:solidFill>
          <a:ln/>
        </p:spPr>
      </p:sp>
      <p:sp>
        <p:nvSpPr>
          <p:cNvPr id="9" name="Text 7"/>
          <p:cNvSpPr/>
          <p:nvPr/>
        </p:nvSpPr>
        <p:spPr>
          <a:xfrm>
            <a:off x="7787945" y="343128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87945" y="3723894"/>
            <a:ext cx="361096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传记写成“优点清单”，没有具体事件支撑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初中知识讲解课件 ｜ 九科教辅规范包 v1.0 ｜ 36 / 89</a:t>
            </a:r>
            <a:endParaRPr lang="en-US" sz="11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A1｜第三单元 · 山水之美（文言写景与唐诗）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讲解要点（八年级上 · 阅读与鉴赏 · 考查：文言写景句翻译、名篇默写、景物特征概括）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3.1  文言文·山水小品（《三峡》《答谢中书书》《记承天寺夜游》《与朱元思书》）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《三峡》按夏—春冬—秋时序理水势，落实“或、襄、漱”等词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《记承天寺夜游》抓“闲人”二字讲苏轼心境，月色三句讲比喻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三篇共读：各找“最传神的一个动词”并说理由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3.2  唐诗五首联读（野望／黄鹤楼／使至塞上／渡荆门送别／钱塘湖春行）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五首按情调分组比读：望—愁—壮—喜，先背再析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炼字集中练：“悠然”“孤”“生”“啄”各说一处效果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建立默写自查表：易错字逐个过关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“素湍绿潭，回清倒影”两句按固定顺序死译，不知互文见义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《渡荆门送别》“仍怜故乡水”的拟人手法漏答，只答思乡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初中知识讲解课件 ｜ 九科教辅规范包 v1.0 ｜ 37 / 89</a:t>
            </a:r>
            <a:endParaRPr lang="en-US" sz="11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A2｜第三单元 · 山水之美（文言写景与唐诗）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讲解要点（八年级上 · 阅读与鉴赏 · 考查：文言写景句翻译、名篇默写、景物特征概括）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3.3  写作·学习描写景物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用“定点观察”与“移步换景”两种顺序各写一段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讲多感官描写：视、听、触各一句组合成景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605065" y="3687318"/>
            <a:ext cx="3976726" cy="950976"/>
          </a:xfrm>
          <a:prstGeom prst="roundRect">
            <a:avLst>
              <a:gd name="adj" fmla="val 4808"/>
            </a:avLst>
          </a:prstGeom>
          <a:solidFill>
            <a:srgbClr val="F2E3DC"/>
          </a:solidFill>
          <a:ln/>
        </p:spPr>
      </p:sp>
      <p:sp>
        <p:nvSpPr>
          <p:cNvPr id="9" name="Text 7"/>
          <p:cNvSpPr/>
          <p:nvPr/>
        </p:nvSpPr>
        <p:spPr>
          <a:xfrm>
            <a:off x="7787945" y="377875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87945" y="4071366"/>
            <a:ext cx="361096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景物描写无顺序，罗列名词不成画面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初中知识讲解课件 ｜ 九科教辅规范包 v1.0 ｜ 38 / 89</a:t>
            </a:r>
            <a:endParaRPr lang="en-US" sz="11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D｜第三单元 · 山水之美（文言写景与唐诗）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4176522"/>
          </a:xfrm>
          <a:prstGeom prst="roundRect">
            <a:avLst>
              <a:gd name="adj" fmla="val 13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chinese/ch-8a-3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5354" y="1876806"/>
            <a:ext cx="6155741" cy="38473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62265" y="1895094"/>
            <a:ext cx="3290926" cy="381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定点观察与移步换景写景顺序对比图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右两栏对比。左栏“定点观察”：固定观察点图标（小亭），向下三条视线箭头分别标“远山→近水→脚下荷”，旁注“立足点不变，视角由远及近变换”，配例：站定亭中，先写远山，再写湖面，最后写脚边荷叶。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初中知识讲解课件 ｜ 九科教辅规范包 v1.0 ｜ 39 / 89</a:t>
            </a:r>
            <a:endParaRPr lang="en-US" sz="11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A1｜第四单元 · 情感与哲思（背影与白杨）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讲解要点（八年级上 · 阅读与鉴赏 · 考查：《背影》的细节与情感、《白杨礼赞》的象征手法）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4.1  叙事散文·《背影》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找出四次“流泪”与父亲四句言语，理情感变化线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买橘背影段做慢读：动作分解“探—攀—缩—倾”讲细节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讨论“我”的“聪明”反语，体会忏悔语气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4.2  托物言志·《白杨礼赞》 ＋ 散文二篇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先找“不平凡”的反复咏叹，再讲欲扬先抑的开头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画“树形—树性—人格”对应表理解象征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对比结尾提及“楠木”的反衬作用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把“聪明的”读成真聪明，误判儿子当时的态度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象征义答成“白杨树很直”，未落到北方抗日军民的精神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初中知识讲解课件 ｜ 九科教辅规范包 v1.0 ｜ 40 / 89</a:t>
            </a:r>
            <a:endParaRPr lang="en-US" sz="11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A2｜第四单元 · 情感与哲思（背影与白杨）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讲解要点（八年级上 · 阅读与鉴赏 · 考查：《背影》的细节与情感、《白杨礼赞》的象征手法）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4.3  写作·语言要连贯 ＋ 综合性学习·我们的互联网时代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练代词指代与关联词衔接：删句重排找连贯依据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综合性学习做一次网络词语小调查并汇报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605065" y="3339846"/>
            <a:ext cx="3976726" cy="950976"/>
          </a:xfrm>
          <a:prstGeom prst="roundRect">
            <a:avLst>
              <a:gd name="adj" fmla="val 4808"/>
            </a:avLst>
          </a:prstGeom>
          <a:solidFill>
            <a:srgbClr val="F2E3DC"/>
          </a:solidFill>
          <a:ln/>
        </p:spPr>
      </p:sp>
      <p:sp>
        <p:nvSpPr>
          <p:cNvPr id="9" name="Text 7"/>
          <p:cNvSpPr/>
          <p:nvPr/>
        </p:nvSpPr>
        <p:spPr>
          <a:xfrm>
            <a:off x="7787945" y="343128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87945" y="3723894"/>
            <a:ext cx="361096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段内句子主语跳跃，指代不明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初中知识讲解课件 ｜ 九科教辅规范包 v1.0 ｜ 41 / 89</a:t>
            </a:r>
            <a:endParaRPr lang="en-US" sz="11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A1｜第五单元 · 文明的印迹（说明文）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讲解要点（八年级上 · 阅读与鉴赏 · 考查：说明方法辨识与作用、说明顺序、说明语言的严密性）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5.1  说明文阅读·抓特征理顺序（中国石拱桥／苏州园林／蝉／梦回繁华）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先用一句话概括“说明什么＋有何特征”，再找总说句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《中国石拱桥》按“由一般到个别”的逻辑顺序讲选材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《苏州园林》讲总分结构与“务必使游览者……”中心句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5.2  说明方法与说明语言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每种方法配原句：举例子—具体，列数字—准确，打比方—形象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做“删去‘约’‘大多数’行不行”练习，讲说明语言的严密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《蝉》对比科学小品与一般说明文的语言趣味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混淆“石拱桥的特征”与“赵州桥的特征”，以偏概全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作用只答“生动形象”，不结合说明对象的特征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初中知识讲解课件 ｜ 九科教辅规范包 v1.0 ｜ 42 / 89</a:t>
            </a:r>
            <a:endParaRPr lang="en-US" sz="11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A2｜第五单元 · 文明的印迹（说明文）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讲解要点（八年级上 · 阅读与鉴赏 · 考查：说明方法辨识与作用、说明顺序、说明语言的严密性）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5.3  写作·说明事物要抓住特征 ＋ 口语交际·复述与转述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写前先列事物特征三个关键词，全文围绕取舍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复述练“只留主干信息”，转述练人称转换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605065" y="3339846"/>
            <a:ext cx="3976726" cy="950976"/>
          </a:xfrm>
          <a:prstGeom prst="roundRect">
            <a:avLst>
              <a:gd name="adj" fmla="val 4808"/>
            </a:avLst>
          </a:prstGeom>
          <a:solidFill>
            <a:srgbClr val="F2E3DC"/>
          </a:solidFill>
          <a:ln/>
        </p:spPr>
      </p:sp>
      <p:sp>
        <p:nvSpPr>
          <p:cNvPr id="9" name="Text 7"/>
          <p:cNvSpPr/>
          <p:nvPr/>
        </p:nvSpPr>
        <p:spPr>
          <a:xfrm>
            <a:off x="7787945" y="343128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87945" y="3723894"/>
            <a:ext cx="361096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说明文写成记叙文，插入大量个人经历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初中知识讲解课件 ｜ 九科教辅规范包 v1.0 ｜ 43 / 89</a:t>
            </a:r>
            <a:endParaRPr lang="en-US" sz="11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D｜第五单元 · 文明的印迹（说明文）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4176522"/>
          </a:xfrm>
          <a:prstGeom prst="roundRect">
            <a:avLst>
              <a:gd name="adj" fmla="val 13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chinese/ch-8a-5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5354" y="1876806"/>
            <a:ext cx="6155741" cy="38473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62265" y="1895094"/>
            <a:ext cx="3290926" cy="381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常用说明方法及作用体系图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中心框“说明方法＝把特征说清楚”。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初中知识讲解课件 ｜ 九科教辅规范包 v1.0 ｜ 44 / 89</a:t>
            </a:r>
            <a:endParaRPr lang="en-US" sz="11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A1｜第六单元 · 情怀与哲思（诸子史传与诗词）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讲解要点（八年级上 · 阅读与鉴赏 · 考查：文言实词虚词与句式、人物形象概括、诗词名句默写）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6.1  文言文·《富贵不能淫》《生于忧患，死于安乐》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读“大丈夫”三句排比的论辩气势，落实“戒、淫、移、屈”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《生于忧患》梳理“举例—说理—立论”的论证链条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集中积累“发、举、拂、曾”等实词与通假字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  文言文·《愚公移山》《周亚夫军细柳》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用对话立场表读《愚公》：愚公、其妻、智叟各持何理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讲“杂然相许”等词与神话结尾寄托的信念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《周亚夫军细柳》以霸上、棘门与细柳对写，讲对比与侧面描写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“丈夫之冠也”的“冠”读错，漏掉“行冠礼”义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把神话结尾当“迷信”，看不出寄托的信念与恒心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初中知识讲解课件 ｜ 九科教辅规范包 v1.0 ｜ 45 / 89</a:t>
            </a:r>
            <a:endParaRPr lang="en-US" sz="11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A2｜第六单元 · 情怀与哲思（诸子史传与诗词）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讲解要点（八年级上 · 阅读与鉴赏 · 考查：文言实词虚词与句式、人物形象概括、诗词名句默写）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6.3  诗词五首联读 ＋ 写作·表达要得体 ＋ 名著导读·《昆虫记》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五首按“隐逸—忧国—悲壮—咏史—豪放”贴标签分读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《饮酒》以“心远”为理解枢纽，讲“心远地自偏”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《昆虫记》用“科学观察＋文学笔法”双栏笔记读一章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得体写作练对象感：同一请求对师长与同学各说一遍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605065" y="3687318"/>
            <a:ext cx="3976726" cy="950976"/>
          </a:xfrm>
          <a:prstGeom prst="roundRect">
            <a:avLst>
              <a:gd name="adj" fmla="val 4808"/>
            </a:avLst>
          </a:prstGeom>
          <a:solidFill>
            <a:srgbClr val="F2E3DC"/>
          </a:solidFill>
          <a:ln/>
        </p:spPr>
      </p:sp>
      <p:sp>
        <p:nvSpPr>
          <p:cNvPr id="9" name="Text 7"/>
          <p:cNvSpPr/>
          <p:nvPr/>
        </p:nvSpPr>
        <p:spPr>
          <a:xfrm>
            <a:off x="7787945" y="377875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87945" y="4071366"/>
            <a:ext cx="361096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《赤壁》“铜雀春深锁二乔”的反说手法漏析，只述史实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初中知识讲解课件 ｜ 九科教辅规范包 v1.0 ｜ 46 / 89</a:t>
            </a:r>
            <a:endParaRPr lang="en-US" sz="11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A1｜第一单元 · 民风民俗（多种文体读民俗）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讲解要点（八年级下 · 阅读与鉴赏 · 考查：情景交融、排比反复的语言气势、叙事线索）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  小说·《社戏》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以“盼看社戏—月夜行船—船头看戏—归航偷豆”理情节，讲景中含情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用“再也没吃过那夜似的好豆”倒推双喜等小伙伴的形象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讨论结尾“好豆好戏”的深意：怀念的是人情与自由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  诗歌散文联读（回延安／安塞腰鼓／灯笼）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《回延安》用信天游“两行一节”讲比兴与方言乡土味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《安塞腰鼓》以“好一个安塞腰鼓”的反复句分四层读气势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《灯笼》抓灯笼与亲情的联想链，讲以物寄情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主题答成“社戏好看”，未读出对自由友爱童年的怀念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认为反复啰嗦，说不出层层蓄势的表达效果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初中知识讲解课件 ｜ 九科教辅规范包 v1.0 ｜ 47 / 89</a:t>
            </a:r>
            <a:endParaRPr lang="en-US" sz="11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A2｜第一单元 · 民风民俗（多种文体读民俗）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讲解要点（八年级下 · 阅读与鉴赏 · 考查：情景交融、排比反复的语言气势、叙事线索）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  写作·学习仿写 ＋ 口语交际·应对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选一段仿句式、一段仿结构，先标注仿点再改写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应对练“听清—想清—答清”三步，追求幽默而得体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605065" y="3339846"/>
            <a:ext cx="3976726" cy="950976"/>
          </a:xfrm>
          <a:prstGeom prst="roundRect">
            <a:avLst>
              <a:gd name="adj" fmla="val 4808"/>
            </a:avLst>
          </a:prstGeom>
          <a:solidFill>
            <a:srgbClr val="F2E3DC"/>
          </a:solidFill>
          <a:ln/>
        </p:spPr>
      </p:sp>
      <p:sp>
        <p:nvSpPr>
          <p:cNvPr id="9" name="Text 7"/>
          <p:cNvSpPr/>
          <p:nvPr/>
        </p:nvSpPr>
        <p:spPr>
          <a:xfrm>
            <a:off x="7787945" y="343128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87945" y="3723894"/>
            <a:ext cx="361096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仿写成抄写：只换词语，不学结构与句式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初中知识讲解课件 ｜ 九科教辅规范包 v1.0 ｜ 48 / 89</a:t>
            </a:r>
            <a:endParaRPr lang="en-US" sz="11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A1｜第二单元 · 科技之光（事理说明文）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讲解要点（八年级下 · 阅读与鉴赏 · 考查：事理说明的顺序与逻辑、说明方法、句间关系）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  事理说明文阅读（大自然的语言／阿西莫夫短文两篇）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先问“这篇在解释什么现象”，再画因果链图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《大自然的语言》讲由现象到原理的逻辑顺序与四个决定因素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《恐龙无处不有》示范“不同领域证据互证”的科学思维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  语言与写法·科学小品（大雁归来／时间的脚印）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集句品析拟人化表达：《大雁归来》的“辩论与喧鸣”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讲列数字与作比较在事理说明中保证准确性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做“调整段落顺序并说理由”的语序题训练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把事理说明顺序答成时间顺序，只因文中有季节词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说《大雁归来》语言“不准确”，辨不清文学性与科学性可以兼容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初中知识讲解课件 ｜ 九科教辅规范包 v1.0 ｜ 49 / 89</a:t>
            </a:r>
            <a:endParaRPr lang="en-US" sz="11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A2｜第二单元 · 科技之光（事理说明文）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讲解要点（八年级下 · 阅读与鉴赏 · 考查：事理说明的顺序与逻辑、说明方法、句间关系）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  写作·说明的顺序 ＋ 综合性学习·倡导低碳生活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写前选定时间／空间／逻辑顺序之一，并自检是否贯穿全文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低碳倡议书练“问题—原因—建议”的逻辑段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605065" y="3339846"/>
            <a:ext cx="3976726" cy="950976"/>
          </a:xfrm>
          <a:prstGeom prst="roundRect">
            <a:avLst>
              <a:gd name="adj" fmla="val 4808"/>
            </a:avLst>
          </a:prstGeom>
          <a:solidFill>
            <a:srgbClr val="F2E3DC"/>
          </a:solidFill>
          <a:ln/>
        </p:spPr>
      </p:sp>
      <p:sp>
        <p:nvSpPr>
          <p:cNvPr id="9" name="Text 7"/>
          <p:cNvSpPr/>
          <p:nvPr/>
        </p:nvSpPr>
        <p:spPr>
          <a:xfrm>
            <a:off x="7787945" y="343128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87945" y="3723894"/>
            <a:ext cx="361096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全文顺序混乱，逻辑段落中又夹时间线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初中知识讲解课件 ｜ 九科教辅规范包 v1.0 ｜ 50 / 89</a:t>
            </a:r>
            <a:endParaRPr lang="en-US" sz="11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D｜第二单元 · 科技之光（事理说明文）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4176522"/>
          </a:xfrm>
          <a:prstGeom prst="roundRect">
            <a:avLst>
              <a:gd name="adj" fmla="val 13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chinese/ch-8b-2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5354" y="1876806"/>
            <a:ext cx="6155741" cy="38473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62265" y="1895094"/>
            <a:ext cx="3290926" cy="381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事理说明文“现象—原因—规律”因果链结构图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横向三段流程链。左框“现象”：例句“大地回春，燕子归来”（物候现象）；中间向上展开四个并列原因框并注明层级：纬度差异（主因，例：早春三月南京桃花开而北京未开）、经度差异（例：沿海与内陆）、高下差异（例：山上山下）、古今差异；右框“规律／…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初中知识讲解课件 ｜ 九科教辅规范包 v1.0 ｜ 51 / 89</a:t>
            </a:r>
            <a:endParaRPr lang="en-US" sz="11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A1｜第三单元 · 古人的理想（文言积累与《诗经》）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讲解要点（八年级下 · 阅读与鉴赏 · 考查：古今异义与词句翻译、虚实结合、《诗经》重章叠句与比兴）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3.1  文言文·《桃花源记》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以渔人行踪为线：发现—做客—离开—再寻不复得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落实“妻子、绝境、无论”古今异义与“具、咸、叹惋”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讨论“写而复失”的虚实安排：为何寻不到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3.2  文言文·《小石潭记》《核舟记》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《小石潭记》抓“乐—凄”的情感转折与“斗折蛇行”的比喻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《核舟记》按“总—分—总”的空间顺序理船舱、窗、舟子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讲“可、许、属”等约数词与文言数量表达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“率妻子邑人来此绝境”的“妻子”按今义误译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“斗折蛇行”只答“比喻生动”，不说出写溪岸曲折之状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初中知识讲解课件 ｜ 九科教辅规范包 v1.0 ｜ 52 / 89</a:t>
            </a:r>
            <a:endParaRPr lang="en-US" sz="115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A2｜第三单元 · 古人的理想（文言积累与《诗经》）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讲解要点（八年级下 · 阅读与鉴赏 · 考查：古今异义与词句翻译、虚实结合、《诗经》重章叠句与比兴）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3.3  诗歌·《诗经》二首（关雎／蒹葭） ＋ 名著导读·《经典常谈》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《关雎》《蒹葭》各找三节重复句，读出一唱三叹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讲比兴：雎鸠和鸣、蒹葭苍苍如何起兴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《经典常谈》选读两章，做内容提要卡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605065" y="4034790"/>
            <a:ext cx="3976726" cy="950976"/>
          </a:xfrm>
          <a:prstGeom prst="roundRect">
            <a:avLst>
              <a:gd name="adj" fmla="val 4808"/>
            </a:avLst>
          </a:prstGeom>
          <a:solidFill>
            <a:srgbClr val="F2E3DC"/>
          </a:solidFill>
          <a:ln/>
        </p:spPr>
      </p:sp>
      <p:sp>
        <p:nvSpPr>
          <p:cNvPr id="9" name="Text 7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87945" y="4418838"/>
            <a:ext cx="361096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“所谓伊人”指代答成具体某人，读不出可望难即的求索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初中知识讲解课件 ｜ 九科教辅规范包 v1.0 ｜ 53 / 89</a:t>
            </a:r>
            <a:endParaRPr lang="en-US" sz="115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D｜第三单元 · 古人的理想（文言积累与《诗经》）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4176522"/>
          </a:xfrm>
          <a:prstGeom prst="roundRect">
            <a:avLst>
              <a:gd name="adj" fmla="val 13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chinese/ch-8b-3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5354" y="1876806"/>
            <a:ext cx="6155741" cy="38473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62265" y="1895094"/>
            <a:ext cx="3290926" cy="381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《诗经》重章叠句与比兴结构图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半区“重章叠句”：《蒹葭》三节并排三个竖框，内容同为“蒹葭XX，白露XX”，只换词处用高亮标注（苍苍→萋萋→采采；为霜→未晞→未已；一方→湄→涘），三框下方一条向右加粗箭头标“回环往复，情感层层加深”。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初中知识讲解课件 ｜ 九科教辅规范包 v1.0 ｜ 54 / 89</a:t>
            </a:r>
            <a:endParaRPr lang="en-US" sz="115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A｜第四单元 · 思想的声音（活动·探究：演讲）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讲解要点（八年级下 · 表达与交流 · 考查：演讲的听众意识、观点与材料配合、即席讲话）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4.1  演讲词阅读（最后一次讲演／应有格物致知精神／我一生中的重要抉择／庆祝奥林匹克运动复兴25周年）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标注《最后一次讲演》的感叹句问句，读出现场感与爱憎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《应有格物致知精神》抓“实验精神”论点与亲历论据的配合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四篇对比表：面对谁讲—为何讲—要听众做什么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4.2  撰写演讲稿 ＋ 口语交际·即席讲话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定题先答“给谁听、希望他们做什么”两问再写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草稿用“观点—故事—号召”三段式，先讲给同伴听再改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即席讲话练“一句观点＋一个例子”快速成段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只当议论文读，忽略“听众意识”与现场呼应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演讲稿写成作文腔：长句多、没有停顿与呼告设计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初中知识讲解课件 ｜ 九科教辅规范包 v1.0 ｜ 55 / 89</a:t>
            </a:r>
            <a:endParaRPr lang="en-US" sz="115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A1｜第五单元 · 江山多娇（游记）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讲解要点（八年级下 · 阅读与鉴赏 · 考查：所至所见所感、定点换景、语言风格品析）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5.1  游记阅读·所至所见所感（壶口瀑布／在长江源头各拉丹冬／登勃朗峰／一滴水经过丽江）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用三栏表拆游记：所至（行踪）—所见（景物）—所感（情思）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《壶口瀑布》讲定点换景：水的形态与黄河的精神双重描写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《一滴水经过丽江》讲独特叙述视角：以水为眼看全城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5.2  语言品析与写法比较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《各拉丹冬》品长句节奏与身体感受交织的写法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四篇比较：叙述视角不同如何影响景物取舍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品动词精准度：“夺路而走”“跌”等词各说效果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只复述行踪，丢掉“所感”，读不出由景入理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认为写景就是堆形容词，忽视动词的观察精度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初中知识讲解课件 ｜ 九科教辅规范包 v1.0 ｜ 56 / 89</a:t>
            </a:r>
            <a:endParaRPr lang="en-US" sz="115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A2｜第五单元 · 江山多娇（游记）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讲解要点（八年级下 · 阅读与鉴赏 · 考查：所至所见所感、定点换景、语言风格品析）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5.3  写作·学写游记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行程单先列“所至”，再选两处景细写，末句点所感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用“一处景、三种感官”检查单防止流水账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605065" y="3339846"/>
            <a:ext cx="3976726" cy="950976"/>
          </a:xfrm>
          <a:prstGeom prst="roundRect">
            <a:avLst>
              <a:gd name="adj" fmla="val 4808"/>
            </a:avLst>
          </a:prstGeom>
          <a:solidFill>
            <a:srgbClr val="F2E3DC"/>
          </a:solidFill>
          <a:ln/>
        </p:spPr>
      </p:sp>
      <p:sp>
        <p:nvSpPr>
          <p:cNvPr id="9" name="Text 7"/>
          <p:cNvSpPr/>
          <p:nvPr/>
        </p:nvSpPr>
        <p:spPr>
          <a:xfrm>
            <a:off x="7787945" y="343128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87945" y="3723894"/>
            <a:ext cx="361096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记游写成“几点到、几点走”的日程表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初中知识讲解课件 ｜ 九科教辅规范包 v1.0 ｜ 57 / 89</a:t>
            </a:r>
            <a:endParaRPr lang="en-US" sz="115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D｜第五单元 · 江山多娇（游记）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4176522"/>
          </a:xfrm>
          <a:prstGeom prst="roundRect">
            <a:avLst>
              <a:gd name="adj" fmla="val 13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chinese/ch-8b-5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5354" y="1876806"/>
            <a:ext cx="6155741" cy="38473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62265" y="1895094"/>
            <a:ext cx="3290926" cy="381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游记三要素“所至—所见—所感”结构图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栏横向结构，用箭头贯穿。第一栏“所至（行踪线）”：例《壶口瀑布》“第一次随雨季到／第二次枯水季节再到”；第二栏“所见（景物细描）”：内分四个小格“形、声、色、势”，例句“其时正是雨季……涛声隐隐如雷”；第三栏“所感（情思）”：例“黄河…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初中知识讲解课件 ｜ 九科教辅规范包 v1.0 ｜ 58 / 89</a:t>
            </a:r>
            <a:endParaRPr lang="en-US" sz="115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A1｜第六单元 · 古人的哲思（诸子与讽喻诗）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讲解要点（八年级下 · 阅读与鉴赏 · 考查：文言虚词与句式、托物寓意、讽喻诗主旨）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6.1  文言文·《北冥有鱼》《庄子与惠子游于濠梁之上》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讲“鲲鹏”意象的奇大与“野马尘埃”的相对视野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濠梁之辩梳理两人逻辑线，玩味“鱼之乐”的机锋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积累“志、抟、固、循”等实词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  文言文·《虽有嘉肴》《大道之行也》《马说》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《虽有嘉肴》讲“教然后知困”的类比推理链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《大道之行也》梳理“天下为公—选贤与能—讲信修睦”纲领与“大同”图景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《马说》抓三个“也”字句读层层递进的悲愤，讲托物寓意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“怒而飞”的“怒”按今义解作“生气”，漏掉“振奋”义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“食马者”的“食”读错，通“饲”喂马之义不明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初中知识讲解课件 ｜ 九科教辅规范包 v1.0 ｜ 59 / 89</a:t>
            </a:r>
            <a:endParaRPr lang="en-US" sz="115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A2｜第六单元 · 古人的哲思（诸子与讽喻诗）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讲解要点（八年级下 · 阅读与鉴赏 · 考查：文言虚词与句式、托物寓意、讽喻诗主旨）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6.3  唐诗三首联读 ＋ 写作·学写故事 ＋ 名著导读·《钢铁是怎样炼成的》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《石壕吏》《茅屋为秋风所破歌》《卖炭翁》按“苦难由谁造成”对读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讲《茅屋》由己及人的推己情怀与《卖炭翁》的白描叙事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写作练虚构：给卖炭翁写一个合理结局并自检历史情境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《钢铁是怎样炼成的》用“摘抄＋笔记”法读保尔的成长线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605065" y="3687318"/>
            <a:ext cx="3976726" cy="950976"/>
          </a:xfrm>
          <a:prstGeom prst="roundRect">
            <a:avLst>
              <a:gd name="adj" fmla="val 4808"/>
            </a:avLst>
          </a:prstGeom>
          <a:solidFill>
            <a:srgbClr val="F2E3DC"/>
          </a:solidFill>
          <a:ln/>
        </p:spPr>
      </p:sp>
      <p:sp>
        <p:nvSpPr>
          <p:cNvPr id="9" name="Text 7"/>
          <p:cNvSpPr/>
          <p:nvPr/>
        </p:nvSpPr>
        <p:spPr>
          <a:xfrm>
            <a:off x="7787945" y="377875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87945" y="4071366"/>
            <a:ext cx="361096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《卖炭翁》批判对象答成“宫使个人”，读不出宫市制度之弊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初中知识讲解课件 ｜ 九科教辅规范包 v1.0 ｜ 60 / 89</a:t>
            </a:r>
            <a:endParaRPr lang="en-US" sz="115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A｜第一单元 · 活动·探究：诗歌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讲解要点（九年级上 · 表达与交流 · 考查：意象与情感把握、诗歌朗诵设计、仿写创作）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  诗歌联读（沁园春·雪／我爱这土地／乡愁／你是人间的四月天／我看）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建意象卡：土地、鸟、乡愁中的邮票船票、雪各象征什么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《沁园春·雪》上阕写景下阕论史，抓“数风流人物”主旨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五首对比读：同是写景，情感落点各在哪里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  朗诵设计与创作尝试 ＋ 名著导读·《艾青诗选》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朗诵标注三件套：重音、停连、语速，并说明设计依据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仿《乡愁》的结构，换新意象创作四节小诗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用“意象—情感—节奏”三指标互评，《艾青诗选》按意象归组读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意象与象征义混答，“意象”栏填成情感词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仿写只换韵脚不换意象结构，写成打油诗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初中知识讲解课件 ｜ 九科教辅规范包 v1.0 ｜ 61 / 89</a:t>
            </a:r>
            <a:endParaRPr lang="en-US" sz="115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A1｜第二单元 · 观点与论证（议论文入门）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讲解要点（九年级上 · 阅读与鉴赏 · 考查：中心论点提取、论据类型与作用、论证思路梳理）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  议论文阅读·论点与论据（敬业与乐业／论教养／精神的三间小屋）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教“标题—开头—结尾”三步找中心论点，再回全文验证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区分事实论据与道理论据，各配一句原文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《敬业与乐业》讲“有业—敬业—乐业”层进结构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  论证思路梳理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用“先提出—再分析—最后得出”三段模板口头复述思路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讲引用名言后的“阐释句”：名言与观点之间的桥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把论题（敬业与乐业）当论点，找不到表达观点的判断句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复述思路只罗列论据，不说论据如何支撑论点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初中知识讲解课件 ｜ 九科教辅规范包 v1.0 ｜ 62 / 89</a:t>
            </a:r>
            <a:endParaRPr lang="en-US" sz="115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A2｜第二单元 · 观点与论证（议论文入门）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讲解要点（九年级上 · 阅读与鉴赏 · 考查：中心论点提取、论据类型与作用、论证思路梳理）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  写作·观点要明确 ＋ 综合性学习·君子自强不息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训练一句话观点：对象＋判断＋理由提示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用“观点句开路”改写一段观点模糊的文字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自强不息主题活动先定小切口，再查资料立观点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605065" y="3339846"/>
            <a:ext cx="3976726" cy="950976"/>
          </a:xfrm>
          <a:prstGeom prst="roundRect">
            <a:avLst>
              <a:gd name="adj" fmla="val 4808"/>
            </a:avLst>
          </a:prstGeom>
          <a:solidFill>
            <a:srgbClr val="F2E3DC"/>
          </a:solidFill>
          <a:ln/>
        </p:spPr>
      </p:sp>
      <p:sp>
        <p:nvSpPr>
          <p:cNvPr id="9" name="Text 7"/>
          <p:cNvSpPr/>
          <p:nvPr/>
        </p:nvSpPr>
        <p:spPr>
          <a:xfrm>
            <a:off x="7787945" y="343128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87945" y="3723894"/>
            <a:ext cx="361096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观点以疑问句或两面话出现，立场不明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初中知识讲解课件 ｜ 九科教辅规范包 v1.0 ｜ 63 / 89</a:t>
            </a:r>
            <a:endParaRPr lang="en-US" sz="115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D｜第二单元 · 观点与论证（议论文入门）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4176522"/>
          </a:xfrm>
          <a:prstGeom prst="roundRect">
            <a:avLst>
              <a:gd name="adj" fmla="val 13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chinese/ch-9a-2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5354" y="1876806"/>
            <a:ext cx="6155741" cy="38473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62265" y="1895094"/>
            <a:ext cx="3290926" cy="381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议论文“论点—论据—论证”三要素结构图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顶部“中心论点”框：例句“我确信‘敬业乐业’四个字，是人类生活的不二法门”，旁注“论点＝完整的判断句，常居标题、开头、结尾”。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初中知识讲解课件 ｜ 九科教辅规范包 v1.0 ｜ 64 / 89</a:t>
            </a:r>
            <a:endParaRPr lang="en-US" sz="115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A1｜第三单元 · 忧乐情怀（文言名篇）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讲解要点（九年级上 · 阅读与鉴赏 · 考查：重点句翻译、主旨句理解、名篇默写）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3.1  文言文·《岳阳楼记》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理两幅画面对照结构：淫雨霏霏—春和景明，各配迁客骚人之情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抓“不以物喜，不以己悲”讲互文，落“先忧后乐”主旨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积累“具、备、微、尝”等实词与“然则”等虚词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3.2  文言文·《醉翁亭记》《湖心亭看雪》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数“也”字句读回环往复之乐，理三层乐：山水—宴酣—与民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《湖心亭看雪》白描“一痕—一点—一芥—两三粒”讲镜头式缩放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两篇对读：“乐”与“痴”各是何种心境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“不以物喜，不以己悲”拆开直译，不知互文义为“不因外物和自己而或喜或悲”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《醉翁亭记》主旨答成“喝酒快乐”，未到“与民同乐”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初中知识讲解课件 ｜ 九科教辅规范包 v1.0 ｜ 65 / 89</a:t>
            </a:r>
            <a:endParaRPr lang="en-US" sz="115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A2｜第三单元 · 忧乐情怀（文言名篇）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讲解要点（九年级上 · 阅读与鉴赏 · 考查：重点句翻译、主旨句理解、名篇默写）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3.3  诗词三首联读 ＋ 写作·议论要言之有据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三首按“遭际—态度”对读：行路难之昂扬、席上赠答之豁达、水调歌头之释然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讲“长风破浪会有时”“病树前头万木春”等名句的理趣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写作练论据三分：事例、数据、名言各一，均须阐释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605065" y="3687318"/>
            <a:ext cx="3976726" cy="950976"/>
          </a:xfrm>
          <a:prstGeom prst="roundRect">
            <a:avLst>
              <a:gd name="adj" fmla="val 4808"/>
            </a:avLst>
          </a:prstGeom>
          <a:solidFill>
            <a:srgbClr val="F2E3DC"/>
          </a:solidFill>
          <a:ln/>
        </p:spPr>
      </p:sp>
      <p:sp>
        <p:nvSpPr>
          <p:cNvPr id="9" name="Text 7"/>
          <p:cNvSpPr/>
          <p:nvPr/>
        </p:nvSpPr>
        <p:spPr>
          <a:xfrm>
            <a:off x="7787945" y="377875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87945" y="4071366"/>
            <a:ext cx="361096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论据堆砌不加阐释，观点与材料两张皮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初中知识讲解课件 ｜ 九科教辅规范包 v1.0 ｜ 66 / 89</a:t>
            </a:r>
            <a:endParaRPr lang="en-US" sz="115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A1｜第四单元 · 成长与世相（小说）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讲解要点（九年级上 · 阅读与鉴赏 · 考查：人物形象分析、环境描写作用、小说主题归纳）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4.1  小说阅读·人物与情节（故乡／我的叔叔于勒／孤独之旅）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画《故乡》前后对比表：闰土、杨二嫂的“变”与“我”的悲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《我的叔叔于勒》以“称呼变化”为线索读菲利普夫妇态度曲线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讲插叙与倒叙在小说中的作用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4.2  环境描写与主题归纳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《故乡》开头“苍黄的天”与结尾“路”的意象各有什么用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《孤独之旅》鸭群、风雨与杜小康成长的对应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主题归纳三问：写了何事—人物何变—作者何意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概括人物用“好—坏”二分，看不出性格的社会成因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环境描写作用只答“交代背景”，不与人物心境关联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初中知识讲解课件 ｜ 九科教辅规范包 v1.0 ｜ 67 / 89</a:t>
            </a:r>
            <a:endParaRPr lang="en-US" sz="115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A2｜第四单元 · 成长与世相（小说）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讲解要点（九年级上 · 阅读与鉴赏 · 考查：人物形象分析、环境描写作用、小说主题归纳）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4.3  写作·学习缩写 ＋ 名著导读·《水浒传》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缩写练“保主干删枝叶”：情节链与关键对话必须保留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《水浒传》用人物绰号卡与回目串联法读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605065" y="3339846"/>
            <a:ext cx="3976726" cy="950976"/>
          </a:xfrm>
          <a:prstGeom prst="roundRect">
            <a:avLst>
              <a:gd name="adj" fmla="val 4808"/>
            </a:avLst>
          </a:prstGeom>
          <a:solidFill>
            <a:srgbClr val="F2E3DC"/>
          </a:solidFill>
          <a:ln/>
        </p:spPr>
      </p:sp>
      <p:sp>
        <p:nvSpPr>
          <p:cNvPr id="9" name="Text 7"/>
          <p:cNvSpPr/>
          <p:nvPr/>
        </p:nvSpPr>
        <p:spPr>
          <a:xfrm>
            <a:off x="7787945" y="343128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87945" y="3723894"/>
            <a:ext cx="361096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缩写抄成情节简介，丢掉原文关键细节与对话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初中知识讲解课件 ｜ 九科教辅规范包 v1.0 ｜ 68 / 89</a:t>
            </a:r>
            <a:endParaRPr lang="en-US" sz="115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D｜第四单元 · 成长与世相（小说）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4176522"/>
          </a:xfrm>
          <a:prstGeom prst="roundRect">
            <a:avLst>
              <a:gd name="adj" fmla="val 13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chinese/ch-9a-4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5354" y="1876806"/>
            <a:ext cx="6155741" cy="38473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62265" y="1895094"/>
            <a:ext cx="3290926" cy="381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小说“三要素—主题”阅读路径结构图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心框“小说＝讲人的故事”。外圈三个节点按阅读顺序排列：①情节（内分四格：开端—发展—高潮—结局，例：《我的叔叔于勒》以于勒贫富变化推动情节）；②人物（内分“直接描写：外貌语言动作心理”与“前后对比：例少年闰土‘紫色圆脸’→中年‘灰黄皱…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初中知识讲解课件 ｜ 九科教辅规范包 v1.0 ｜ 69 / 89</a:t>
            </a:r>
            <a:endParaRPr lang="en-US" sz="115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29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A1｜第五单元 · 怀疑与创造（立论与驳论）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讲解要点（九年级上 · 阅读与鉴赏 · 考查：驳论结构辨析、论证语言的严密性）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5.1  驳论文阅读·《中国人失掉自信力了吗》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先找“靶子”：对方的论点与论据各是什么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讲“驳论证优先于驳论点”的思路与“中国的脊梁”立论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品“他信力”“自欺力”仿词的讽刺力量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5.2  立论阅读·怀疑与创造（怀疑与学问／谈创造性思维／创造宣言）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《怀疑与学问》讲“怀疑—辨伪—创新”的治学链条与两个分论点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《创造宣言》的排比段与密集例证处，做朗读与梳理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议语言严密性：删去“往往”“并非”后比较表达差异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混淆驳论与立论，把全文当正面立论读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把“怀疑一切”当主旨，漏掉“在怀疑基础上求真”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初中知识讲解课件 ｜ 九科教辅规范包 v1.0 ｜ 70 / 89</a:t>
            </a:r>
            <a:endParaRPr lang="en-US" sz="115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29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A2｜第五单元 · 怀疑与创造（立论与驳论）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讲解要点（九年级上 · 阅读与鉴赏 · 考查：驳论结构辨析、论证语言的严密性）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5.3  写作·论证要合理 ＋ 口语交际·讨论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练“换论据说明为何不合”，保证论据与观点匹配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讨论课立规则：先复述对方观点，再反驳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605065" y="3339846"/>
            <a:ext cx="3976726" cy="950976"/>
          </a:xfrm>
          <a:prstGeom prst="roundRect">
            <a:avLst>
              <a:gd name="adj" fmla="val 4808"/>
            </a:avLst>
          </a:prstGeom>
          <a:solidFill>
            <a:srgbClr val="F2E3DC"/>
          </a:solidFill>
          <a:ln/>
        </p:spPr>
      </p:sp>
      <p:sp>
        <p:nvSpPr>
          <p:cNvPr id="9" name="Text 7"/>
          <p:cNvSpPr/>
          <p:nvPr/>
        </p:nvSpPr>
        <p:spPr>
          <a:xfrm>
            <a:off x="7787945" y="343128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87945" y="3723894"/>
            <a:ext cx="361096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论据与观点错位仍觉自洽，缺少自检环节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初中知识讲解课件 ｜ 九科教辅规范包 v1.0 ｜ 71 / 89</a:t>
            </a:r>
            <a:endParaRPr lang="en-US" sz="115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D｜第五单元 · 怀疑与创造（立论与驳论）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4176522"/>
          </a:xfrm>
          <a:prstGeom prst="roundRect">
            <a:avLst>
              <a:gd name="adj" fmla="val 13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chinese/ch-9a-5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5354" y="1876806"/>
            <a:ext cx="6155741" cy="38473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62265" y="1895094"/>
            <a:ext cx="3290926" cy="381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驳论文“树靶—驳倒—立论”结构图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竖排三块，箭头向下。第一块“树靶子”：列出对方论点“中国人失掉自信力了”及其论据（自夸地大物博、信国联、求神拜佛），旁注“先弄清敌人打的是什么靶”。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初中知识讲解课件 ｜ 九科教辅规范包 v1.0 ｜ 72 / 89</a:t>
            </a:r>
            <a:endParaRPr lang="en-US" sz="115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A1｜第六单元 · 古典小说（白话小说源流）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讲解要点（九年级上 · 梳理与探究 · 考查：古代白话词语、讽刺与衬托手法、人物性格把握）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6.1  小说联读·情节与人物（智取生辰纲／范进中举／三顾茅庐／刘姥姥进大观园）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《智取生辰纲》双线对写：杨志之“智失”与吴用之“智取”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《范进中举》抓胡屠户前后言行对比，讲讽刺与夸张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《三顾茅庐》讲衬托：张飞之躁衬刘备之诚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  语言·古代白话的读法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建立“古今异义”随文卡：计较、兀自、理会等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分角色朗读，体会市井口气与人物身份的对应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把《范进中举》主旨答成“读书改变命运”，读反了讽刺义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按现代义硬解“计较”“攀谈”等词造成误读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初中知识讲解课件 ｜ 九科教辅规范包 v1.0 ｜ 73 / 89</a:t>
            </a:r>
            <a:endParaRPr lang="en-US" sz="115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A2｜第六单元 · 古典小说（白话小说源流）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讲解要点（九年级上 · 梳理与探究 · 考查：古代白话词语、讽刺与衬托手法、人物性格把握）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6.3  写作·学习改写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改写三原则：忠于原意—变化文体—合理增删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练把《刘姥姥进大观园》一段改为剧本对白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605065" y="3339846"/>
            <a:ext cx="3976726" cy="950976"/>
          </a:xfrm>
          <a:prstGeom prst="roundRect">
            <a:avLst>
              <a:gd name="adj" fmla="val 4808"/>
            </a:avLst>
          </a:prstGeom>
          <a:solidFill>
            <a:srgbClr val="F2E3DC"/>
          </a:solidFill>
          <a:ln/>
        </p:spPr>
      </p:sp>
      <p:sp>
        <p:nvSpPr>
          <p:cNvPr id="9" name="Text 7"/>
          <p:cNvSpPr/>
          <p:nvPr/>
        </p:nvSpPr>
        <p:spPr>
          <a:xfrm>
            <a:off x="7787945" y="343128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87945" y="3723894"/>
            <a:ext cx="361096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改写随意增删情节，偏离原作意图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初中知识讲解课件 ｜ 九科教辅规范包 v1.0 ｜ 74 / 89</a:t>
            </a:r>
            <a:endParaRPr lang="en-US" sz="115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31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A｜第一单元 · 活动·探究：诗歌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讲解要点（九年级下 · 表达与交流 · 考查：意象群体与时代背景、象征手法辨析）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  诗歌联读（祖国啊，我亲爱的祖国／梅岭三章／短诗五首／海燕）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《祖国啊》理“我—你”呼应与四组意象的时代层次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《梅岭三章》用“小序＋三章”结构读断头之际的豪情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《海燕》以海鸥、海鸭、企鹅反衬海燕，讲象征系统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  写作·学习扩写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扩写练“给骨架添血肉”：动作、环境、心理三向加细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自检扩写三问：原意变否—细节合理否—重心保住否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象征义脱离时代背景空谈，说不出“暴风雨”所指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扩写跑题：细节很多但偏离原文中心事件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初中知识讲解课件 ｜ 九科教辅规范包 v1.0 ｜ 75 / 89</a:t>
            </a:r>
            <a:endParaRPr lang="en-US" sz="115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32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A1｜第二单元 · 人物画廊（小说笔法）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讲解要点（九年级下 · 阅读与鉴赏 · 考查：人物复杂性格、细节与语言的讽刺力、作文审题）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  小说阅读·复杂人物（孔乙己／变色龙）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集“手”的动作细节串出孔乙己的命运线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数“笑”字多处，从看客视角读悲剧的凉薄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《变色龙》五次“变色”表格化：态度随证据翻转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  笔法比较·《溜索》《蒲柳人家》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《溜索》以短句白描读惊险节奏与首领形象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《蒲柳人家》品豪爽泼辣的乡土语言与一丈青形象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两篇对比：语言的节奏与色彩如何塑造人物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给孔乙己贴“懒惰”单标签，看不出善良、迂腐并存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只复述情节，说不出语言与人物气质的关联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初中知识讲解课件 ｜ 九科教辅规范包 v1.0 ｜ 76 / 89</a:t>
            </a:r>
            <a:endParaRPr lang="en-US" sz="115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32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A2｜第二单元 · 人物画廊（小说笔法）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讲解要点（九年级下 · 阅读与鉴赏 · 考查：人物复杂性格、细节与语言的讽刺力、作文审题）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  写作·审题立意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审题三问：限定了什么—关键词何意—能立几个意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用“近—反—新”三向筛立意，取其一再列提纲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605065" y="3339846"/>
            <a:ext cx="3976726" cy="950976"/>
          </a:xfrm>
          <a:prstGeom prst="roundRect">
            <a:avLst>
              <a:gd name="adj" fmla="val 4808"/>
            </a:avLst>
          </a:prstGeom>
          <a:solidFill>
            <a:srgbClr val="F2E3DC"/>
          </a:solidFill>
          <a:ln/>
        </p:spPr>
      </p:sp>
      <p:sp>
        <p:nvSpPr>
          <p:cNvPr id="9" name="Text 7"/>
          <p:cNvSpPr/>
          <p:nvPr/>
        </p:nvSpPr>
        <p:spPr>
          <a:xfrm>
            <a:off x="7787945" y="343128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87945" y="3723894"/>
            <a:ext cx="361096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立意停留在字面，选材雷同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初中知识讲解课件 ｜ 九科教辅规范包 v1.0 ｜ 77 / 89</a:t>
            </a:r>
            <a:endParaRPr lang="en-US" sz="115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D｜第二单元 · 人物画廊（小说笔法）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4176522"/>
          </a:xfrm>
          <a:prstGeom prst="roundRect">
            <a:avLst>
              <a:gd name="adj" fmla="val 13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chinese/ch-9b-2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5354" y="1876806"/>
            <a:ext cx="6155741" cy="38473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62265" y="1895094"/>
            <a:ext cx="3290926" cy="381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作文审题立意五步流程图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纵向五步流程，每步一个方框加一句操作说明：第一步“圈关键词”（区分限定词、中心词、修饰词，例：题目《跨越》圈出“跨”）；第二步“三问”（写了什么—为什么—写给谁）；第三步“列意”（正向／反向／新颖至少列三个立意，例：跨过的是距离／跨过的…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初中知识讲解课件 ｜ 九科教辅规范包 v1.0 ｜ 78 / 89</a:t>
            </a:r>
            <a:endParaRPr lang="en-US" sz="115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33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A1｜第三单元 · 古人的抉择（义利与使臣风骨）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讲解要点（九年级下 · 阅读与鉴赏 · 考查：议论文言的论证、实词虚词、爱国词默写）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3.1  文言文·《鱼我所欲也》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以“舍鱼取熊掌”类比起讲，理“舍生取义”论证链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讲排比与反问的论辩力度，落实“得、为、加、已”等词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3.2  文言文·《唐雎不辱使命》《送东阳马生序》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唐雎以“布衣之怒”对“天子之怒”，讲外交辞令的进退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《送东阳马生序》先叙己苦再勉后生，讲对比与以身作则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积累“徒、休祲”与“以……为”句式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“非独贤者有是心也”的“是”误作判断词，漏掉代词“这”义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“休祲降于天”按字面猜译，不解吉凶征兆之义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初中知识讲解课件 ｜ 九科教辅规范包 v1.0 ｜ 79 / 89</a:t>
            </a:r>
            <a:endParaRPr lang="en-US" sz="115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33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A2｜第三单元 · 古人的抉择（义利与使臣风骨）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讲解要点（九年级下 · 阅读与鉴赏 · 考查：议论文言的论证、实词虚词、爱国词默写）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3.3  词四首联读 ＋ 写作·布局谋篇 ＋ 名著导读（儒林外史／简·爱）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四首按“秋思—出猎—壮词—巾帼”对读报国心绪的差异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讲“了却君王天下事”的梦境与现实落差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布局谋篇练小标题式与欲扬先抑式两种结构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名著导读：《儒林外史》做讽刺人物卡，《简·爱》画成长线对照卡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605065" y="3687318"/>
            <a:ext cx="3976726" cy="950976"/>
          </a:xfrm>
          <a:prstGeom prst="roundRect">
            <a:avLst>
              <a:gd name="adj" fmla="val 4808"/>
            </a:avLst>
          </a:prstGeom>
          <a:solidFill>
            <a:srgbClr val="F2E3DC"/>
          </a:solidFill>
          <a:ln/>
        </p:spPr>
      </p:sp>
      <p:sp>
        <p:nvSpPr>
          <p:cNvPr id="9" name="Text 7"/>
          <p:cNvSpPr/>
          <p:nvPr/>
        </p:nvSpPr>
        <p:spPr>
          <a:xfrm>
            <a:off x="7787945" y="377875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87945" y="4071366"/>
            <a:ext cx="361096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《破阵子》只读出豪壮，漏掉“可怜白发生”的悲愤落差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初中知识讲解课件 ｜ 九科教辅规范包 v1.0 ｜ 80 / 89</a:t>
            </a:r>
            <a:endParaRPr lang="en-US" sz="115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D｜第三单元 · 古人的抉择（义利与使臣风骨）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4176522"/>
          </a:xfrm>
          <a:prstGeom prst="roundRect">
            <a:avLst>
              <a:gd name="adj" fmla="val 13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chinese/ch-9b-3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5354" y="1876806"/>
            <a:ext cx="6155741" cy="38473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62265" y="1895094"/>
            <a:ext cx="3290926" cy="381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文言特殊句式体系图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心框“文言特殊句式”，四个分支，每支含句式标签＋标志＋统编教材课文原句：①判断句（标志“……者……也”或“乃、即”，例：“鱼，我所欲也”“臣本布衣”）；②省略句（常见省主语、省介词宾语，例：《桃花源记》“（桃花源中人）便要（渔人）还家…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初中知识讲解课件 ｜ 九科教辅规范包 v1.0 ｜ 81 / 89</a:t>
            </a:r>
            <a:endParaRPr lang="en-US" sz="115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34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A1｜第四单元 · 读书与审美（文艺论文）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讲解要点（九年级下 · 阅读与鉴赏 · 考查：观点提炼、举例论证、批读方法迁移）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4.1  议论文联读·读书之法（谈读书／不求甚解）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《谈读书》排比喻证密集处，先分类后品味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《不求甚解》为“好读书不求甚解”翻案，讲驳立结合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两篇对读：精读与博览如何互补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4.2  文艺论文·鉴赏方法（山水画的意境／无言之美／驱遣我们的想象）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《山水画的意境》以实例讲“意境＝景与情的结合”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《无言之美》以文学例证讲含蓄之美，先读例再读论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把“不求甚解”当贬义成语用，未读出马南邨的辩证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摘抄术语不举例，答不出意境如何生成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初中知识讲解课件 ｜ 九科教辅规范包 v1.0 ｜ 82 / 89</a:t>
            </a:r>
            <a:endParaRPr lang="en-US" sz="115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34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A2｜第四单元 · 读书与审美（文艺论文）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讲解要点（九年级下 · 阅读与鉴赏 · 考查：观点提炼、举例论证、批读方法迁移）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4.3  写作·修改润色 ＋ 口语交际·辩论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改稿两轮：先查中心与结构，再磨字句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辩论练立论—质询—小结三环节分工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605065" y="3339846"/>
            <a:ext cx="3976726" cy="950976"/>
          </a:xfrm>
          <a:prstGeom prst="roundRect">
            <a:avLst>
              <a:gd name="adj" fmla="val 4808"/>
            </a:avLst>
          </a:prstGeom>
          <a:solidFill>
            <a:srgbClr val="F2E3DC"/>
          </a:solidFill>
          <a:ln/>
        </p:spPr>
      </p:sp>
      <p:sp>
        <p:nvSpPr>
          <p:cNvPr id="9" name="Text 7"/>
          <p:cNvSpPr/>
          <p:nvPr/>
        </p:nvSpPr>
        <p:spPr>
          <a:xfrm>
            <a:off x="7787945" y="343128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87945" y="3723894"/>
            <a:ext cx="361096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修改只纠错别字，不动结构与逻辑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初中知识讲解课件 ｜ 九科教辅规范包 v1.0 ｜ 83 / 89</a:t>
            </a:r>
            <a:endParaRPr lang="en-US" sz="115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35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A｜第五单元 · 活动·探究：戏剧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讲解要点（九年级下 · 表达与交流 · 考查：戏剧冲突、潜台词、舞台说明的作用）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5.1  剧本阅读·冲突与台词（屈原／天下第一楼／枣儿）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《屈原》雷电颂讲独白的抒情爆发与象征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《天下第一楼》理人物矛盾网：谁与谁争什么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台词读法：先读明面义，再追问潜台词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5.2  排演实践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选场排练：定走位与语气，写三句“导演阐释”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演出与评议用“冲突是否立住—台词是否达意”两指标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把舞台说明当“没用的括号”，忽略其提示动作与气氛的作用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排演只背台词不设计动作与停顿，冲突扁平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初中知识讲解课件 ｜ 九科教辅规范包 v1.0 ｜ 84 / 89</a:t>
            </a:r>
            <a:endParaRPr lang="en-US" sz="115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36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A1｜第六单元 · 沙场与苍生（史传论说与诗词曲）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讲解要点（九年级下 · 梳理与探究 · 考查：文言综合（实词、句式、翻译）、名篇名句默写）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6.1  文言文·《曹刿论战》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以“战前—战中—战后”三问三答理叙事与论断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落实“鄙、牺牲、狱、虽”古今异义与“可以”古义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  文言文·《邹忌讽齐王纳谏》《出师表》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邹忌以家事喻国事，讲类比讽谏的思路链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《出师表》梳理“三顾草庐—临危受命—北定中原”的忠恳层次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开设“之”字用法汇总课：取独、代词、助词“的”各配课文例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“牺牲玉帛”按今义“献身”误译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《出师表》当抒情文读，漏掉“开张圣听”的劝谏主线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初中知识讲解课件 ｜ 九科教辅规范包 v1.0 ｜ 85 / 89</a:t>
            </a:r>
            <a:endParaRPr lang="en-US" sz="115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36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A2｜第六单元 · 沙场与苍生（史传论说与诗词曲）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讲解要点（九年级下 · 梳理与探究 · 考查：文言综合（实词、句式、翻译）、名篇名句默写）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6.3  诗词曲五首联读 ＋ 写作·有创意地表达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五首按“边愁—咏史—怀古—悲慨”对读，各写一句主旨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《白雪歌送武判官归京》赏“忽如一夜春风来”的奇喻与送别转换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《山坡羊·潼关怀古》讲“兴，百姓苦”的对举主旨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写作练形式创意：同一题目分别用书信体、日记体写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605065" y="3687318"/>
            <a:ext cx="3976726" cy="950976"/>
          </a:xfrm>
          <a:prstGeom prst="roundRect">
            <a:avLst>
              <a:gd name="adj" fmla="val 4808"/>
            </a:avLst>
          </a:prstGeom>
          <a:solidFill>
            <a:srgbClr val="F2E3DC"/>
          </a:solidFill>
          <a:ln/>
        </p:spPr>
      </p:sp>
      <p:sp>
        <p:nvSpPr>
          <p:cNvPr id="9" name="Text 7"/>
          <p:cNvSpPr/>
          <p:nvPr/>
        </p:nvSpPr>
        <p:spPr>
          <a:xfrm>
            <a:off x="7787945" y="377875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87945" y="4071366"/>
            <a:ext cx="361096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《过零丁洋》“惶恐滩—零丁洋”的双关地名漏析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初中知识讲解课件 ｜ 九科教辅规范包 v1.0 ｜ 86 / 89</a:t>
            </a:r>
            <a:endParaRPr lang="en-US" sz="115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D｜第六单元 · 沙场与苍生（史传论说与诗词曲）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4176522"/>
          </a:xfrm>
          <a:prstGeom prst="roundRect">
            <a:avLst>
              <a:gd name="adj" fmla="val 13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chinese/ch-9b-6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5354" y="1876806"/>
            <a:ext cx="6155741" cy="38473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62265" y="1895094"/>
            <a:ext cx="3290926" cy="381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文言虚词“之”用法思维导图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心圈“之”。四个分支，每支含“用法标签＋语法说明＋统编教材课文原句”：①代词（代人／事／物，例：“学而时习之”——它）；②结构助词“的”（例：《曹刿论战》“小大之狱”——的案件）；③用在主谓之间取消句子独立性（不译，例：《爱莲说》“予…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初中知识讲解课件 ｜ 九科教辅规范包 v1.0 ｜ 87 / 89</a:t>
            </a:r>
            <a:endParaRPr lang="en-US" sz="115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考试聚焦与出口自检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章章有侧重，册册能自检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905" y="1712214"/>
            <a:ext cx="347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七年级上 第一单元　写景散文语言品析、修辞…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09905" y="2004822"/>
            <a:ext cx="347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七年级上 第二单元　记事文章的线索与细节作…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9905" y="2297430"/>
            <a:ext cx="347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七年级上 第三单元　默读概括能力；《论语》…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09905" y="2590038"/>
            <a:ext cx="347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七年级上 第四单元　关键句勾画与内容概括、…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905" y="2882646"/>
            <a:ext cx="347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七年级上 第五单元　中心句与中心概括；《狼…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09905" y="3175254"/>
            <a:ext cx="347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七年级上 第六单元　快速阅读与信息提取、想…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9905" y="3467862"/>
            <a:ext cx="347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七年级下 第一单元　人物精神品质与典型事例…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09905" y="3760470"/>
            <a:ext cx="347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七年级下 第二单元　抒情方式辨析、朗读设计…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09905" y="4053078"/>
            <a:ext cx="347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七年级下 第三单元　细节描写的作用、人物情…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09905" y="4345686"/>
            <a:ext cx="347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七年级下 第四单元　略读与中心把握；《陋室…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09905" y="4638294"/>
            <a:ext cx="347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七年级下 第五单元　托物言志手法辨析、古诗…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09905" y="4930902"/>
            <a:ext cx="347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七年级下 第六单元　浏览与信息提取、伏笔照…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358640" y="1712214"/>
            <a:ext cx="347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八年级上 第一单元　消息的倒金字塔结构、导…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58640" y="2004822"/>
            <a:ext cx="347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八年级上 第二单元　典型事件与细节写人、作…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358640" y="2297430"/>
            <a:ext cx="347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八年级上 第三单元　文言写景句翻译、名篇默…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358640" y="2590038"/>
            <a:ext cx="347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八年级上 第四单元　《背影》的细节与情感、…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358640" y="2882646"/>
            <a:ext cx="347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八年级上 第五单元　说明方法辨识与作用、说…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358640" y="3175254"/>
            <a:ext cx="347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八年级上 第六单元　文言实词虚词与句式、人…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358640" y="3467862"/>
            <a:ext cx="347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八年级下 第一单元　情景交融、排比反复的语…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358640" y="3760470"/>
            <a:ext cx="347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八年级下 第二单元　事理说明的顺序与逻辑、…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358640" y="4053078"/>
            <a:ext cx="347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八年级下 第三单元　古今异义与词句翻译、虚…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358640" y="4345686"/>
            <a:ext cx="347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八年级下 第四单元　演讲的听众意识、观点与…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358640" y="4638294"/>
            <a:ext cx="347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八年级下 第五单元　所至所见所感、定点换景…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358640" y="4930902"/>
            <a:ext cx="347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八年级下 第六单元　文言虚词与句式、托物寓…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107375" y="1712214"/>
            <a:ext cx="347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九年级上 第一单元　意象与情感把握、诗歌朗…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107375" y="2004822"/>
            <a:ext cx="347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九年级上 第二单元　中心论点提取、论据类型…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107375" y="2297430"/>
            <a:ext cx="347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九年级上 第三单元　重点句翻译、主旨句理解…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107375" y="2590038"/>
            <a:ext cx="347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九年级上 第四单元　人物形象分析、环境描写…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107375" y="2882646"/>
            <a:ext cx="347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九年级上 第五单元　驳论结构辨析、论证语言…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107375" y="3175254"/>
            <a:ext cx="347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九年级上 第六单元　古代白话词语、讽刺与衬…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107375" y="3467862"/>
            <a:ext cx="347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九年级下 第一单元　意象群体与时代背景、象…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107375" y="3760470"/>
            <a:ext cx="347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九年级下 第二单元　人物复杂性格、细节与语…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107375" y="4053078"/>
            <a:ext cx="347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九年级下 第三单元　议论文言的论证、实词虚…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107375" y="4345686"/>
            <a:ext cx="347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九年级下 第四单元　观点提炼、举例论证、批…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107375" y="4638294"/>
            <a:ext cx="347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九年级下 第五单元　戏剧冲突、潜台词、舞台…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107375" y="4930902"/>
            <a:ext cx="347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九年级下 第六单元　文言综合（实词、句式、…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语文 · 初中知识讲解课件 ｜ 九科教辅规范包 v1.0 ｜ 88 / 89</a:t>
            </a:r>
            <a:endParaRPr lang="en-US" sz="115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723C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658368"/>
            <a:ext cx="146304" cy="146304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84225" y="50292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学科出口自检（独立完成）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9905" y="11704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合上课本完成以下任务；评价标准在教师手册（course.json），先独立作答再对照自评。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09905" y="1783080"/>
            <a:ext cx="10971886" cy="841248"/>
          </a:xfrm>
          <a:prstGeom prst="roundRect">
            <a:avLst>
              <a:gd name="adj" fmla="val 6522"/>
            </a:avLst>
          </a:prstGeom>
          <a:solidFill>
            <a:srgbClr val="F5F2EA"/>
          </a:solidFill>
          <a:ln/>
        </p:spPr>
      </p:sp>
      <p:sp>
        <p:nvSpPr>
          <p:cNvPr id="6" name="Text 4"/>
          <p:cNvSpPr/>
          <p:nvPr/>
        </p:nvSpPr>
        <p:spPr>
          <a:xfrm>
            <a:off x="838505" y="1929384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51153" y="1874520"/>
            <a:ext cx="982888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七年级上　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不回看课本，按“学习方法／学习态度／修身做人”各写出《论语》两句原句，并翻译其中一句。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09905" y="2752344"/>
            <a:ext cx="10971886" cy="841248"/>
          </a:xfrm>
          <a:prstGeom prst="roundRect">
            <a:avLst>
              <a:gd name="adj" fmla="val 6522"/>
            </a:avLst>
          </a:prstGeom>
          <a:solidFill>
            <a:srgbClr val="F5F2EA"/>
          </a:solidFill>
          <a:ln/>
        </p:spPr>
      </p:sp>
      <p:sp>
        <p:nvSpPr>
          <p:cNvPr id="9" name="Text 7"/>
          <p:cNvSpPr/>
          <p:nvPr/>
        </p:nvSpPr>
        <p:spPr>
          <a:xfrm>
            <a:off x="838505" y="289864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451153" y="2843784"/>
            <a:ext cx="982888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八年级上　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翻译“庭下如积水空明，水中藻、荇交横”并说明其妙处；默写《使至塞上》颈联。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09905" y="3721608"/>
            <a:ext cx="10971886" cy="841248"/>
          </a:xfrm>
          <a:prstGeom prst="roundRect">
            <a:avLst>
              <a:gd name="adj" fmla="val 6522"/>
            </a:avLst>
          </a:prstGeom>
          <a:solidFill>
            <a:srgbClr val="F5F2EA"/>
          </a:solidFill>
          <a:ln/>
        </p:spPr>
      </p:sp>
      <p:sp>
        <p:nvSpPr>
          <p:cNvPr id="12" name="Text 10"/>
          <p:cNvSpPr/>
          <p:nvPr/>
        </p:nvSpPr>
        <p:spPr>
          <a:xfrm>
            <a:off x="838505" y="3867912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451153" y="3813048"/>
            <a:ext cx="982888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9E5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九年级下　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翻译“二者不可得兼，舍生而取义者也”；各用一个词概括四首词的情感基调。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09905" y="5806440"/>
            <a:ext cx="109718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薄弱分支：讲解页回看对应章节 A 页；图示读不懂 → 回 D 页对照；出口题出错 → 找教师按提示阶梯重做。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89</Slides>
  <Notes>89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89</vt:i4>
      </vt:variant>
    </vt:vector>
  </HeadingPairs>
  <TitlesOfParts>
    <vt:vector size="9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语文·初中知识讲解课件</dc:title>
  <dc:subject>PptxGenJS Presentation</dc:subject>
  <dc:creator>Wilson</dc:creator>
  <cp:lastModifiedBy>Wilson</cp:lastModifiedBy>
  <cp:revision>1</cp:revision>
  <dcterms:created xsi:type="dcterms:W3CDTF">2026-09-15T20:26:51Z</dcterms:created>
  <dcterms:modified xsi:type="dcterms:W3CDTF">2026-09-15T20:26:51Z</dcterms:modified>
</cp:coreProperties>
</file>