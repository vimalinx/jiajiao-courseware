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</p:sldIdLst>
  <p:notesMasterIdLst>
    <p:notesMasterId r:id="rId3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notesMaster" Target="notesMasters/notesMaster1.xml"/><Relationship Id="rId349" Type="http://schemas.openxmlformats.org/officeDocument/2006/relationships/presProps" Target="presProps.xml"/><Relationship Id="rId350" Type="http://schemas.openxmlformats.org/officeDocument/2006/relationships/viewProps" Target="viewProps.xml"/><Relationship Id="rId351" Type="http://schemas.openxmlformats.org/officeDocument/2006/relationships/theme" Target="theme/theme1.xml"/><Relationship Id="rId3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2-1.png"/><Relationship Id="rId2" Type="http://schemas.openxmlformats.org/officeDocument/2006/relationships/image" Target="../media/image-2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93268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78638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标准课件 · 节级精细讲解（教师用）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9905" y="146304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09905" y="272491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 · 每章每节精细讲解课件 ｜ 人教版（2022年版课标新修订教材）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099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099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245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1245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391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6391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节级教案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537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分步例题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1537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每节配齐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212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核心素养：物理观念 · 科学思维 · 科学探究 · 科学态度与责任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9905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练习答案仅存教师手册（course.json），放映页零答案 ｜ 制作依据：九科教辅规范包 v1.0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学科身份与课件结构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42609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4225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4225" y="236143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4225" y="2590038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人教版（2022年版课标新修订教材）（四册（八年级上/下、九年级上/下））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4225" y="3038094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4225" y="326669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 年版义务教育课程标准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4225" y="3714750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84225" y="3943350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物理观念、科学思维、科学探究、科学态度与责任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4225" y="4391406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课件定位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4225" y="462000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每节四页组：讲解→例题→练习→（图示）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4225" y="5068062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答案隔离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4225" y="5296662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练习答案仅存教师手册，放映页零答案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16929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每节页面组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16929" y="234315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00977" y="2343150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讲解页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导入情境 → 讲解正文（可直接照讲）→ 核心术语与易错提示。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6929" y="3184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00977" y="3184398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例题页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典型例题分步解析，每步注明依据；教师带学生逐步揭示。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16929" y="402564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00977" y="4025646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练习页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独立练习（答案在教师手册）；可先作答再对照自评。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6929" y="48668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00977" y="4866894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图示页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本章学科专业图示，按原始比例嵌入，标注教学示意。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 / 346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知识体系总览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先见森林，再进细节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9633" y="200482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机械运动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9633" y="225604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声现象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9633" y="250725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物态变化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9633" y="275847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光现象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9633" y="300969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透镜及其应用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9633" y="326091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质量与密度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905" y="3512130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9633" y="382302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9633" y="407424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运动和力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9633" y="432546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压强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9633" y="457668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浮力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9633" y="482789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功和机械能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9633" y="5079115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简单机械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55868" y="1693926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65596" y="200482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第十三章 内能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65596" y="225604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第十四章 内能的利用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65596" y="250725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第十五章 电流和电路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65596" y="275847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第十六章 电压 电阻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65596" y="300969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第十七章 欧姆定律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55868" y="3260912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65596" y="357180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第十八章 电功率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65596" y="382302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第十九章 生活用电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65596" y="407424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第二十章 电与磁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65596" y="432546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第二十一章 信息的传递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65596" y="457668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第二十二章 能源与可持续发展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 / 346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运动与相互作用 ｜ 考查：刻度尺读数与单位换算、参照物判断、v=s/t 计算与 s-t 图像分析是中考必考基本功。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　机械运动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从会选工具、会读数，到会用速度描述快慢，建立长度、时间、速度三个基本量的测量与计算闭环。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长度和时间的测量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运动的描述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运动的快慢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测量平均速度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先估一估课桌有多长，再用刻度尺实测——你估的数和测的数差多少？这一节就用刻度尺和停表把测量做规范。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设计：每人先估课桌长度写下数字，再用刻度尺实测。你会看到各人估计值相差很大，实测值彼此接近却仍有细小差别——这说明感觉靠不住，测量必须有统一的单位和规范的操作；测量值与真实值之间的差异叫误差，它不能消灭，多次测量求平均只能减小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刻度尺按“选、认、放、看、读、记”六步用：先认量程和分度值，刻线贴紧被测物，视线正对刻线。读数规则：必须估读到分度值的下一位，分度值 1 mm 就以 mm 为末位再估一位。测时间用停表：小盘走分钟、大盘走秒，先读小盘再加大盘读数，两盘配合才不会错。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 2.5 cm 与 2.50 cm 一样——末位的 0 是估读位，漏掉它属于记录错误而不是误差；把多次测量求平均值说成“消除误差”也不对，平均值只能减小误差。适用边界：估读只发生在分度值下一位，再多估没有意义；偏离明显的坏数据是“错误”，应剔除而不是参与求平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分度值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估读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误差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停表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 2.5 cm 与 2.50 cm 一样，漏掉估读位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把多次测量求平均值当成“消除误差”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 / 346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用分度值 1 mm 的刻度尺测木块：左端对齐 1.00 cm 刻线，右端读得 4.25 cm。木块多长？末位哪个数字是估读的？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先确认分度值是 1 mm，读数要估读到 0.1 mm，即以 cm 作单位记到小数点后两位。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物体没有从零刻线量起，长度＝末端读数−起点读数，这是起点非零时的通用算法。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L=4.25 cm−1.00 cm=3.25 cm；末位的“5”落在 0.1 mm 位，正是估读数字。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木块长 3.25 cm，末位“5”是估读位。若写成 3.2 cm 就漏了估读，属于错误而不是误差。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 / 346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停表小盘示数 1 min、大盘示数 35.2 s，这段时间合多少秒？同一刻度尺四次测铅笔长 176.2 mm、176.4 mm、176.3 mm、187.3 mm，哪个数据记错了？该怎么处理？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用分度值 1 mm 的刻度尺测某物长度，甲记录 25.0 mm，乙记录 25.00 mm。谁的记录正确？为什么？再把 0.0175 m 换算成 mm。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同一把分度值 1 mm 的刻度尺测铅笔：左端对齐 3.00 cm 刻线，右端读得 6.85 cm。铅笔多长？哪个数字是估读的？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提示：起点不在零刻线，长度=末端读数−起点读数；分度值 1 mm 时以 cm 为单位记两位小数。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 / 346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69" y="1876806"/>
            <a:ext cx="542031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刻度尺读数与估读位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画一把分度值 1 mm 的刻度尺，零刻线未对齐物体：木块左端对齐 2.00 cm 刻线，右端位于 5.2 cm 与 5.3 cm 之间约 5.25 cm 处；标签：分度值 1 mm、起点 2.00 cm、末读数 5.25 cm、物体长度…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 / 346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运动的描述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坐在行驶的列车里，窗外的人说你动了，同车的乘客说你没动——谁说得对？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情境：播放行驶列车里的乘客画面，先问“他动了吗”。说动的同学心里拿窗外的地面作标准，说没动的同学拿的是车厢——两种答案都没有错，错的是不指明标准。这个用来作标准的物体叫参照物，本节就从“先选标准再判断”这个动作开始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物体位置随时间的变化叫机械运动。判断运动状态必须先选定参照物，再看研究对象相对参照物的位置有没有变化：位置变了是运动，不变是静止。参照物可以任意选，但不选研究对象自己；运动和静止是相对的，参照物不同，同一物体的结论可以不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判断运动状态不写参照物，结论不成立——规范表达是“以……为参照物，某物是运动的”；认为参照物只能选静止的地面也是错的，运动的物体同样可作参照物。适用边界：参照物不能选研究对象自身，否则永远“静止”，判断失去意义；不指明参照物时通常默认以地面为参照物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机械运动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参照物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运动和静止的相对性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判断运动状态时不指明参照物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认为参照物只能选静止的地面（可选任意物体，但不选研究对象自身）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 / 346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运动的描述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汽车在公路上行驶，车上坐着乘客。以路边的树为参照物，乘客是运动还是静止？以汽车为参照物呢？请写出判断依据。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判断前先写明参照物，这是物理表达的规范，也是本题的得分点。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以树为参照物，乘客相对树的位置不断变化，依据机械运动的定义，乘客是运动的。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以汽车为参照物，乘客与车厢的相对位置不变，乘客是静止的。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以树为参照物乘客运动，以汽车为参照物乘客静止。参照物不同结论不同，说明运动和静止是相对的。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 / 346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运动的描述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地球同步卫星“静止”在赤道上空。它相对地面是运动还是静止？相对太阳呢？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举一个“同一物体、同一时刻，选不同参照物运动状态不同”的例子，并说明为什么不能选研究对象自己作参照物。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空中加油时，受油机与加油机以相同速度同向飞行。以加油机为参照物，受油机是运动还是静止？以地面为参照物呢？写出判断依据。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提示：先定参照物，再看相对位置变没变：距离不变就是静止，距离变化就是运动。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 / 346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百米赛跑 12 s 到达终点，汽车里程表显示 60 km/h——怎么比较运动员和汽车谁更快？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演示引入：出示百米成绩 12 s 与汽车里程表 60 km/h 两张图，让学生当场比较谁快——会发现单位不同没法直接比，这正是引入速度的契机：需要一个统一的“单位时间内的路程”来描述快慢。再让学生互出换算题互批，练熟单位换算。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本体：速度等于单位时间内通过的路程，v=s/t，国际单位 m/s，常用 km/h，1 m/s=3.6 km/h。物体沿直线且速度不变的运动叫匀速直线运动。看 s-t 图像先认横纵轴：过原点的直线说明路程与时间成正比，是匀速直线运动；水平线说明时间在走、路程不变，是静止。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高频误区显式纠正：km/h 与 m/s 换算时 3.6 的乘除方向记反——直接背 1 m/s=3.6 km/h，m/s 的数大，换 km/h 要乘 3.6；把 s-t 图像的水平线读成匀速运动也是错的，水平线是静止。适用边界：v=s/t 对变速运动算出的只是平均快慢；图像题必须先认轴再读线。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速度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匀速直线运动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米每秒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千米每小时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km/h 与 m/s 换算时 3.6 的乘除方向记反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 s-t 图像中的水平线读成匀速运动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 / 346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汽车以 72 km/h 匀速行驶 5 min，通过的路程是多少？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代入公式前先统一单位：72 km/h÷3.6=20 m/s，t=5 min=300 s。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v=s/t 变形得 s=vt，代入 s=20 m/s×300 s=6000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检验数量级：5 min 走 6 km 合理，结果写 6000 m 或 6 km 都可以。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通过路程 6000 m（即 6 km）。依据 s=vt，第一步的换算 72 km/h=20 m/s 是本题关键。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 / 346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 200 m 的火车以 20 m/s 匀速通过长 1600 m 的大桥，全部通过需要多长时间？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甲车的 s-t 图像是过原点的直线，4 s 内通过 80 m；乙车的 s-t 图像是水平线。求甲车的速度，并说明乙车的运动状态。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一名运动员百米跑成绩为 12.5 s。他的平均速度是多少 m/s？合多少 km/h？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提示：先用 v=s/t 算出 m/s，再乘 3.6 换成 km/h。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 / 346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1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8543" y="1876806"/>
            <a:ext cx="586936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s-t 图像：匀速与静止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s-t 图像：横轴 t/s 刻度 0–6，纵轴 s/m 刻度 0–24；数据 t=[0,1,2,3,4]，s=[0,6,12,18,24] 为过原点直线，续 t=[4,5,6]，s=[24,24,24] 为水平段；标注：0–4 s 匀速…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 / 346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　测量平均速度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斜面上的小车越滑越快，那它的“速度”到底算多少？这节课亲手测一测。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实验演示什么：斜面、小车、刻度尺、停表、金属片。斜面取较小坡度延长滑行时间便于计时；小车从顶端同一位置静止释放保证每次初速度相同；底端放金属片，听到撞击声立刻停表。全程和上半段分别测量路程、分别计时，学生会亲眼看到两个“平均速度”不一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平均速度反映物体在某段路程（或某段时间）内的平均快慢，必须用这段的总路程除以总时间，v=s/t。两段数值不同说明小车在加速，也说明“平均速度只对应确定的一段路程”。误差来源复盘：按表反应时间、路程测量偏差；下半段时间常用“总时间−上半段时间”得到，避免单独计时误差叠加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高频误区显式纠正：用 v=(v₁+v₂)/2 求平均速度是错的，平均速度不等于速度的算术平均——只有特殊情形才碰巧相等。适用边界：平均速度只描述这段路程的整体快慢，不表示某一时刻的真实速度；变速运动的“瞬时速度”要用更短的路段去逼近，初中阶段只用平均速度描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平均速度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斜面小车实验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 v=(v1+v2)/2 求平均速度（应等于总路程除以总时间）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 / 346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　测量平均速度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测得全程 s=1.2 m 用时 2.0 s，上半段 s₁=0.6 m 用时 1.5 s。求全程和上半段的平均速度，并算出下半段的平均速度。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07849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078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 v=s/t=1.2 m÷2.0 s=0.6 m/s，依据是平均速度的定义式。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43471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434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26828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上半段 v₁=0.6 m÷1.5 s=0.4 m/s，两段数值不同说明小车在加速。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179094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1790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062451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下半段时间 t₂=2.0 s−1.5 s=0.5 s，v₂=0.6 m÷0.5 s=1.2 m/s。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81471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8147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698073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检验：(0.4+1.2)÷2=0.8 m/s≠0.6 m/s，证明“平均速度＝速度的平均值”是错的。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388559"/>
            <a:ext cx="10971886" cy="749808"/>
          </a:xfrm>
          <a:prstGeom prst="roundRect">
            <a:avLst>
              <a:gd name="adj" fmla="val 6098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452567"/>
            <a:ext cx="105695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 0.6 m/s，上半段 0.4 m/s，下半段 1.2 m/s；平均速度必须用这段的总路程除以总时间。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 / 346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　测量平均速度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小明从家门到校门共 600 m，停表记录用时 8 min。全程平均速度多大？若前 300 m 用了 5 min，后 300 m 的平均速度多大？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斜面小车实验：上半段 s₁=0.4 m 用时 2 s，全程 0.8 m 用时 3 s。求上半段、全程、下半段的平均速度；如果发现坡度太小小车几乎不动，应该怎么调整？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小明骑车上学：上坡 120 m 用了 40 s，下坡返回同样 120 m 只用 20 s。往返全程的平均速度是多少？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提示：平均速度=总路程÷总时间：总路程是 120 m+120 m，总时间是 40 s+20 s；千万别把 3 m/s 和 6 m/s 取平均。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 / 346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· 机械运动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测量要有统一单位；刻度尺读数估到分度值下一位，多次测量求平均只能减小误差、不能消除误差。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判断物体是否运动，先选参照物再看相对位置变没变；参照物不同，运动和静止的结论可以不同。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速度等于路程除以时间，1 m/s=3.6 km/h；s-t 图像过原点的直线是匀速运动，水…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平均速度等于这段的总路程除以总时间；各段平均速度一般不同，不能把速度取算术平均。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用分度值 1 mm 的刻度尺测得课本宽 184.2 mm，指出估读位；汽车以 72 km/h 行驶 5 min 通过多少路程？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 / 346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声与光 ｜ 考查：产生与传播条件、三特性的波形图判断、超声次声应用与噪声控制途径。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　声现象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围绕“声由振动产生、靠介质传播”主线，把音调、响度、音色三特性与控噪三环节一一对应讲清。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声音的产生与传播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声音的特性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声的利用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噪声的危害和控制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敲响的音叉靠近水面，水花溅起来了——声音和这朵水花有什么关系？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正在发声的音叉接触水面溅出水花，悬吊的乒乓球贴向音叉被反复弹开；说话时用手摸喉咙感到声带在振动。三个现象把“看不见的振动”变成看得见的证据——声音是由物体振动产生的，振动停止，发声停止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本体：声音的传播需要介质，固体、液体、气体都能传声。把正在响铃的电铃放进玻璃罩抽气，铃声越来越弱，由此推理：真空不能传声——这是“实验加推理”的方法，因为绝对真空抽不出来。15 ℃ 空气中声速约 340 m/s，固、液中一般更快；声速远小于光速，所以先看到闪电后听到雷声。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真空能传声（抽气实验加推理已否定）；把“振动停止”误解为“声音立即消失”——振动停止只是不再产生新声音，已经传出去的声音还在介质中继续传播。适用边界：“实验加推理”结论在无法实现理想条件时使用；回声问题距离要除以 2，先分清是“原声”还是“回声”再代公式。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振动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介质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声速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回声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认为真空能传声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把“振动停止”误解为“声音立即消失”（介质中已传出的声音还在）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 / 346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看到远处的烟花绽放，约 2 s 后才听到响声。烟花燃放处离你大约多远？（声速取 340 m/s）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光速远大于声速，光传播的时间可忽略，2 s 就是声音传过来的时间。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v=s/t 变形得 s=vt，代入 s=340 m/s×2 s=680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检验：约 0.7 km，与“看到烟花隔一两秒才听到”的生活经验相符。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烟花燃放处约 680 m 远。若题目给的是回声，距离还要除以 2，两种情形不要混。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 / 346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对着山崖喊一声，2 s 后听到回声，人到山崖多远？（声速取 340 m/s）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把正在响铃的闹钟放进玻璃罩内逐渐抽气，听到的声音怎么变？由此推出什么结论？这种研究方法叫什么？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雷雨天看到闪电 5 s 后听到雷声，打雷处大约离你多远？（声速取 340 m/s，光传播时间忽略）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提示：光传播时间忽略，5 s 全部是声音走过的时间，直接用 s=vt。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 / 346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799" y="1876806"/>
            <a:ext cx="620285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真空罩中的闹铃实验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画玻璃钟罩，罩内悬挂正在响的小电铃，罩底橡胶塞接抽气机；钟罩外画声波弧线随抽气由密变疏；标签：抽气中→铃声变弱、推理：真空不能传声；右下角文字注明“实验+理想推理”。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 / 346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同一把钢尺，伸出桌外长一点和短一点各拨一次，声音哪里不一样？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设计（控制变量）：钢尺伸出桌外越短，拨动时振动越快、声音越尖；再用同样大的力拨伸出长度相同的钢尺，拨得越重振幅越大、声音越大。两个实验各只改一个量：第一次改振动快慢，第二次改振动幅度——学生从声音的变化里直接读出音调与响度的决定因素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振动的快慢用频率表示，单位赫兹（Hz），音调由频率决定；振动的幅度叫振幅，响度由振幅决定，还与距离人耳远近有关；不同乐器奏同一个音仍能分辨，靠的是音色，由发声体的材料和结构决定。看波形图三步走：比较疏密定音调、比较波峰高低定响度、比较形状定音色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“声音大”与“声音尖”混为一谈——前者是响度看振幅，后者是音调看频率；认为音色只由乐器种类决定也不完整，同种乐器材料结构变了音色也变。适用边界：三特性互不决定——音调高的声音可以很轻，响度大的声音可以很低沉；波形图判断必须三个维度各自单独比较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音调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音色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频率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把“声音大”当“声音尖”，响度与音调混为一谈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认为音色只由乐器种类决定，忽略材料结构的影响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 / 346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男低音放声歌唱，女高音轻声伴唱。谁的音调高？谁的响度大？请说明依据。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音调由频率决定，“高音”说明女声基音频率高，故女高音音调高。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响度由振幅决定，“放声”说明男声振幅大，故男低音响度大。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两个结论合起来看：音调与响度互相独立，“低而响”完全可能。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女高音音调高，男低音响度大。判断只看频率与振幅，不看“男女”“高低”的日常字面义。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 / 346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波形图上，甲、乙两列声波在相同时间内甲出现 8 个完整波、乙出现 4 个，两列波峰高度相同。哪列音调高？哪列响度大？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向暖水瓶中灌水时，旁边的人听声音就能判断水快满了——声音的音调怎么变化？为什么？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波形图上，相同时间内甲声波出现 40 个完整波形、乙出现 80 个，且乙的波峰比甲高。哪列声波音调高？哪列响度大？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提示：数波形定频率、看高低定振幅：疏密判音调，波峰高低判响度。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 / 346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2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432" y="1876806"/>
            <a:ext cx="5963586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三组波形对比判音调、响度、音色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同一横轴 t/ms 画三行波形：第一行甲与乙振幅相同、疏密不同（f乙=2f甲），标“音调不同”；第二行丙与甲同频率但振幅更大，标“响度不同”；第三行丁与甲同频同幅但曲线形状不同（钢琴与长笛对比），标“音色不同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 / 346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声的利用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超能看清胎儿，超声波还能击碎结石——一个“看”、一个“碎”，声分别在干什么？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演示分类：出示 B 超、声呐探鱼群、超声碎石、超声清洗四张图，让学生按“声在干什么”分成两堆。学生会把分类标准说出来：只告诉我们情况的是传递信息，把物体“打”变了样的是传递能量——分类表当场建立，四例对号入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本体：声可传递信息（B 超诊断、声呐测距、回声定位）也可传递能量（超声清洗、超声碎石）。回声测距公式 s=vt/2：声速乘总时间是一来一回的总路程，除以 2 才是目标距离。频率高于 20000 Hz 的叫超声波，低于 20 Hz 的叫次声波；超声定向性好，次声传得远，地震海啸常伴次声。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高频误区显式纠正：超声与次声的频率界限记混——记住 20 Hz 与 20000 Hz 两个人耳听觉的边界：低于 20 是次声、高于 20000 是超声。适用边界：利用声传递能量要求介质能传声，真空中超声、次声同样无法传播；回声测距要求距离足够远，太近时回声与原声混在一起无法区分。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超声波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次声波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回声定位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超声（高于 20000 Hz）与次声（低于 20 Hz）的频率界限记混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 / 346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声的利用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声呐向海底发出超声波，4 s 后收到回声。海水中声速取 1500 m/s，此处海深多少？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先写依据：回声测距 s=vt/2，因为声音往返共走了两倍海深。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声音总路程 s总=1500 m/s×4 s=6000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海深 h=6000 m÷2=3000 m。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海深 3000 m。检验：4 s 往返对应公里级深度，合理；忘记除以 2 是本类题最高频错误。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 / 346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声的利用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把下列应用按“传递信息／传递能量”分类：①B 超查体 ②超声碎石 ③声呐探鱼群 ④超声清洗精密仪器。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地震、海啸发生前，有些动物会出现异常反应，这与什么波有关？它的频率范围是多少？为什么它能传得很远？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超声波测速仪向某峭壁发出超声波，2 s 后收到回声。空气中声速取 340 m/s（简化情境），测点到峭壁多远？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提示：回声问题先算声音的总路程，再除以 2 得单程距离。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 / 346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　噪声的危害和控制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深夜邻居家优美的钢琴声，对备考的你算什么声音？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境演示：课堂上悄悄播放一段优美的钢琴曲，再设置“深夜备考”情境重放——同一段音乐，前者是乐音，后者干扰了你就成了噪声。学生从这个反差里理解噪声的双重定义：物理角度无规则振动产生，环保角度妨碍人们正常休息、学习和工作的声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控制噪声在三个环节下手，各举一例——在声源处消声（摩托车消声器、市区禁鸣）；在传播过程中隔声吸声（高架桥隔音墙、道路两旁植树、双层玻璃）；在人耳处隔声（防噪声耳罩）。分贝是表示声音强弱的单位：0 dB 是人耳刚能听到的最弱声音，超过 70 dB 会干扰谈话、影响工作。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高频误区显式纠正：认为乐器的声音一定不是噪声——从环保角度，干扰他人的乐器声就是噪声；认为 0 dB 表示“没有声音”也不对，0 dB 是刚能听到的最弱声。适用边界：控噪三环节按“声音从产生到入耳的路径”排查，答题先写环节名称再对应措施；物理噪声与环保噪声两个角度都要会写，判断题常考环保角度。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噪声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认为乐器的声音一定不是噪声（干扰他人即噪声）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 / 346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　噪声的危害和控制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下列措施分别在哪个环节控制噪声：①市区禁鸣喇叭 ②教室临街窗户装双层玻璃 ③射击运动员戴耳罩？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禁鸣喇叭是不让发声体发声，属于在声源处减弱。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双层玻璃阻断声音进入室内，属于在传播过程中减弱。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耳罩阻止声音进入人耳，属于在人耳处减弱。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检验分类标准：三条措施恰好对应“声源—传播路径—人耳”三个环节。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①声源处 ②传播过程中 ③人耳处。答题先写环节名称，再对应原措施，两者必须匹配。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 / 346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　噪声的危害和控制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dB 表示什么？有人认为“乐器演奏的一定不是噪声”，你怎么看？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某街道旁夜间测得噪声达 90 dB，这说明什么？下列措施中属于在传播过程中减弱噪声的是哪些：多种树、禁止鸣笛、戴耳塞、安装双层玻璃？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①摩托车上安装消声器 ②高架桥两侧建隔音墙 ③工厂工人戴防噪声耳罩，各在哪个环节控制噪声？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提示：顺着“声音从哪产生、走什么路、进谁的耳朵”逐条排查。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 / 346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· 声现象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声音由振动产生，靠介质传播，真空不能传声；15 ℃ 空气中声速约 340 m/s，回声测距…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音调看频率，响度看振幅，音色看波形形状；“声音大”是响度、“声音尖”是音调。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声可传递信息也可传递能量；回声测距 s=vt/2；高于 20000 Hz 是超声，低于 2…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噪声控制三环节：声源处消声、传播中隔声吸声、人耳处隔声；0 dB 是刚能听到的最弱声。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男低音放声歌唱、女高音轻声伴唱，谁的音调高、谁的响度大？用手按住锣面，声音为何立刻停止？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35 / 346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物质 ｜ 考查：温度计使用与读数、晶体熔化图像分析、蒸发沸腾对比、物态变化归类与吸放热判断。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　物态变化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用温度计规范测量贯穿六大物态变化，靠“吸热/放热”把熔化、汽化、升华及其逆过程串成一张表。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温度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熔化和凝固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汽化和液化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升华和凝华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温度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摸一摸铁栏杆和木栏杆，哪个更凉？再用温度计量一量——感觉可靠吗？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先让几个学生摸冬天室外的铁栏杆和木栏杆，都说铁的凉；再用两支温度计同时实测，示数几乎相同——感觉骗了大家。由此立起本节观念：温度是表示物体冷热程度的物理量，要靠温度计测量，它的原理是液体的热胀冷缩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温度计按“估、选、读”三步用：先估被测温度选合适量程和分度值；玻璃泡完全浸入被测液体，不碰容器底和壁；示数稳定后再读数，读数时玻璃泡留在液体里，视线与液柱上表面相平。体温计特殊在缩口：水银只能上、不能自动下，量程 35–42 ℃，分度值 0.1 ℃，可以离开人体读数。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高频误区显式纠正：把温度计拿出液体再读数（示数会向环境温度变化）；体温计不甩就直接测下一个人（示数只升不降会误判）。适用边界：普通温度计不能甩、不能离开被测物读数；体温计用前必须用力甩回 35 ℃ 以下，且只能测体温范围的温度——超出量程的液体温度不能用它测。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摄氏度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温度计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量程与分度值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把温度计拿出液体再读数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体温计不甩就直接测下一个人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37 / 346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温度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一支体温计示数为 38.0 ℃，没有甩就直接去测体温实际是 37.5 ℃ 的人，体温计显示多少？若去测体温 39 ℃ 的人呢？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依据体温计缩口的结构：水银柱遇冷不会自动退回玻璃泡。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 37.5 ℃ 的人：温度低于原示数，水银不升也不降，示数仍是 38.0 ℃。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 39 ℃ 的人：温度高于原示数，水银能继续膨胀上升，示数为 39 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 37.5 ℃ 的人示数仍为 38.0 ℃，测 39 ℃ 的人示数为 39 ℃。关键依据是缩口“只升不自动降”。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38 / 346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温度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用普通实验温度计测热水温度：①刚插入就读数 ②玻璃泡碰到杯底 ③示数稳定后拿出液面读数。指出错误并说明后果。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普通温度计为什么不能离开被测液体读数，也不能甩？体温计为什么可以离开人体读数？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一支体温计示数为 37.8 ℃：①用力甩过后去测体温 36.5 ℃ 的人，示数是多少？②不甩直接去测体温 38.5 ℃ 的人，示数是多少？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提示：缩口水银“只升不自动降”：甩过示数回落才能真实测量；不甩时低于原示数不降、高于原示数照升。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39 / 346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同时给冰和蜡加热，一个在 0 ℃ 磨蹭半天，一个越热越稀——差别在哪？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演示什么、看到什么：两个同样的加热装置分别加热冰和蜡，插入两支温度计。冰加热到 0 ℃ 后温度计停在 0 ℃ 不动，冰逐渐化水；蜡从始至终边变软变稀、温度计一路上升。两支温度计“一支停一支走”的反差，就是晶体与非晶体的根本区别。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晶体有固定的熔化温度叫熔点，熔化过程持续吸热但温度保持不变，处于固液共存态；非晶体没有熔点，吸热同时不断升温变软。熔化图像分段读：固段吸热升温、平台段熔化（温度不变）、液段升温，平台对应熔点。凝固是熔化的逆过程，晶体凝固时放热温度也保持不变（凝固点=熔点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高频误区显式纠正：认为晶体熔化过程中温度持续升高——平台段吸热但温度不变，吸收的热用于破坏晶体结构；认为“0 ℃ 的冰比 0 ℃ 的水冷”也不对，两者温度相同，只是冰熔化还要大量吸热。适用边界：“到达熔点＋继续吸热”两个条件缺一不可，只到熔点不吸热熔化不进行。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熔化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凝固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熔点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晶体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认为晶体熔化过程中温度持续升高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认为“0 ℃ 的冰比 0 ℃ 的水冷”（温度相同，冰熔化吸热多）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40 / 346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冰的熔化图像中，第 2 到第 5 min 温度保持在 0 ℃。第 3 min 时烧杯里的物质处于什么状态？这段时间温度为什么不升？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由图像平台段判定：2–5 min 是熔化过程，第 3 min 物质处于固液共存状态。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依据晶体熔化特点：熔化时持续吸热，吸收的热量用于破坏晶体结构，温度保持在熔点 0 ℃ 不变。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对应后续：5 min 后冰全部化完，进入液态升温段。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min 为固液共存态；平台段吸热但温度不变，这是晶体熔化的特征，平台对应的温度就是熔点。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41 / 346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海波熔点 48 ℃。温度刚升到 48 ℃ 时，海波是固态、液态还是固液共存？要使它继续熔化必须怎样？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冬天北方菜窖里放几缸水可以防止菜被冻坏，这利用了什么道理？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某晶体熔化图像：0–3 min 固态吸热升温，3–6 min 温度保持在 48 ℃，6–9 min 液态升温。该物质的熔点是多少？第 5 min 它处于什么状态？熔化过程持续了几分钟？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提示：图像上“温度不变的平台”对应熔化过程：平台的高度是熔点，平台的宽度是熔化时间。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42 / 346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5669" y="1876806"/>
            <a:ext cx="591511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晶体熔化图像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晶体（冰）熔化图像：横轴 t/min 0–8，纵轴 T/℃ −20~30；数据 t=[0,1,2,3,4,5,6,7,8]，T=[-20,-10,0,0,0,0,10,20,30]；标注：0–2 min 固态吸热升温，2–5 min 熔…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43 / 346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湿衣服晾干是悄悄进行的，水烧开是翻腾可见的——都是汽化，差别在哪？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演示什么、看到什么：湿布擦黑板一会儿就干，是悄悄进行的；烧杯里的水烧开时翻腾冒泡、温度计停在 98 ℃ 不再上升。两个现象对照，汽化的两种方式——蒸发与沸腾的差别（温度条件、发生部位、剧烈程度）都摆在眼前。再吹气、摊开、晒湿手帕，三招加快蒸发。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蒸发在任何温度下都能发生、只发生在液体表面、缓慢；沸腾要达到沸点并继续吸热、在表面和内部同时发生、剧烈，沸腾时温度保持在沸点不变（气压低沸点低）。影响蒸发快慢三因素：温度、表面积、表面空气流动速度。液化两途径：降低温度、压缩体积；液化和汽化互逆，液化放热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“白气”不是水蒸气——水蒸气无色透明看不见，看得见的“白气”是水蒸气遇冷液化成的小水滴；认为蒸发只在高温下发生也错，任何温度都能蒸发。适用边界：沸腾必须“达到沸点＋继续吸热”同时满足，达到沸点不吸热不会沸腾；液化两途径对号入座——“白气”靠降温，液化气罐靠压缩体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蒸发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沸腾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沸点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液化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把“白气”当成水蒸气（实为液化成的小水滴）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认为蒸发只在高温下发生（任何温度都可蒸发）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44 / 346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冬天说话嘴里呼出“白气”，夏天揭开冰棍纸也冒“白气”。这两处“白气”是怎么形成的？是水蒸气吗？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先纠正概念：水蒸气无色透明看不见，能看见的“白气”一定不是水蒸气。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依据液化条件（遇冷放热）：呼出的水蒸气遇到冷空气液化成小水滴；空气中的水蒸气遇到冷的冰棍液化成小水滴。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归类：两处“白气”都是液化现象，本质是悬浮的小水滴。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都是水蒸气遇冷液化成的小水滴，不是水蒸气本身。判断“白气”类问题先问“谁遇冷了”。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45 / 346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 100 ℃ 的水蒸气烫伤往往比被 100 ℃ 的开水烫伤更严重，为什么？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发烧病人用酒精棉擦拭身体能物理降温；夏天开风扇人也觉得凉快。两者各用什么原理？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夏天从冰箱里取出一瓶饮料，瓶外壁很快“出汗”。“汗”是从哪里来的？属于什么物态变化？吸热还是放热？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提示：想清楚“汗”的原料是谁、谁遇冷了：瓶外壁温度低，周围空气里有水蒸气。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46 / 346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3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9658" y="1876806"/>
            <a:ext cx="5947134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水沸腾图像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水沸腾图像：横轴 t/min 0–9，纵轴 T/℃ 80~105；数据 t=[0,1,2,3,4,5,6,7,8,9]，T=[85,88,92,95,97,98,98,98,98,98]；标注：沸腾前吸热升温（旁画小图：气泡上升变小），…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47 / 346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升华和凝华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衣柜里的樟脑丸放一学期“不翼而飞”，冰冻的衣服也能直接晾干——固体去哪了？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给烧瓶里的碘粒微微加热，固态碘直接变成紫色碘蒸气，中间没有出现液态碘；在瓶口放一片冷玻璃片，紫色蒸气又直接凝回固态碘粒。一次双向演示把升华（固→气、吸热）和凝华（气→固、放热）一次讲全，学生看到“跳过液态”的全过程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现象对号入座——升华吸热：干冰造雾降雨、樟脑丸变小、冰冻衣服变干、白炽灯钨丝变细；凝华放热：霜、雪、雾凇、冬天窗内侧的冰花。干冰升华吸热制冷，凝华放出热量——六大物态变化按“吸热：熔化、汽化、升华；放热：凝固、液化、凝华”记成一张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霜、雾凇当成“露冻成的”——露和雾是液化，霜和雾凇是水蒸气直接凝华，归类错了吸放热的判断也跟着错。适用边界：凝华要求水蒸气“直接”变固态，若先液化再凝固就不是凝华；冬天窗花结在窗内侧，因为原料是室内的水蒸气遇冷玻璃——判断凝华先找准“谁的蒸气、遇什么冷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升华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凝华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把霜、雾凇当成“露冻成的”，物态变化归类错误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48 / 346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升华和凝华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舞台上用干冰（固态二氧化碳）制造白雾。说明白雾的形成过程，并指出干冰发生了什么物态变化、吸热还是放热。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干冰从固态直接变为气态，是升华现象，升华吸热。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依据升华吸热降温：干冰升华使周围空气温度急剧下降。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空气中的水蒸气遇冷液化成小水滴，形成“白雾”。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干冰升华吸热降温，空气中水蒸气液化成小水滴形成白雾。注意“白雾”是液化、干冰本身是升华，两个物态变化要分开答。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49 / 346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升华和凝华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霜、露、雾分别属于什么物态变化？是吸热还是放热？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北方寒冷的冬天，冰冻的湿衣服晾在外面也会慢慢变干，衣服上的冰发生了什么变化？北方窗玻璃上的冰花结在内侧还是外侧？为什么？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白炽灯用久了灯泡内壁会发黑。这一现象包含哪两个物态变化？各吸热还是放热？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提示：灯丝是钨做的：先想钨丝“变细”少了什么，再想黑的东西从哪来、附着在哪。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50 / 346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· 物态变化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感觉不可靠，温度要测量；温度计玻璃泡全浸入、稳定后读、不离液读；体温计有缩口、用前要甩。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晶体有熔点，熔化时吸热温度不变、固液共存；非晶体没有熔点，边吸热边升温变软。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蒸发任何温度都能发生，沸腾需达沸点且吸热；“白气”是液化成的小水滴；液化靠降温或压缩体积。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升华固变气吸热，凝华气变固放热；霜是凝华、露雾是液化，“白气白雾”一律先想液化。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说出雾、露、霜各自的形成物态变化并判断吸放热；晶体熔化图像中水平段说明什么？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51 / 346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声与光 ｜ 考查：反射定律作图与镜面/漫反射区分、平面镜成像特点与作图、折射规律与光的色散。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　光现象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以“光沿直线传播→遇界面反射→进介质折射”为传播路线主线，配平面镜成像与色散收尾。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光的直线传播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光的反射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平面镜成像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光的折射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光的色散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光的直线传播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打开教室里两盏灯，地上出现两团互不相干的影子——影子是怎么来的？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用激光笔穿过喷有水雾的空气，或让光穿过滴了几滴牛奶的水，一条笔直的光路当场显形；用不透明挡板一挡，身后立刻出现影子。两个演示共同指向：光在空气中沿直线走——但要马上补上条件“同种、均匀介质”，因为光斜射入水中就拐弯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本体：光在同种、均匀介质中沿直线传播；用带箭头的直线表示光的传播路径和方向，叫光线，是人为建立的模型。影子、日食月食、小孔成像、排队看齐、激光准直都归到直线传播一条线上。真空中光速 c=3×10⁸ m/s，远大于声速 340 m/s，所以先看到闪电后听到雷声。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漏掉“同种均匀介质”条件，认为光永远沿直线传播——光从空气斜射入水中、经过不均匀大气都会偏折。适用边界：小孔成像的像随孔的大小变化，孔太大光不再近似直线成像，像变模糊；短距离内光传播时间通常忽略，但天体尺度必须计（阳光到地球约 8 min）。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光速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漏掉“同种均匀介质”条件，认为光永远沿直线传播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53 / 346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光的直线传播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雷雨天总是先看到闪电后听到雷声。若看到闪电 3 s 后听到雷声，打雷处大约离你多远？（光传播时间忽略）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依据光速远大于声速，看到闪电的时刻可视为雷声刚发出的时刻，3 s 就是声音传播的时间。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v=s/t 变形得 s=vt=340 m/s×3 s=1020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检验：3 s 对应约 1 km，符合生活经验；这类题只算声程、不算光程。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打雷处约 1020 m 远。判断依据：光速 3×10⁸ m/s，3 s 内光走过的距离大到完全可以忽略。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54 / 346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光的直线传播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民兵列队时，排头只要看不到第 2 个人以后的任何人，队伍就站直了。这里用到光的什么规律？说明道理。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太阳光穿过树叶间的缝隙照在地上，形成许多圆形光斑。这些光斑是什么？为什么是圆的？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看到闪电 4 s 后听到雷声，打雷处大约离你多远？（声速取 340 m/s）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提示：光传播时间忽略，时间全部给声音：s=vt 直接算。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55 / 346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把激光射到平面镜上，墙上立刻出现一个亮点——光去了哪里？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演示什么、看到什么：激光沿纸板射向镜面上的 O 点，纸板上同时看到入射光和反射光；把纸板的一半向后折，反射光消失——三线共面当场可见。再多次改变入射角并记录两个角，学生发现反射角总等于入射角。一套演示做完，反射定律的三句话不是背出来的，是看出来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垂直于镜面的虚线叫法线；入射角、反射角都是光线与法线的夹角。反射定律：三线共面、法线居中、反射角等于入射角。镜面反射把平行光仍射向同一方向，迎着看刺眼；漫反射把光射向四面八方，“各人看各人的”，所以能从各个方向看到不发光的物体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高频误区显式纠正：把反射角当成光线与镜面的夹角——角都从法线量起，与镜面夹 30° 时入射角是 60°；认为漫反射不遵守反射定律也是错的，每一条光线都遵守。适用边界：光路可逆，“逆着反射光线入射必沿原入射方向返回”；反射定律对任何光滑界面成立，先画法线再标角才不会错。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法线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入射角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反射角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漫反射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把反射角当成光线与镜面的夹角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认为漫反射不遵守反射定律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56 / 346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一束光射向平面镜，入射光线与镜面的夹角为 30°。入射角多大？反射角多大？入射光线与反射光线的夹角多大？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依据定义，入射角是入射光线与法线的夹角：入射角=90°−30°=60°。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由反射定律，反射角等于入射角，反射角=60°。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两光线夹角=入射角+反射角=60°+60°=120°。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入射角 60°、反射角 60°、两光线夹角 120°。检验：与镜面夹角 30° 的两倍加 60° 与 60° 的两倍自洽。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57 / 346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入射角增大 10°，入射光线与反射光线的夹角增大多少？光垂直射向镜面时入射角多大？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一束光的入射角为 30°：①反射光线与镜面的夹角多大？②若入射角增大到 50°，两光线夹角比原来增大多少？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一束光射向平面镜，入射光线与镜面的夹角为 45°。入射角、反射角、入射光线与反射光线的夹角各多大？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提示：角都从法线量起：先把与镜面的夹角换成与法线的夹角（相加为 90°）。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58 / 346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4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671" y="1876806"/>
            <a:ext cx="580710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光的反射定律光路图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画水平镜面 MN，O 为入射点，法线 NO 用虚线竖直画出；入射光线 AO 与法线成 40°，反射光线 OB 与法线成 40°，两光线画箭头标传播方向；标注：入射角 i=40°、反射角 r=40°、i=r；文字注“三线共面、法线居中、两…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59 / 346</a:t>
            </a:r>
            <a:endParaRPr lang="en-US" sz="11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用玻璃板代替平面镜，把一支没点燃的蜡烛放到玻璃板后面——能找到像的确切位置吗？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用薄玻璃板代替镜面做实验，它既能反光成像又能透光——把一支未点燃的相同蜡烛放到玻璃板后面移动，直到与前面点燃蜡烛的像完全重合；用刻度尺量物、像到玻璃板的距离，两者相等，连线与镜面垂直。光屏放在像的位置接不到光，证明是虚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平面镜成像特点口诀“等大、等距、垂直、虚像”——像与物大小相等、到镜面距离相等、连线与镜面垂直、成的是虚像（反射光线反向延长线的交点）。作图三步：找物点的对称点、镜后画像用虚线、垂足处标直角符号。等效法：用可透光的玻璃板替代不透明的镜子，才能确定像的位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人远离镜子时像变小——像始终与物等大，“看起来变小”是视角变小的错觉；虚像用实线画也是错的，虚实像的画法约定必须遵守。适用边界：实验要用薄玻璃板——厚玻璃板前后两面各成像一次，会看到两个错开的像干扰测量；玻璃板必须与桌面垂直，否则后面的蜡烛无法与像重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虚像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玻璃板等效法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认为人远离镜子时像变小（像始终与物等大）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虚像用实线画，混淆虚实像的画法约定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60 / 346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视力表挂在平面镜正对面的墙上，镜到视力表 3 m。小明站在镜前 1 m 处面对镜子测视力，他看到视力表的像离自己多远？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依据平面镜成像“等距”：像到镜的距离等于物到镜的距离 3 m，像在镜后 3 m 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人到像的距离=人到镜的距离+像到镜的距离=1 m+3 m=4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检验：这正是小房间用平面镜“延长”视距测视力的原理。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像离小明 4 m。依据是等距对称；人后退时像大小不变，只是视角变小。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61 / 346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在纸上画出点 A 经平面镜所成的像 A′，写出作图三步，并说明为什么 A′ 要用虚线画。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做平面镜成像实验时：①为什么用玻璃板而不用平面镜？②为什么选薄玻璃板？③玻璃板若与桌面不垂直会有什么后果？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小华站在穿衣镜前 1.5 m 处。①她的像离镜面多远？②她向镜子前进 0.5 m 后，像离她多远？③像的大小怎么变？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提示：等距：像到镜的距离始终等于人到镜的距离；人像间距=人到镜+像到镜。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62 / 346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4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5023" y="1876806"/>
            <a:ext cx="463640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平面镜成像作图法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画竖直平面镜 MM'，镜前蜡烛 AB（A 在上）；过 A、B 分别向镜面作垂线并延长到镜后等距处得对称点 A'、B'，用虚线连接 A'B' 表示虚像；标注：AA'⊥MM'、AA'=A'A、像与物等大、像用虚线；垂足处画直角符号。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63 / 346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　光的折射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把筷子斜插入水，从侧面看筷子在水面处“折断”了——筷子真的断了吗？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把筷子斜插入水，从侧面看筷子在水面处向上弯折、“折断”了；在空碗底放一枚硬币，后退到刚好看不见它，再缓缓倒水——硬币又“升高”回来了。两个现象都指向：光从水进入空气时方向变了，人眼逆着来光方向看，看到的是“假位置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折射时先画界面和法线，再比较两角。规律：光从空气斜射入水中，折射光线向法线靠拢，折射角小于入射角；从水斜射入空气则折射角大于入射角——判断口诀“空气中总是大角”。垂直入射时角为零、传播方向不变，是特例。池底变浅、硬币“升高”、叉鱼瞄下方都由折射解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“空气中角大”记反，方向判断全错——不管光往哪个方向传，空气中的那个角总是更大；认为光从水斜射入空气时折射角变小也错，应变大。适用边界：折射规律只对“斜射”成立，垂直入射方向不变；人看到的“升高虚像”是折射光线反向延长线的交点，实物总在虚像的下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折射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折射角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界面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把“空气中角大”记反，方向判断出错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认为光从水斜射入空气时折射角变小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64 / 346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　光的折射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光从水中斜射入空气，入射角为 40°。折射角可能是 30° 吗？可能比 40° 大吗？写出判断过程。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先定界面两侧介质：水中是入射侧，空气中是折射侧。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依据“空气中总是大角”，空气中的折射角必须大于水中的入射角 40°。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逐一判断：30°&lt;40°，不可能；大于 40° 的角才可能，如 55°。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折射角不可能是 30°，可能大于 40°（如 55°）。判断只依据“空气中总是大角”这一条。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65 / 346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　光的折射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渔民叉鱼时，应瞄准看到的鱼的上方还是下方？用光的折射解释。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盛水的碗底一枚硬币，人移动到刚好看不见它；保持眼睛位置不变，缓缓向碗中倒水，硬币重新被看到。解释这个现象，并说明看到的是实物还是虚像。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光从空气斜射入水中，入射角为 60°。折射角可能是 70° 吗？可能是 45° 吗？写出判断过程。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提示：光从空气进入水中，折射光线向法线靠拢；判断口诀仍是“空气中总是大角”。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66 / 346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　光的色散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一束白光通过三棱镜，白墙上铺开一条彩虹——白光里藏着什么？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让一束白光通过三棱镜投到白墙上，墙上出现红、橙、黄、绿、蓝、靛、紫依次排列的彩色光带——白光被分解了。再用红光照红布、白布，学生会发现红布呈红色、白布也偏红，由此追问“物体的颜色由什么决定”，进入本节核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白光通过棱镜分解成七色光的现象叫色散，说明白光是复色光。不透明体的颜色由它反射的色光决定：红布只反射红光、白布反射所有色光、黑布吸收所有色光；透明体的颜色由它透过的色光决定，红玻璃只透过红光。光谱两端延伸出看不见的辐射：红外线热效应强（遥控、热成像），紫外线能使荧光物质发光（验钞、杀菌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透明体颜色由反射光决定——应由透过的色光决定，两套规则分开记；无色透明体透过所有色光。适用边界：判断物体颜色按“不透明看反射、透明看透过”两步走，先定介质是哪类，再看照来的是什么色光、有没有光进入人眼，无光入眼即呈黑色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色散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红外线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紫外线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认为透明体颜色由反射光决定（应由透过的色光决定）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67 / 346</a:t>
            </a:r>
            <a:endParaRPr lang="en-US" sz="11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　光的色散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舞台上用绿光照射穿红上衣、白裙子的演员。观众看到的上衣和裙子各是什么颜色？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依据“不透明体颜色由反射的色光决定”，先分别看两种布料反射什么光。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红上衣只反射红光，绿光照上去被吸收，无光反射进入人眼，呈黑色。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白裙子反射所有色光，绿光被反射，呈绿色。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上衣呈黑色，裙子呈绿色。检验：“无光入眼即黑”与“白色反射一切色光”两条规则自洽。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68 / 346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　光的色散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隔着蓝色透明玻璃看白纸上的红字，字是什么颜色？为什么？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①红外线、紫外线各举一个应用；②为什么说“色散说明白光是复色光”？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用红光照射穿黄色衣服的演员（黄色能反射红光和绿光），观众看到的衣服是什么颜色？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提示：先查黄衣服能反射哪些色光，再看照来的是什么光、有没有光进入人眼。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69 / 346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· 光现象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光在同种均匀介质中沿直线传播；c=3×10⁸ m/s 远大于声速，影子、日食、小孔成像都归…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反射定律：三线共面、法线居中、反射角等于入射角；角都是与法线的夹角，漫反射同样遵守定律。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平面镜成像：等大、等距、垂直、虚像；虚像在光屏上接不到，作图一律用虚线。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折射中“空气中总是大角”；垂直入射方向不变；池底变浅、叉鱼瞄下方都是折射造成的“假象”。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白光经三棱镜色散成七色光；不透明体颜色看反射、透明体颜色看透过；红外线热效应、紫外线荧光验…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画出入射角 30° 的反射光路并标出两角；人站在穿衣镜前 2 m，像离人多远？人后退像大小如何变？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70 / 346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声与光 ｜ 考查：凸透镜成像规律（一倍焦距分虚实、二倍焦距分大小）、眼睛成像缺陷与矫正、动态变化判断。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　透镜及其应用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从透镜对光的作用到成像规律表，再到眼睛矫正与两种光学仪器，一条“会调焦、会判像”的主线。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透镜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生活中的透镜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凸透镜成像的规律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眼睛和眼镜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显微镜和望远镜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让太阳光分别通过凸透镜和凹透镜照到纸上，一个会把纸烧焦，一个只得到大光斑——为什么？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让太阳光（平行光）分别通过凸透镜和凹透镜照到纸上——凸透镜把光会聚成一个最小最亮的光斑，纸很快发烫；凹透镜只得到一个又大又淡的光斑。会聚与发散当场可见，再沿光斑位置立起“焦点、焦距”的实物对应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本体：凸透镜对光有会聚作用，凹透镜对光有发散作用；焦点到光心的距离叫焦距 f，凹透镜的焦点是折射光线反向延长线的交点，是虚焦点。三条特殊光线：过光心的光线不偏折；平行于主光轴的光线折射后过焦点；过焦点的光线折射后平行于主光轴。测焦距：正对太阳，纸上移动到光斑最小最亮，量光斑到光心的距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凹透镜“不折光”——凹透镜同样折射光，只是折射后起发散作用；把光斑到纸的距离当焦距也不对，必须量到光心。适用边界：“会聚”“发散”指折射后光线相对原方向的聚散趋势，不是“一定交于一点”；三条特殊光线是作图与解题的基础工具，任何凸透镜光路题都从它们出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会聚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发散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认为凹透镜不折光（仍折射，只是起发散作用）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72 / 346</a:t>
            </a:r>
            <a:endParaRPr lang="en-US" sz="11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把凸透镜正对太阳光，在透镜另一侧的纸上得到最小、最亮的光斑，光斑到透镜光心 10 cm。这个透镜的焦距是多少？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依据：平行于主光轴的光折射后过焦点，太阳光可视为平行光。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最小最亮的光斑就是焦点位置，光斑到光心的距离即焦距。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得出 f=10 cm，注意量的是到光心的距离。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焦距 f=10 cm。“光斑最小最亮”是焦点的标志，测量从光心起算。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73 / 346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画出并说明三条特殊光线经凸透镜后的去向；凹透镜的两条特殊光线折射后怎么走？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把小灯泡放在凸透镜的焦点处，发出的光经透镜后变成什么光？根据光路可逆说明理由。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把某透镜正对太阳光，在透镜另一侧纸上得到最小最亮的光斑，光斑到光心 15 cm。这个透镜的焦距是多少？它是凸透镜还是凹透镜？为什么？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提示：“最小最亮的光斑”=实际光线会聚的焦点；能会聚成实焦点的是哪种透镜？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74 / 346</a:t>
            </a:r>
            <a:endParaRPr lang="en-US" sz="11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8288" y="1876806"/>
            <a:ext cx="556987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凸透镜与三条特殊光线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画凸透镜及水平主光轴，标光心 O；上方画平行主光轴的光束经透镜会聚于焦点 F，标 f；下方画三条特殊光线：过光心的直线不偏折、平行主光轴的折向焦点、过焦点的折后平行主光轴；标签：光心 O、焦点 F、焦距 f。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75 / 346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生活中的透镜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手机拍照、教室投影、水滴压在书页上——三件小事里各藏着一枚凸透镜。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用手机拍讲台上的玩偶——屏幕里的像比实物小且上下颠倒；用投影仪投字——屏幕上的字放大且倒立；用放大镜看书上的字——字正立且变大。三个生活器件三种像，先认“倒立的是实像、正立的是虚像”，规律下节再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实像由实际光线会聚而成，能在光屏上呈现；虚像由光线的反向延长线相交而成，接不到光屏上。照相机镜头相当于凸透镜，物距远大于二倍焦距，成倒立、缩小的实像；投影仪成倒立、放大的实像；放大镜（u&lt;f）成正立、放大的虚像。水滴中间厚边缘薄，相当于凸透镜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先入为主认为“实像必缩小、虚像必放大”——投影仪的实像就是放大的，结论到下节规律表才完整；把水滴放大归为“虚像仪器没有镜头”也不对，水滴就是天然凸透镜。适用边界：判断像的类型先问“光屏能不能接到”；本节只需分清虚实与正倒，大小规律留待下节用 u 与 f 比较来确定。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虚像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先入为主认为“实像必缩小、虚像必放大”，与后节规律表冲突时再修正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76 / 346</a:t>
            </a:r>
            <a:endParaRPr lang="en-US" sz="11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生活中的透镜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照相时景物到镜头的距离远大于焦距。底片上成的像有什么特点？水滴贴在书页上放大了字，水滴相当于什么透镜、成什么像？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照相机镜头相当于凸透镜，物距远大于二倍焦距，成倒立、缩小的实像。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水滴中间厚、边缘薄，相当于凸透镜，字紧贴水滴，物距小于焦距。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依据物距小于焦距的情形，成正立、放大的虚像。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照相机成倒立缩小的实像；水滴相当于凸透镜，成正立放大的虚像。判断实像先看“能否在光屏上接到”。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77 / 346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生活中的透镜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投影仪投在屏幕上的字是放大的实像，老师却把投影片倒着放，为什么？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实像和虚像有哪些区别？从“由什么形成、能否用光屏承接、正倒情况”三方面比较，并各举一例。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教室投影仪把投影片上的字投到屏幕上。①屏幕上的字与投影片上的字相比，大小、正倒如何？②它是实像还是虚像？怎么验证？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提示：屏幕能显示出来的像，是实际光线会聚成的还是延长线会聚的？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78 / 346</a:t>
            </a:r>
            <a:endParaRPr lang="en-US" sz="11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凸透镜成像的规律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光具座上把蜡烛从远处一步步移近凸透镜，像一会儿缩小、一会儿放大、一会儿消失——规律藏在哪两个点上？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分组实验演示什么、看到什么：光具座上依次放蜡烛、凸透镜、光屏，透镜位置不动。让蜡烛按 u&gt;2f、u=2f、f&lt;u&lt;2f、u&lt;f 逐段移动，每段都左右移动光屏找最清晰的像，记录像的正倒、大小、虚实——学生会发现两个“突变点”：u=f 处像消失，u=2f 处像由缩小变放大。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本体：两条分界线——u=f 是虚实分界：u&gt;f 成实像，u&lt;f 成虚像，u=f 不成像；u=2f 是大小分界：u&gt;2f 缩小实像，u=2f 等大实像，f&lt;u&lt;2f 放大实像。成实像时“物近像远像变大”。口诀“一倍焦距分虚实、二倍焦距分大小”与实验表格一一对应，成像题第一步都是比 u 与 f、2f。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高频误区显式纠正：u=2f 与 u=f 两个分界点处的成像特征记混——u=2f 成等大实像，u=f 不成像；认为遮住透镜一半像就只剩一半也错，像仍完整只是变暗。适用边界：“物近像远像变大”只在成实像（u&gt;f）时成立，u&lt;f 成虚像时物越近视越大但情况另算；虚像与物在透镜同侧，实像在异侧。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物距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像距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分界线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u=2f 与 u=f 两个分界点处的成像特征记混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遮住透镜一半认为只能成半个像（像完整但变暗）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79 / 346</a:t>
            </a:r>
            <a:endParaRPr lang="en-US" sz="11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凸透镜成像的规律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凸透镜焦距 10 cm。蜡烛分别放在距透镜 30 cm、15 cm、8 cm 处，各成什么像？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先比物距与焦距：30 cm&gt;2f=20 cm，成倒立、缩小的实像，像距在 f 与 2f 之间。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cm 在 f 与 2f 之间，成倒立、放大的实像，像距大于 2f。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cm&lt;f，成同侧正立、放大的虚像，光屏接不到。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检验：两条分界线 u=10 cm、u=20 cm 把三种情形分开，没有漏段。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u=30 cm 倒立缩小实像；u=15 cm 倒立放大实像；u=8 cm 正立放大虚像。成像题第一步都是拿 u 与 f、2f 比大小。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80 / 346</a:t>
            </a:r>
            <a:endParaRPr lang="en-US" sz="11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凸透镜成像的规律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烛焰经凸透镜在光屏上成清晰缩小的像后，用黑纸遮住透镜的上半部分，光屏上的像会怎样变化？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凸透镜成实像时，蜡烛从 3f 处向 f 处移动（始终成实像）。像距怎么变？像怎么变？物距等于多少时像与物等大？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凸透镜焦距 8 cm。蜡烛分别放在距透镜 20 cm、12 cm、5 cm 处，各成什么像？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提示：先算 2f=16 cm，再把三个物距与 f=8 cm、2f=16 cm 逐一比较，套两句话口诀。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81 / 346</a:t>
            </a:r>
            <a:endParaRPr lang="en-US" sz="11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看远和看近，照相机要拧镜头对焦，我们的眼睛却不用——眼球是怎么“调焦”的？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让学生从看窗外远处景物迅速转看课本上的小字，体会眼睛“自动对焦”——没有任何旋钮。出示眼球模型：角膜和晶状体相当于凸透镜，视网膜相当于光屏。对比照相机靠“移动镜头”调焦，眼睛靠“改变透镜焦距”调焦，差异一目了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看远处时睫状体放松、晶状体变薄、焦距变大，像恰好成在视网膜上；看近处时睫状体收缩、晶状体变厚、焦距变小。近视眼：晶状体太厚折光太强（或眼球前后径太长），像成在视网膜前，配凹透镜先发散再成像；远视眼相反，像成在视网膜后，配凸透镜。眼镜度数=100/f（f 以 m 计）。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近视戴凸透镜矫正——近视需要先发散光线把像往后“推”到视网膜上，必须配凹透镜；把“像成在视网膜前/后”与矫正透镜配错也常见，成对记忆。适用边界：近视能看清近处、看不清远处，远视相反；老花（远视的一种）是晶状体调节能力随年龄下降造成的，矫正思路与远视一致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近视眼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远视眼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矫正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近视戴凸透镜矫正（应为凹透镜）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82 / 346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一副标称 500 度的近视眼镜，镜片焦距是多少？它是什么透镜？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依据度数与焦距的关系：度数=100/f（f 用米），f=100÷500=0.2 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 m=20 cm；“近视”标明这是凹透镜。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检验：度数越高焦距越短，500 度比 200 度（f=50 cm）焦距短，合理。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焦距 20 cm 的凹透镜。近视镜用凹透镜把像往后“推”到视网膜上。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83 / 346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爷爷看书越来越吃力，要把书拿远才能看清。他的眼睛是什么缺陷？成像在视网膜前还是后？用什么透镜矫正？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长时间看书后眺望远方，眼睛会感觉放松。从“睫状体—晶状体—像的位置”说明其中的道理。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一副标称 300 度的远视眼镜，镜片焦距大约是多少？它是什么透镜？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提示：度数=100/f（f 用米）；“远视”要先把像往前“拉”，用会聚光线的透镜。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84 / 346</a:t>
            </a:r>
            <a:endParaRPr lang="en-US" sz="11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5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420406"/>
            <a:ext cx="6949440" cy="27601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近视眼的成因与矫正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侧画眼球剖面简图（晶状体等效凸透镜、后壁为视网膜弧线），平行光经晶状体会聚于视网膜前一点，标“近视：像成在视网膜前”；右侧同图在晶状体前加一个凹透镜，光线先发散后会聚点恰好落在视网膜上，标“配凹透镜矫正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85 / 346</a:t>
            </a:r>
            <a:endParaRPr lang="en-US" sz="11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　显微镜和望远镜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显微镜能看到细胞，望远镜能看到月球环形山——都是两片透镜，路数一样吗？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出示显微镜和天文望远镜的光路挂图，让学生先找两架仪器共同点——都是“物镜+目镜”两组凸透镜。再对比物镜一侧：显微镜的物离物镜很近，望远镜的“物”远在天边——同样是凸透镜，物距不同成像就不同，差异从物距里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显微镜两次放大——物镜（f&lt;u&lt;2f）成倒立放大的实像，该像落在目镜焦点以内，目镜（u&lt;f）再成正立放大的虚像，微小物体被连续放大两次。望远镜不同：物镜（u&gt;2f）把远处物体成倒立缩小的实像，相当于把遥远的景物“拉近”，目镜再放大这个像——放大的是视角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望远镜里看到的天体比实际大——天体尺寸不变，目镜只是增大了它对人眼的视角，视角越大看起来越大。适用边界：显微镜放大的是微小物体本身（两次放大），望远镜放大的是视角（拉近）；两者的物镜成像不同——显微镜物镜成放大实像，望远镜物镜成缩小实像，根源是物距范围不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物镜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目镜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视角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认为望远镜里看到的天体比实际大（只是视角变大）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86 / 346</a:t>
            </a:r>
            <a:endParaRPr lang="en-US" sz="11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　显微镜和望远镜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显微镜物镜和目镜各相当于一个凸透镜。说明两镜分别成什么像，并写出两次成像的物距范围。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物镜：被观察物放在略大于 f 处（f&lt;u&lt;2f），成倒立、放大的实像。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目镜：物镜的像落在目镜焦点以内（u&lt;f），成正立、放大的虚像。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合成：微小物体被连续放大两次，所以显微镜能看清细胞级别的小物。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物镜成倒立放大实像（f&lt;u&lt;2f），目镜成正立放大虚像（u&lt;f），两次放大是显微镜的核心。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87 / 346</a:t>
            </a:r>
            <a:endParaRPr lang="en-US" sz="11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　显微镜和望远镜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通过天文望远镜看到的月亮比肉眼看到的“大”，月亮真的被放大了吗？请用“视角”解释。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显微镜和望远镜都由两组凸透镜组成，它们的物镜成像有什么不同？为什么会有这种不同？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开普勒天文望远镜的物镜和目镜各相当于凸透镜。两镜各成什么像？物距分别在什么范围？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提示：天体极远，物距远大于 2f；目镜仍是放大镜的用法。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88 / 346</a:t>
            </a:r>
            <a:endParaRPr lang="en-US" sz="11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· 透镜及其应用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凸透镜会聚、凹透镜发散；焦点到光心是焦距；三条特殊光线是作图和解题的基本功。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照相机缩小实像、投影仪放大实像、放大镜放大虚像；实像倒立可呈现在光屏上，虚像正立接不到。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一倍焦距分虚实、二倍焦距分大小；成实像时物近像远像变大；遮半透镜像完整但变暗。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眼睛靠改变晶状体厚度调焦；近视像在视网膜前、配凹透镜；远视像在视网膜后、配凸透镜。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显微镜两次放大微小物体；望远镜把远物拉近、放大视角；望远镜里的物体并没有真的变大。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物体从 3f 处向 f 处移动，像的大小与像距如何变化？近视眼成像在何处、用什么透镜矫正？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89 / 346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物质 ｜ 考查：天平与量筒读数、测固体液体密度的实验设计与误差分析、密度公式与图像综合计算。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　质量与密度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以天平规范操作与 m-V 图像为双抓手，把“质量是属性、密度是特性”落到测量与鉴别物质。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质量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密度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测量物质的密度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密度与社会生活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一块冰化成水、一块橡皮捏成饼、一箱货从北京运到月球——有什么东西始终没变？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三个情境：冰化成水（状态变）、橡皮捏成饼（形状变）、货物运上月球（位置变），让学生找“始终没变的量”——物体所含物质的多少。它叫质量，单位千克（kg）。学生会惊讶“位置变了质量也不变”，这正是质量作为物体本身属性的含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质量是物体本身的属性，不随形状、状态、位置改变。托盘天平按“放、调、测、读”四步用：放水平桌面；游码归零后调平衡螺母使指针指中线；左物右码、砝码从大到小用镊子试加，最后移游码；读数=砝码总质量+游码左缘所对刻度。砝码从大到小试加，加不进去再换小砝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高频误区显式纠正：物码放反又用了游码时直接相加——此时平衡关系变了，应为 m物=m码−m游；认为 1 kg 铁比 1 kg 棉花“重”也不对，质量相同。适用边界：游码读数必须看左边缘；被测物质量不能超过天平量程；潮湿、粉末状物品不能直接放托盘上，要垫纸或放容器中称量。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质量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托盘天平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游码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物码放反又用游码时直接相加（应 m物=m码−m游）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 1 kg 铁比 1 kg 棉花“重”（质量相同）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91 / 346</a:t>
            </a:r>
            <a:endParaRPr lang="en-US" sz="11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用托盘天平测石块质量：右盘放砝码 50 g、20 g、5 g 各一个，游码左缘对齐 2.4 g 刻线，指针指中线。石块质量是多少？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依据天平读数规则：物体质量=砝码总质量+游码读数。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砝码合计 50+20+5=75 g，游码读左缘刻度 2.4 g。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相加得 77.4 g；注意游码必须读左缘，结果不能丢单位。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石块质量 77.4 g。检验：读数规则“左物右码、游码读左缘”两条都用上即可。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92 / 346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小马虎把物体放右盘、砝码放左盘，砝码共 60 g，游码读数 3.2 g，天平恰好平衡。物体实际质量多少？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①一块冰完全熔化成水，质量变吗？②宇航员把一块月球岩石带回地球，质量变吗？分别说明理由。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测某物体质量时，右盘放砝码 100 g、50 g 各一个，游码左缘对齐 3.6 g 刻线，天平恰好平衡。物体的质量是多少？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提示：物体在左盘：质量=砝码总和+游码左缘读数。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93 / 346</a:t>
            </a:r>
            <a:endParaRPr lang="en-US" sz="11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6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961423"/>
            <a:ext cx="6949440" cy="36781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托盘天平的结构与使用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画托盘天平：底座、横梁、左右托盘、两端平衡螺母、分度盘与指针、标尺和游码；标注使用要点：放水平桌面、游码归零后调平衡螺母、左物右码；旁附标尺放大图：量程 0–5 g、分度值 0.2 g、游码左缘对齐 2.4 g。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94 / 346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同样大的瓶子里装满水和装满食用油，放到天平两端——哪端沉？说明了什么？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两个相同的瓶子，一个装满水、一个装满食用油，放到天平两端——装水的明显更重。体积相同、质量不同，说明不同物质“单位体积的质量”不同。这个比值就是密度：同体积比质量的标准化办法，m-V 图像上是过原点的直线，越陡密度越大。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本体：密度 ρ=m/V，单位 kg/m³，常用 g/cm³，1 g/cm³=1000 kg/m³。密度是物质的特性：一杯水与一滴水密度相同，不随 m、V 改变——比值定义的量不随分子分母变。特例：水结冰质量不变、体积变大、密度变小，所以冰浮于水面。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高频误区显式纠正：由 ρ=m/V 推出“ρ 与 m 成正比、与 V 成反比”——密度由物质种类（和状态、温度）决定，比值是定值；忽略水结冰这一特例也常见。适用边界：同种物质状态改变密度会变（冰与水），温度改变密度也会变；用密度鉴别物质时要考虑“空心”与“混合”的可能，同密度不一定是同种物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密度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克每立方厘米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特性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由 ρ=m/V 推出“ρ 与 m 成正比、与 V 成反比”（比值是定值）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忽略水结冰质量不变、体积变大、密度变小这一状态特例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95 / 346</a:t>
            </a:r>
            <a:endParaRPr lang="en-US" sz="11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一块铝质量 54 g、体积 20 cm³。它的密度是多少 g/cm³？合多少 kg/m³？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依据定义式 ρ=m/V：ρ=54 g÷20 cm³=2.7 g/cm³。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换算成国际单位：2.7 g/cm³=2.7×1000 kg/m³=2.7×10³ kg/m³，依据是 1 g/cm³=1000 kg/m³。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检验：2.7×10³ kg/m³ 正是铝的标准密度，数值合理。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铝的密度为 2.7 g/cm³，即 2.7×10³ kg/m³。单位换算 1 g/cm³=1000 kg/m³ 是第二问的得分点。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96 / 346</a:t>
            </a:r>
            <a:endParaRPr lang="en-US" sz="11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一杯水倒掉一半，剩下的半杯质量、体积、密度各怎么变？冰的密度 0.9 g/cm³ 合多少 kg/m³？为什么冰能浮在水面？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一个瓶子最多能装 0.5 kg 的水。这个瓶子的容积是多少立方米？它最多能装多少 kg 的酒精？（ρ酒精=0.8×10³ kg/m³）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一块金属质量 89 g、体积 10 cm³。它的密度是多少？合多少 kg/m³？查密度表它可能是哪种金属？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提示：先按定义式相除，再乘 1000 换单位；对照常见金属密度（铜 8.9、铁 7.9、铝 2.7，单位 g/cm³）。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97 / 346</a:t>
            </a:r>
            <a:endParaRPr lang="en-US" sz="115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6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506" y="1876806"/>
            <a:ext cx="585543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m-V 图像与密度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m-V 图像：横轴 V/cm³ 0–30，纵轴 m/g 0–90；铝的数据 V=[10,20,30]，m=[27,54,81]，为过原点直线；另画水的直线 V=[10,20,30]，m=[10,20,30] 作对比；标注：同种物质 m/…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98 / 346</a:t>
            </a:r>
            <a:endParaRPr lang="en-US" sz="11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测量物质的密度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给你天平、量筒和一块不规则小石块，怎么把它的密度测出来？先画流程再动手。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实验设计演示什么：先在黑板上画流程图——天平测质量、量筒排水法测体积、ρ=m/V 求值，再动手。量筒读数时视线与凹液面最低处相平；细线拴石块缓慢浸没，防止溅水。学生动手后交流：为什么先测质量再测体积？顺序错了数据会怎样，当场对比验证。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排水法依据是浸没时排开水的体积等于物体体积，V=V₂−V₁；测盐水用“烧杯倒出一部分”的差值法——先测烧杯和盐水总质量，倒一部分入量筒测体积，再测剩余质量，两次相减即量筒中那部分的质量，可减小杯壁残留带来的误差。误差分析：俯视读数偏大、仰视偏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高频误区显式纠正：先测体积再测质量——石块沾水使质量偏大，密度算出偏大；量筒俯视读数使 V 偏大，由 ρ=m/V 密度偏小，方向不能背反。适用边界：排水法要求物体不吸水、不溶于水且能浸没；不规则物体体积只能用排水法，规则物体可用刻度尺直接量算，选方法看物体形状和性质。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量筒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排水法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误差分析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先测体积再测质量，质量偏大、密度偏大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量筒俯视读数使 V 偏大、密度偏小（视线应与凹液面最低处相平）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99 / 346</a:t>
            </a:r>
            <a:endParaRPr lang="en-US" sz="115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测量物质的密度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测小石块密度：天平测得质量 27 g；量筒中水的体积 30 mL，放入石块浸没后示数 40 mL。石块密度多大？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排水法求体积：V=V₂−V₁=40 mL−30 mL=10 mL=10 cm³，依据是浸没时排开水的体积等于石块体积。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依据密度定义式：ρ=m/V=27 g÷10 cm³=2.7 g/cm³。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检验：2.7 g/cm³ 接近铝的密度，结果合理；1 mL=1 cm³。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石块密度 2.7 g/cm³（即 2.7×10³ kg/m³）。顺序“先质量后体积”是为防止沾水使质量偏大。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100 / 346</a:t>
            </a:r>
            <a:endParaRPr lang="en-US" sz="11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测量物质的密度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读量筒时俯视液面，测得石块体积偏大还是偏小？由此算出的密度偏大还是偏小？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测盐水密度：先测出烧杯和盐水的总质量 120 g；把一部分盐水倒入量筒，测得体积 40 mL；再测烧杯和剩余盐水的质量 76 g。求量筒中盐水的密度。这种“差值法”好在哪里？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测另一石块：天平测得质量 54 g；量筒中水的体积 50 mL，放入石块浸没后示数 70 mL。石块的密度是多少？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提示：先排水法求体积（末读数−初读数），再 ρ=m/V；1 mL=1 cm³。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101 / 346</a:t>
            </a:r>
            <a:endParaRPr lang="en-US" sz="11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　密度与社会生活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体育课用的铅球，密度和铅一样吗？切开一看未必——不切开怎么判断它空不空心？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情境演示：出示一个铁球的数据（m=79 g、V=30 cm³、ρ铁=7.9 g/cm³），让学生先猜“它实心吗”。算一算实心需要 10 cm³，实际却有 30 cm³——多出来的体积就是空的。学生会体验到“假设实心、反推体积”这一判断思路的巧妙。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本体：判断空心三步——假设实心，算出所需体积 V实=m/ρ（或算质量 m实=ρV、密度 ρ计=m/V）；比较：V实&lt;实际体积（或 m实&gt;实际质量、ρ计&lt;ρ材料）即空心；作差得空心部分体积。温度也影响密度：一般物质温度升高密度变小，水在 4 ℃ 密度最大（反常膨胀），冰下 4 ℃ 的水沉底，鱼能过冬。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高频误区显式纠正：用密度鉴别物质时认为“密度相同一定是同种物质”——还可能是空心或混合物；空心判断的三种比较方式（比体积、比质量、比密度）混着用容易出错，选定一种走到底。适用边界：V实=m/ρ 中 ρ 必须是构成物体的材料密度；算空心体积=实际体积−实心所需体积，别把顺序弄反。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空心判断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反常膨胀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用密度鉴别物质时忽略空心与混合的可能（同密度不一定是同种物质）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102 / 346</a:t>
            </a:r>
            <a:endParaRPr lang="en-US" sz="11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　密度与社会生活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一个质量 79 g 的“铁球”，体积 30 cm³，ρ铁=7.9 g/cm³。它空心吗？空心部分体积多大？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先假设实心，由 ρ=m/V 变形 V实=m/ρ铁=79 g÷7.9 g/cm³=10 cm³。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比较：实心所需体积 10 cm³ 小于实际体积 30 cm³，球是空心的。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空心部分体积=30 cm³−10 cm³=20 cm³。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空心，空心部分体积 20 cm³。检验：“算实心体积、比较、作差”是空心判断的固定三步。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103 / 346</a:t>
            </a:r>
            <a:endParaRPr lang="en-US" sz="11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　密度与社会生活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冬天河面结冰，冰面下接近冰的水温大约是多少？鱼为什么能存活？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一捆细铜丝质量 89 g，测得其横截面积为 2 mm²。ρ铜=8.9 g/cm³，这捆铜丝总长多少米？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一个质量 178 g 的“铜球”，体积 30 cm³，ρ铜=8.9 g/cm³。它空心吗？空心部分体积多大？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提示：假设实心算体积：V实=m/ρ铜；再与 30 cm³ 比较，作差得空心体积。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104 / 346</a:t>
            </a:r>
            <a:endParaRPr lang="en-US" sz="11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· 质量与密度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质量不随形状、状态、位置变；天平“左物右码、游码读左缘”，放反了用砝码减游码。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密度 ρ=m/V 是物质的特性，不随 m、V 变；1 g/cm³=1000 kg/m³；水…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测密度：先称质量、排水法测体积、ρ=m/V；俯视读大体积、密度算小，读数视线平凹液面最低处。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空心判断：V实=m/ρ 与实际体积比较；水 4 ℃ 密度最大，解释冰下鱼过冬；同密度未必同…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写出测小石块密度的步骤与 ρ 表达式；m=79 g、V=15 cm³ 的“铁球”（ρ铁=7.9 g/cm³）是否空心？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105 / 346</a:t>
            </a:r>
            <a:endParaRPr lang="en-US" sz="11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考查：力的三要素与示意图、弹簧测力计使用、G=mg 计算与重力方向的应用。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　力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从“力是物体对物体的作用”起步，以弹力、重力两类具体力建立受力示意图的规范画法。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力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弹力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重力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两个鸡蛋相碰往往两个都破——只碰了别人，自己为什么也疼？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拍手——两只手都疼；拉弓——手拉弦、弦也勒手；两个鸡蛋相碰——两个都破。三个现象共同指向：一个物体对另一个物体施力时，同时也受到对方的作用，力的作用是相互的，施力物体同时也是受力物体，力不能离开物体单独存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本体：力用符号 F 表示，单位牛顿（N）。力的两类作用效果：改变物体的形状（捏橡皮泥）和改变物体的运动状态（踢球、接球、让球拐弯）。力的三要素——大小、方向、作用点——都影响力的作用效果；画力的示意图时作用点画在受力物体上，沿力的方向画带箭头的线段并标符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高频误区显式纠正：认为不接触就没有力——重力、磁力是非接触力；把力的作用点画到施力物体上也是常见错误。适用边界：说“一个力”必须能同时指出施力物体和受力物体；力的单位是 N，读作牛顿，托起两个鸡蛋的力约 1 N，可用来估感力的数量级。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力的三要素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作用点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力的示意图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认为不接触就没有力（重力、磁力是非接触力）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把力的作用点画到施力物体上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107 / 346</a:t>
            </a:r>
            <a:endParaRPr lang="en-US" sz="11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20 N 的水平力通过绳子拉木箱。画出拉力的示意图，并指出它的三要素分别是什么。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确定受力物体是木箱，作用点画在木箱与绳的连接处（或木箱重心），不能画在手上。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沿拉力方向（水平）画带箭头的线段，旁标 F=20 N——箭头表方向，线段长短示意大小。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核对三要素：大小 20 N、方向水平、作用点在木箱上，三者齐了示意图才完整。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在木箱上画一个水平方向的箭头，旁标 F=20 N。判定标准：作用点在受力物体上、方向明确、符号单位齐全。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108 / 346</a:t>
            </a:r>
            <a:endParaRPr lang="en-US" sz="11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划船时桨向后划水，船却向前运动，为什么？请指出施力物体和受力物体。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下列力的作用效果各是什么：①把面团压扁 ②守门员接住飞来的足球 ③撑杆跳把杆压弯 ④用头顶球使球改变方向飞向球门？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15 N 的力沿竖直方向向上提起水桶。画出这个拉力的示意图，并说出它的三要素。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提示：先定受力物体（水桶），作用点画在水桶（提手处）上；方向竖直向上，大小 15 N。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109 / 346</a:t>
            </a:r>
            <a:endParaRPr lang="en-US" sz="11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压弹簧、拉橡皮筋，松手后一个恢复、一个回不去——差别在哪？测力计凭什么能测力？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压弹簧、拉橡皮筋，松手后弹簧恢复原状；捏橡皮泥，松手后变形保持。恢复的是弹性形变，不恢复的是塑性形变。再把挂钩码前后的弹簧测力计读数与伸长量列表对比——挂的钩码越多伸长越多，刻度均匀的秘密当场揭开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发生弹性形变的物体要恢复原状，对与它接触的物体产生的力叫弹力，推、拉、支持、压力的本质多是弹力。弹簧测力计原理：在弹性限度内，弹簧的伸长量与拉力成正比，所以刻度均匀。使用四步：查指针是否指零（不指零先调零）；看清量程，被测力不许超量程；力沿弹簧轴线方向；视线正对刻度读数并带单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斜着使用弹簧测力计仍照读数——力不沿轴线时弹簧与外壳摩擦，读数不准；超量程使用，读数失真甚至损坏测力计。适用边界：“限内成正比”只在弹性限度内成立，超限弹簧不能恢复；伸长量与总长度要区分——成正比的是“伸长量=现长−原长”，不是弹簧总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弹性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塑性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弹簧测力计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斜着使用弹簧测力计仍照读数（须沿轴线方向）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超量程使用，读数失真甚至损坏测力计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110 / 346</a:t>
            </a:r>
            <a:endParaRPr lang="en-US" sz="11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弹簧原长 10 cm，挂 1 N 重物时长 12 cm。在弹性限度内挂 3 N 重物时弹簧多长？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依据“限内伸长与拉力成正比”，先求每 1 N 拉力的伸长：挂 1 N 伸长 12−10=2 cm。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 3 N 时伸长 3×2 cm=6 cm。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弹簧总长=原长+伸长=10 cm+6 cm=16 cm。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弹簧长 16 cm。检验：3 N 是 1 N 的 3 倍，伸长也是 3 倍，正比关系自洽。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111 / 346</a:t>
            </a:r>
            <a:endParaRPr lang="en-US" sz="11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测力时发现指针已超过最大刻度，应该怎么办？把弹簧测力计斜着向上拉物体，读数还等于拉力吗？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①弹簧测力计的刻度为什么是均匀的？②用未调零（指针指 0.2 N）的测力计直接测力，测量值会怎样？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弹簧原长 8 cm，挂 2 N 重物时长 11 cm。在弹性限度内挂 4 N 重物时，弹簧伸长多少？总长多少？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提示：先算 2 N 时的伸长量，按比例折出每 1 N 的伸长，再算 4 N 的伸长；总长=原长+伸长。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112 / 346</a:t>
            </a:r>
            <a:endParaRPr lang="en-US" sz="115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7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86" y="1876806"/>
            <a:ext cx="437267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弹簧测力计的结构与读数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画弹簧测力计：吊环、外壳、刻度板、弹簧、指针、挂钩；刻度 0–5 N、分度值 0.2 N，指针指在 2.4 N；标注：使用前调零、读数时视线正对刻度、被测力沿轴线方向。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113 / 346</a:t>
            </a:r>
            <a:endParaRPr lang="en-US" sz="11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建筑工人把重锤线挂在墙边，看它静静垂着——这条线在告诉我们什么？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把重锤线挂在墙边，它始终竖直下垂，不管墙怎么歪它都不跟着歪；再把一个物体从斜面上方的支架上释放，观察它竖直落向地面。两个现象共同说明：重力的方向是竖直向下，与接触面倾斜与否无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本体：物体由于地球的吸引而受到的力叫重力，符号 G，作用点在重心，方向竖直向下。重力与质量的关系 G=mg，g=9.8 N/kg（粗算取 10，题目注明 9.8 就用 9.8）。质地均匀、形状规则的物体重心在几何中心；重心不一定在物体上，如圆环、空心球。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高频误区显式纠正：把重力方向说成“垂直向下”——垂直必须有参照面，斜面的“垂直向下”就沿斜面歪了，只有“竖直向下”（指向地心、与水平面垂直）才对；认为重心一定在物体上也错。适用边界：g 的取值随题目要求；应用——重锤线检查墙壁是否竖直、相框是否挂正，依据都是重力方向竖直向下。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g=9.8 N/kg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重心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把重力方向说成“垂直向下”（应为竖直向下）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认为重心一定在物体上（圆环、空心球的重心不在）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114 / 346</a:t>
            </a:r>
            <a:endParaRPr lang="en-US" sz="11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一名质量 50 kg 的中学生，他受到的重力多大？（g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依据重力公式 G=mg，代入前确认 g 的取值与题目一致。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G=50 kg×10 N/kg=500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检验单位：kg 乘 N/kg 得 N；重力符号用 G，与质量 m 区分。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他受到的重力为 500 N。答题写“重力 G 为 500 N”，不能说“质量 500 N”。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115 / 346</a:t>
            </a:r>
            <a:endParaRPr lang="en-US" sz="11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一个物体受到的重力为 19.6 N（g 取 9.8 N/kg），它的质量是多少？若把它的重力方向画成“垂直于斜面向下”，错在哪里？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①重锤线可以检查墙壁是否竖直，依据是什么？②不倒翁为什么不倒？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①质量 8 kg 的物体，受到的重力多大？（g 取 10 N/kg）②某物体的重力为 49 N（g 取 9.8 N/kg），它的质量是多少？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提示：两问互逆：G=mg 求 G；m=G/g 求 m，注意两问 g 取值不同。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116 / 346</a:t>
            </a:r>
            <a:endParaRPr lang="en-US" sz="11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7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55" y="1876806"/>
            <a:ext cx="5899939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斜面上静止木块的受力示意图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 30° 斜面，其上木块为方块，从重心画三条带箭头线段：重力 G 竖直向下、支持力 F支 垂直斜面向外、摩擦力 f 沿斜面向上，三箭头共起点于重心；标注：G、F支、f 各力名称与符号；文字注“静止=三力平衡”。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117 / 346</a:t>
            </a:r>
            <a:endParaRPr lang="en-US" sz="11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· 力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力是物体对物体的作用，单位 N，作用相互；效果分改变形状与改变运动状态；示意图作用点画在受…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弹力源于弹性形变；测力计原理是限内伸长与拉力成正比；用前调零、不超量程、力沿轴线。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重力 G=mg 方向竖直向下；g=9.8 N/kg 粗算取 10；重心不一定在物体上，“垂…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画出水平地面上匀速推动的木箱受力示意图并标出各力；质量 50 kg 的人所受重力多大？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118 / 346</a:t>
            </a:r>
            <a:endParaRPr lang="en-US" sz="11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考查：惯性现象解释、二力平衡条件的判断、摩擦力方向的确定与增减摩擦的方法。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　运动和力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由斜面实验加推理得牛顿第一定律，再把二力平衡与摩擦力落到“一重二弹三摩擦”的分析次序上。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牛顿第一定律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二力平衡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摩擦力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同一辆小车从斜面滑下，在毛巾上很快就停，在木板上却滑出老远——如果平面无限光滑呢？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让同一小车从斜面同一高度静止滑下（保证到达水平面初速度相同），分别在毛巾、棉布、木板上滑行——表面越光滑阻力越小，小车滑得越远。顺着这个趋势追问：如果平面无限光滑、阻力为零呢？小车将永远滑下去——实验加推理，定律诞生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牛顿第一定律：一切物体在不受力时，总保持静止状态或匀速直线运动状态。它是在实验基础上推理概括出来的，绝对光滑的平面做不出来。惯性是物体保持原有运动状态的性质，一切物体任何时刻都有，只与质量有关；解释惯性现象的模板：原来怎样→哪部分受什么力改变了状态→哪部分由于惯性保持原状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“受到惯性作用”“惯性力”都是错误说法，惯性不是力，只能说“由于惯性”“具有惯性”；认为速度越大惯性越大也错，惯性只与质量有关。适用边界：牛顿第一定律描述的是“不受力”的理想情形，实际物体受力平衡时同样可以保持匀速直线运动；解释惯性现象的表述中绝不能出现“惯性力”三个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牛顿第一定律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惯性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说“受到惯性作用”“惯性力”（惯性不是力）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认为速度越大惯性越大（惯性只与质量有关）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120 / 346</a:t>
            </a:r>
            <a:endParaRPr lang="en-US" sz="115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行驶的汽车急刹车，乘客为什么向前倾？请用惯性知识解释，并说明为什么要系安全带。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刹车前人和车以相同速度运动；刹车时车受阻力减速。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乘客下半身随车减速，上半身由于惯性仍保持原来的速度前进，所以向前倾。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安全带对乘客施加拉力，改变其运动状态防止前冲，急刹车和碰撞时起保护作用。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乘客上半身因惯性保持原速度而前倾，安全带提供拉力防止前冲。表述中不能出现“受到惯性（力）的作用”。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121 / 346</a:t>
            </a:r>
            <a:endParaRPr lang="en-US" sz="115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判断并改正：①速度越大的物体惯性越大 ②拍打衣服，灰尘脱落是利用惯性 ③物体不受力时才会表现出惯性。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牛顿第一定律说“不受力时保持匀速直线运动”，可生活中运动的物体推出去总会停下来。这矛盾吗？说明理由。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锤头松了，把锤柄竖直握着在凳子上撞击几下，锤头就紧了。请用惯性知识解释，并检查表述中有没有“惯性力”。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提示：套模板：原来怎样→锤柄突然停止→锤头由于惯性保持原状态。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122 / 346</a:t>
            </a:r>
            <a:endParaRPr lang="en-US" sz="11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8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146684"/>
            <a:ext cx="6949440" cy="33075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阻力对物体运动的影响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同一斜面与三种水平面（毛巾、棉布、木板），小车三次都从斜面同一高度释放；用三条长短不同的虚线轨迹表示滑行距离：毛巾最短、木板最长；标注：初速度相同、表面越光滑阻力越小滑得越远、推理“无阻力则永远匀速运动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123 / 346</a:t>
            </a:r>
            <a:endParaRPr lang="en-US" sz="115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吊灯静止在天花板下，它受到的力凭什么“打了个平手”？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静止的吊灯、匀速直线行驶的车模、匀速下降的跳伞人——它们的状态都不变，处于平衡状态。再做小卡片实验：硬卡片两端系线跨过滑轮挂钩码，两边钩码相等时卡片静止；把卡片扭转一个角度再松手，卡片立刻转动——两力必须作用在同一直线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二力平衡四条件——同体、等大、反向、共线，缺一不可；受力分析按“一重二弹三摩擦”顺序画，不易漏力。区分平衡力与相互作用力只看一条：是否作用在同一物体上——灯受的重力与电线拉力都作用在灯上，是平衡力；灯拉电线与电线拉灯作用在两个物体上，是相互作用力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平衡力与相互作用力混淆——用“同体还是异体”一票判定；认为运动的物体不可能受力平衡也错，匀速直线运动同样是平衡状态。适用边界：平衡状态指静止或匀速直线运动；速度大小不变但方向改变（如转弯）不是平衡；判断几力平衡时先画出所有力再逐对检查四条件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平衡状态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二力平衡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相互作用力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平衡力与相互作用力混淆（看是否作用在同一物体上）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认为运动的物体不可能受力平衡（匀速直线运动也是平衡状态）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124 / 346</a:t>
            </a:r>
            <a:endParaRPr lang="en-US" sz="11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2 kg 的吊灯静止悬挂。电线对它的拉力多大？灯拉电线的力与电线拉灯的力是什么关系？（g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灯静止处于平衡状态，依据二力平衡条件，拉力与重力等大反向。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G=mg=2 kg×10 N/kg=20 N，故拉力 F=G=20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灯拉电线与电线拉灯作用在两个物体上，是一对相互作用力：等大、反向、共线但不同体。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 20 N；灯与电线之间的两个力是相互作用力（不同体）。判断“同体还是异体”是区分两类力的唯一标准。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125 / 346</a:t>
            </a:r>
            <a:endParaRPr lang="en-US" sz="115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水平匀速直线行驶的汽车牵引力 2000 N，它受到的阻力多大？有人说“车对地面的压力与地面对车的支持力是平衡力”，对吗？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一个物体在光滑水平面上以 2 m/s 做匀速直线运动。①它在水平方向受几个力？②“物体做匀速运动一定受牵引力”对吗？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500 g 的小鸟静止站在电线上。（g 取 10 N/kg）①电线对它的拉力多大？②它对电线的压力（作用）与电线对它的支持（作用）是什么关系？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提示：①小鸟静止，拉力与重力二力平衡；②看两个力分别作用在谁身上。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126 / 346</a:t>
            </a:r>
            <a:endParaRPr lang="en-US" sz="11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8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456" y="1876806"/>
            <a:ext cx="483753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静止吊灯的二力平衡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画天花板—电线—吊灯：灯的重心上画 G 竖直向下、电线拉力 F 沿线向上，两箭头等长、共线、反向；标注：G=F、二力平衡、同体等大反向共线。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127 / 346</a:t>
            </a:r>
            <a:endParaRPr lang="en-US" sz="115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　摩擦力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手掌压在桌面上向前推，感受到的阻碍朝哪边？走路时脚向后蹬，地面给脚的摩擦力朝哪边？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演示：手掌压在桌面上向前推，感到阻碍向后；走路时脚向后蹬地却向前行进——两个体验一正一反。学生从第二个体验里发现“摩擦力可以与运动方向相同”，由此立起方向判定：摩擦力与相对运动（趋势）的方向相反，不是与运动方向相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测量滑动摩擦力用弹簧测力计沿水平方向匀速拉木块，由二力平衡知摩擦力等于拉力；控制变量实验——只改压力或只改接触面粗糙程度，得出滑动摩擦力只与压力大小和接触面粗糙程度有关，与接触面积无关。增大摩擦：增大压力、增大粗糙程度；减小摩擦：滚动代替滑动、使接触面分离（润滑油、气垫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“摩擦力总与运动方向相反”是错的——人走路时地面给脚的摩擦力向前，正是人前进的动力；认为滑动摩擦力与接触面积有关也错，实验已排除。适用边界：匀速拉动时摩擦力才等于拉力读数；静止物体受的静摩擦力大小要看趋势和外力，不一定等于最大静摩擦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滑动摩擦力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滚动摩擦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增大与减小摩擦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认为摩擦力总与运动方向相反（人走路时地面给脚的摩擦向前）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认为滑动摩擦力与接触面积有关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128 / 346</a:t>
            </a:r>
            <a:endParaRPr lang="en-US" sz="11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　摩擦力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20 N 的水平拉力使木箱在水平地面上匀速前进，木箱受到的摩擦力多大？若拉力增大到 30 N，摩擦力变多大？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匀速前进时木箱处于平衡状态，依据二力平衡，水平方向拉力与摩擦力等大。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f=F拉=20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拉力增至 30 N 时木箱加速，但滑动摩擦力只由压力和接触面粗糙程度决定，两者都没变，摩擦力仍为 20 N。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两种情况摩擦力都是 20 N。检验：滑动摩擦力与拉力大小无关，“拉得越快摩擦越大”是错觉。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129 / 346</a:t>
            </a:r>
            <a:endParaRPr lang="en-US" sz="115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　摩擦力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判别下列各例是增大还是减小摩擦，用了什么方法：①刹车时用力捏闸 ②轴承里装滚珠 ③鞋底做花纹 ④往锁孔里加铅笔芯粉末。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拔河比赛时，队员们为什么要穿底面花纹粗糙的鞋、身体后倾用力蹬地？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 50 N 的木块在水平拉力作用下沿水平地面匀速滑动，此时摩擦力为 15 N。①拉力多大？②若在木块上再加 50 N 的砝码（压力加倍，接触面不变），要使它仍匀速滑动，拉力应多大？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提示：①匀速则拉力=摩擦力；②接触面粗糙程度不变、压力加倍，滑动摩擦力加倍。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130 / 346</a:t>
            </a:r>
            <a:endParaRPr lang="en-US" sz="115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· 运动和力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牛顿第一定律由“实验＋推理”得出：不受力时保持静止或匀速直线运动；惯性只与质量有关，惯性不…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平衡条件：同体、等大、反向、共线；匀速直线运动也是平衡状态；同体看平衡力、异体是相互作用力。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摩擦力方向与相对运动（趋势）相反，可能与运动同向；只由压力与粗糙程度决定，与接触面积无关。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用惯性知识解释“拍打衣服灰尘脱落”；静止在水平桌面上的书受哪些力、是否平衡？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131 / 346</a:t>
            </a:r>
            <a:endParaRPr lang="en-US" sz="115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考查：p=F/S 与 p=ρgh 计算（受力面积与深度是易错点）、连通器、托里拆利实验与大气…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　压强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由“压力的作用效果”立起 p=F/S，液体、大气、流体压强层层展开，实验证据贯穿全章。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压强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液体的压强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大气压强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流体压强与流速的关系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压强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图钉尖一按就入墙，图钉帽顶手指却按不痛——同样的力，效果为何天差地别？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用同样的力分别按图钉帽和图钉尖——帽顶手指不痛，钉尖一按入墙；再比较宽书包带与细绳勒肩，宽的舒服。两组对照共同指向：压力的作用效果既跟压力大小有关，又跟受力面积有关，要标准化比较就用“单位面积上的压力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本体：压强表示压力的作用效果，定义式 p=F/S，单位帕斯卡（Pa，1 Pa=1 N/m²）。受力面积 S 是接触面积，不是物体整个表面积；计算前统一单位，面积必须化成 m²。增大压强：增大压力或减小受力面积（磨刀、图钉尖）；减小压强：减小压力或增大受力面积（坦克履带、滑雪板）。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高频误区显式纠正：把压力当重力——只有物体自由静止在水平面上时 F=G 才成立，斜面上的压力小于重力；受力面积误取物体整个表面积也常见，应取接触面积。适用边界：p=F/S 普适于固体；水平放置且不受其他外力时才能代 F=G；单位换算 cm²→m² 除以 10⁴，方向别反。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压力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压强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帕斯卡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把压力当重力（只有物体水平放置时两者大小才相等）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受力面积误取物体整个表面积而非接触面积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133 / 346</a:t>
            </a:r>
            <a:endParaRPr lang="en-US" sz="115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压强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20 N 的力按图钉，钉尖与墙的接触面积为 0.05 mm²。钉尖对墙的压强多大？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统一单位：S=0.05 mm²=0.05×10⁻⁶ m²=5×10⁻⁸ m²，依据是 1 mm²=10⁻⁶ m²。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依据定义式 p=F/S，代入 p=20 N÷5×10⁻⁸ m²=4×10⁸ Pa。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检验：钉尖压强达亿帕量级，与“一按入墙”相符；数量级检查能兜住单位换算错误。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压强约 4×10⁸ Pa。关键在 mm² 换 m²，换算错 10⁶ 倍是最常见的失分。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134 / 346</a:t>
            </a:r>
            <a:endParaRPr lang="en-US" sz="11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压强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60 kg 的人双脚站立在水平地面上，每只鞋底与地面接触 150 cm²。人对地面的压强多大？（g 取 10 N/kg）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书包带宽的背起来舒服，骆驼的脚掌宽大便于在沙漠行走，两者共同原理是什么？从 p=F/S 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45 kg 的中学生双脚站立在水平地面上，每只鞋底与地面的接触面积为 150 cm²。他对地面的压强多大？（g 取 10 N/kg）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提示：水平站立压力等于重力；受力面积取双脚之和，再化成 m²（除以 10⁴）。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135 / 346</a:t>
            </a:r>
            <a:endParaRPr lang="en-US" sz="115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潜水员下潜越深，耳膜越胀——水下的压力从哪来、怎么算？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演示什么、看到什么：把微小压强计的蒙膜探头放入水中，U 形管两侧液面立刻出现高度差——液体内部有压强。再看三组对比：同一深度朝向不同，高度差相同；深度越深，高度差越大；换盐水（同深度），高度差更大。规律从三组数据里自己冒出来。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本体：液体内部向各个方向都有压强，同种液体同一深度各方向压强相等，随深度和密度增大而增大，计算式 p=ρgh——h 是该点到自由液面的竖直深度，不是到容器底的距离。连通器上端开口、底部连通，同种液体静止时各容器液面相平（茶壶、船闸、水位计）。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 h 取成容器高度或到容器底的距离——代入前先确认“到自由液面”的竖直距离；认为液体压强与容器形状、液体总量有关也错，只与 ρ 和 h 有关。适用边界：p=ρgh 适用于静止的液体；容器放在桌上多高不影响压强，压强只看深度；连通器“液面相平”要求同种液体且静止。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液体压强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深度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连通器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 h 取成容器高度或到容器底的距离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认为液体压强与容器形状、液体总量有关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136 / 346</a:t>
            </a:r>
            <a:endParaRPr lang="en-US" sz="11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游泳池水深 2 m，池底受到水的压强多大？（ρ水=1.0×10³ kg/m³，g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 h：池底到水面（自由液面）的竖直深度 2 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依据液体压强公式 p=ρgh，代入 p=1.0×10³ kg/m³×10 N/kg×2 m=2×10⁴ Pa。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 m 深水的压强约 0.2 个大气压，与潜泳时耳膜发胀的体感相符。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池底压强 2×10⁴ Pa。h 必须量到自由液面，这是 p=ρgh 的第一检查项。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137 / 346</a:t>
            </a:r>
            <a:endParaRPr lang="en-US" sz="115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拦河大坝为什么建成上窄下宽？水深 0.5 m 处水的压强多大？（ρ水=1.0×10³ kg/m³，g 取 10 N/kg）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一个容器放在桌上，内装 20 cm 深的水，容器底离桌面 30 cm。①水对容器底的压强多大？②压强计探头位于水面下 10 cm 处，它受到的压强多大？（ρ水=1.0×10³ kg/m³，g 取 10 N/kg）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潜水员潜入水下 5 m 深处。该处水对他的压强多大？（ρ水=1.0×10³ kg/m³，g 取 10 N/kg）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提示：h 是人到水面的竖直深度 5 m，直接代 p=ρgh。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138 / 346</a:t>
            </a:r>
            <a:endParaRPr lang="en-US" sz="11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9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104090"/>
            <a:ext cx="6949440" cy="33927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微小压强计探究液体内部压强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画水槽与微小压强计：蒙橡皮膜的金属探头经橡胶管连 U 形管，两侧液面出现高度差 Δh；三幅小图对比：同深度朝向不同高度差相同、深度越深高度差越大；标注：高度差反映压强大小、同种液体同一深度各方向压强相等、深度越大压强越大。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139 / 346</a:t>
            </a:r>
            <a:endParaRPr lang="en-US" sz="115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杯口盖张纸片倒过来，水不洒纸不掉——是谁托住了这杯水？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杯口盖一张纸片按住倒过来——水不洒、纸不掉，是看不见的大气压托住了它；再拉两个吸盘对压后对拉，很难拉开。穿插马德堡半球实验的科学史：大气压不但存在，而且很大。覆杯与吸盘两个小实验让“看不见的大气压”现形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本体：托里拆利实验定量测出大气压：玻璃管内水银柱的竖直高度差 760 mm，对应标准大气压 p₀=1.013×10⁵ Pa；管倾斜时水银柱变长但竖直高度差不变，管加粗也不变。大气压随海拔升高而减小，高原上水不到 100 ℃ 就沸腾，饭煮不熟要用高压锅增压提沸点。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高频误区显式纠正：认为吸饮料靠嘴的“吸力”——实为口腔内气压减小，管外大气压把饮料压上来；认为托里拆利管倾斜或加粗后高度差会改变也错，竖直高度差不变。适用边界：760 mm 水银柱对应的是“竖直高度”，读数只看高度；大气压支持的液柱高度与液体密度成反比，换成水约 10.1 m。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大气压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标准大气压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气压计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认为吸饮料靠“吸力”（实为管内气压减小、大气压把液压上来）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认为托里拆利管倾斜或加粗后高度差会改变（竖直高度差不变）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140 / 346</a:t>
            </a:r>
            <a:endParaRPr lang="en-US" sz="115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标准大气压约 1.013×10⁵ Pa。它最多能支持多高的水柱？（ρ水=1.0×10³ kg/m³，g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依据液柱平衡：大气压等于水柱产生的压强，p₀=ρ水gh。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h=p₀/(ρ水g)=1.013×10⁵ Pa÷(1.0×10³ kg/m³×10 N/kg)≈10.1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检验：760 mm 水银柱与 10 m 多的水柱对应同一压强，比值恰为水银与水的密度比（13.6 倍），自洽。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10.1 m（通常说约 10 m）。这解释了活塞式抽水机吸程不能超过约 10 m 的原因。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141 / 346</a:t>
            </a:r>
            <a:endParaRPr lang="en-US" sz="115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把托里拆利玻璃管倾斜 30°，管内水银柱长度怎么变？竖直高度差变吗？管顶若不小心破了个孔，会看到什么？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①用吸管喝饮料，饮料是怎么“上来”的？②钢笔吸墨水利用了什么原理？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在高原地区用普通锅烧水，水 90 ℃ 左右就沸腾了，饭很难煮熟。①这说明当地大气压与平原相比怎么样？②高压锅为什么能解决这个问题？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提示：沸点与气压有关：气压越低沸点越低；高压锅靠密封改变锅内气压。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142 / 346</a:t>
            </a:r>
            <a:endParaRPr lang="en-US" sz="115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9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206" y="1876806"/>
            <a:ext cx="670803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托里拆利实验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画水银槽与竖直玻璃管：管内水银柱上方标“真空”，槽内液面到管内水银面的高度差标 760 mm；标注：p₀=760 mm 水银柱=1.013×10⁵ Pa；旁画对比小图：玻璃管倾斜时水银柱变长但竖直高度差仍为 760 mm。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143 / 346</a:t>
            </a:r>
            <a:endParaRPr lang="en-US" sz="11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　流体压强与流速的关系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拿两张纸平行提着，向中间吹气——纸会被吹开吗？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先让学生猜“向两张纸中间吹气，纸往哪边动”，多数人猜吹开；实际一吹，两纸反而向中间靠拢。反直觉的当场体验先破除成见，再引导学生找原因：中间空气跑得快——流速与压强的关系就从这一吹一靠中提出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在气体和液体中，流速越大的位置压强越小。一个原理管多件事：飞机机翼上凸下平，上方空气流速大压强小，下方流速小压强大，压强差产生向上的升力；两船并排航行，两船间水流速大压强小，被外侧水压推得相撞；站台安全线——列车驶过时车旁空气流速大，人靠太近会被压向列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向两纸间吹气会把纸吹开——恰恰相反，流速大处压强小，外侧大气压把纸压向中间；解释题只说“流速大压强小”不指认“哪里流速大、哪里压强小”也不完整。适用边界：该原理对气体和液体都成立；比较压强前先明确比较哪两处，压强差的方向决定受力（推）的方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流体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升力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认为向两纸间吹气会把纸吹开（实际靠拢）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144 / 346</a:t>
            </a:r>
            <a:endParaRPr lang="en-US" sz="115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　流体压强与流速的关系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用“流速与压强的关系”解释：等地铁时为什么必须站在安全线以外？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列车高速驶过时，带动车身附近的空气流速很大。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依据“流速大的位置压强小”，人与车之间的空气压强小于人身后的气压。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前后压强差把人推向列车，距离越近压强差越大，所以要在安全线以外候车。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车旁流速大压强小，压强差把人推向列车，故须站安全线外。同类解释题先指认“哪里流速大、哪里压强小”。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145 / 346</a:t>
            </a:r>
            <a:endParaRPr lang="en-US" sz="11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　流体压强与流速的关系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对着漏斗口的乒乓球下方吹气，球不但不掉反而贴在漏斗里，为什么？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两艘轮船并排近距离同向航行时容易相撞。为什么？航海规则对此有什么要求？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把一张纸条放在嘴唇下方，沿纸条上方水平吹气，纸条会向上飘起。用流速与压强的关系解释。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提示：指认两处：纸条上方被吹气流速大，纸条下方空气近似静止流速小；再比较压强、定受力方向。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146 / 346</a:t>
            </a:r>
            <a:endParaRPr lang="en-US" sz="115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· 压强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p=F/S，单位 Pa；S 取接触面积，水平静止时 F 才等于 G；磨刀增压、履带减压。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液体压强 p=ρgh，h 是到自由液面的竖直深度；连通器液面相平；压强与容器形状无关。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大气压真实存在且约 1.013×10⁵ Pa，随海拔升高减小；托里拆利高度差只看竖直距离；…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流体中流速越大压强越小；机翼升力、船吸、站台安全线都是同一个压强差的化身。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60 kg 的人双脚站立（每只鞋底 150 cm²），对地面的压强多大？用连通器说明船闸如何让船过坝。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147 / 346</a:t>
            </a:r>
            <a:endParaRPr lang="en-US" sz="115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考查：阿基米德原理 F浮=ρ液gV排 的计算（V排 是易错点）、浮沉条件判断、密度计与轮船应…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　浮力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称重法引入浮力，阿基米德原理解析“浮力=排开液重”，浮沉条件统一用受力比较来判。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浮力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阿基米德原理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物体的浮沉条件及应用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　浮力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弹簧测力计吊着石块，缓缓浸入水中——示数怎么变了？石头变轻了，还是被谁托了一把？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弹簧测力计吊着石块在空气中示数稳定；缓缓浸入水中，示数明显变小，且浸入越多、示数越小；石块完全浸没后继续下移（不触底），示数不再变。三个读数把“向上的托力”一步步顶出来：浸在液体中的物体受到液体竖直向上的托力，叫浮力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本体：浮力方向竖直向上，施力物体是液体（气体同样提供浮力）；称重法测浮力 F浮=G−F示，两次示数之差就是浮力。浮力的有无与物体沉浮无关——下沉的物体同样受浮力，示数变小就是证据；决定沉浮的是浮力与重力的大小关系。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下沉的物体不受浮力——浸入水中示数变小证明它受浮力；把浸入液体后的测力计示数当成浮力也错，那是视重，浮力等于两次示数的差。适用边界：称重法要求物体不接触容器底和壁；物体浸没前示数随浸入增多而减小，浸没后浮力与深度无关，示数不再变化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浮力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称重法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认为下沉的物体不受浮力（示数变小证明受浮力）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把浸入液体后的测力计示数当成浮力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149 / 346</a:t>
            </a:r>
            <a:endParaRPr lang="en-US" sz="115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　浮力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石块在空气中用弹簧测力计称得 4 N，浸没在水中时示数 3 N。石块受到的浮力多大？放手后它上浮、下沉还是悬浮？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依据称重法 F浮=G−F示：F浮=4 N−3 N=1 N。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比较浮力与重力：F浮=1 N&lt;G=4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依据浮沉条件，浮力小于重力的物体下沉，放手后石块下沉。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浮力 1 N，石块下沉。检验：示数变小证明了浮力，但“3 N”是视重不是浮力，别把视重当浮力。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150 / 346</a:t>
            </a:r>
            <a:endParaRPr lang="en-US" sz="115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　浮力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金属块在空气中称重 2.7 N，浸没在水中称重 1.7 N。它受到的浮力多大？方向如何？施力物体是谁？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脱手的氢气球会升上天空。①这说明什么？②氢气球在空气中所受浮力应怎样计算？写出公式并指出各量含义。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金属块在空气中称得 5.4 N，浸没在水中时示数 3.4 N。它受到的浮力多大？方向如何？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提示：称重法：浮力=空气中示数−液体中示数；方向与“托力”一致。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151 / 346</a:t>
            </a:r>
            <a:endParaRPr lang="en-US" sz="115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把石块按进装满水的溢水杯，把溢出的水接住称一称——它和浮力有什么关系？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演示什么、看到什么：弹簧测力计吊着石块缓缓浸入装满水的溢水杯——示数减小 1.5 N 的同时，溢出的水流入小烧杯；把溢出的水称一称，重恰好也是 1.5 N。两个数相等不是巧合，换液体、换深度多次重复，结论都成立——阿基米德原理当场验证。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本体：阿基米德原理：浸在液体中的物体受到的浮力等于它排开的液体所受的重力，F浮=G排=ρ液gV排。三个量要认清：ρ液 是液体的密度不是物体的；V排 是排开液体的体积，只有浸没时才等于物体体积，漂浮时 V排&lt;V物。同体积的清水与盐水对比，ρ液 越大浮力越大。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高频误区显式纠正：V排 与 V物 混用——漂浮时只排开一部分液体，先想清楚“排开多少”再代公式；认为物体浸得越深浮力越大也错，浸没后 V排 不再变化，浮力与深度无关。适用边界：F浮=ρ液gV排 适用于任何浸在液体中的物体；计算时 ρ 用 kg/m³、V 用 m³，单位统一后再代入。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阿基米德原理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V排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V排 与 V物 混用（漂浮时 V排&lt;V物）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认为物体越深浮力越大（浸没后与深度无关）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152 / 346</a:t>
            </a:r>
            <a:endParaRPr lang="en-US" sz="115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木块体积 500 cm³，静止漂浮在水面上，排开水的体积 300 cm³。它受到的浮力多大？（ρ水=1.0×10³ kg/m³，g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本题应代 V排=300 cm³=3×10⁻⁴ m³，不是木块体积 500 cm³——漂浮时只排开一部分水。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依据阿基米德原理 F浮=ρ液gV排：F浮=1.0×10³ kg/m³×10 N/kg×3×10⁻⁴ m³=3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检验：漂浮时浮力应等于重力，可反推木块重 3 N，合理。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浮力 3 N。漂浮物体的浮力大小只由 V排 决定，先想清楚排开多少水再代公式。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153 / 346</a:t>
            </a:r>
            <a:endParaRPr lang="en-US" sz="115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 200 cm³ 的实心铁块浸没在水中，所受浮力多大？若它继续下沉 0.5 m，浮力变吗？（ρ水=1.0×10³ kg/m³，g 取 10 N/kg）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一物体在空气中称重 27 N，浸没在水中称重 17 N（g 取 10 N/kg）。①它受到的浮力多大？②它的体积多大？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 100 cm³ 的实心小球：①浸没在水中，浮力多大？②浸没在酒精中（ρ酒精=0.8×10³ kg/m³），浮力多大？（g 取 10 N/kg）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提示：浸没时 V排=V物=100 cm³=10⁻⁴ m³；两种液体只有 ρ 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154 / 346</a:t>
            </a:r>
            <a:endParaRPr lang="en-US" sz="115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0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646" y="1876806"/>
            <a:ext cx="676315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称重法与阿基米德原理验证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画弹簧测力计吊石块：空气中示数 G=4 N；下方溢水杯装满水，石块浸没后测力计示数 F=2.5 N，溢出的水流入旁边小烧杯；标注：F浮=G−F示=1.5 N、称出排开的水 G排=1.5 N、F浮=G排，验证阿基米德原理。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155 / 346</a:t>
            </a:r>
            <a:endParaRPr lang="en-US" sz="115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同是铁做的，铁块沉底、轮船却在海上跑——铁什么时候沉、什么时候浮？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演示什么、看到什么：出示“铁块沉底、钢铁轮船浮海”的反差图，学生先猜“重的沉、轻的浮”，再看数据——万吨巨轮比小铁块重得多却浮着。猜想被推翻后，把上浮、悬浮、漂浮、下沉四种状态按 F浮 与 G 的大小列表一次讲全，沉浮判断从“轻重”转向“受力比较”。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本体：四种状态——上浮 F浮&gt;G（最终漂浮）；悬浮 F浮=G（可停在液体中任意深度）；漂浮 F浮=G（静止在液面）；下沉 F浮&lt;G。等价地用密度判断：ρ物&lt;ρ液 漂浮、ρ物=ρ液 悬浮、ρ物&gt;ρ液 下沉。应用：轮船“空心”增大 V排 使 F浮=G；潜水艇靠水舱充放水改变自重；气球靠改变自身体积。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高频误区显式纠正：认为重的物体一定下沉、轻的一定上浮——沉浮取决于密度（或浮力与重力）的比较；认为轮船从长江驶入大海浮力变小也错，船始终漂浮、浮力仍等于重力，海水密度大使 V排 变小、吃水线上升。适用边界：悬浮与漂浮都满足 F浮=G，区别在 V排：悬浮 V排=V物、漂浮 V排&lt;V物。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漂浮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悬浮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排水量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认为重的物体一定下沉、轻的物体一定上浮（取决于密度比较）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认为轮船从长江驶入大海浮力变小（浮力仍等于重力，吃水线变浅）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156 / 346</a:t>
            </a:r>
            <a:endParaRPr lang="en-US" sz="11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一艘排水量 1000 t 的轮船满载时受到的浮力多大？它从长江驶入东海，浮力和吃水线怎么变？（g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排水量是排开水的质量，依据阿基米德原理 F浮=G排=m排g=1.0×10⁶ kg×10 N/kg=1×10⁷ N。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船始终漂浮，依据漂浮条件浮力始终等于重力，江海中浮力都不变。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海水密度大于江水，由 F浮=ρ液gV排 知 V排 变小，船身上浮一些，吃水线上升。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浮力 1×10⁷ N；江入海浮力不变、吃水线上升。漂浮问题先把“浮力=重力”立起来，再讨论密度变化。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157 / 346</a:t>
            </a:r>
            <a:endParaRPr lang="en-US" sz="115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鸡蛋在盐水中恰好悬浮。缓缓加入清水后，鸡蛋将怎样运动？为什么？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某轮船排水量 5000 t（g 取 10 N/kg）。①满载时受到的浮力多大？②若空船重 1500 t，本次已装货 3000 t，还能再装多少吨货物？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同一支密度计分别放入甲、乙两种液体中都漂浮，在甲液体中浸入得深、在乙液体中浸入得浅。哪种液体的密度大？说明理由。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提示：密度计始终漂浮：两种液体中浮力都等于自身重力；再用 F浮=ρ液gV排 比较 ρ。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158 / 346</a:t>
            </a:r>
            <a:endParaRPr lang="en-US" sz="115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0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012" y="1876806"/>
            <a:ext cx="6550425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漂浮与悬浮的受力对比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左图：木块漂浮在水面（一部分露出液面），重心画 F浮 竖直向上、G 竖直向下，两箭头等长，标 F浮=G、V排&lt;V物；右图：小球悬浮在盐水中（完全浸没静止），F浮=G、V排=V物；文字注：静止时浮力都等于重力，差别在排开液体的体积。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159 / 346</a:t>
            </a:r>
            <a:endParaRPr lang="en-US" sz="115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· 浮力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浸在液体（气体）中的物体受竖直向上的浮力；称重法 F浮=G−F示；示数变小不代表不受浮力。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F浮=ρ液gV排=G排；漂浮时 V排&lt;V物，浸没后浮力与深度无关；ρ液 与 V排 两个量都…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沉浮看 F浮 与 G（或 ρ物 与 ρ液）：漂浮、悬浮都等重；轮船空心增大 V排，潜水艇变…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 100 cm³ 的实心铁块浸没在水中受多大浮力、浮沉如何？轮船从长江驶入大海吃水线怎么变？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160 / 346</a:t>
            </a:r>
            <a:endParaRPr lang="en-US" sz="115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能量 ｜ 考查：做功判断与 W=Fs 计算、P=W/t 及 P=Fv、动能势能影响因素实验、机械能转化…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　功和机械能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先立“做功两要素”再谈功率快慢，动能势能的影响因素与相互转化用滚摆、过山车一线贯通。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功率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动能和势能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机械能及其转化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　功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提着行李在平路上走了一路，胳膊都酸了——物理上你做功了吗？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三个“劳而无功”的情形让学生当堂判：①推箱子没推动——有力无距离；②踢出去的足球在草地上滚动——有距离无力（脚已离开）；③提着箱子水平走——拉力竖直向上、移动水平，力与距离垂直。三种情形都“白费劲”，做功的两个要素就从反例里立起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本体：做功必须同时满足两个要素——作用在物体上的力，以及物体沿力的方向通过的距离。功的公式 W=Fs，单位焦耳（J，1 J=1 N·m），s 必须是沿力方向移动的距离，代入前先统一单位。判断做功的口诀：先找力，再看沿这个方向动了没有，两问一正一反。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高频误区显式纠正：认为只要出力、觉得累就算做功——物理中的功只看力和沿力方向的距离，不看主观感受；提着箱子水平走，支持力不做功。适用边界：W=Fs 中 F 与 s 必须对应同一段过程；物体在力的方向上移动距离为 0、或力与移动方向垂直，功都是 0；多个力对物体做功时要分别计算，互不替代。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功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焦耳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认为只要有力就做了功（必须在力的方向上移动距离）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提着箱子水平匀速走也算做功（支持力与移动方向垂直不做功）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162 / 346</a:t>
            </a:r>
            <a:endParaRPr lang="en-US" sz="11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　功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50 N 的水平拉力把箱子沿水平地面拉动 4 m，拉力做功多少？此过程中箱子受到的重力做功多少？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拉力水平、位移水平且沿拉力方向，依据 W=Fs：W拉=50 N×4 m=200 J。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重力竖直向下，箱子没有沿竖直方向移动距离，重力不做功。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检验：判断做功先问“力沿什么方向、沿这个方向动了没有”，两问正好一正一反。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拉力做功 200 J，重力做功为 0（力与移动方向垂直）。“劳而无功”的三种情形要能对号入座。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163 / 346</a:t>
            </a:r>
            <a:endParaRPr lang="en-US" sz="115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　功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举重运动员把质量 150 kg 的杠铃举高 2 m，他对杠铃做了多少功？（g 取 10 N/kg）举着杠铃在空中静止 3 s，这 3 s 内做功吗？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小明提着重 30 N 的书包从一楼走到高 4 m 的楼上：①上楼过程他克服书包重力做功多少？②到楼上后提着书包在水平走廊走了 20 m，这段过程提力做功多少？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起重机把重 2000 N 的货物匀速竖直提升 6 m：①提升力做功多少？②货物提升后又沿水平方向移动 4 m（提升高度不变），水平移动过程中提升力做功多少？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提示：①提升力竖直向上、货物竖直移动，W=Fs；②水平移动时提升力（竖直向上）与移动方向垂直。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164 / 346</a:t>
            </a:r>
            <a:endParaRPr lang="en-US" sz="115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　功率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同样把一车砖搬上楼，一个人搬半天，吊车几秒钟——做功一样多，谁“更快”？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境演示：人搬一车砖上楼要半天，吊车几秒就完成——做功一样多，“快慢”差百倍。让学生给“快慢”找一个标准化描述：单位时间内做的功。再类比速度——速度描述位置变化快慢，功率描述做功快慢，两个“快慢”结构完全平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本体：功率表示做功的快慢，P=W/t，单位瓦特（W，1 W=1 J/s），常用 kW。由 P=W/t=Fs/t=Fv 得 P=Fv，适用于匀速情形：机车匀速行驶时牵引力的功率等于牵引力乘速度。注意符号：功率的单位符号 W（瓦特）与功的物理量符号 W（work）不是一回事，一个带单位、一个是物理量。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高频误区显式纠正：认为功率大做功一定多——还要看时间长短，功率大只说明做功快；把 P=Fv 中 v 理解成任意速度也错，匀速时牵引力才恒定。适用边界：P=W/t 算出的是这段时间的平均功率；机车功率一定时由 P=Fv 知牵引力与速度成反比——上坡换低速挡正是为了获得更大牵引力。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功率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瓦特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认为功率大做功一定多（还要看时间长短）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把功率的单位 W 与功的符号 W 混淆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165 / 346</a:t>
            </a:r>
            <a:endParaRPr lang="en-US" sz="115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　功率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一台机器 1 min 内做功 6000 J，它的功率多大？若它以 10 m/s 匀速行进，牵引力多大？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P=W/t，先统一时间：t=1 min=60 s，P=6000 J÷60 s=100 W。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依据推导式 P=Fv 变形 F=P/v=100 W÷10 m/s=10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检验：W 除以 m/s 得 N，单位自洽；数量级与小型机械相符。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功率 100 W，匀速行进时牵引力 10 N。先统一时间单位再代 P=W/t 是第一步的得分点。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166 / 346</a:t>
            </a:r>
            <a:endParaRPr lang="en-US" sz="115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　功率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体重 500 N 的同学用 4 s 从一楼跑到高 8 m 的二楼平台。他克服重力做功的功率多大？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一辆汽车以 10 m/s 匀速行驶时发动机功率为 60 kW，此时牵引力多大？若它保持同样牵引力以 20 m/s 匀速行驶，功率变为多大？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一台机器 10 s 内做功 3000 J。①它的功率多大？②若它以 5 m/s 匀速前进，牵引力多大？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提示：①直接 P=W/t；②由 P=Fv 变形 F=P/v，注意功率先算出来。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167 / 346</a:t>
            </a:r>
            <a:endParaRPr lang="en-US" sz="115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斜面上滚下的钢球撞飞木块，球越高、越重，木块被撞得越远——“撞得多狠”用什么量描述？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斜面钢球撞木块实验分两组做——同一钢球从不同高度滚下（速度不同、质量相同），高的把木块撞得更远；不同质量的钢球从同一高度滚下（速度相同），重的撞得更远。木块被撞得越远说明钢球“本事”越大——用做功多少显示能量大小，这是转换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物体能对外做功，它就具有能量，单位焦耳。动能与质量和速度有关：质量相同时速度越大动能越大，速度相同时质量越大动能越大。重力势能与质量和高度有关；弹性势能与弹性形变程度有关。实验设计用控制变量：每次只改一个量，另两个量保持不变，结论才站得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“速度大的物体动能一定大”——没控制质量，大卡车慢速的动能仍可能大于小轿车快速；判断动能变化必须同时看质量和速度。适用边界：动能、势能都是状态量，与过程无关；匀速洒水的洒水车速度不变、质量减小，动能减小——两个因素一个变就行；比较动能大小必须控制变量后再比较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动能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重力势能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弹性势能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认为速度大的物体动能一定大（还要比较质量，注意控制变量）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168 / 346</a:t>
            </a:r>
            <a:endParaRPr lang="en-US" sz="115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同一辆汽车从静止加速到 60 km/h，再减速到 20 km/h，它的动能怎么变化？满载的洒水车在平直路面匀速洒水，动能怎么变？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加速阶段质量不变、速度增大，依据动能与速度的关系，动能增大。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减速阶段速度减小，动能减小。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洒水车速度不变但不断洒水、质量减小，动能减小——两个影响因素有一个减小、另一个不变，能就减小。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加速时动能增大，减速时减小；匀速洒水车动能减小。判断动能必须同时盯住质量和速度两个量。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169 / 346</a:t>
            </a:r>
            <a:endParaRPr lang="en-US" sz="11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探究动能的实验中，让不同质量的钢球从斜面同一高度滚下，目的是控制什么相同？木块被撞距离的长短代表什么？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在“探究动能与速度的关系”实验中：①应控制什么相同？怎么控制？②改变的是什么？③木块移动距离说明了什么？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①同样速度行驶的大卡车和小轿车，谁的动能大？为什么？②一列高铁进站时不断减速，动能怎么变？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提示：①速度相同比质量；②质量不变时动能随速度减小而减小。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170 / 346</a:t>
            </a:r>
            <a:endParaRPr lang="en-US" sz="115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829" y="1876806"/>
            <a:ext cx="6814792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探究动能大小的影响因素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画斜面与水平面：钢球从高度 h 处释放滑下，撞击水平面上的木块使其移动距离 s；两幅对比小图：同一钢球从不同高度释放、质量不同的钢球从同一高度释放；标注：木块被撞得越远钢球动能越大、控制变量法。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171 / 346</a:t>
            </a:r>
            <a:endParaRPr lang="en-US" sz="115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滚摆上下翻飞：到最高点慢下来，到最低点冲得最快——动能在哪里悄悄换了主角？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滚摆下降时越转越快、上升时越来越慢。让学生标出两个特殊位置：最高点悬线缠绕最长、速度为零——重力势能最大、动能为零；最低点速度最大——动能最大、重力势能最小。一来一回，动能与势能“此消彼长”看得清清楚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动能与势能统称机械能。转化链条：下降时重力势能转化为动能，上升时相反；单摆、过山车、人造卫星从远地点到近地点都是同一条“势能↔动能”转化链。守恒有条件：只有重力（或弹力）做功、不计空气阻力和摩擦时，机械能总量保持不变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摆动的球机械能永不减少——只有“不计阻力”的理想条件下成立，实际摆动中机械能逐渐转化为内能，摆幅越来越小。适用边界：分析转化先分“下降段/上升段”，再写“谁减少、谁增加、谁转化成谁”；答“机械能守恒”必须写清“不计阻力”这一前提，否则结论不完整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动能与势能的转化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认为摆动的球机械能永不减少（实际有阻力会逐渐减小）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172 / 346</a:t>
            </a:r>
            <a:endParaRPr lang="en-US" sz="115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单摆小球从最高点摆到最低点，能量怎么转化？实际摆动中为什么幅度越来越小、最后停下？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从最高点到最低点，高度减小、重力势能减小，速度增大、动能增大，势能转化为动能。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最低点动能最大、重力势能最小。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摆动中不断克服空气阻力做功，一部分机械能转化为内能，机械能减少，所以摆幅变小直到停止。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下摆时势能转动能，最低点动能最大；存在阻力时机械能逐渐转化为内能，故最终停下。答题先说转化，再补“不计阻力守恒、有阻力减小”的条件。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173 / 346</a:t>
            </a:r>
            <a:endParaRPr lang="en-US" sz="115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人造地球卫星从远地点向近地点运动，能量如何转化？在近地点它的动能最大还是势能最大？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过山车从最高点 A 冲下到最低点 B，再冲上下一个坡到顶点 C（A、C 等高，不计阻力）。①A→B、B→C 能量各怎么转化？②哪个位置动能最大？③为什么 C 点车速不能超过 A 点？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篮球从手中落下撞地后又弹起，但弹起的高度一次比一次低。①下落和反弹过程能量如何转化？②为什么弹起高度越来越低？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提示：①分“下落”与“反弹”两段写转化；②每次碰撞和克服空气阻力都有能量“漏”到哪去了？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174 / 346</a:t>
            </a:r>
            <a:endParaRPr lang="en-US" sz="11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1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131" y="1876806"/>
            <a:ext cx="558018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滚摆的机械能转化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滚摆两个位置：最高点（悬线缠绕最长，标“重力势能最大、动能为零”）与最低点（标“动能最大、重力势能最小”），两侧用箭头标下降与上升；标注：下降时重力势能转化为动能、上升相反；注“实际存在空气阻力，机械能逐渐减小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175 / 346</a:t>
            </a:r>
            <a:endParaRPr lang="en-US" sz="11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· 功和机械能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做功两要素：力＋沿力方向移动距离；W=Fs 单位 J；有力无距离、力距垂直都不做功。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功率 P=W/t 表示做功快慢，单位 W；匀速时 P=Fv；功率大不等于做功多。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动能看质量与速度，重力势能看质量与高度，弹性势能看形变；比大小时必须控制变量。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动能与势能相互转化，不计阻力机械能守恒；滚摆最高点势能大、最低点动能大；有阻力时机械能转化…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举重运动员举着杠铃静止不动，做功了吗？滚摆从最高点到最低点能量如何转化？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176 / 346</a:t>
            </a:r>
            <a:endParaRPr lang="en-US" sz="115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考查：杠杆平衡条件与最小动力问题、滑轮组 F=(G+G动)/n 与绕绳判断、机械效率的计算与…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　简单机械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杠杆平衡条件与滑轮组省力计算并重，机械效率用“有用、额外、总功”三分法把问题算活。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杠杆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滑轮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机械效率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一瓶汽水用手拧不开，起子一撬就开——起子凭什么比手劲大？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用起子撬瓶盖——轻轻一撬盖就开；用剪刀剪纸、用镊子夹棉球。让学生找出每个工具“绕着转的那个点”，再比较“用力的位置”和“阻碍的位置”离支点的远近——有的近有的远，省力与费力的分野就藏在两段距离的比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本体：支点 O、动力 F₁、阻力 F₂；力臂是支点到力的作用线的垂直距离——先延长力的作用线（虚线），再从支点作垂线并标直角符号。调平后挂钩码、多组数据归纳出平衡条件 F₁L₁=F₂L₂。分类：L₁&gt;L₂ 省力费距离（撬棒、瓶起子），L₁&lt;L₂ 费力省距离（钓鱼竿、镊子），等臂不省不费（天平）。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力臂画成支点到力作用点的连线——必须是到作用线的垂线段；认为省力杠杆同时省距离也不对，省力必费距离，“又省力又省距离”的杠杆不存在。适用边界：最小动力问题找最长力臂——连接支点与最远作用点作力臂，力与力臂垂直；画力臂先延长作用线，直接连线必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支点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力臂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杠杆平衡条件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把力臂画成支点到力作用点的连线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认为省力杠杆同时省距离（省力必费距离）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178 / 346</a:t>
            </a:r>
            <a:endParaRPr lang="en-US" sz="115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水平平衡的杠杆，左侧距支点 20 cm 处挂 3 个钩码（每个 0.5 N）。右侧距支点 30 cm 处应挂几个同样的钩码？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依据杠杆平衡条件 F₁L₁=F₂L₂，先算左边：F₁L₁=1.5 N×0.2 m=0.3 N·m。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右边需要 F₂=0.3 N·m÷0.3 m=1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N÷0.5 N／个=2 个，右端距支点 30 cm 处挂 2 个钩码。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 2 个钩码。检验：1 N×30 cm=1.5 N×20 cm，两边力矩相等；“最小动力”类作图题找最长力臂（连接支点与最远作用点）。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179 / 346</a:t>
            </a:r>
            <a:endParaRPr lang="en-US" sz="115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钓鱼时一只手握在鱼竿后端，另一只手在前端用力。鱼竿是省力杠杆还是费力杠杆？为什么还用它？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①天平是哪一类杠杆？依据是什么？②杆秤的秤砣离提纽越远，称出的质量越大，试用杠杆平衡条件解释。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水平平衡的杠杆，左侧距支点 30 cm 处挂 2 个钩码（每个 0.5 N）。右侧距支点 20 cm 处应挂几个同样的钩码才能平衡？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提示：先算左侧“力×力臂”，再除以右侧力臂得需要的力，最后除以每个钩码重。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180 / 346</a:t>
            </a:r>
            <a:endParaRPr lang="en-US" sz="11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093546"/>
            <a:ext cx="6949440" cy="341385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杠杆平衡与力臂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画水平杠杆，支点 O；左侧距 O 20 cm 处挂 2 个钩码（各 0.5 N），右侧距 O 40 cm 处挂 1 个钩码恰好平衡；标注：F1=1 N、L1=20 cm，F2=0.5 N、L2=40 cm，F1L1=F2L2；力臂用支点…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181 / 346</a:t>
            </a:r>
            <a:endParaRPr lang="en-US" sz="115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旗杆顶的小轮子不能省力，为什么还非装不可？工地上的滑轮组凭什么一人吊起几百斤？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定滑轮演示——绳端用多大力、重物就多重，只把向下的拉力变成了向上的提升，方向变了力没省；动滑轮演示——重力被两段绳“平摊”，省一半力，但绳端要走两倍的距离。两个滑轮一对比，“省力”与“变向”的分工一目了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本体：定滑轮实质是等臂杠杆，只改变力的方向、不省力；动滑轮实质是动力臂为阻力臂二倍的杠杆，省一半力、费一倍距离，但不能改变方向。滑轮组两者兼得：绕绳口诀“奇动偶定”；n 只数拉着动滑轮（连同重物）的绳段数。不计摩擦和绳重时 F=(G+G动)/n，绳端移动 s=nh。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高频误区显式纠正：认为动滑轮一定省一半力——计入动滑轮重和摩擦后省力不足一半；数段漏数或把固定端、绕定滑轮的段也算进去也是高频错误。适用边界：n 的计数标准是“与动滑轮直接相连的绳段”；绳端移动距离是物体上升高度的 n 倍，费的距离与省的力对应同一 n。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定滑轮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动滑轮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滑轮组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认为动滑轮一定省一半力（计动滑轮重与摩擦则大于一半）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绳段数 n 数错（把固定端或绕定滑轮的段也算进去）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182 / 346</a:t>
            </a:r>
            <a:endParaRPr lang="en-US" sz="115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n=3 的滑轮组匀速提升重 300 N 的货物，动滑轮重 30 N，不计摩擦和绳重。拉力多大？货物升高 1 m，绳端移动多远？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先数绳段：与动滑轮相连的绳有 3 段，n=3，并用“奇动偶定”核对绕法。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F=(G+G动)/n：F=(300 N+30 N)÷3=110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s=nh：绳端移动 s=3×1 m=3 m。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 110 N，绳端移动 3 m。检验：费三倍距离对应省三分之一的力，公式自洽。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183 / 346</a:t>
            </a:r>
            <a:endParaRPr lang="en-US" sz="115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n=2 的滑轮组把重 100 N 的物体匀速提升，动滑轮重 20 N（不计摩擦和绳重）。拉力多大？物体升高 0.5 m，绳端移动多远？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①用定滑轮匀速提升 200 N 的重物，实际要 210 N 的拉力，为什么比 200 N 大？多出来的力干什么了？②定滑轮不省力，旗杆顶部为什么还要装它？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n=2 的滑轮组匀速提升重 400 N 的物体，动滑轮重 50 N，不计摩擦和绳重。①拉力多大？②物体升高 2 m，绳端移动多远？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提示：①分子里别忘了加动滑轮重；②绳端距离是物体升高的 n=2 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184 / 346</a:t>
            </a:r>
            <a:endParaRPr lang="en-US" sz="115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2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9928" y="1876806"/>
            <a:ext cx="4806594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滑轮组的绕绳与省力计算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画一个定滑轮与一个动滑轮组成的滑轮组，绳的固定端系在定滑轮的挂钩上，依次绕过动滑轮、定滑轮，自由端向上拉，承担重物的绳段 n=3（用三条箭头逐段清点）；标注：F=(G+G动)/3、s=3h、物重 G 与动滑轮重 G动 分别标出。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185 / 346</a:t>
            </a:r>
            <a:endParaRPr lang="en-US" sz="11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　机械效率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用水桶从井里打水，你提上来的功都用在“水”身上了吗？桶呢？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境演示：用水桶从井里提水——你做的功里，对水的是“想要的”，对桶和绳的是“不得不做的”。再把情境反转：桶掉进井里去捞桶——这时对桶做的功反倒成了“想要的”。两个情境一对照，“有用、额外是相对目的而言的”这个关键观念自己就长出来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本体：对目的物做的功是有用功 W有，不得不额外做的功是额外功 W额，两者之和是总功 W总=W有+W额。机械效率 η=W有/W总，因为额外功不可能为零，η 恒小于 1，用百分数表示。实验测滑轮组效率用 η=Gh/(Fs)；提效两条思路——减小额外功（减动滑轮重、减摩擦）或同一装置增大提升物重。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高频误区显式纠正：认为机械效率可以达到 100%——额外功不可能为零；认为越省力的机械效率越高也错，省力与效率没有必然联系。适用边界：η 是比值无单位；同一装置提升更重的物体效率更高（有用功占比增大），但 η 仍小于 1；误差主要来自不在匀速时读数和只测一次。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有用功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额外功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机械效率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认为机械效率可以达到 100%（额外功不可能为零）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认为越省力的机械效率越高（两者没有必然联系）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186 / 346</a:t>
            </a:r>
            <a:endParaRPr lang="en-US" sz="115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　机械效率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用滑轮组把重 200 N 的物体匀速提升 2 m，绳端拉力 125 N，绳端移动 4 m。有用功、总功、机械效率各是多少？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有用功是对重物做的功：W有=Gh=200 N×2 m=400 J。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总功是拉力做的功：W总=Fs=125 N×4 m=500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η=W有/W总：η=400 J÷500 J=80%，小于 1 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W有=400 J，W总=500 J，η=80%。检验：η 必须小于 100%，否则说明测量或计算有误。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187 / 346</a:t>
            </a:r>
            <a:endParaRPr lang="en-US" sz="115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　机械效率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同一滑轮组，分别提升 100 N 和 200 N 的物体，哪种情况机械效率高？为什么？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①用水桶从井里提水和用绳子把掉进井里的桶捞上来，两种目的下“有用功”分别是什么？②这说明有用功和额外功的划分由什么决定？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用滑轮组把重 300 N 的物体匀速提升 3 m，绳端拉力 150 N，绳端移动 8 m。求有用功、总功和机械效率。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提示：W有=Gh、W总=Fs 分别算，效率相除；检查 η 是否小于 1。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188 / 346</a:t>
            </a:r>
            <a:endParaRPr lang="en-US" sz="11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· 简单机械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杠杆平衡 F₁L₁=F₂L₂；力臂是支点到作用线的垂线段；省力必费距离，最小动力沿最长力臂。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定滑轮变向、动滑轮省半力；滑轮组 F=(G+G动)/n、s=nh，n 只数拉动滑轮的绳段。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η=W有/W总=W有/(W有+W额)，恒小于 1；提效靠减额外功或增有用功占比，省力与效率…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n=3 的滑轮组匀速提升 300 N 重物（G动=30 N，不计摩擦绳重），拉力多大？h=1 m 时绳端移动多远？为什么 η&lt;1？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189 / 346</a:t>
            </a:r>
            <a:endParaRPr lang="en-US" sz="115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考查：扩散现象与分子动理论、改变内能的两种途径、热量计算 Q=cmΔt。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第十三章　内能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从分子动理论三要点进入内能概念，比热容用“同热源升温对比”立起对热量的量感。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分子热运动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内能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比热容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一杯清水滴入红墨水，什么都没搅拌，红色却自己慢慢散开——是谁在“搬运”？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相同质量的热水和冷水中各滴一滴红墨水——热水整杯变红明显更快；再把上瓶装空气、下瓶装红棕色二氧化氮气体（密度大的放下方），抽去玻璃板后颜色逐渐混合。两组演示共同证明：分子在不停地做无规则运动，温度越高越剧烈，所以叫分子热运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不同物质相互接触时彼此进入对方的现象叫扩散，气体、液体、固体都能发生，温度越高越明显。分子间同时存在引力和斥力：两个铅柱底面削平压紧后能吊起重物，显示引力；压缩物体费力显示斥力。固、液、气三态用分子模型对比：固态间距小、作用力大、在原位振动；液态居中；气态间距大、作用力几乎为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扫地扬起的灰尘、飘动的烟雾当成分子运动——分子肉眼不可见，看得见的颗粒是宏观物体的运动。适用边界：扩散只在分子尺度发生，颗粒的布朗级运动不属于扩散；分子间引力和斥力同时存在、同时起作用，表现为引力还是斥力取决于分子间距——压缩显斥力、拉伸显引力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扩散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分子热运动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分子间作用力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认为扩散只是液体现象（气体、固体也能扩散）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把灰尘、烟雾的飞舞当成分子运动（分子肉眼不可见）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191 / 346</a:t>
            </a:r>
            <a:endParaRPr lang="en-US" sz="11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腌咸鸭蛋时，盐分能进入蛋内使蛋变咸；堆在墙角的煤，几年后挖开墙皮也发黑。两个例子分别说明什么？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盐进入蛋内是盐分子运动到蛋中的扩散现象，说明分子在不停地做无规则运动。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煤分子进入墙皮是固体间的扩散，说明固体也能扩散，只是慢得多。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归纳：扩散在气体、液体、固体中都能发生，温度越高越明显。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两个都是扩散现象，证明分子在不停运动；固体的扩散很慢，需要很长时间才明显。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192 / 346</a:t>
            </a:r>
            <a:endParaRPr lang="en-US" sz="115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判断并说明理由：①闻到花香说明分子在运动 ②看到灰尘在阳光下飞舞说明分子在运动 ③两铅柱压紧能吊起重物说明分子间有引力。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为什么气体容易被压缩，而液体、固体很难被压缩？用分子动理论解释。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炒菜时香味四处飘散、很快闻到；同样的菜凉了以后香味就淡得多、散得慢。用分子动理论解释这一差别。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提示：香味的传播是分子运动（扩散）；温度越高，分子运动有什么特点？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193 / 346</a:t>
            </a:r>
            <a:endParaRPr lang="en-US" sz="115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060215"/>
            <a:ext cx="6949440" cy="34805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扩散现象演示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两只烧杯清水各滴入一滴红墨水，一杯热水一杯冷水：热水杯中红色扩散均匀更快；标注：温度越高分子热运动越剧烈、扩散现象证明分子在不停运动；旁画气体扩散小图：上瓶空气、下瓶红棕色二氧化氮（密度大的放下方），抽去玻璃板后颜色混合，说明不是重力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194 / 346</a:t>
            </a:r>
            <a:endParaRPr lang="en-US" sz="115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　内能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冬天搓手取暖、烤火取暖，两条路都能暖——身体“变热”的物理实质是什么？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演示：搓手与烤火都能让手变暖——搓手是克服摩擦做功，机械能转化为内能；烤火是内能从火传到手。两条路殊途同归，学生从体感对比里发现“改变内能有两条等效途径”，再追问“内能到底是什么”，概念顺势建立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本体：内能是物体内所有分子动能与分子势能的总和，任何物体都有内能——0 ℃ 的冰分子仍在振动，内能不为零。做功和热传递是改变内能的两条等效途径；热传递的条件是温度差，方向从高温到低温，传递的是内能而不是温度。热量是热传递过程中转移内能的多少，是过程量，只能说吸收或放出多少热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 0 ℃ 的物体没有内能——一切物体都有内能；说“这杯热水含有 500 J 热量”也错，热量是过程量，不谈“含有”。适用边界：热传递传递的是内能（热量），温度只是结果；物体内能增加既可以靠吸收热量，也可以靠外界做功，只知道内能增加不能反推是哪条途径。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内能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热传递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 0 ℃ 的物体没有内能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说“物体含有多少热量”（热量只对应传热过程）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195 / 346</a:t>
            </a:r>
            <a:endParaRPr lang="en-US" sz="115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　内能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下列改变内能的方式分别是什么：①反复弯折铁丝，弯折处发热 ②冰镇饮料 ③给自行车打气，筒壁变热 ④晒太阳。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弯折铁丝是人对铁丝做功，机械能转化为内能——做功。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饮料放热给冰，内能发生转移——热传递。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打气时压缩气体并克服摩擦做功——做功。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太阳辐射把热量传给人体——热传递。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①做功 ②热传递 ③做功 ④热传递。判断标准：看内能是“转移”来的（有温差、能量形式不变）还是“转化”来的（伴随能量形式改变）。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196 / 346</a:t>
            </a:r>
            <a:endParaRPr lang="en-US" sz="11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　内能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判断正误并改正：①0 ℃ 的物体没有内能 ②这杯热水含有 500 J 热量 ③热传递是把温度传给低温物体。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 0 ℃ 的冰完全熔化成 0 ℃ 的水：①温度变了吗？②内能变了吗？③温度不变为什么内能还会变？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冬天①用热水袋暖手和②反复搓手暖手，改变内能的方式分别是什么？判断依据是什么？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提示：看能量形式有没有改变：热水袋与手之间是内能转移；搓手是机械能变内能。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197 / 346</a:t>
            </a:r>
            <a:endParaRPr lang="en-US" sz="115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同样晒一上午太阳，沙子烫脚、海水温和——同样的“热”，温度怎么不一样？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相同质量的水和煤油用同一热源加热相同时间（吸热相同），插两支温度计对比——煤油升温明显更快。再做情境联想：同样晒太阳，沙子烫脚、海水温和。两个证据指向同一件事：不同物质“吸热升温的本领”不同，物理学用比热容表示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本体：比热容 c 是单位质量的某种物质温度升高 1 ℃ 所吸收的热量，单位 J/(kg·℃)；水的比热容 4.2×10³ J/(kg·℃)，在常见物质中很大。c 大意味着“温度难升也难降”：沿海水多昼夜温差小、暖气用水、发动机用水冷。热量计算 Q=cmΔt，Δt=t末−t初，吸热放热都适用。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高频误区显式纠正：认为吸热多温度一定升得多——升温多少还取决于质量和比热容；Δt 与末温、初温的关系弄混也常见，Δt 永远是“末温−初温”。适用边界：比较升温快慢必须控制“质量相同、吸热相同”；Q=cmΔt 中 c、m、Δt 对应同一种物质同一段过程，混合计算要分段。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比热容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热量计算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认为吸热多温度一定升得多（还取决于比热容与质量）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Δt 与末温、初温关系弄混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198 / 346</a:t>
            </a:r>
            <a:endParaRPr lang="en-US" sz="11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把质量 2 kg 的水从 20 ℃ 加热到 70 ℃，水吸收多少热量？[c水=4.2×10³ J/(kg·℃)]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先算温度变化量 Δt=t末−t初=70 ℃−20 ℃=50 ℃，依据公式 Q=cmΔt。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Q=c水mΔt=4.2×10³ J/(kg·℃)×2 kg×50 ℃=4.2×10⁵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检验：数量级为 10⁵ J，与烧 2 kg 水的日常感受相符。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吸收热量 4.2×10⁵ J。先写公式再代数，Δt 用“末温减初温”，单位随写随查。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199 / 346</a:t>
            </a:r>
            <a:endParaRPr lang="en-US" sz="115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1 kg 的水吸收 8.4×10⁴ J 热量，温度升高多少？若这些热量被相同质量的沙石（比热容约为水的五分之一）吸收，升温大约多少？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质量相同、初温相同的水和铁块吸收相同的热量后，谁的末温更高？为什么？这能解释“沿海昼夜温差小”吗？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把质量 3 kg 的水从 25 ℃ 加热到 45 ℃，水吸收多少热量？[c水=4.2×10³ J/(kg·℃)]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提示：先求 Δt=45−25=20 ℃，再代 Q=cmΔt，注意数量级。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200 / 346</a:t>
            </a:r>
            <a:endParaRPr lang="en-US" sz="11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3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828" y="1876806"/>
            <a:ext cx="578679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水与煤油吸热升温对比图像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升温图像：横轴 t/min 0–8，纵轴 T/℃ 20~40；相同质量的水：t=[0,2,4,6,8]，T=[20,22,24,26,28]；相同质量的煤油：t=[0,2,4,6,8]，T=[20,24,28,32,36]；标注：相同加…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201 / 346</a:t>
            </a:r>
            <a:endParaRPr lang="en-US" sz="115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第十三章 · 内能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扩散证明分子不停做无规则运动且温度越高越剧烈；分子间同时有引力和斥力；灰尘烟雾不是分子运动。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一切物体都有内能；做功和热传递都能改变内能；热量是过程量，只谈吸收放出、不谈含有。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比热容 c 反映物质吸放热时“温度的惰性”，水最大；Q=cmΔt，Δt=末温−初温；沿海温…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解释“沿海地区昼夜温差比内陆小”；把 1 kg 水从 20 ℃ 加热到 70 ℃ 吸收多少热量？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202 / 346</a:t>
            </a:r>
            <a:endParaRPr lang="en-US" sz="115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考查：四冲程的识别与能量转化、热机效率相关计算、能量守恒定律的表述与应用。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第十四章　内能的利用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热机把内能转化为机械能，四冲程顺序与能量流向图把“效率为什么低”讲透。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热机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热机的效率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能量的转化和守恒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试管里的水蒸气“砰”地把塞子冲出去——这一下里藏着汽车发动机的全部秘密。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试管里的水沸腾后，水蒸气“砰”地把塞子冲出，管口出现一团“白气”。塞子被冲出是燃气对它做功、内能转化为机械能；管口“白气”是水蒸气对外做功内能减小、温度降低液化成的小水滴。一个演示把热机的原理与能量转化全占齐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热机是把内能转化为机械能的机器。汽油机一个工作循环四个冲程：吸气、压缩、做功、排气；活塞往复两次、曲轴转两圈，对外做功一次。两个能量转化节点：压缩冲程机械能转化为内能（活塞上行压缩燃气）；做功冲程内能转化为机械能（点火，燃气推活塞下行）。判断冲程先看气门开闭、再看活塞方向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四个冲程都点火——只有做功冲程火花塞点火；气门开闭与活塞方向对应关系记错也常见，两门关闭活塞上行是压缩、两门关闭活塞下行且点火是做功。适用边界：四冲程中只有做功冲程对外做功；吸气冲程进的是汽油和空气的混合物（柴油机进的只是空气），这是汽油机与柴油机的重要区别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做功冲程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认为四个冲程都点火（只有做功冲程火花塞点火）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气门开闭与活塞方向对应关系记错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204 / 346</a:t>
            </a:r>
            <a:endParaRPr lang="en-US" sz="11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某时刻汽油机气缸内两个气门都关闭，活塞向上运动。这是哪个冲程？能量如何转化？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两气门全闭，说明不是吸气（进气门开）也不是排气（排气门开）。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活塞上行压缩燃气，判定为压缩冲程。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压缩冲程中活塞对燃气做功，机械能转化为内能，燃气温度升高。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压缩冲程，机械能转化为内能。判断冲程的顺序：先看气门、再看活塞方向、最后想点火。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205 / 346</a:t>
            </a:r>
            <a:endParaRPr lang="en-US" sz="11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四冲程汽油机曲轴转速 1800 r/min，每秒对外做功多少次？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汽油机和柴油机在点火（发火）方式上有什么不同？分别说明。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某时刻汽油机进气门打开、排气门关闭，活塞向下运动。这是哪个冲程？气缸内吸入的是什么？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提示：只开进气门、活塞下行——燃气正被“吸”进缸里。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206 / 346</a:t>
            </a:r>
            <a:endParaRPr lang="en-US" sz="115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4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908618"/>
            <a:ext cx="6949440" cy="3783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汽油机四冲程示意图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四联剖面图，每幅含气缸、活塞（标上/下行箭头）、进气门、排气门、火花塞：①吸气冲程（进气门开、活塞下行）②压缩冲程（两门关闭、活塞上行）③做功冲程（两门关闭、火花塞点火、活塞下行）④排气冲程（排气门开、活塞上行）；标注：压缩冲程机械能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207 / 346</a:t>
            </a:r>
            <a:endParaRPr lang="en-US" sz="115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汽油烧掉带来的能量，真正推动汽车的可能还不到三成——剩下的去哪了？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画图演示什么：在黑板上画能量流向带——燃料完全燃烧放出的能量 100%，分成四条粗细不等的流带：有用机械功只占一小角（约 25%），废气带走最大头（约 40%），缸体散热约 25%，机械摩擦约 10%。学生一眼看出“大头都流走了”，效率为什么低不言自明。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本体：热机效率 η=W有用/Q放，即用来做有用功的能量与燃料完全燃烧放出能量之比，汽油机一般只有 20%–30%。算一笔账：燃料放出的热量约四分之三被废气、散热和摩擦白白带走。提高效率的途径：减少各项损失——利用废气余热（热电联产）、减小摩擦、保证良好燃烧与保养。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高频误区显式纠正：认为热机效率能达到 90%——汽油机一般只有 20%–30%，离 90% 相差甚远；把 η 的分子分母弄反也常见，分子是有用功、分母是总放热。适用边界：η 恒小于 100%；不同热机效率不同（柴油机一般高于汽油机），比较能耗要回到定义式 η=W有用/Q放。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热机效率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能量损耗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认为热机效率能达到 90%（汽油机一般只有 20%–30%）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208 / 346</a:t>
            </a:r>
            <a:endParaRPr lang="en-US" sz="115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某汽油机在一个工作循环中消耗汽油完全燃烧放出 5×10⁷ J 热量，对外做有用功 1.25×10⁷ J。这台汽油机的效率是多少？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依据热机效率定义 η=W有用/Q放，先分清分子分母。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η=1.25×10⁷ J÷5×10⁷ J=0.25=25%。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检验：25% 落在汽油机 20%–30% 的常见范围，合理。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效率为 25%。答题写出定义式再代数；把结论与常见效率范围对照可以自检。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209 / 346</a:t>
            </a:r>
            <a:endParaRPr lang="en-US" sz="115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柴油机的效率一般比汽油机高一些。据此说明：同样多做 1 J 有用功，谁消耗的燃料化学能更少？提高热机效率对节约能源有什么意义？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一台热机的效率从 25% 提高到 30%。燃料完全燃烧同样放出 1×10⁸ J 的热量，它可以多做多少有用功？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某锅炉燃料完全燃烧放出 2×10⁷ J 的热量，其中 6×10⁶ J 被有效利用。这台锅炉的效率是多少？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提示：效率=有效利用的能量÷燃料完全燃烧放出的能量，先分清分子分母再相除。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210 / 346</a:t>
            </a:r>
            <a:endParaRPr lang="en-US" sz="115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4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226168"/>
            <a:ext cx="6949440" cy="31486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内燃机的能量流向图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画从左到右的能量流带图：输入端“燃料化学能 100%”，向右分为四条宽度不等的流带：有用机械功 25%、废气带走 40%、缸体散热 25%、机械摩擦 10%；标注：η=W有用/Q放=25%，流带宽度按百分比示意。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211 / 346</a:t>
            </a:r>
            <a:endParaRPr lang="en-US" sz="115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　能量的转化和守恒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滚摆越摆越低，能量少了吗？发电机没烧燃料却能源源不断发电——能量从哪来？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两个现象：滚摆越摆越低——能量少了吗？发电机没烧燃料却源源不断发电——能量从哪来？第一个的答案是机械能转化为内能散到环境；第二个的答案是消耗了机械能。大量事实归纳出能量守恒定律，学生的两个“疑案”在定律里同时结案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能量守恒定律：能量既不会凭空消灭，也不会凭空产生，只会从一种形式转化为其他形式，或者从一个物体转移到其他物体，而在转化和转移的过程中，能量的总量保持不变。区分“转移”与“转化”：热传递中内能从一个物体到另一个物体、形式不变，是转移；摩擦生热、电动机把电能变成机械能，形式改变，是转化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不消耗能量的永动机可以造出来——违背能量守恒定律，一切永动机方案必然失败；只说“能量守恒”不区分转移与转化也不完整。适用边界：守恒说的是总量，不是“可用性”——能量会从易用的形式退化为分散的内能；判断转化还是转移，先问“能量形式变没变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能量守恒定律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02345" y="259003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3" name="Text 11"/>
          <p:cNvSpPr/>
          <p:nvPr/>
        </p:nvSpPr>
        <p:spPr>
          <a:xfrm>
            <a:off x="8866937" y="26631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66937" y="293751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认为不消耗能量的永动机可以造出来（违背能量守恒）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212 / 346</a:t>
            </a:r>
            <a:endParaRPr lang="en-US" sz="115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　能量的转化和守恒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指出下列过程中能量的转化或转移：①摩擦双手变暖 ②牛奶在热锅里被加热 ③电风扇转动 ④蓄电池充电。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摩擦生热，机械能转化为内能——转化。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火焰的内能传给牛奶，能量形式不变——转移。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电能转化为机械能——转化。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电能转化为化学能储存起来——转化。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①机械能→内能 ②内能转移 ③电能→机械能 ④电能→化学能。先问“能量形式变没变”，再答转化或转移。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213 / 346</a:t>
            </a:r>
            <a:endParaRPr lang="en-US" sz="115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　能量的转化和守恒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有人设计“不用电、不上发条，靠自身摆动永远走下去的钟”。用能量守恒定律分析它能否实现。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有人设想：用一台发电机给电动机供电，电动机再带动同一台发电机转动，这样不用外界能量就能永远工作下去。这种“永动机”为什么行不通？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指出下列过程中能量的转化或转移：①电炉通电发热 ②水轮机带动发电机发电 ③热咖啡在室温中慢慢变凉 ④给手机电池充电。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提示：每个过程先问“能量形式变没变”：变了是转化，没变、只是从一处到另一处是转移。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214 / 346</a:t>
            </a:r>
            <a:endParaRPr lang="en-US" sz="11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第十四章 · 内能的利用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热机把内能转化为机械能；四冲程顺序吸气压缩做功排气；压缩冲程机械能转内能、做功冲程内能转机…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η=W有用/Q放，汽油机仅 20%–30%；损失大头是废气；提效靠减损失、用余热。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能量守恒定律：能量只转化或转移、总量不变；先问形式变没变；永动机违背守恒必然失败。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汽油机哪个冲程把内能转化为机械能，判断依据是什么？为什么热机效率总小于 1？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215 / 346</a:t>
            </a:r>
            <a:endParaRPr lang="en-US" sz="115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考查：电路识别与三种状态、串并联电路电流规律、电流表的规范使用与读数。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第十五章　电流和电路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从摩擦起电到电路三状态、串并联识别，把“电流的路径”当作一切电路分析的主线。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两种电荷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电流和电路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串联和并联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电流的测量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串、并联电路中电流的规律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　两种电荷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塑料梳子梳完头发能吸起碎纸屑——梳子怎么了？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塑料梳子梳完头发去吸碎纸屑，纸屑被吸起来——物体有了吸引轻小物体的性质就说它带了电（荷）。再用丝绸摩擦过的玻璃棒、毛皮摩擦过的橡胶棒靠近彼此：同种电荷相斥、异种电荷相吸；把带电棒接触验电器金属球，两片金属箔张开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荷只有两种：正电荷（丝绸摩擦过的玻璃棒所带）、负电荷（毛皮摩擦过的橡胶棒所带）。摩擦起电的实质不是创造电荷，而是电子从一个物体转移到另一个物体：得电子的带负电、失电子的带正电，电荷总量不变。验电器利用“同种电荷相斥”检验带电。导体（金属、人体、大地）容易导电，绝缘体（橡胶、玻璃）不容易导电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摩擦“创造”了电荷——只是电子转移，总量不变；把“绝缘体绝不导电、导体处处导电”绝对化也错，条件变化时（如玻璃加热到红炽状态）绝缘体也能导电。适用边界：吸引轻小物体与异种电荷吸引是两回事——带电体本身就吸引轻小物体；验电器只能检验带电与带电多少，不能直接判断电荷的正负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摩擦起电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正电荷与负电荷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导体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认为摩擦“创造”了电荷（实为电子从一个物体转移到另一物体）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把“绝缘体绝不导电、导体处处导电”绝对化（条件变化时可能转变）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217 / 346</a:t>
            </a:r>
            <a:endParaRPr lang="en-US" sz="115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　两种电荷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用丝绸摩擦玻璃棒后，玻璃棒带什么电？丝绸带什么电？摩擦过程中发生了什么？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依据规定，丝绸摩擦过的玻璃棒带正电。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原因：摩擦使玻璃棒上的一部分电子转移到了丝绸上。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玻璃棒失电子带正电，丝绸得电子带等量负电，电荷总量不变。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玻璃棒带正电、丝绸带等量负电；实质是电子转移，不是创造了电荷。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218 / 346</a:t>
            </a:r>
            <a:endParaRPr lang="en-US" sz="115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　两种电荷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带电体接触验电器金属球后金属箔张开。再用另一个带同种电荷的物体接触金属球，张角怎么变？换带异种电荷的呢？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①验电器为什么能检验物体是否带电？②“带电体能吸引轻小物体”与“异种电荷相互吸引”是一回事吗？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用毛皮摩擦橡胶棒：①橡胶棒带什么电？为什么？②毛皮带什么电？③摩擦过程中电荷的总量变了吗？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提示：想清楚电子往哪边转移：得电子的带负电、失电子的带正电。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219 / 346</a:t>
            </a:r>
            <a:endParaRPr lang="en-US" sz="115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　电流和电路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合上开关灯亮，打开灯灭——电线里到底“流”的是什么？电路由哪几件东西撑起来？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一个手电筒演示：电池、灯泡、按钮、金属壳四样东西摆在桌上，让学生按“谁供电、谁耗电、谁控制、谁连接”对号入座——电源、用电器、开关、导线。合上开关灯亮、断开灯灭，学生会自己说出“电路要通起来才有电流”，三种电路状态顺势引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本体：三种状态：通路——处处连通、用电器工作；断路（开路）——某处断开、无电流；短路——不经过用电器用导线直接连接电源两极，电流过大，极易烧坏电源甚至引发火灾，绝对不允许。电流用 I 表示，单位安培（A）；电流方向规定为正电荷定向移动的方向，金属中自由电子移动方向与电流方向相反。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金属导线中的电流方向当成电子移动方向——两者相反；把电源短路当成正常连接也错，短路电流巨大极其危险。适用边界：只有电荷定向移动才形成电流，杂乱热运动不形成电流；负电荷定向移动形成的电流方向与移动方向相反，正负电荷反向移动时电流方向由正电荷的移动方向决定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通路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断路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短路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电流方向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把金属导线中的电流方向当成电子移动方向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把电源短路当成正常连接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220 / 346</a:t>
            </a:r>
            <a:endParaRPr lang="en-US" sz="115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　电流和电路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金属导线中自由电子从 A 向 B 定向移动，导线中的电流方向如何？为什么？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先明确导电载体：金属中自由移动的是带负电的电子。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依据规定，电流方向与负电荷定向移动的方向相反。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电子从 A 向 B，故电流方向为由 B 向 A。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电流方向从 B 到 A。记忆点：正电荷定向移动的方向即电流方向，负电荷则相反。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221 / 346</a:t>
            </a:r>
            <a:endParaRPr lang="en-US" sz="115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　电流和电路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指出下列电路状态的类型：①开关断开灯不亮 ②用一根导线直接连在电池两极 ③闭合开关灯正常发光。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手电筒电路中，电源、用电器、开关、导线分别对应哪个部件？按电流路径说说电流从哪里出发、经过什么、回到哪里。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某种导电溶液中，正离子向左定向移动，同时负离子向右定向移动。溶液中的电流方向如何？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提示：正电荷定向移动的方向规定为电流方向；负电荷反向移动形成的电流方向与它一致。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222 / 346</a:t>
            </a:r>
            <a:endParaRPr lang="en-US" sz="115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　串联和并联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教室一盏灯坏了，其余灯照常亮；一串彩灯一颗坏了整串熄灭——两种接法差在哪？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境演示：出示两组照片——教室灯一盏坏了其余照常亮；老式彩灯一颗坏了整串灭。让学生猜接法，再用两只灯泡、一个电源当场搭两种电路验证：“一灭全灭”与“互不影响”两种命运摆在眼前。识别方法从实验里总结，而不是背定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串联——用电器逐个顺次连接，电流只有一条路径，一处断则全断，开关位置不影响控制作用；并联——用电器并列连接，分干路和支路，各支路互不影响，干路开关管全部、支路开关只管本支路。识别用“电流路径法”：从正极走一遍，只有一条路是串联，有分支汇合是并联；更快判据：拆掉一个用电器看另一个还能否工作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只凭“两灯排成一排”判断串联——要看电流路径是否只有一条，并列摆放也可能串联；把干路开关画到某条支路上也是常见错误。适用边界：并联电路各支路可独立工作、各得电源电压；家庭电路用电器必须并联——串联时一处断全断、电压也被分掉，电器都无法正常工作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串联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并联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干路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支路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把干路开关画到某条支路上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只凭“两灯排成一排”判断串联（要看电流路径是否只有一条）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223 / 346</a:t>
            </a:r>
            <a:endParaRPr lang="en-US" sz="115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　串联和并联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马路两旁的路灯同时亮、同时灭。有同学据此说路灯是串联的，对吗？怎样判断？用什么方法验证？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先指出“同时亮灭”不能证明串联——开关装在干路上，并联也能同时控制。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判据：看一盏灯坏了其余是否还亮；实际观察发现某盏路灯损坏时其余仍亮。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结论是并联；验证方法：断开（取下）任意一盏灯，观察其余灯是否熄灭。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并联。依据“互不影响”这一本质特征，同时亮灭只是干路开关的效果；“取下看另一只”是标准验证法。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224 / 346</a:t>
            </a:r>
            <a:endParaRPr lang="en-US" sz="115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　串联和并联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家里的电灯、电视、冰箱能各自独立开关、互不影响。家庭电路的用电器是串联还是并联？说明判断依据。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用一个开关同时控制两盏灯，两盏灯一定串联吗？如果不是，画出/说明另一种接法。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节日装饰的小彩灯：A 串中取下一只，整串都灭；B 串中取下一只，其余仍亮。A、B 两串分别是什么连接方式？判断依据是什么？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提示：用“拆一看一”的判据：拆掉一个用电器，另一个还能不能工作。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225 / 346</a:t>
            </a:r>
            <a:endParaRPr lang="en-US" sz="115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　电流的测量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电路里的电流看不见，怎么把它读出来？电流表接错了会烧表——规矩有哪些？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把电流表串进小灯泡电路，指针偏转读出电流——原来“看不见”的电流可以这样读出来。再做一次“错误演示”（用报废表或视频）：把电流表直接接在电源两端，指针猛打、烧表——学生亲眼看到“为什么绝不允许直接接电源”，规矩从教训里立起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流表使用三步规范：①串联接入被测电路，电流从正接线柱流入、负接线柱流出；②接入前估测或用大量程试触——指针迅速超过满偏就换大量程，偏转太小换小量程；③绝不允许不经过用电器把电流表直接接到电源两极。读数先看量程再算分度值：0–0.6 A 分度值 0.02 A，0–3 A 分度值 0.1 A。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 0.6 A 量程的分度值看成 0.2 A——先定量程再算分度值；正负接线柱接反指针反偏，读不出数还伤表。适用边界：量程选择兼顾安全与精确——先试触确认不超 0.6 A 再换小量程；两个量程共用一套刻度，同一指针位置大量程读数是小量程的 5 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电流表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量程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把电流表直接接在电源两端（相当于短路，会烧表）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0.6 A 量程的分度值 0.02 A 看成 0.2 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226 / 346</a:t>
            </a:r>
            <a:endParaRPr lang="en-US" sz="115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　电流的测量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0–3 A 量程测得电流 2.4 A。改接 0–0.6 A 量程后指针指在同一位置，读数应是多少？说明理由。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依据电流表结构：两个量程共用同一套刻度，大量程示数是小量程的 5 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同一指针位置，小量程读数=2.4 A÷5=0.48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检验：0.48 A&lt;0.6 A，在大量程范围内换小量程读数更精确，操作合理。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0.48 A。指针位置相同、量程不同时读数差 5 倍，这是两个量程共用刻度的必然结果。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227 / 346</a:t>
            </a:r>
            <a:endParaRPr lang="en-US" sz="115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　电流的测量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要测约 0.3 A 的电流：①直接选 0–3 A 量程可行吗？②若不小心把电流表并联在灯两端，会发生什么？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①试触时发现指针迅速偏过满刻度，说明什么？应该怎么操作？②若指针偏转角度很小（如满刻度的十分之一），怎么办？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0–0.6 A 量程测得电流为 0.44 A。若指针位置不变，改用 0–3 A 量程时读数是多少？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提示：同一位置，大量程读数是小量程的 5 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228 / 346</a:t>
            </a:r>
            <a:endParaRPr lang="en-US" sz="115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串联电路里，靠近电源正极的电流会不会“先到先得”更大一些？动手测一测。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实验演示什么、看到什么：串联电路在灯前、两灯之间、灯后三点各测一次电流；并联电路分别测干路和两条支路。学生会发现串联三点读数几乎相同、并联干路读数约等于两条支路之和；各组数据有小差异（如 0.28 A、0.30 A），教师顺势讲“这是误差，保留原始数据，不许凑数”。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串联电路中电流处处相等，I=I₁=I₂——只有一条路径，电荷不会中途消失或堆积；并联电路干路电流等于各支路电流之和，I干=I₁+I₂——分支处电荷分流、汇合处叠加。用水流类比巩固：一条水管不分流处处流量相同，分流后总管流量等于各分管之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串联中离电源正极越近电流越大——“先到先得”是错的，电流处处相等；认为并联干路电流可能小于支路电流也错，支路电流相加才等于干路。适用边界：两条规律的前提是电路连接方式判断正确；测量数据不一致是正常的偶然误差，分析来源（估读、接触电阻）而不是改数据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串联电流规律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并联电流规律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认为串联中离电源近的电流更大（电流处处相等）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认为并联干路电流可能小于支路电流（干路等于支路之和）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229 / 346</a:t>
            </a:r>
            <a:endParaRPr lang="en-US" sz="115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并联电路中干路电流表读 0.5 A，支路 L₁ 的电流表读 0.2 A。通过 L₂ 的电流多大？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依据并联电流规律 I干=I₁+I₂，先确认哪个读数是干路、哪个是支路。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I₂=I干−I₁=0.5 A−0.2 A=0.3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检验：两支路之和 0.2 A+0.3 A=0.5 A 等于干路读数，自洽。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L₂ 的电流为 0.3 A。串联处处相等、并联支路相加，两条规律先认电路再套用。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230 / 346</a:t>
            </a:r>
            <a:endParaRPr lang="en-US" sz="115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串联电路中 A 点电流 0.3 A，B 点电流多大？并联电路两条支路电流分别为 0.3 A、0.2 A，干路电流表读 0.8 A，第三条支路的电流多大？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串联电路中，把电流表从 A 点改接到 B 点（两灯之间改到灯后），示数会变化吗？为什么？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并联电路中干路电流为 0.6 A，通过 L₁ 的电流为 0.25 A。通过 L₂ 的电流多大？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提示：并联干路电流等于各支路电流之和，用减法求另一条支路。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231 / 346</a:t>
            </a:r>
            <a:endParaRPr lang="en-US" sz="115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5889" y="1876806"/>
            <a:ext cx="2840272" cy="1773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47865" y="1895094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串联电路与电流表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电路图元件：电源（电池组符号）、开关 S、灯 L1、电流表 A、灯 L2 依次首尾相连成一个回路；标注：只有一条电流路径、I=IA=I1=I2、取下 L1 则 L2 熄灭；电流表画在 L1 与 L2 之间并标“A”。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905" y="3925062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9" name="Image 1" descr="/home/vimalinx/MakeMoney/JiaJiao/课件/assets/physics/phy-9a-15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197" y="4089654"/>
            <a:ext cx="2407656" cy="17739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47865" y="4107942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并联电路与干支路电流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电路图元件：电源、干路开关 S、干路电流表 A；两条支路分别为开关 S1 串灯 L1（支路电流表 A1 串入）与开关 S2 串灯 L2；标注节点分流位置：IA=IA1+IL2 支路之和，取下 L1 则 L2 仍亮；文字注“干路电流等于各…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232 / 346</a:t>
            </a:r>
            <a:endParaRPr lang="en-US" sz="115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第十五章 · 电流和电路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两种电荷：丝绸摩玻璃棒为正、毛皮摩橡胶棒为负；摩擦起电是电子转移；导体绝缘体无绝对界限。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电路=电源＋用电器＋开关＋导线；通路、断路、短路三种状态；电流方向与电子移动方向相反。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串联一条路径一断全断，并联干支路互不影响；识别用电流路径法或“拆一看一”。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电流表串联接入、正进负出、先大后小试触选量程；0.6 A 量程分度值 0.02 A；严禁直…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串联电流处处相等，并联干路电流等于支路之和；数据有偏差是误差，保留原始值不凑数。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马路两旁的路灯同时亮、同时灭，怎样判断它们是串联还是并联？说明理由和验证方法。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233 / 346</a:t>
            </a:r>
            <a:endParaRPr lang="en-US" sz="115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考查：电压表使用与读数、串并联电压规律、影响电阻大小的因素与滑动变阻器接法。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第十六章　电压 电阻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电压表并联测“压”、串并联电压规律成对给出，电阻概念与变阻器“改变接入长度”落到实处。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串、并联电路中电压的规律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电阻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变阻器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水流要靠水压推动，电荷的定向移动靠什么推？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用抽水机与水流演示仪类比——抽水机把水从低处抽到高处形成水压，水压驱动水管里的水持续流动。类比到电路：电压驱动电荷定向移动形成电流。再让学生记三个“身边电压”：一节干电池 1.5 V、家庭电路 220 V、对人体安全的电压不高于 36 V。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本体：电压是使电路中形成电流的原因，符号 U，单位伏特（V），一节铅蓄电池 2 V。电压表要并联在被测用电器两端：电流从正接线柱流入、负接线柱流出，量程先大后小试触选择；量程 0–3 V 分度值 0.1 V，0–15 V 分度值 0.5 V。有电压还不一定有电流，电路还必须处处连通。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电压表串联接入电路——电压表内阻极大，串联后电路近似断路，灯不亮而电压表示数约等于电源电压，这只说明接错了；认为“有电压就一定有电流”也错，通路是另一个必要条件。适用边界：电压表可以直接接在电源两端测电源电压；读数顺序先定量程再定分度值，两个量程同一位置读数差 5 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伏特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电压表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把电压表串联接入电路（近似断路，示数约等于电源电压）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认为有电压就一定有电流（电路还必须是通路）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235 / 346</a:t>
            </a:r>
            <a:endParaRPr lang="en-US" sz="115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读电压表：接 0–3 V 量程时指针正好指在刻度盘正中央，示数多大？若接的是 0–15 V 量程呢？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先定分度值：0–3 V 量程分度值 0.1 V，正中央对应量程的一半。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示数=3 V÷2=1.5 V。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0–15 V 量程时同一位置示数=15 V÷2=7.5 V，两个量程读数仍是 5 倍关系。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0–3 V 量程读 1.5 V，0–15 V 量程读 7.5 V。先看量程再定分度值，读数顺序不能乱。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236 / 346</a:t>
            </a:r>
            <a:endParaRPr lang="en-US" sz="115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一节干电池电压 1.5 V，两节干电池串联后总电压多大？某电压表误与灯串联接入电路，会看到什么现象？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比较电压表和电流表的使用规则：①相同点有哪些？②最关键的不同是什么？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电压表接 0–15 V 量程，指针偏转了 8 小格。它的示数是多少？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提示：先找 0–15 V 量程的分度值，再乘格数。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237 / 346</a:t>
            </a:r>
            <a:endParaRPr lang="en-US" sz="115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6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541" y="1876806"/>
            <a:ext cx="622936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电压表测量灯泡两端电压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电路图元件：电源、开关 S、灯 L1、灯 L2 串联；电压表 V 的两根引线分别接在 L1 左右两端（并联），表盘标“V”；标注：电压表并联在被测用电器两端、U总=U1+U2；旁注：若电压表并在电源两端则读数为总电压。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238 / 346</a:t>
            </a:r>
            <a:endParaRPr lang="en-US" sz="115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　串、并联电路中电压的规律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串联的几节电池电压能“叠”起来，串联的几盏灯电压怎么分？并联呢？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分组实验演示什么、看到什么：串联电路分别测 L₁、L₂ 两端和电源电压，多组数据记下来——两个分电压相加恰好等于总电压；并联电路测各支路与电源电压——各支路电压几乎相等且等于电源电压。两组数据摆在一起，规律不是被告知的，是被测出来的。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串联电路总电压等于各部分电压之和，U=U₁+U₂；并联电路各支路两端电压相等，且等于电源电压，U=U₁=U₂。类比巩固：串联像水路分段降压、各段压降相加；并联像各支路接在同一水位差上。与电流规律对照：串联电流相同、电压相加；并联电压相同、电流相加，两条规律对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并联各支路电压之和等于电源电压——各支路电压相等且都等于电源电压；认为串联的两盏不同规格灯平分电压也错，按什么分配由电阻决定，下一章揭晓。适用边界：两条规律的前提仍是电路连接方式判断正确；串联分压不必平均，规格不同的灯分得的电压一般不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串联电压规律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并联电压规律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认为并联各支路电压之和等于电源电压（各支路电压相等）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认为串联的两盏不同规格灯平分电压（按电阻比例分配）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239 / 346</a:t>
            </a:r>
            <a:endParaRPr lang="en-US" sz="115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　串、并联电路中电压的规律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两灯串联接在 3 V 电源上，电压表测得 L₁ 两端电压 1.8 V。L₂ 两端电压多大？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依据串联电压规律 U=U₁+U₂，总电压 3 V 已知。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U₂=U−U₁=3 V−1.8 V=1.2 V。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检验：1.8 V+1.2 V=3 V，等于电源电压，自洽。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L₂ 两端电压 1.2 V。串联电压“相加”与并联电压“相等”，两条规律不要互相串门。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240 / 346</a:t>
            </a:r>
            <a:endParaRPr lang="en-US" sz="115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　串、并联电路中电压的规律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三只灯串联接在 6 V 电源上，L₁ 两端 2.5 V、L₂ 两端 1.5 V，L₃ 两端多大？若把三灯改为并联在原电源上，各灯两端电压多大？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两灯并联接在 3 V 电源上正常发光。①每盏灯两端的电压各多大？②若其中一灯灯丝烧断，另一灯两端的电压变吗？为什么？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两灯串联接在 4.5 V 电源上，电压表测得 L₁ 两端电压 2 V。L₂ 两端电压多大？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提示：串联电压相加：总电压减去 L₁ 的电压就是 L₂ 的电压。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241 / 346</a:t>
            </a:r>
            <a:endParaRPr lang="en-US" sz="115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　电阻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同样粗细的铜线和镍铬合金线，接同一电源，一个电流大一个电流小——导体在“拦”什么？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把长短、粗细相同但材料不同的导线分别接入电路，小灯亮度不同——不同材料对电流的阻碍不同。再换长短不同、粗细不同的镍铬合金线对比，灯的亮度跟着变。控制变量三连做，学生会自己归纳出：电阻与材料、长度、横截面积有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本体：电阻表示导体对电流的阻碍作用，符号 R，单位欧姆（Ω），常用 kΩ、MΩ。影响电阻大小的因素：材料、长度、横截面积，还有温度——金属导体温度越高电阻越大。电阻是导体本身的性质，与是否接电源、有无电流无关；R=U/I 只是计算式，不是决定式。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高频误区显式纠正：由 R=U/I 推出“R 与 U 成正比、与 I 成反比”——比值定义的量不随分子分母变，电阻由导体本身决定；忽略温度的影响也常见，灯丝正常发光时电阻远大于常温。适用边界：同一导体不同温度下电阻不同；长度、横截面积对电阻的影响要在“同种材料”前提下比较，混着比没有结论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电阻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欧姆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控制变量法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由 R=U/I 推出“R 与 U 成正比”（R 是比值定义的定值）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忽略温度对电阻的影响（灯丝电阻随温度明显变化）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242 / 346</a:t>
            </a:r>
            <a:endParaRPr lang="en-US" sz="115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　电阻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两根镍铬合金线粗细相同，一根长 1 m、一根长 2 m，哪根电阻大？若把同材料同粗细的导线对折后使用，电阻怎么变？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依据实验规律：材料、横截面积相同时，电阻与长度成正比，2 m 的电阻大。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对折相当于长度减半、横截面积加倍，两个因素都使电阻减小。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结论：对折后电阻约为原来的四分之一（长度减半减一半，截面加倍再减一半）。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m 的电阻大；对折后电阻明显减小（约为原来的 1/4）。判断电阻只看材料、长度、横截面积、温度四要素。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243 / 346</a:t>
            </a:r>
            <a:endParaRPr lang="en-US" sz="115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　电阻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白炽灯灯丝不发光时测得电阻小，正常发光时电阻大得多，为什么？由此说明用 R=U/I 计算电阻要注意什么？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远距离输电为什么要用横截面积较大的粗导线？从电阻与损耗的角度说明。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两根同种材料的导线长度相同，甲的横截面积是乙的 2 倍。哪根电阻大？甲的电阻是乙的多少倍？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提示：同材料同长度时，电阻与横截面积成反比：越粗电阻越小。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244 / 346</a:t>
            </a:r>
            <a:endParaRPr lang="en-US" sz="1150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调光台灯、调音量的旋钮，背后都是一个“可调的电阻”。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把调光台灯旋钮从最小拧到最大，灯光随之变暗再变亮——旋钮背后是滑动变阻器。出示实物：瓷筒上绕着电阻线，上方金属杆带滑片。让学生猜“为什么必须一上一下接线”，再用两种错误接法（同下、同上）演示滑片失效，接法规则从反例中立起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本体：滑动变阻器靠改变接入电路的电阻线长度来改变电阻。“一上一下”接入时，接入的是“下端接线柱到滑片”那一段：接 A、C 时滑片向 B 端移动，接入长度变长、电阻变大。铭牌“50 Ω 1.5 A”：最大阻值 50 Ω，允许通过的最大电流 1.5 A。闭合开关前滑片移到阻值最大端，保护电路。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接下面两个接线柱相当于定值电阻，滑片移动无效；接上面两个上柱相当于导线，可能造成短路；闭合开关前滑片不在最大阻值处，电路失去保护。适用边界：滑动变阻器不能精确读出接入阻值；需要“读出阻值”的场合用电阻箱；判断滑片移动方向先确认接的是哪个下柱，再画“接入段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滑动变阻器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一上一下接法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接下面两个接线柱相当于定值电阻，滑片移动无效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闭合开关前滑片不在最大阻值处，电路失去保护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245 / 346</a:t>
            </a:r>
            <a:endParaRPr lang="en-US" sz="115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滑动变阻器按下端 A、上端 C 接入电路。要使灯变暗，滑片应向哪端移动？写出完整的判断链。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灯变暗需要电流变小，则电路中的电阻要变大。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A、C 时接入的是 A 到 P 段电阻线，电阻变大应使该段变长。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滑片向 B 端（远离 A）移动：接入长度变长→电阻变大→电流变小→灯变暗。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滑片向 B 端移动。判断链：亮度→电流→电阻→接入长度→滑片方向，五环相扣。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246 / 346</a:t>
            </a:r>
            <a:endParaRPr lang="en-US" sz="115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某同学把变阻器 A、B 两个下接线柱接入电路。移动滑片灯的亮度会变吗？闭合开关前滑片应放在什么位置？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①滑动变阻器铭牌“20 Ω 2 A”表示什么？②把它接成“上面两个接线柱”，滑片移动时接入电阻怎么变？有什么危险？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滑动变阻器仍按下端 A、上端 C 接入电路。要使灯变亮，滑片应向哪端移动？写出完整判断链。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提示：与“变暗”反向推：灯变亮→电流变大→电阻变小→接入段变短。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247 / 346</a:t>
            </a:r>
            <a:endParaRPr lang="en-US" sz="115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6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298170"/>
            <a:ext cx="6949440" cy="300461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滑动变阻器的结构与接法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画滑动变阻器：瓷筒上绕电阻线、上方金属杆带滑片 P、四个接线柱（下 A、B，上 C、D）；标注：一上一下接入才有效，接 A、C 时滑片右移电阻变大；铭牌“50 Ω 1.5 A”含义用文字标注。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248 / 346</a:t>
            </a:r>
            <a:endParaRPr lang="en-US" sz="115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第十六章 · 电压 电阻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电压 U 是形成电流的原因，单位 V；电压表并联测量、先大后小选量程；记住 1.5 V、2…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 U总=U₁+U₂，并联各支路电压相等且等于电源电压；串联分压不平均，与下节电阻挂钩。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电阻 R 是导体本身的性质，单位 Ω，由材料、长度、横截面积、温度决定；金属温度越高电阻越…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滑动变阻器“一上一下”才有效，靠改变接入电阻线长度变阻；开关闭合前滑片置最大阻值端保护电路。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两灯串联，V 测 L1 得 2 V，电源电压 6 V，L2 两端电压多大？电压表为什么不能当电流表串联使用？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249 / 346</a:t>
            </a:r>
            <a:endParaRPr lang="en-US" sz="115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考查：探究 I 与 U、R 关系的实验设计、欧姆定律及串并联应用、伏安法测电阻与电路故障分析。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第十七章　欧姆定律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控制变量探得电流与电压、电阻的关系后合成欧姆定律，伏安法测电阻把定律变成工具。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电流与电压和电阻的关系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欧姆定律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电阻的测量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欧姆定律在串并联电路中的应用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电压推电流、电阻拦电流——两个因素一起变就说不清，怎么把它们分开研究？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先让学生猜“同时改变电压和电阻，电流会怎样”，发现根本说不清——两个因素一起变就无法归因，控制变量法被“需要”出来。再分两次实验：定电阻改电压看电流；定电压换电阻看电流。两次实验开始前都先说清“这次控制了什么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本体：实验一：保持定值电阻 R 不变，调节滑动变阻器改变 R 两端电压，多次记录 U 和 I——I-U 图是过原点的直线，I 与 U 成正比。实验二：保持电阻两端电压不变，换用不同阻值的定值电阻，每次换上后调滑片使电压回到原值再记 I——I 与 R 成反比，特征是乘积 U=IR 不变。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高频误区显式纠正：不做多次测量、不调节变阻器就下结论——多次测量才能得出普遍规律；把“I 与 R 成反比”说成“I 与 R 的比值不变”也错，反比是乘积不变。适用边界：过原点直线的正比结论只对温度不变的定值电阻成立，灯丝电阻随温度变，图像是曲线；换电阻后不重新调压，数据就违背了控制变量，结论不成立。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控制变量法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不做多次测量、不调节变阻器就下结论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把“I 与 R 成反比”说成“I 与 R 的比值不变”（反比是乘积不变）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251 / 346</a:t>
            </a:r>
            <a:endParaRPr lang="en-US" sz="115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R=10 Ω，电压调到 2 V 时电流多大？电压调到 4 V 呢？改保持 U=3 V，换用 5 Ω 和 15 Ω 的电阻，电流各多大？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第一组控制 R=10 Ω 不变：I₁=U/R=2 V÷10 Ω=0.2 A。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加倍到 4 V：I₂=4 V÷10 Ω=0.4 A，正好翻倍，验证正比。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第二组控制 U=3 V：I=3 V÷5 Ω=0.6 A；I=3 V÷15 Ω=0.2 A，R 变为 3 倍、I 变为三分之一，乘积 3 V 不变，验证反比。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V 时 0.2 A，4 V 时 0.4 A；U=3 V 时 5 Ω 得 0.6 A、15 Ω 得 0.2 A。正比看图像过原点，反比看 U=IR 乘积不变。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252 / 346</a:t>
            </a:r>
            <a:endParaRPr lang="en-US" sz="115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做“探究 I 与 U 关系”实验时，滑动变阻器起什么作用？若探究“I 与 R”时换电阻后不重新调滑片，数据会怎样、结论还成立吗？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探究“I 与 R”的关系时，每次换上不同的定值电阻后，必须进行什么操作？这一操作保证了什么？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①R=15 Ω，电压调到 3 V 时电流多大？电压调到 6 V 呢？②保持 U=6 V 不变，把电阻换成 30 Ω，电流多大？说明这组数据验证了什么关系。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提示：①控制 R=15 Ω 比较两次电流；②控制 U=6 V，算电流并检查 U=IR 乘积是否不变。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253 / 346</a:t>
            </a:r>
            <a:endParaRPr lang="en-US" sz="115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7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244" y="1876806"/>
            <a:ext cx="590596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定值电阻与小灯泡的 I-U 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I-U 图像：横轴 U/V 0–3，纵轴 I/A 0–0.6；定值电阻（R=5 Ω）数据 U=[0,1,2,3]，I=[0,0.2,0.4,0.6]，为过原点直线；小灯泡数据 U=[0,0.5,1,1.5,2,2.5,3]，I=[0,0…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254 / 346</a:t>
            </a:r>
            <a:endParaRPr lang="en-US" sz="115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　欧姆定律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把两条实验规律合起来，就是电学里最常用的定律——一条公式管所有纯电阻电路。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衔接演示：上节两条规律——电压推电流（I 与 U 成正比）、电阻拦电流（I 与 R 成反比），合起来就是欧姆定律。先用一道“同一导体、同一时刻”的算例示范，再出一道“跨状态乱代数据”的坑题，学生掉进去一次，使用前提就记牢了。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本体：欧姆定律：导体中的电流，跟导体两端的电压成正比，跟导体的电阻成反比，公式 I=U/R。单位配套：U 用伏（V）、I 用安（A）、R 用欧（Ω）。三个变形各有用途：I=U/R 求电流，U=IR 求电压，R=U/I 由伏安数据求电阻。规范动作：写公式、统一单位、代数带单位、结果带单位。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高频误区显式纠正：跨电路、跨状态套用公式——两次不同状态的测量值不能混着代，前提是“同一导体、同一时刻”；由 R=U/I 说“R 与 U 成正比”也错，R 是导体本身的性质，该式只是测量计算式。适用边界：欧姆定律直接适用于金属导体和电解液，气体导电不服从。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欧姆定律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02345" y="259003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3" name="Text 11"/>
          <p:cNvSpPr/>
          <p:nvPr/>
        </p:nvSpPr>
        <p:spPr>
          <a:xfrm>
            <a:off x="8866937" y="26631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66937" y="293751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跨电路、跨状态套用公式（前后两次测量的量混用）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不同电压情境下仍用“I 与 R 成反比”乱套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255 / 346</a:t>
            </a:r>
            <a:endParaRPr lang="en-US" sz="115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　欧姆定律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定值电阻 R=20 Ω，两端电压 6 V，电流多大？若某导体通过 0.5 A 电流时两端电压 20 V，它的电阻多大？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第一问求电流，依据 I=U/R：I=6 V÷20 Ω=0.3 A。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第二问求电阻，依据变形 R=U/I：R=20 V÷0.5 A=40 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检验：V÷Ω 得 A、V÷A 得 Ω，两次代入都是同一导体的同一状态。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 0.3 A；电阻 40 Ω。先写公式、代数带单位、最后答数带单位，三步不能省。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256 / 346</a:t>
            </a:r>
            <a:endParaRPr lang="en-US" sz="115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　欧姆定律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某电阻两端加 4 V 电压时电流 0.2 A。电阻多大？若电压增大到 8 V，电阻和电流各多大？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一段导体两端电压为 2 V 时，通过的电流为 0.5 A。①导体的电阻多大？②电压增大到 4 V 时，通过的电流多大？③能否说“电压增大电阻也增大”？为什么？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①定值电阻 R=50 Ω，两端电压 10 V，通过的电流多大？②某导体通过 0.4 A 电流时两端电压为 12 V，这个导体的电阻多大？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提示：①求电流用 I=U/R；②求电阻用变形 R=U/I；数据必须是同一状态的一组。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257 / 346</a:t>
            </a:r>
            <a:endParaRPr lang="en-US" sz="115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手头只有电压表、电流表和一个待测电阻，怎么把它的阻值“称”出来？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任务演示：给出电源、电压表、电流表、滑动变阻器、开关和待测电阻 Rx，让学生先画电路图再动手——“串安并伏”四个字当作接线口诀。闭合开关前滑片移到最大阻值端。第一次测量完成后再引导：只测一次够吗？多次测量的目的是什么，边测边想。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本体：伏安法测电阻原理 R=U/I：电压表并联在 Rx 两端读 U，电流表串联读 I。定值电阻多次测量（移动滑片取三组 U、I），分别算 R 再取平均，减小偶然误差；小灯泡不取平均——灯丝电阻随温度明显变化，不同电压下测得的不是同一个量。故障排查套路：电压表有示数、电流表无示数→被测电阻断路。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滑动变阻器接成同上或同下，滑片失效；把小灯泡几次测得的电阻取平均当作“定值”也错，不同状态电阻本不相同。适用边界：多次测量取平均只适用于“待测量不变”的场合（定值电阻）；灯泡实验的多次测量是为了研究电阻随温度的变化；接线时开关必须断开，闭合前滑片置最大阻值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伏安法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多次测量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滑动变阻器接成同上或同下，滑片失效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把小灯泡几次测得的电阻取平均当作“定值”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258 / 346</a:t>
            </a:r>
            <a:endParaRPr lang="en-US" sz="115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测某定值电阻：三次读数 U=2.0 V、I=0.40 A；U=2.5 V、I=0.50 A；U=3.0 V、I=0.60 A。求电阻的测量值。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R=U/I 分别求三次值：2.0÷0.40=5.0 Ω；2.5÷0.50=5.0 Ω；3.0÷0.60=5.0 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依据多次测量求平均减小偶然误差：R平均=(5.0+5.0+5.0)÷3=5.0 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检验：三次数值几乎相同，说明确为定值电阻，取平均合理。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电阻测量值 5.0 Ω。若是小灯泡，三次阻值会明显不同，此时应分别记录、不取平均。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259 / 346</a:t>
            </a:r>
            <a:endParaRPr lang="en-US" sz="115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闭合开关后发现电流表无示数、电压表示数接近电源电压。电路可能哪里出故障？判断依据是什么？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①为什么测小灯泡电阻时不把几次测得的电阻取平均？②若闭合开关后电压表、电流表都无示数，故障可能在哪里？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测另一只定值电阻：三次数据为 U=1.44 V、I=0.30 A；U=2.50 V、I=0.50 A；U=2.60 V、I=0.50 A。求电阻的测量值。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提示：先逐次算 R=U/I，再把三次结果取平均。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260 / 346</a:t>
            </a:r>
            <a:endParaRPr lang="en-US" sz="1150" dirty="0"/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7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109" y="1876806"/>
            <a:ext cx="6490232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伏安法测电阻电路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电路图元件：电源、开关 S、滑动变阻器 R′、电流表 A、待测电阻 Rx 依次串联；电压表 V 并联在 Rx 两端；标注：电流表串联读 I、电压表并联读 U、Rx=U/I；滑片初始位于阻值最大端，文字注“变阻器：保护电路+多次测量”。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261 / 346</a:t>
            </a:r>
            <a:endParaRPr lang="en-US" sz="115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　欧姆定律在串并联电路中的应用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串联时电压怎么分？并联时电流怎么分？两个比例关系一推出来，综合题就有了钥匙。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推导演示：让学生用欧姆定律自己推——串联电流相等，I=U₁/R₁=U₂/R₂，交叉相乘得 U₁/U₂=R₁/R₂；并联电压相等，U=I₁R₁=I₂R₂，得 I₁/I₂=R₂/R₁。两个比例由学生亲手推出来，再用例题数据当场验证，公式不再是“背来的”。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本体：串联分压 U₁/U₂=R₁/R₂——电压按电阻正比分配，大电阻分大电压；并联分流 I₁/I₂=R₂/R₁——电流按电阻反比分配，小电阻走大电流。两条成对记：串分压、并分流。开关通断、滑片移动类综合题的规矩：状态一变先重画等效电路，标清每个量属于哪个状态，再列式。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开关状态改变后不重画等效电路，新旧状态的数据混用——这是最大失分点；认为并联一条支路电阻变化会影响另一支路的电流也错，电源电压不变时各支路电压不变，变化的是干路电流。适用边界：分压分流比例只对“串联/并联”的连接方式成立，混联先化简等效电阻再分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等效电路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开关状态改变后不重画等效电路，新旧数据混用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认为并联一条支路电阻变化会影响另一支路的电压（电源电压不变时各支路电压不变）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262 / 346</a:t>
            </a:r>
            <a:endParaRPr lang="en-US" sz="115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　欧姆定律在串并联电路中的应用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R₁=10 Ω、R₂=20 Ω 串联接在 6 V 电源上。电路电流多大？两电阻各自分得多大电压？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依据串联电阻规律，总电阻 R=R₁+R₂=10 Ω+20 Ω=30 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依据欧姆定律 I=U/R：I=6 V÷30 Ω=0.2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U=IR 分别求：U₁=0.2 A×10 Ω=2 V，U₂=0.2 A×20 Ω=4 V。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 V+4 V=6 V 等于电源电压；U₁/U₂=1/2=R₁/R₂，符合分压关系。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 0.2 A，U₁=2 V、U₂=4 V。分压按电阻正比，总电压恰好分完，两条都核上才算稳。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263 / 346</a:t>
            </a:r>
            <a:endParaRPr lang="en-US" sz="1150" dirty="0"/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　欧姆定律在串并联电路中的应用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R₁=10 Ω、R₂=20 Ω 并联接在 4 V 电源上。各支路电流多大？干路电流多大？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R₁=10 Ω 与 R₂=30 Ω 并联接在 6 V 电源上。①并联总电阻多大？②干路电流多大？③各支路电流多大？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R₁=20 Ω、R₂=40 Ω 串联接在 12 V 电源上。电路电流多大？两电阻各自分得多大电压？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提示：先算总电阻 R=R₁+R₂，用 I=U/R 求电流，再分别用 U=IR 求电压，最后检查电压之和。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264 / 346</a:t>
            </a:r>
            <a:endParaRPr lang="en-US" sz="1150" dirty="0"/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第十七章 · 欧姆定律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控制变量分两次探究：R 定则 I 与 U 成正比，U 定则 I 与 R 成反比（乘积不变）…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欧姆定律 I=U/R，前提“同一导体、同一时刻”；R=U/I 只是计算式，电阻不由电压电流…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伏安法测电阻：串安并伏、滑片初始最大、多次测量取平均；灯泡电阻随温度变、不取平均；断路故障…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串联分压 U₁/U₂=R₁/R₂，并联分流 I₁/I₂=R₂/R₁；综合题先重画等效电路，…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画出伏安法测电阻的电路图并说明滑动变阻器的作用；R1=10 Ω、R2=20 Ω 串联接在 6 V 电源上，各自电压多大？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265 / 346</a:t>
            </a:r>
            <a:endParaRPr lang="en-US" sz="1150" dirty="0"/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能量 ｜ 考查：电能表读数与电费计算、额定功率与实际功率、伏安法测功率、焦耳定律 Q=I²Rt。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第十八章　电功率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从电能表读起，W=UIt 与 P=UI 分层建立，测灯泡功率实验与焦耳定律收口。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电能 电功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电功率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测量小灯泡的电功率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焦耳定律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家里每月的电费单上，那个数字是怎么算出来的？先学会读电能表。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演示什么、看到什么：出示电能表面板——五位读数窗最后一位在红框里、转盘小窗在转动、铭牌印着“220 V 10(40) A 3000 r/kW·h”。让学生先试读读数，多数人会漏掉红框里的小数位；再看转盘转动——用电越多转得越快，电能的计量就从这块表开始。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本体：电能表测量用电器消耗的电能，单位 kW·h（度），最后一位红框是小数位；“3000 r/kW·h”表示每消耗 1 kW·h 转盘转 3000 转，数转数即可算电能。电功 W=UIt，单位 J，1 kW·h=3.6×10⁶ J；10(40) A 指标定电流 10 A、额定最大电流 40 A。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 kW·h 当成功率单位——它是电能（电功）的单位；电能表读数漏看最后一位红色小数也常见。适用边界：电能表测的是累计消耗的电能，某段时间用电量=月末读数−月初读数；W=UIt 适用于任何电路的电功计算，1 度电=1 kW·h=3.6×10⁶ J。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电能表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千瓦时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电功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 kW·h 当成功率单位（它是电能/电功的单位）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电能表最后一位红色框内是小数，读数时漏看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267 / 346</a:t>
            </a:r>
            <a:endParaRPr lang="en-US" sz="1150" dirty="0"/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某用电器工作时电能表转盘转过 150 转，电能表铭牌标“3000 r/kW·h”。它消耗了多少电能？合多少焦？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依据铭牌含义（每消耗 1 kW·h 转盘转 3000 转）：W=150÷3000=0.05 kW·h。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换算：1 kW·h=3.6×10⁶ J，W=0.05×3.6×10⁶ J=1.8×10⁵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检验：0.05 度即 50 W 的用电器工作 1 h，量级合理。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消耗电能 0.05 kW·h，即 1.8×10⁵ J。转数除以常数得度数，再乘 3.6×10⁶ 换焦耳，两步换算别跳步。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268 / 346</a:t>
            </a:r>
            <a:endParaRPr lang="en-US" sz="1150" dirty="0"/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小明家月初电能表读数 4318.5 kW·h，月底 4328.5 kW·h，电价 0.55 元/kW·h。本月用电多少？应付电费多少？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一只功率 800 W 的电水壶正常工作 15 min。①它消耗多少电能（用 kW·h 表示）？②合多少焦？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某用电器工作时电能表转盘转过 450 转，铭牌“3000 r/kW·h”。它消耗了多少电能？合多少焦？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提示：转数除以 3000 得 kW·h 数，再乘 3.6×10⁶ 换成焦耳。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269 / 346</a:t>
            </a:r>
            <a:endParaRPr lang="en-US" sz="1150" dirty="0"/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8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109930"/>
            <a:ext cx="6949440" cy="33810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电能表铭牌与读数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画电能表面板：五位读数窗显示 04328（最后一位用红框标出，表示 0.8 kW·h 的小数位）、转盘小窗、铭牌“220 V 10(40) A 3000 r/kW·h”；标注：读数 432.8 kW·h、每转 3000 转消耗 1 kW…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270 / 346</a:t>
            </a:r>
            <a:endParaRPr lang="en-US" sz="1150" dirty="0"/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　电功率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W 的灯比 40 W 的灯亮——这个数字说的是用电的“快慢”。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情境演示：把“220 V 100 W”和“220 V 40 W”两盏灯的铭牌亮给学生看，再问“100 W 什么意思、灯一定按 100 W 发光吗”。随后把其中一盏接入调压电路降低电压，灯明显变暗——实际功率随实际电压变，铭牌上的只是“额定”值，学生的直觉被当场校正。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本体：电功率表示电流做功的快慢，P=W/t=UI，单位瓦特（W），常用 kW。两套公式按已知量选用：知道 W、t 用 P=W/t，知道 U、I 用 P=UI。由 P=UI=U²/R 可从铭牌求电阻：R=U额²/P额。把电阻视为不变，就能推算非额定电压下的实际功率 P实=U实²/R。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高频误区显式纠正：认为灯的亮度由额定功率决定——亮度由实际功率决定，电压不足时 100 W 的灯也会暗；把 kW·h 当功率单位、“灯一定按铭牌功率发光”都是错的。适用边界：P实=U实²/R 中假设电阻不变只是近似（灯丝温度变了电阻会变）；额定电压下实际功率才等于额定功率。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电功率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额定功率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实际功率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认为灯的亮度由额定功率决定（由实际功率决定）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看到“220 V 100 W”不会换算出电阻 R=U²/P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271 / 346</a:t>
            </a:r>
            <a:endParaRPr lang="en-US" sz="1150" dirty="0"/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　电功率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一盏标有“220 V 40 W”的白炽灯。正常发光时电流多大？灯丝电阻多大？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正常发光即实际电压等于额定电压、实际功率等于额定功率 40 W。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P=UI 变形：I=P/U=40 W÷220 V≈0.18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P=U²/R 变形：R=U²/P=220²÷40=48400÷40=1210 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电流约 0.18 A，电阻 1210 Ω。从铭牌读出 U额、P额，再按 P=UI、R=U²/P 两条路各算一次。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272 / 346</a:t>
            </a:r>
            <a:endParaRPr lang="en-US" sz="1150" dirty="0"/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　电功率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把“220 V 100 W”的灯接到 110 V 电路中（灯丝电阻不变），实际功率多大？灯会怎样？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某家庭电能表标有“220 V 10(40) A”。①该家庭电路允许同时使用的用电器最大总功率是多少？②家中已同时使用总功率 3000 W 的电器，能否再接入一台 2000 W 的空调？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一盏标有“220 V 100 W”的白炽灯。①正常发光时电流多大？②灯丝电阻多大？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提示：①I=P/U；②R=U额²/P额，注意 220²=48400。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273 / 346</a:t>
            </a:r>
            <a:endParaRPr lang="en-US" sz="1150" dirty="0"/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手中有电压表、电流表、滑动变阻器——怎么让灯泡“正当额”地亮起来并测出它的功率？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实验演示什么、看到什么：按“串安并伏”接好电路——电压表并在小灯泡两端，滑片先置最大阻值端。闭合开关后缓缓移动滑片，眼睛盯住电压表：调到 2.5 V（额定电压）的瞬间读电流表——这就是“让灯正当额”的操作。再调到 1.5 V 和稍高于 2.5 V 各测一组，三种亮度摆在眼前。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本体：伏安法测功率原理 P=UI。操作核心：调节滑动变阻器使电压表示数等于灯的额定电压，此时 P额=U额I；再测低于和稍高于额定电压的两组实际功率。与测电阻实验的关键区别——多次测量的目的不同：测不同电压下的实际功率并比较亮度，不取平均（额定功率只有一个）。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高频误区显式纠正：把几次测得的功率取平均当作额定功率——额定功率只在额定电压下测得；电压表误并在滑动变阻器两端，读数当成灯泡电压，P 就算错了。适用边界：P=UI 中的 U、I 必须是同一时刻、同一用电器（小灯泡）两端的值；读数要同步，电压调到位再读电流。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伏安法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额定电压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把几次测得的功率取平均当作额定功率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电压表误并在滑动变阻器两端，读数当成灯泡电压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274 / 346</a:t>
            </a:r>
            <a:endParaRPr lang="en-US" sz="1150" dirty="0"/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额定电压 2.5 V 的小灯泡：调变阻器使电压表读 2.5 V 时电流表读 0.3 A；又测得电压 1.5 V 时电流 0.22 A。两种情况的功率各多大？哪种更亮？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P=UI：额定电压下 P额=2.5 V×0.3 A=0.75 W。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V 时 P实=1.5 V×0.22 A=0.33 W。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比较：0.33 W&lt;0.75 W，实际功率小则灯暗；两个状态分别记录，不取平均。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额定功率 0.75 W，1.5 V 时实际功率 0.33 W，前者更亮。这里的“多次测量”是为了对比不同电压下的实际功率，不是为了平均。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275 / 346</a:t>
            </a:r>
            <a:endParaRPr lang="en-US" sz="1150" dirty="0"/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测灯泡功率实验中，电压表应并在哪两端？若误并在滑动变阻器两端并按其示数计算，结果是什么？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①闭合开关前滑动变阻器的滑片应放在什么位置？为什么？②为什么测额定功率必须把电压调到额定电压，随便测一组不行吗？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额定电压 3.8 V 的小灯泡：电压表调到 3.8 V 时电流表读 0.3 A；电压调到 2.5 V 时电流表读 0.25 A。①灯的额定功率多大？②2.5 V 时的实际功率多大？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提示：①额定功率=额定电压×额定电压下的电流；②用同一时刻的 U、I 代 P=UI。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276 / 346</a:t>
            </a:r>
            <a:endParaRPr lang="en-US" sz="1150" dirty="0"/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8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109" y="1876806"/>
            <a:ext cx="6490232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伏安法测小灯泡电功率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电路图元件：电源、开关 S、滑动变阻器 R′、电流表 A、小灯泡 L 依次串联；电压表 V 并联在 L 两端；标注：调节滑片使 V 读数等于灯的额定电压（如 2.5 V），读电流 I，P=UI；滑片初始位于阻值最大端。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277 / 346</a:t>
            </a:r>
            <a:endParaRPr lang="en-US" sz="1150" dirty="0"/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　焦耳定律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电炉丝和导线流着同样的电流，为什么电炉丝烧得通红，导线却几乎不热？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演示什么、看到什么：出示电炉照片——电炉丝烧得通红，与它串联的导线却几乎不热；两者电流相同、时间相同，差别只在电阻。学生带着“同流不同热”的疑问进入焦耳定律，公式里为什么是 R 的一次方、I 的二次方，从这道悬念出发。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焦耳定律：电流通过导体产生的热量跟电流的二次方成正比，跟导体的电阻成正比，跟通电时间成正比，Q=I²Rt。串联时电流相同，电炉丝电阻远大于导线，所以发红的是电炉丝、导线不热。纯电阻电路电能全部转化为内能，W=Q；非纯电阻电路（如电动机）W&gt;Q，发热只能用 Q=I²Rt 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高频误区显式纠正：任何电路都用 Q=W=UIt 算热量是典型错误——电动机等非纯电阻电路发热必须用 Q=I²Rt；“电流大发热一定多”也错，还要看电阻与时间。适用边界：Q=I²Rt 是电热的普适式；W=Q 只对纯电阻电路成立；串联 Q 与 R 成正比、并联 Q 与 R 成反比，先分清连接方式。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焦耳定律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纯电阻电路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任何电路都用 Q=W=UIt 计算热量（非纯电阻电路不成立）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认为电流大发热一定多（还取决于电阻与时间）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278 / 346</a:t>
            </a:r>
            <a:endParaRPr lang="en-US" sz="1150" dirty="0"/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　焦耳定律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电炉的电阻丝 R=44 Ω，通过的电流 5 A，工作 1 min 产生多少热量？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依据焦耳定律 Q=I²Rt，先统一时间单位：t=1 min=60 s。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Q=5²×44×60=25×44×60=6.6×10⁴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检验：电炉是纯电阻电路，也可用 W=UIt 交叉验证；数量级与家用电炉相符。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min 产生热量 6.6×10⁴ J。电流是平方项，代入最易算错；先确认电路是不是纯电阻再选公式。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279 / 346</a:t>
            </a:r>
            <a:endParaRPr lang="en-US" sz="1150" dirty="0"/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　焦耳定律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电动机线圈电阻 1 Ω，工作电流 2 A，两端电压 220 V。1 s 内电流做的功和产生的热量各多大？两者为什么不相等？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两根电阻丝 R₁=10 Ω、R₂=20 Ω：①把它们串联接入电路，相同时间内谁产生的热量多？是另一根的几倍？②改为并联接入相同电源呢？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一根电阻 R=110 Ω 的电阻丝，通过的电流为 2 A，工作 10 min 产生多少热量？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提示：Q=I²Rt：先算 I²=4，时间化成秒 600 s。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280 / 346</a:t>
            </a:r>
            <a:endParaRPr lang="en-US" sz="1150" dirty="0"/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第十八章 · 电功率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电能表读数末位是小数，3000 r/kW·h 可由转数算电能；W=UIt，1 kW·h=3…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P=W/t=UI，单位 W；铭牌可求 R=U额²/P额；亮度看实际功率，电压减半实际功率只…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调变阻器使 U=U额 再读 I，P=UI；多次测量是为了对比不同电压的实际功率，不取平均。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Q=I²Rt，串联同流时电阻大者发热多；纯电阻 W=Q，电动机 W&gt;Q，发热一律用焦耳定律…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“220 V 100 W”的灯正常发光时电流与电阻多大？接到 110 V 电路中实际功率多大？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281 / 346</a:t>
            </a:r>
            <a:endParaRPr lang="en-US" sz="1150" dirty="0"/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能量 ｜ 考查：家庭电路连接规范（开关接火线）、测电笔使用、电流过大原因分析与安全用电原则。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第十九章　生活用电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沿家庭电路“进户→电能表→总开关→保险→用电器”走线，用触电路径与短路讲安全用电。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家庭电路中电流过大的原因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安全用电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家里墙上的插座三个孔、电灯一个开关——这一套是怎么接进户的？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演示什么、看到什么：沿家庭电路走一遍——进户线（火线 L、零线 N）→电能表→总开关→保险装置→并联的用电器和插座。当场用测电笔示范握笔手势（笔尖触线、手压笔尾金属体）：触火线氖管发光、触零线不亮。三孔插座“左零右火上接地”边指边念。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本体：火线与零线间电压 220 V。连接规范三句话必记：控制灯的开关必须接在火线上——断开后灯座不带电，检修安全；螺口灯座的螺旋套只准接零线；三孔插座的第三个孔接地线，把洗衣机、电冰箱等电器的金属外壳接地，漏电时电流走地线入地保护人体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高频误区显式纠正：把开关接在零线上——断开后灯座仍与火线相连带电，检修时一碰就触电；认为三孔插座的地线可有可无也错，它是漏电保护的生命线。适用边界：各用电器必须并联（互不影响、各得 220 V）；测电笔只能测 220 V 低压线路，手绝不能碰笔尖金属体。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火线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零线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地线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测电笔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把开关接在零线上（断开后灯座仍带电，检修危险）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认为三孔插座的地线可有可无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283 / 346</a:t>
            </a:r>
            <a:endParaRPr lang="en-US" sz="1150" dirty="0"/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检修台灯时发现：断开开关后灯座仍“带电”（测电笔氖管发亮）。最可能的原因是什么？为什么危险？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开关断开后灯座仍带电，说明开关没有接在火线上，而是接在了零线上。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开关在零线上时，断开只切断零线，火线仍直接连到灯座。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危险在于：人以为已断电去触碰灯座金属部分，火线—人体—大地构成回路，发生触电。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开关误接在零线上。规范接法是开关接火线，保证断开后灯座不带电。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284 / 346</a:t>
            </a:r>
            <a:endParaRPr lang="en-US" sz="1150" dirty="0"/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测电笔为什么不能像普通钢笔那样满手握住？用三孔插座接电热水壶，地线孔起什么作用？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家庭电路中各用电器为什么必须并联而不能串联？从“电压”和“互不影响”两方面说明。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①三孔插座的三个孔分别接什么线？排列口诀是什么？②为什么电冰箱必须用三孔插座？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提示：口诀“左零右火上接地”；金属外壳的电器要考虑“外壳漏电怎么办”。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285 / 346</a:t>
            </a:r>
            <a:endParaRPr lang="en-US" sz="1150" dirty="0"/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9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368410"/>
            <a:ext cx="6949440" cy="28641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家庭电路的组成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画家庭电路组成：进户线（火线 L、零线 N）→电能表→总开关→保险装置→并联的用电器支路；其中灯支路：开关 S 接在火线上、螺口灯座螺旋套接零线；插座支路：三孔插座（上孔 E 接地线、左孔 N、右孔 L）；标注：各用电器并联、火零之间 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286 / 346</a:t>
            </a:r>
            <a:endParaRPr lang="en-US" sz="1150" dirty="0"/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　家庭电路中电流过大的原因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保险丝熔断、空气开关跳闸之前，电路里发生了什么？原因其实只有两大类。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出示两种事故现场照片——插座里两根导线头碰在一起冒火花（短路）；一个插排上同时插着电暖器、电磁炉、电水壶后插排发烫（总功率过大）。两条原因殊途同归：电流过大。再演示保险丝熔断与空气开关跳闸复位，保护装置的作用当场理清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本体：原因一：短路——火线零线不经用电器直接接触，电阻极小，由 I=U/R 电流急剧增大。原因二：用电器总功率过大——并联电路干路电流等于各支路电流之和，接入越多、总功率越大，由 I=P/U 干路电流越大。保险丝选电阻率大、熔点低的铅锑合金，电流过大时先熔断；空气开关跳闸后复位即可。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用铜丝、铁丝代替保险丝——铜丝电阻率小、熔点高，电流过大时熔不断，起不到保护作用；认为并联的用电器越多总电流越小恰好说反，支路电流相加只会越大。适用边界：电流过大的两种原因任一出现都会引发危险；家庭电路应错峰使用大功率电器，避免干路电流超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短路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保险丝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空气开关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用铜丝、铁丝代替保险丝（电流过大时熔不断）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认为并联的用电器越多总电流越小（支路电流相加，越大）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287 / 346</a:t>
            </a:r>
            <a:endParaRPr lang="en-US" sz="1150" dirty="0"/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　家庭电路中电流过大的原因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家庭电路电压 220 V。已有用电器的总电流 10 A，再接入一台 220 V、2200 W 的电磁炉，干路电流多大？若线路允许最大 20 A，是否安全？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I=P/U：电磁炉的电流 I₁=2200 W÷220 V=10 A。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并联电路干路电流等于支路之和：I总=10 A+10 A=20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比较：20 A 恰好达到线路允许上限，已无余量，不宜再接入其他大功率电器。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干路电流达 20 A，已达允许上限，不宜再增负载。总功率过大是家庭电路电流过大的两大原因之一。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288 / 346</a:t>
            </a:r>
            <a:endParaRPr lang="en-US" sz="1150" dirty="0"/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　家庭电路中电流过大的原因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为什么保险丝要用“电阻率大、熔点低”的材料？用铜丝代替行不行？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发生短路时电流为什么特别大？为什么短路处往往烧得最厉害甚至引发火灾？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家庭电路中已使用电器的总电流为 8 A。再接入一台“220 V 1540 W”的空调后，干路电流多大？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提示：先算空调的电流 I=P/U，再与原有电流相加。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289 / 346</a:t>
            </a:r>
            <a:endParaRPr lang="en-US" sz="1150" dirty="0"/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V 的家用电压危不危险？触电到底是怎么发生的？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出示两张触电路径示意图——单线触电（手触火线、脚踩大地）、双线触电（两手分别触火线和零线），让学生用红笔描出电流经过人体的路径，发现两条路径的共同点：都有电流通过人体。触电的本质是“过大的电流通过人体”，不是“碰到电”就一定触电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安全用电原则：不接触低压带电体、不靠近高压带电体；换灯泡先断总开关；湿手不碰开关电器——水使人体电阻变小，同样电压下通过的电流更大更危险。高压触电有电弧触电和跨步电压触电两种：高压线落地时不能走近查看，应双脚并拢跳或单脚跳离开。发现有人触电，第一步是断开电源或用干燥木棒挑开电线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高频误区显式纠正：认为只有高压电才危险——220 V 家庭电压足以致命；认为零线沾不到危险也错，检修中误触火线才是主凶。适用边界：不接触低压带电体、不靠近高压带电体是普适原则；直接用手拉触电者会让救人者也触电，必须先断电或用绝缘物挑线。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触电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安全电压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跨步电压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认为只有高压电才危险（220 V 足以致命）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高压线落地后靠近查看（跨步电压触电）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290 / 346</a:t>
            </a:r>
            <a:endParaRPr lang="en-US" sz="1150" dirty="0"/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雷雨后一根高压线落在路边，同学想跑过去查看。应该怎么办？为什么？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高压线落地会在附近地面形成跨步电压，人两脚间可能有致命的电压差。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依据“不靠近高压带电体”的原则，绝不能走近查看，应远离并报告有关部门。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若已处在危险区内，应双脚并拢跳或单脚跳离开，避免两脚间产生大的电压差。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不能靠近，防止跨步电压触电；离开时并脚跳或单脚跳。安全用电原则第二条就是不靠近高压带电体。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291 / 346</a:t>
            </a:r>
            <a:endParaRPr lang="en-US" sz="1150" dirty="0"/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为什么湿手操作电器更危险？发现有人触电，第一步应该做什么？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①家庭触电的两种类型各是什么情形？②高压“电弧触电”是怎么发生的？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①换灯泡之前应该先做什么？②为什么不能用湿手拨动开关、不能用湿布擦正在工作的电器？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提示：①“安全第一”落到操作上：先断哪里？②从“人体电阻—电流”的链条解释。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292 / 346</a:t>
            </a:r>
            <a:endParaRPr lang="en-US" sz="1150" dirty="0"/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9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041" y="1876806"/>
            <a:ext cx="678436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三孔插座与外壳接地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画三孔插座正面与三脚插头：插座上孔 E 接地线、左孔 N 接零线、右孔 L 接火线（口诀“左零右火上接地”）；插头三脚与之一一对应，金属外壳电器的地线脚连接外壳；标注：外壳漏电时电流经地线导入大地，保护人体。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293 / 346</a:t>
            </a:r>
            <a:endParaRPr lang="en-US" sz="1150" dirty="0"/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第十九章 · 生活用电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家庭电路进户→电能表→总开关→保险→并联用电器；开关接火线、螺旋套接零线、三孔插座必接地线。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电流过大两个原因：短路、总功率过大；保险丝电阻率大熔点低，铜丝铁丝严禁代替。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触电本质是电流通过人体；单线双线两条路径；不接触低压、不靠近高压；施救先断电，落地高压线并…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为什么控制电灯的开关必须接在火线上？家庭电路电流过大的两个原因各举一例。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294 / 346</a:t>
            </a:r>
            <a:endParaRPr lang="en-US" sz="1150" dirty="0"/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运动与相互作用 ｜ 考查：安培定则判断 N/S 极、电磁继电器应用、感应电流产生条件与电机类的能量转化方向。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第二十章　电与磁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磁场→电生磁→磁生电一条链，安培定则与电磁感应条件是解开全章的两把钥匙。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磁现象 磁场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电生磁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电磁铁 电磁继电器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电动机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磁生电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　磁现象 磁场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条形磁铁吸一串回形针，两端挂得多、中间挂得少——磁性藏在哪里最强？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演示什么、看到什么：条形磁铁吸一串回形针——两端吸得最多、中间几乎不吸，磁性最强的两端叫磁极（N、S）；把磁铁从中间锯断，每一段仍各有 N、S 两极；同名磁极相互排斥、异名相互吸引，让学生亲手体验推开与吸合的手感。磁化的演示：铁钉靠近磁铁后也能吸大头针了。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本体：磁体周围存在磁场，磁极间的相互作用通过磁场发生。描述磁场用磁感线：从 N 极出发回到 S 极、永不相交，磁感线越密处磁场越强，小磁针静止时 N 极所指方向与该点磁感线方向一致。地磁场使指南针指南北，地理两极与地磁两极并不重合，存在磁偏角（我国沈括最早记载）。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高频误区显式纠正：认为磁感线是真实存在的线——它是理想模型，实际不存在，真实存在的是磁场；认为磁铁分割后可以得到单一磁极也错，每段仍有 N、S 两极。适用边界：钢被磁化后能长期保持磁性，软铁磁化后磁性易消失；判断钢条有无磁性要用“两端分别靠近磁针两极”检验——两端都吸引说明无磁性。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磁化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磁感线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认为磁感线是真实存在的线（它是理想模型）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认为磁铁分割后可以得到单一磁极（每段仍有 N、S 两极）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296 / 346</a:t>
            </a:r>
            <a:endParaRPr lang="en-US" sz="1150" dirty="0"/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　磁现象 磁场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条形磁铁旁小磁针静止时 N 极指向左。该点的磁场方向向哪边？画经过该点的磁感线时应注意什么？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依据规定：磁场中某点的磁场方向就是小磁针静止时 N 极的指向，故该点磁场方向向左。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磁感线应从磁铁 N 极出来、回到 S 极，且经过该点时方向向左。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注意：磁感线是假想曲线，疏密表示强弱，不能画成交叉线。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该点磁场方向向左。作图三查：出 N 入 S、方向与小磁针 N 极指向一致、永不相交。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297 / 346</a:t>
            </a:r>
            <a:endParaRPr lang="en-US" sz="1150" dirty="0"/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　磁现象 磁场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把条形磁铁从中间锯断，每一段各有几个磁极？有人说“磁感线是真实存在的曲线”，对吗？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指南针为什么能指示南北？地理两极与地磁两极是重合的吗？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一根钢条靠近小磁针的 N 极，磁针的 N 极被吸引过去。能否断定钢条一定有磁性？怎样检验？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提示：别忘了“磁体吸引铁、钴、镍”这一条——不带磁性的钢条也能被吸引。检验要“两端分别试”。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298 / 346</a:t>
            </a:r>
            <a:endParaRPr lang="en-US" sz="1150" dirty="0"/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1820 年奥斯特把通电导线放在小磁针上方——磁针竟然偏了！这说明什么？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做奥斯特实验演示：直导线平行放在小磁针上方，通电瞬间磁针偏转，断电磁针复位；把电流方向反过来，磁针反向偏转。学生亲眼看到“电生磁”的第一次证据，还发现磁场方向与电流方向有关——这一发现把电与磁联系起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本体：通电导线周围存在磁场，电流的磁效应。通电螺线管外部磁场与条形磁铁相似，也有 N、S 两极；判 N 极用安培定则（右手）：右手握住螺线管，四指弯向电流方向，大拇指所指的一端就是 N 极。电磁铁磁性强弱三因素用控制变量演示：电流越大磁性越强、匝数越多磁性越强、有铁芯远强于无铁芯。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高频误区显式纠正：用左手判断螺线管 N 极——安培定则必须用右手；“匝数多磁性一定强”不严谨，还要看电流大小，比较时必须控制变量。适用边界：电磁铁与永磁体相比优点是磁性有无、强弱、方向都可控（电磁起重机、电磁继电器、电铃）；通电直导线的磁场较弱，绕成螺线管并加铁芯后磁性大大增强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奥斯特实验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安培定则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用左手判断螺线管 N 极（安培定则用右手）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认为匝数多磁性一定强（还取决于电流大小）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299 / 346</a:t>
            </a:r>
            <a:endParaRPr lang="en-US" sz="1150" dirty="0"/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一个螺线管的绕向和电流方向已知：正面导线中电流方向向上。怎样用安培定则判断它的 N 极？写出判断步骤。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伸出右手，让弯曲的四指沿螺线管正面导线的电流方向（在管前向上弯）。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大拇指所指的一端就是螺线管的 N 极。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核对：管外磁感线从 N 出、S 入，可再用小磁针放在管旁验证判断结果。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右手四指顺电流环绕方向，拇指指向即 N 极。判断后用小磁针指向复核，是检验绕向判断的可靠办法。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300 / 346</a:t>
            </a:r>
            <a:endParaRPr lang="en-US" sz="1150" dirty="0"/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探究“电磁铁磁性强弱与匝数的关系”：应控制什么相同？怎么显示磁性的强弱？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与永磁体相比，电磁铁有哪些优点？各举一个利用这些优点的实例。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用安培定则判断通电螺线管 N 极后，怎样用实验方法验证判断是否正确？写出器材和做法。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提示：磁场方向与放在该点的小磁针 N 极指向一致——把“看不见的磁场”变成“看得见的偏转”。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301 / 346</a:t>
            </a:r>
            <a:endParaRPr lang="en-US" sz="1150" dirty="0"/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0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946136"/>
            <a:ext cx="6949440" cy="370867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通电螺线管与安培定则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画通电螺线管，绕线方向画清（正面导线电流方向向上，用箭头标出），管旁画一只右手示意：四指弯曲方向顺电流、拇指指向标 N 极；标注：外部磁感线从 N 出 S 入、管内磁场由 S 指 N；旁画管旁小磁针静止时 N 极指向与磁感线一致。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302 / 346</a:t>
            </a:r>
            <a:endParaRPr lang="en-US" sz="1150" dirty="0"/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　电磁铁 电磁继电器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工厂里几十千瓦的电机，靠一个按钮的小电流就能启停——中间谁在“放大”手劲？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出示电磁继电器模型——控制电路接通时，衔铁被电磁铁吸下、工作电路的触点闭合、指示灯亮；断电后弹簧把衔铁拉回、灯灭。让学生按“控制电路→电磁铁→衔铁→触点→工作电路”的链条口述一遍动作，“小电流控制大电流”的原理看得见摸得着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磁继电器由电磁铁、衔铁、弹簧、触点组成，核心思路是“低电压小电流控制高电压大电流”：控制电路通电→电磁铁产生磁性→吸引衔铁→触点闭合→工作电路接通；控制电路断电→弹簧拉回衔铁→工作电路断开。两套电路必须分清，画图时元件不能互相串门。应用：电铃、水位自动报警器、电磁阀车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控制电路与工作电路的元件画混——两套电路以触点为界，互不相通只靠磁力联动；分析继电器题时凭感觉判断“哪个灯亮”也常见，必须顺着动作链一步步推。适用边界：继电器实现远距离、自动化与安全控制，低压侧人可操作、高压侧被隔离；控制电路通断可由水银柱、光敏、热敏等传感器触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电磁继电器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控制电路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工作电路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把控制电路与工作电路的元件画混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303 / 346</a:t>
            </a:r>
            <a:endParaRPr lang="en-US" sz="1150" dirty="0"/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　电磁铁 电磁继电器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水位自动报警器：水位到达金属块 A 时警报灯亮。说明它的工作过程，并指出控制电路与工作电路各包含什么。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水是导体，水位涨到 A 时，控制电路（电源、电磁铁、金属块、水）被接通。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电磁铁产生磁性吸引衔铁，使工作电路的触点闭合。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工作电路（电源、警报灯、触点）接通，灯亮报警；水位下降则控制电路断开、衔铁弹回、灯灭。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水接通控制电路→电磁铁吸衔铁→工作电路闭合→报警。两套电路以触点为界，动作链条一步不缺。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304 / 346</a:t>
            </a:r>
            <a:endParaRPr lang="en-US" sz="1150" dirty="0"/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　电磁铁 电磁继电器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继电器工作电路的高电压会不会窜到控制电路危及操作者？说明原因。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电磁继电器中，衔铁和弹簧各起什么作用？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温度自动报警器：温度升到设定值时，水银温度计中的水银柱与上方金属丝接触，警铃立刻响起。按动作链说明它的工作过程。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提示：水银是导体——“接触”就是控制电路接通的开关；再顺着继电器动作链走一遍。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305 / 346</a:t>
            </a:r>
            <a:endParaRPr lang="en-US" sz="1150" dirty="0"/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　电动机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玩具车一装电池就跑——里面那个小马达凭什么一通电就转？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把通电线圈（或直导线）放入磁场，线圈受力转动——磁场对电流有力的作用。再分两步控制变量：只把电流方向反过来，转向跟着反；只把磁极对调，转向也反；两者同时反，转向不变。学生亲手操作三次，受力方向与两个因素的关系全部看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动机原理是“磁场对电流的作用”，能量转化电能→机械能。线圈转过平衡位置后若电流方向不变，磁场力会让它反转回来，所以需要换向器：由两个彼此绝缘的半环（换向片）和电刷组成，每转过半圈自动改变线圈中的电流方向，使线圈持续朝一个方向转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电动机的原理说成电磁感应——那是发电机的原理，电动机“先有电后转动”，发电机“先动后发电”；认为线圈能自然持续转动也错，没有换向器，转过平衡位置会被反向拉回停下。适用边界：受力方向由电流方向和磁场方向共同决定，只改其一转向改变、同时改二转向不变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磁场对电流的作用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换向器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把电动机的原理说成电磁感应（那是发电机的原理）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306 / 346</a:t>
            </a:r>
            <a:endParaRPr lang="en-US" sz="1150" dirty="0"/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　电动机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直流电动机线圈能持续转动，换向器起了什么作用？若把电源两极对调、同时把磁极对调，转动方向怎么变？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换向器在线圈刚过平衡位置时自动改变线圈中的电流方向，使两边导线的受力方向保持不变。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依据是受力方向取决于电流方向和磁场方向：电流反向则受力反向，换向器正好抵消这个反向。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电流、磁场两个方向同时改变时，受力方向不变，转向不变。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换向器每半周换一次线圈电流方向维持持续转动；电流与磁场同时反向，转向不变。判转向只看电流、磁场两个因素改了几个。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307 / 346</a:t>
            </a:r>
            <a:endParaRPr lang="en-US" sz="1150" dirty="0"/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　电动机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电动机通电后不转，排查思路是什么？电动机与发电机在能量转化上的区别是什么？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电动机的换向器由什么组成？它选择在什么时刻换向？为什么必须换向？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①只把电动机的磁极对调，转动方向怎么变？②只把电源两极对调呢？③两个同时对调呢？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提示：受力方向由电流方向和磁场方向共同决定：改一个因素方向变，改两个因素方向不变。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308 / 346</a:t>
            </a:r>
            <a:endParaRPr lang="en-US" sz="1150" dirty="0"/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导体棒在磁场里左右一挥，电流计指针动了；上下平移却不动——“发电”的条件藏在动作里。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演示什么、看到什么：蹄形磁铁中的导体棒 ab 与灵敏电流计连成闭合电路。ab 向右运动（切割磁感线）——指针偏转；ab 向上运动（平行磁感线）——指针不动；电路断开时怎么动都不偏转。三组对比把“闭合、部分导体、切割”三条件一步步逼出来，缺一不可。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闭合电路的一部分导体在磁场中做切割磁感线运动时，导体中产生电流，叫感应电流，这种现象叫电磁感应，能量转化机械能→电能，发电机据此工作。感应电流方向与导体运动方向和磁场方向有关。我国交流电频率 50 Hz，每秒 50 个周期，电流方向每秒变化 100 次。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导体平行磁感线运动也认为有感应电流——必须“切割”，平行运动不产生；发电机与电动机的能量转化方向记反也常见，发电机“动生电”、电动机“电生动”。适用边界：三条件缺一不可，逐条检查：电路闭合了吗？是“一部分”导体在动吗？运动切割磁感线了吗？斜着运动但有切割分量也能产生感应电流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电磁感应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感应电流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交流电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导体平行磁感线运动也认为有感应电流（必须切割）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发电机与电动机的能量转化方向记反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309 / 346</a:t>
            </a:r>
            <a:endParaRPr lang="en-US" sz="1150" dirty="0"/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闭合电路的一部分导体在磁场中做下列运动，哪些能产生感应电流：①向右平移切割磁感线 ②向上平行磁感线移动 ③静止不动 ④向斜下方运动且穿过磁感线？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逐条对照三条件：电路闭合（前提已给）、一部分导体、做切割磁感线运动。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①有切割，产生；②平行不切割，不产生；③静止不切割，不产生。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④运动方向与磁感线相交、有切割分量，产生感应电流。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①④产生感应电流，②③不产生。判断只抓一条硬标准：导体相对磁场有没有“切”的动作。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310 / 346</a:t>
            </a:r>
            <a:endParaRPr lang="en-US" sz="1150" dirty="0"/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我国民用电频率 50 Hz，电流方向每秒变化多少次？发电机工作时的能量转化是什么？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①发电机线圈每转一圈，线圈中电流方向改变几次？②产生感应电流的三个条件是什么？缺一个行不行？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闭合电路的一部分导体在磁场中：①沿水平方向左右运动（磁感线竖直）②沿竖直方向上下运动 ③斜着运动且运动方向与磁感线相交。哪些情况产生感应电流？判断依据是什么？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提示：只抓一条硬标准：导体是否“切割”磁感线；斜着运动但有切割分量也算切割。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311 / 346</a:t>
            </a:r>
            <a:endParaRPr lang="en-US" sz="1150" dirty="0"/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0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915" y="1876806"/>
            <a:ext cx="680462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电磁感应实验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画蹄形磁铁（N 极在上、S 极在下），导体棒 ab 水平置于磁极之间，ab 两端经导线与灵敏电流计连成闭合回路；箭头标 ab 向右运动切割磁感线，电流计指针偏转；标注：产生感应电流的三个条件——电路闭合、一部分导体、做切割磁感线运动；旁…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312 / 346</a:t>
            </a:r>
            <a:endParaRPr lang="en-US" sz="1150" dirty="0"/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第二十章 · 电与磁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磁体两极不可分、同名相斥异名相吸；磁感线出 N 入 S 是理想模型；指南针靠地磁场，有磁偏…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奥斯特实验证明电流周围有磁场；安培定则（右手）判螺线管 N 极；电磁铁磁性强弱看电流、匝数…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继电器用低压小电流控制高压大电流；控制电路通断→电磁铁吸放衔铁→工作电路通断，两套电路分清。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电动机原理是磁场对电流的作用，电能转机械能；换向器每半圈换流维持转向；转向由电流与磁场方向…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感应电流三条件：闭合电路、一部分导体、切割磁感线；发电机动生电（机械能→电能），交流 50…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给绕向和电流方向已知的通电螺线管标出 N/S 极；发电机与电动机的能量转化各是什么？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313 / 346</a:t>
            </a:r>
            <a:endParaRPr lang="en-US" sz="1150" dirty="0"/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运动与相互作用 ｜ 考查：电磁波的产生与传播（可在真空中传播）、c=λf 的计算、常见通信方式的比较。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第二十一章　信息的传递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从固定电话到光纤卫星，用 c=λf 一条公式把电磁波与通信方式的演进串起来。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现代顺风耳——电话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电磁波的海洋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广播、电视和移动通信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越来越宽的信息之路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　现代顺风耳——电话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对着话筒说话，几千里外的听筒里传出声音——电线里跑的是什么？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解演示：出示老式电话的话筒和听筒剖面图——对着话筒说话，振动膜随声音振动，把声音变成随声音变化的电流；电流传到对方听筒，电磁铁磁性随之变化、薄膜振动还原成声音。学生会发现两边的转换正好互逆，电话线里传的“不是声音本身”这一结论由结构图自己给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电话=话筒（声信号→电信号）＋听筒（电信号→声信号），线上传递的是随声音变化的电流。信号分两类：模拟信号把声音转换成连续变化的电流，长距离传输中失真不断累积；数字信号用离散的符号（如二进制码）编码传递，抗干扰能力强、便于加密和计算机处理，现代通信以数字信号为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电话线里传的是声音本身——传的是随声音变化的电流；认为模拟信号与数字信号“随便用哪个都一样”也错，数字信号失真不累积、可再生。适用边界：话筒与听筒的转换互逆：声→电、电→声，判断器件功能先问“把什么变成什么”；远距离、多路通信必须数字化的原因就在抗干扰与易处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话筒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听筒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数字信号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认为电话线里传的是声音本身（传递的是随声音变化的电流）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315 / 346</a:t>
            </a:r>
            <a:endParaRPr lang="en-US" sz="1150" dirty="0"/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　现代顺风耳——电话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从“说话”到“听见”的全过程说明电话传递信息的路径，并指出哪里发生了信号转换。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说话时话筒振动膜随声音振动，把声音转换成随声音变化的电流——第一次转换。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变化的电流沿电话线传到对方。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听筒中变化的电流使电磁铁磁性变化、薄膜振动还原成声音——第二次转换。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声→（话筒）→变化的电流→线路→（听筒）→声，两次转换，线上传的是电信号而不是声音。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316 / 346</a:t>
            </a:r>
            <a:endParaRPr lang="en-US" sz="1150" dirty="0"/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　现代顺风耳——电话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为什么远距离通信越来越多采用数字信号而不是模拟信号？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老式电话在长距离通话中声音会越来越“失真”，现代光纤电话却几乎不失真。结合两类信号的特点说明原因。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①话筒把什么信号变成什么信号？②听筒呢？③两者的关系有什么特点？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提示：盯着“信号类型”的变化：声信号↔电信号；再想两个器件的功能是否互逆。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317 / 346</a:t>
            </a:r>
            <a:endParaRPr lang="en-US" sz="1150" dirty="0"/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在开着的收音机旁让导线头与电池时断时通接触——收音机发出“咔咔”声，电磁波现形了。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什么、看到什么：打开收音机，让导线头与电池时断时通接触——收音机发出“咔咔”声，迅速变化的电流在周围空间产生了电磁波，被收音机接收到。再对照声波：声音在真空里传不出去，电磁波却可以在真空中传播——宇航员靠无线电（而不靠喊话）联络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本体：波长 λ 是相邻两个波峰（或波谷）的距离，频率 f 是 1 s 内振动的次数，波速 c 是传播速度；三者关系 c=λf。真空中所有电磁波都以光速传播：c=3×10⁸ m/s，不随频率变化。两个量定了第三个就定：f=c/λ、λ=c/f，单位配套 m 与 Hz。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高频误区显式纠正：认为电磁波传播需要介质——不需要，可在真空中传播，这与声波相反；认为真空中不同频率的电磁波波速不同也错，都等于 c。适用边界：迅速变化的电流才产生电磁波，恒定电流不会；c=λf 三量知二求一，计算时波长用 m、频率用 Hz，别混 km。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波长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频率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认为电磁波传播需要介质（可在真空中传播）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认为真空中不同频率的电磁波波速不同（都等于 c）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318 / 346</a:t>
            </a:r>
            <a:endParaRPr lang="en-US" sz="1150" dirty="0"/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某电磁波的波长为 3 m，它的频率是多少？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依据波速公式 c=λf，已知 c=3×10⁸ m/s、λ=3 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f=c/λ=3×10⁸ m/s÷3 m=1×10⁸ Hz。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检验：米级波长对应 10⁸ Hz 量级（广播频段），合理。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频率为 1×10⁸ Hz。c=λf 三量知二求一，单位用 m 与 Hz 配套。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319 / 346</a:t>
            </a:r>
            <a:endParaRPr lang="en-US" sz="1150" dirty="0"/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月球与地球之间没有空气，宇航员在月球上能靠喊话交流吗？应该怎么联络？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从产生、传播条件、真空中速度三方面比较声波和电磁波的不同。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某电磁波的频率为 6×10⁸ Hz，它的波长是多少？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提示：由 c=λf 变形 λ=c/f；c=3×10⁸ m/s。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320 / 346</a:t>
            </a:r>
            <a:endParaRPr lang="en-US" sz="1150" dirty="0"/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844" y="1876806"/>
            <a:ext cx="517276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电磁波波形与 c=λf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画一条连续正弦波（横轴为距离或时间，画约 3 个周期），相邻两波峰间距用双箭头标 λ；标注：波速 c=λf=3×10⁸ m/s、频率 f 为 1 s 内振动的次数；旁画两条波长不同的波对比：波形更密者波长更短、频率更高。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321 / 346</a:t>
            </a:r>
            <a:endParaRPr lang="en-US" sz="1150" dirty="0"/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　广播、电视和移动通信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同一座城市里几万部手机同时通话互不串音——电磁波是怎么“分道”的？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图演示什么：出示无线电广播发射—接收框图，顺着箭头走一遍——话筒把声音变成音频电信号，但音频信号频率低、传不远，要把它“装载”到高频电磁波上（调制）由天线发射；接收端天线收到各种电磁波，调谐电路从中“选台”，再取下音频信号（解调），扬声器还原成声音。装、选、卸三个动作对应调制、调谐、解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移动电话既是发射机又是接收机，但手机功率小、天线低，必须靠基站中继转接——每路通话占用不同的频率（信道），所以几万部手机互不串音。“手机直接把信号发给对方手机”是错误认识，基站是中继站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调制、调谐都在接收端——调制在发射端（装上载波）、调谐在接收端（选台），方向别反；认为手机之间直接通话不需要电磁波也不对，手机语音靠电磁波经基站传递。适用边界：不同频率的电磁波互不干扰是“多路”的原理；音频信号频率低传不远、必须搭载高频载波，这是“调制”存在的根本原因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发射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接收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基站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认为手机间直接通话不需要电磁波（语音靠电磁波经基站传递）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322 / 346</a:t>
            </a:r>
            <a:endParaRPr lang="en-US" sz="1150" dirty="0"/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　广播、电视和移动通信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用流程框图说明广播电台播出一首歌到收音机放出的全过程。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电台端：话筒把歌声变成音频电信号→调制器把它加载到高频载波上→天线发射电磁波。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空中传播：不同电台的电磁波同时在空间传播。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收音机端：天线接收→调谐选出该台频率→解调取出音频信号→扬声器还原成歌声。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声→音频信号→调制到高频载波→发射→调谐选台→解调→还原为声。“调制、调谐、解调”对应“装、选、卸”三个动作。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323 / 346</a:t>
            </a:r>
            <a:endParaRPr lang="en-US" sz="1150" dirty="0"/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　广播、电视和移动通信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在电梯或隧道里手机信号常常很差，为什么？手机通话中基站起什么作用？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 A 打给手机 B，信息是怎么传过去的？是 A 直接把电磁波发给 B 吗？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①“调制”在发射端还是接收端？起什么作用？②“调谐”呢？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提示：一个管“装”（把音频装上载波），一个管“选”（从众多电磁波里挑出要的那一路）。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324 / 346</a:t>
            </a:r>
            <a:endParaRPr lang="en-US" sz="1150" dirty="0"/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　越来越宽的信息之路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从写信到视频通话，信息之路为什么越走越宽？把四条“路”摆在一起比一比。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列表演示什么：把四条信息之路摆成一桌——微波中继（直线传播、每 50 km 一个接力站）、卫星通信（同步卫星做太空中继、覆盖大）、光纤通信（激光在光纤中全反射、容量大）、网络通信（计算机联网、数字化共享）。让学生先比较“谁在传、传什么、路多宽”，再找共同点。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本体：信息之路变宽的共同原因是载波频率越来越高——频率越高，可装载的信息量越大，光波频率远高于微波，所以光纤容量最大。微波像光一样沿直线传播，地球是圆的，中继站约每 50 km 一个接力；卫星用同步卫星（与地球自转周期相同、相对地面静止）做中继；光纤靠光的全反射传递光信号，容量大、损耗小。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光纤里传输的是电信号——是携带信息的激光（光信号），传输靠全反射；认为“同步”指卫星转速快也错，同步指与地球自转周期相同、相对地面静止。适用边界：三颗等距同步卫星可实现除两极极小区域外的全球通信；微波通信受地球曲率限制，必须接力；比较容量回到“载波频率高→信息量大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微波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卫星通信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认为光纤里传输的是电信号（是携带信息的激光/光信号）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325 / 346</a:t>
            </a:r>
            <a:endParaRPr lang="en-US" sz="1150" dirty="0"/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　越来越宽的信息之路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微波中继站为什么要每隔约 50 km 建一个？光纤通信为什么信息容量特别大？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微波沿直线传播，而地球表面是圆弧，直线传播的微波传不远就被地面“挡”住。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所以每隔约 50 km（受地球曲率限制的视线距离）设中继站接力放大转发。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激光频率远高于无线电波，能携带的信息量大，且光纤全反射传输损耗小，故容量特别大。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因地球曲率限制直线传播距离，须设中继站接力；光纤靠高频激光与全反射，容量大损耗小。“频率高→容量大”是理解信息之路的钥匙。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326 / 346</a:t>
            </a:r>
            <a:endParaRPr lang="en-US" sz="1150" dirty="0"/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　越来越宽的信息之路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卫星通信与地面微波中继通信相比有什么优点？光纤中传输的是什么信号？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①微波通信为什么必须“接力”？②网络通信与前三条路相比最大的特点是什么？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①卫星通信中的“同步卫星”，“同步”指什么？②为什么说光纤是四条信息之路中“最宽”的一条？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提示：①同步=周期与自转相同、相对地面静止；②比“路宽”回到“载波频率高低”。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327 / 346</a:t>
            </a:r>
            <a:endParaRPr lang="en-US" sz="1150" dirty="0"/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第二十一章 · 信息的传递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电话=话筒（声变电）＋听筒（电变声），线上传的是变化的电流；数字信号抗干扰，是现代通信的主…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变化的电流产生电磁波；c=λf=3×10⁸ m/s；电磁波可在真空中传播，声波不能。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发射端调制上载波、接收端调谐选台再解调；手机靠基站中继；不同频率互不干扰。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微波直线传播须中继，卫星覆盖广，光纤全反射容量大，网络数字化共享；载波频率越高路越宽。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某电磁波波长 3 m，频率多大？为什么光纤与卫星能传递海量信息？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328 / 346</a:t>
            </a:r>
            <a:endParaRPr lang="en-US" sz="1150" dirty="0"/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能量 ｜ 考查：一次/二次与可再生/不可再生能源的分类、核裂变与聚变的区分、发电过程中的能量转化链。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第二十二章　能源与可持续发展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能源分类与能量转化链条并进，核裂变聚变与太阳能落到“可持续”的取舍判断上。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核能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太阳能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能源与可持续发展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　能源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烧开一壶水：烧煤、用电、用天然气——这些能量从哪里来、还能不能再生？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分类活动：出示煤、电能、太阳能、风能、天然气、核能六张卡片，让学生按“是否直接来自自然界”和“能否短期内再生”交叉分成四格——一次/二次、可再生/不可再生。学生会把电能放错格，这个错误恰好是本节最重要的辨析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按是否直接来自自然界：一次能源（煤、石油、天然气、风能、水能、太阳能、核能）与二次能源（电能、煤气、汽油——由一次能源加工转化而来）；按能否短期内再生：可再生能源（风、水、太阳能、生物质能）与不可再生能源（煤、石油、天然气、核能）。两组分类交叉使用，形成四格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把电能当成一次能源——电能由一次能源转化而来，属二次能源；把“能源”与所有“自然资源”混为一谈也不对，能源专指能提供能量的资源。适用边界：化石能源由古代生物遗骸经亿万年形成，短期内无法再生；同一种能源在两套分类下各有归属，判断时先问“哪一套分类”再填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一次能源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二次能源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可再生能源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化石能源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把电能当成一次能源（由一次能源转化而来，属二次能源）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把“能源”与所有“自然资源”混为一谈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330 / 346</a:t>
            </a:r>
            <a:endParaRPr lang="en-US" sz="1150" dirty="0"/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　能源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把下列能源按要求归类：煤、电能、太阳能、天然气、风能。①一次能源有哪些？②可再生能源有哪些？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判断是否直接取自自然界：煤、太阳能、天然气、风能是一次能源；电能由一次能源转化而来，是二次能源。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判断能否短期再生：太阳能、风能可再生；煤、天然气属于化石能源，不可再生。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列表对照：煤（一次/不可再生）、电能（二次）、太阳能（一次/可再生）、天然气（一次/不可再生）、风能（一次/可再生）。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一次能源：煤、太阳能、天然气、风能；可再生能源：太阳能、风能。电能必属二次能源。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331 / 346</a:t>
            </a:r>
            <a:endParaRPr lang="en-US" sz="1150" dirty="0"/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　能源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判断正误：①电能是一次能源 ②化石能源是可再生能源 ③核能是不可再生能源。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为什么说直接利用太阳能、风能比燃烧煤更“可持续”？从可再生性与环境影响两方面说明。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把煤气、汽油、水能、核能按一次/二次能源分类，并说明判断依据。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提示：问一句“它是不是直接取自自然界”：经过人为加工转化的都是二次能源。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332 / 346</a:t>
            </a:r>
            <a:endParaRPr lang="en-US" sz="1150" dirty="0"/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一克铀裂变释放的能量相当于两吨多煤的燃烧——原子核里为什么藏着这么大能量？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图演示什么：并排画两张图——裂变：中子轰击重核（铀核），重核分裂成两个中等核并放出能量，同时放出新的中子继续轰击别的核，链式反应像多米诺骨牌展开；聚变：轻核（氘、氚）在超高温下聚合成较重的核，太阳内部和氢弹就是聚变。两条获取核能的路径一图看懂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核电站利用可控的链式反应：控制棒吸收中子调节反应速率，能量沿反应堆→汽轮机→发电机转化，链条是核能→内能→机械能→电能；聚变目前尚不能可控地和平利用。两面都要讲：核能能量密度大、不排温室气体，但乏料处理与安全是代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核电站事故等于核弹爆炸——反应堆燃料中铀浓度低、有控制棒调节，反应可控平稳，不会发生核爆炸；把裂变与聚变的原料和过程混为一谈也常见，裂变是“重核分裂”、聚变是“轻核聚合”。适用边界：原子弹是不可控链式裂变，氢弹是聚变；目前人类可控利用的是裂变，可控聚变仍在研究中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裂变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聚变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链式反应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认为核电站事故等于核弹爆炸（核电站不发生核爆炸）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裂变与聚变的原料和过程混为一谈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333 / 346</a:t>
            </a:r>
            <a:endParaRPr lang="en-US" sz="1150" dirty="0"/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写出核电站发电过程的能量转化链，并说明“可控链式反应”中控制棒的作用。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转化链：核反应堆内核裂变，核能→内能；高温高压蒸汽推动汽轮机，内能→机械能；发电机把机械能→电能。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控制棒插入越深、吸收中子越多，链式反应越慢；提起则反应加快。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依据控制棒的调节，反应速率可控、能量平稳释放，这正是核电站与不可控链式反应的区别。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核能→内能→机械能→电能；控制棒靠吸收中子调节链式反应速率。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334 / 346</a:t>
            </a:r>
            <a:endParaRPr lang="en-US" sz="1150" dirty="0"/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判断并说明理由：①核电站可能像原子弹一样爆炸 ②太阳内部进行的是聚变反应 ③目前人类已能可控利用聚变发电。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核电站发电的能量转化链中，①反应堆、②汽轮机、③发电机分别把什么能转化为什么能？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①氢弹利用的是裂变还是聚变？②原子弹呢？③核电站利用什么反应？它为什么不会像原子弹那样爆炸？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提示：三种装置三种状态：聚变、不可控裂变、可控裂变——“可控”两个字是关键。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335 / 346</a:t>
            </a:r>
            <a:endParaRPr lang="en-US" sz="1150" dirty="0"/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067255"/>
            <a:ext cx="6949440" cy="3466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核电站能量转化流程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核电站流程框图：核反应堆（可控链式裂变，核能→内能）→蒸汽发生器与管道→汽轮机（内能→机械能）→发电机（机械能→电能）→输电；冷凝器画循环水回路；标注：控制棒调节反应速率、反应堆与汽水回路隔离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336 / 346</a:t>
            </a:r>
            <a:endParaRPr lang="en-US" sz="1150" dirty="0"/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　太阳能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晒太阳的暖、光伏板发的电、去年的煤——它们的“老祖宗”其实是同一个。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演示：画出一张“能量谱系图”——太阳在顶端，向下分出：直接路径（光热转换的热水器、光电转换的光伏板）与间接路径（太阳驱动水循环成水能、加热大气成风能、光合作用固定成生物质能，远古生物埋藏变质成煤和石油）。学生会发现“连煤都是太阳能”，谱系图一图串全章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太阳能的直接利用两条路径：光热转换——集热器把辐射能转为内能，如太阳能热水器；光电转换——光伏电池把光能直接转为电能，如光伏电站。优点：巨大、清洁、可再生；瓶颈也要如实讲：能量分散、受昼夜天气影响、转化效率与储能成本仍是难题，“取之不尽”不等于“没有成本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太阳能“取之不尽”就没有成本——转化效率与储能仍是现实瓶颈；把风能、水能当成与太阳无关的能源也错，它们都由太阳驱动的大气与水循环而来。适用边界：判断“直接/间接利用”看是否经过中间环节——光伏板直接把光变电是直接利用，风力发电经大气环节是间接利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光热转换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光电转换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认为太阳能“取之不尽”就没有成本（转化效率与储能仍是瓶颈）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337 / 346</a:t>
            </a:r>
            <a:endParaRPr lang="en-US" sz="1150" dirty="0"/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　太阳能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按“能量最终来源于太阳辐射”给下列能源溯源：水能、风能、煤、生物质能。并指出哪一种是直接利用太阳能。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水能——太阳驱动水循环（蒸发、降水），能量源于太阳辐射。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风能——太阳加热不均引起大气流动；生物质能——植物光合作用固定太阳能。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煤——古代植物固定的太阳能经地质作用形成，间接源于太阳；太阳能热水器属光热转换，是直接利用。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水能、风能、煤、生物质能都间接来自太阳辐射；太阳能热水器的光热转换是直接利用。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338 / 346</a:t>
            </a:r>
            <a:endParaRPr lang="en-US" sz="1150" dirty="0"/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　太阳能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家用太阳能热水器和光伏扶贫电站分别属于哪条利用路径？说出太阳能利用的一个现实瓶颈。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为什么说“煤是亿万年前的太阳能”？请按时间顺序说明从阳光到煤的转化链条。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①家用太阳能热水器实现了什么能量转换？②光伏扶贫电站呢？③它们分别属于太阳能利用的哪条路径？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提示：一个把光“变热”，一个把光“变电”；两条路径的名字要与转换对应。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339 / 346</a:t>
            </a:r>
            <a:endParaRPr lang="en-US" sz="1150" dirty="0"/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能量守恒说能量不会消灭，那“能源危机”从何谈起？用数据说话。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悖论演示：先抛问题“能量守恒说能量不会消灭，为什么还要节能？”让学生试着回答，多数会卡住。再画能量流向图：高品质的燃料化学能、电能被使用后，变成分散在环境中的低温内能——总量没少，但“好用的”变少了。能量品质退化，节能的必要性从这个悖论里逼出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本体：摆数据讨论：我国一次能源消费中煤炭约占 55%，化石能源合计约 83%，非化石能源约 17%。让学生依据数据说观点：提高非化石能源占比、发展可再生能源、提高利用效率、人人节能，都是结构调整的方向——结论要由数据支撑，不是喊口号。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显式纠正：认为能量守恒就不会有能源危机——守恒说的是总量，可用能源的品质在退化，分散的低温内能难以再收集利用；把“节能”仅理解为“少用能”也不完整，提高能源利用效率同样是节能。适用边界：讨论能源问题必须区分“能量总量”与“可用能源”；结构调整的方向由数据支撑，观点与数据要对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节能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可持续发展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认为能量守恒就不会有能源危机（可用能源的品质在降低）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340 / 346</a:t>
            </a:r>
            <a:endParaRPr lang="en-US" sz="1150" dirty="0"/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有人说“能量守恒定律告诉我们能量不会减少，所以不存在能源危机”。这种说法错在哪里？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先承认其前提：能量在转化和转移中总量确实守恒。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指出漏洞：可用的高品质能源（化石燃料、电能）被消耗后转化为分散的低温内能，难以再收集利用。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结论：能源危机的本质是“可用能源的品质与数量”问题，与能量总量守恒并不矛盾，节能和提高效率依然必要。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错在混淆了“能量总量守恒”与“可用能源有限”；能量品质退化使可利用的能源不断减少，必须节能。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341 / 346</a:t>
            </a:r>
            <a:endParaRPr lang="en-US" sz="1150" dirty="0"/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结合能源消费结构数据，提出两条家庭或学校可行的节能措施，并说明它们各减少了哪类能源的消耗。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我国一次能源消费中煤炭占比约 55%。有同学据此提出“尽快把煤炭全部淘汰”。从数据与现实的平衡角度，说说更合理的结构调整方向。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从“能量品质”的角度解释：为什么“随手关灯、节约用电”是有物理依据的，而不是一句空口号？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提示：电能是集中、易用的高品质能源；用完之后它变成了什么？还能方便地收回来吗？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342 / 346</a:t>
            </a:r>
            <a:endParaRPr lang="en-US" sz="1150" dirty="0"/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2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2328" y="1876806"/>
            <a:ext cx="4901794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我国一次能源消费结构（示意数据）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画饼图并附数据数组：煤炭 55%、石油 18%、天然气 10%、非化石能源 17%（数据为教学示意）；标注：化石能源合计约 83%，引出“提高非化石能源占比”的讨论话题。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343 / 346</a:t>
            </a:r>
            <a:endParaRPr lang="en-US" sz="1150" dirty="0"/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第二十二章 · 能源与可持续发展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能源按来源分一次/二次，按再生分可再生/不可再生；电能是二次能源，化石能源不可再生。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裂变是重核分裂可控制（核电站），聚变是轻核聚合（太阳、氢弹）；核电站不会核爆炸；转化链核能…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太阳能两条直接利用路径：光热转换、光电转换；风、水、煤、生物质能都是间接太阳能，仍有效率与…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能量守恒不等于能源不缺：能量品质在退化；看数据谈结构，节能提效、提高非化石能源占比。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把风能、电能、煤、太阳能按两种分类法归类；写出核电站发电的能量转化链。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344 / 346</a:t>
            </a:r>
            <a:endParaRPr lang="en-US" sz="1150" dirty="0"/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考试聚焦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章章有侧重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71221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刻度尺读数与单位换算、参照物判断、v=s/t 计算…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905" y="200482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产生与传播条件、三特性的波形图判断、超声次声应用与…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905" y="229743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温度计使用与读数、晶体熔化图像分析、蒸发沸腾对比、…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905" y="259003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反射定律作图与镜面/漫反射区分、平面镜成像特点与作…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288264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凸透镜成像规律（一倍焦距分虚实、二倍焦距分大小）、…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905" y="317525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天平与量筒读数、测固体液体密度的实验设计与误差分析…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346786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力的三要素与示意图、弹簧测力计使用、G=mg 计算…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9905" y="376047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惯性现象解释、二力平衡条件的判断、摩擦力方向的确定…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405307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p=F/S 与 p=ρgh 计算（受力面积与深度是…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905" y="434568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阿基米德原理 F浮=ρ液gV排 的计算（V排 是易…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905" y="463829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做功判断与 W=Fs 计算、P=W/t 及 P=F…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33008" y="171221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杠杆平衡条件与最小动力问题、滑轮组 F=(G+G动…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33008" y="200482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扩散现象与分子动理论、改变内能的两种途径、热量计算…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33008" y="229743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四冲程的识别与能量转化、热机效率相关计算、能量守恒…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33008" y="259003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电路识别与三种状态、串并联电路电流规律、电流表的规…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33008" y="288264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电压表使用与读数、串并联电压规律、影响电阻大小的因…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33008" y="317525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探究 I 与 U、R 关系的实验设计、欧姆定律及串…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33008" y="346786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电能表读数与电费计算、额定功率与实际功率、伏安法测…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33008" y="376047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家庭电路连接规范（开关接火线）、测电笔使用、电流过…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3008" y="405307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安培定则判断 N/S 极、电磁继电器应用、感应电流…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33008" y="434568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电磁波的产生与传播（可在真空中传播）、c=λf 的…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33008" y="463829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一次/二次与可再生/不可再生能源的分类、核裂变与聚…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345 / 346</a:t>
            </a:r>
            <a:endParaRPr lang="en-US" sz="1150" dirty="0"/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836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502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学科出口自检（独立完成）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905" y="1170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合上课本完成以下任务；评价标准在教师手册（course.json），先独立作答再对照自评。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09905" y="1783080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51153" y="1874520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说出雾、露、霜各自的形成物态变化并判断吸放热；晶体熔化图像中水平段说明什么？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807208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8505" y="296265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51153" y="2898648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60 kg 的人双脚站立（每只鞋底 150 cm²），对地面的压强多大？用连通器说明船闸如何让船过坝。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831336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98678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451153" y="3922776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给绕向和电流方向已知的通电螺线管标出 N/S 极；发电机与电动机的能量转化各是什么？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852160"/>
            <a:ext cx="109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薄弱分支：讲解页回看对应节；例题卡壳 → 回例题页跟步骤重做；练习出错 → 找教师按提示阶梯重做。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346</Slides>
  <Notes>346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346</vt:i4>
      </vt:variant>
    </vt:vector>
  </HeadingPairs>
  <TitlesOfParts>
    <vt:vector size="3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物理·节级精细讲解课件</dc:title>
  <dc:subject>PptxGenJS Presentation</dc:subject>
  <dc:creator>Wilson</dc:creator>
  <cp:lastModifiedBy>Wilson</cp:lastModifiedBy>
  <cp:revision>1</cp:revision>
  <dcterms:created xsi:type="dcterms:W3CDTF">2026-09-19T17:56:19Z</dcterms:created>
  <dcterms:modified xsi:type="dcterms:W3CDTF">2026-09-19T17:56:19Z</dcterms:modified>
</cp:coreProperties>
</file>