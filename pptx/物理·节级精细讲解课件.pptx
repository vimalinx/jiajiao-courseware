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</p:sldIdLst>
  <p:notesMasterIdLst>
    <p:notesMasterId r:id="rId3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notesMaster" Target="notesMasters/notesMaster1.xml"/><Relationship Id="rId349" Type="http://schemas.openxmlformats.org/officeDocument/2006/relationships/presProps" Target="presProps.xml"/><Relationship Id="rId350" Type="http://schemas.openxmlformats.org/officeDocument/2006/relationships/viewProps" Target="viewProps.xml"/><Relationship Id="rId351" Type="http://schemas.openxmlformats.org/officeDocument/2006/relationships/theme" Target="theme/theme1.xml"/><Relationship Id="rId3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2-1.png"/><Relationship Id="rId2" Type="http://schemas.openxmlformats.org/officeDocument/2006/relationships/image" Target="../media/image-2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4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0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7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6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3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2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1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6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3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节级精细讲解（教师用）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6304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249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 · 每章每节精细讲解课件 ｜ 人教版（2022年版课标新修订教材）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99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1245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391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节级教案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分步例题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537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每节配齐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12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核心素养：物理观念 · 科学思维 · 科学探究 · 科学态度与责任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练习答案仅存教师手册（course.json），放映页零答案 ｜ 制作依据：九科教辅规范包 v1.0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学科身份与课件结构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0038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人教版（2022年版课标新修订教材）（四册（八年级上/下、九年级上/下））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66694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43350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物理观念、科学思维、科学探究、科学态度与责任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0006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每节四页组：讲解→例题→练习→（图示）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296662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练习答案仅存教师手册，放映页零答案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每节页面组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讲解页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导入情境 → 讲解正文（可直接照讲）→ 核心术语与易错提示。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例题页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典型例题分步解析，每步注明依据；教师带学生逐步揭示。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练习页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独立练习（答案在教师手册）；可先作答再对照自评。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图示页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本章学科专业图示，按原始比例嵌入，标注教学示意。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 / 346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机械运动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633" y="2256040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声现象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9633" y="2507258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物态变化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9633" y="2758476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光现象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9633" y="3009694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透镜及其应用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9633" y="3260912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质量与密度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905" y="3512130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9633" y="3823026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9633" y="4074244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运动和力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9633" y="4325462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压强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9633" y="4576680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浮力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9633" y="4827898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功和机械能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9633" y="5079115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简单机械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5868" y="1693926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65596" y="2004822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 内能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5596" y="2256040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第十四章 内能的利用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65596" y="2507258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第十五章 电流和电路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5596" y="2758476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第十六章 电压 电阻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5596" y="3009694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第十七章 欧姆定律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55868" y="3260912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65596" y="3571808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第十八章 电功率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65596" y="3823026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第十九章 生活用电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65596" y="4074244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第二十章 电与磁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65596" y="4325462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第二十一章 信息的传递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5596" y="4576680"/>
            <a:ext cx="5216195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第二十二章 能源与可持续发展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 / 346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运动与相互作用 ｜ 考查：刻度尺读数与单位换算、参照物判断、v=s/t 计算与 s-t 图像分析是中考必考基本功。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　机械运动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从会选工具、会读数，到会用速度描述快慢，建立长度、时间、速度三个基本量的测量与计算闭环。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长度和时间的测量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运动的描述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运动的快慢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测量平均速度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长度和时间的测量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先估一估课桌有多长，再用刻度尺实测——你估的数和测的数差多少？这一节就用刻度尺和停表把测量做规范。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先做两件事：每人估一估课桌长度并写下数字，再用刻度尺实测。你会看到各人估计值相差很大，实测值彼此接近却仍有细小差别——这说明感觉靠不住，测量必须有统一的单位和规范的操作；测量值与真实值之间的差异叫误差，它不能消灭，多次测量求平均只能减小它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刻度尺按“选、认、放、看、读、记”六步用：先认量程和分度值，刻线贴紧被测物，视线正对刻线。读数必须估读到分度值的下一位：分度值 1 mm 时，2.5 cm 与 2.50 cm 含义不同，末位的 0 才是估读位，漏掉估读位是记录错误。测时间用停表：先读小盘分钟，再读大盘秒。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分度值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估读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误差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停表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 2.5 cm 与 2.50 cm 一样，漏掉估读位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把多次测量求平均值当成“消除误差”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5 / 346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长度和时间的测量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用分度值 1 mm 的刻度尺测木块：左端对齐 1.00 cm 刻线，右端读得 4.25 cm。木块多长？末位哪个数字是估读的？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先确认分度值是 1 mm，读数要估读到 0.1 mm，即以 cm 作单位记到小数点后两位。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物体没有从零刻线量起，长度＝末端读数−起点读数，这是起点非零时的通用算法。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 L=4.25 cm−1.00 cm=3.25 cm；末位的“5”落在 0.1 mm 位，正是估读数字。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木块长 3.25 cm，末位“5”是估读位。若写成 3.2 cm 就漏了估读，属于错误而不是误差。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 / 346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长度和时间的测量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停表小盘示数 1 min、大盘示数 35.2 s，这段时间合多少秒？同一刻度尺四次测铅笔长 176.2 mm、176.4 mm、176.3 mm、187.3 mm，哪个数据记错了？该怎么处理？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7 / 346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长度和时间的测量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069" y="1876806"/>
            <a:ext cx="542031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刻度尺读数与估读位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画一把分度值 1 mm 的刻度尺，零刻线未对齐物体：木块左端对齐 2.00 cm 刻线，右端位于 5.2 cm 与 5.3 cm 之间约 5.25 cm 处；标签：分度值 1 mm、起点 2.00 cm、末读数 5.25 cm、物体长度…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 / 346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运动的描述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坐在行驶的列车里，窗外的人说你动了，同车的乘客说你没动——谁说得对？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乘客动没动”这个争论入手：说动的同学，心里其实拿窗外的地面作标准；说没动的同学，拿的是车厢。可见判断一个物体是否运动，必须先选定参照物，再看研究对象相对参照物的位置有没有变化——位置随时间变化就叫机械运动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物可以任意选，但不选研究对象自己，且判断时必须写明参照物。运动和静止是相对的：以站台为参照物，电梯里的乘客在动；以电梯为参照物，乘客静止。参照物选得不同，结论可以不同，这就是运动描述的相对性——认为只能选静止的地面作参照物是错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机械运动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参照物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运动和静止的相对性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判断运动状态时不指明参照物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认为参照物只能选静止的地面（可选任意物体，但不选研究对象自身）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9 / 346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运动的描述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汽车在公路上行驶，车上坐着乘客。以路边的树为参照物，乘客是运动还是静止？以汽车为参照物呢？请写出判断依据。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判断前先写明参照物，这是物理表达的规范，也是本题的得分点。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以树为参照物，乘客相对树的位置不断变化，依据机械运动的定义，乘客是运动的。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以汽车为参照物，乘客与车厢的相对位置不变，乘客是静止的。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以树为参照物乘客运动，以汽车为参照物乘客静止。参照物不同结论不同，说明运动和静止是相对的。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10 / 346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运动的描述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地球同步卫星“静止”在赤道上空。它相对地面是运动还是静止？相对太阳呢？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11 / 346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运动的快慢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百米赛跑 12 s 到达终点，汽车里程表显示 60 km/h——怎么比较运动员和汽车谁更快？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百米成绩用“相同路程比时间”，汽车用“相同时间比路程”，把它们统一起来：速度＝单位时间内通过的路程，v=s/t。国际单位是米每秒（m/s），常用千米每小时（km/h），换算 1 m/s=3.6 km/h，所以 72 km/h=72÷3.6=20 m/s。“大变小乘 3.6”之类的口诀容易记反，直接背住 1 m/s=3.6 km/h 最稳妥。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物体沿直线且速度不变的运动叫匀速直线运动。看 s-t 图像先认横纵轴：过原点的直线说明路程与时间成正比，物体做匀速直线运动；水平线说明时间在走、路程不变，物体静止——把水平线读成匀速运动是高频错误。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速度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匀速直线运动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米每秒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千米每小时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km/h 与 m/s 换算时 3.6 的乘除方向记反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 s-t 图像中的水平线读成匀速运动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 / 346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运动的快慢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汽车以 72 km/h 匀速行驶 5 min，通过的路程是多少？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代入公式前先统一单位：72 km/h÷3.6=20 m/s，t=5 min=300 s。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v=s/t 变形得 s=vt，代入 s=20 m/s×300 s=6000 m。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检验数量级：5 min 走 6 km 合理，结果写 6000 m 或 6 km 都可以。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通过路程 6000 m（即 6 km）。依据 s=vt，第一步的换算 72 km/h=20 m/s 是本题关键。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13 / 346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运动的快慢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 200 m 的火车以 20 m/s 匀速通过长 1600 m 的大桥，全部通过需要多长时间？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14 / 346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　运动的快慢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1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543" y="1876806"/>
            <a:ext cx="5869363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s-t 图像：匀速与静止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s-t 图像：横轴 t/s 刻度 0–6，纵轴 s/m 刻度 0–24；数据 t=[0,1,2,3,4]，s=[0,6,12,18,24] 为过原点直线，续 t=[4,5,6]，s=[24,24,24] 为水平段；标注：0–4 s 匀速…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 / 346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　测量平均速度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斜面上的小车越滑越快，那它的“速度”到底算多少？这节课亲手测一测。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材与操作：斜面、小车、刻度尺、停表、金属片。斜面取较小坡度，延长滑行时间便于计时；小车从顶端同一位置静止释放，保证每次初速度相同；底端放金属片，听到撞击声立刻停表，全程和上半段分别测量路程、分别计时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读数与误差：用 v=s/t 分别算全程和上半段的平均速度，你会发现两段数值不同——平均速度只对应确定的一段路程，不能用 v=(v₁+v₂)/2 求平均。误差主要来自按表反应时间和路程测量偏差：分段计时反应误差更大，所以下半段时间常用总时间减去上半段时间得到。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平均速度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斜面小车实验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用 v=(v1+v2)/2 求平均速度（应等于总路程除以总时间）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16 / 346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　测量平均速度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测得全程 s=1.2 m 用时 2.0 s，上半段 s₁=0.6 m 用时 1.5 s。求全程和上半段的平均速度，并算出下半段的平均速度。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07849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078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3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v=s/t=1.2 m÷2.0 s=0.6 m/s，依据是平均速度的定义式。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43471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4347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26828"/>
            <a:ext cx="10423246" cy="63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上半段 v₁=0.6 m÷1.5 s=0.4 m/s，两段数值不同说明小车在加速。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179094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1790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062451"/>
            <a:ext cx="10423246" cy="63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下半段时间 t₂=2.0 s−1.5 s=0.5 s，v₂=0.6 m÷0.5 s=1.2 m/s。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814716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8147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698073"/>
            <a:ext cx="10423246" cy="635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检验：(0.4+1.2)÷2=0.8 m/s≠0.6 m/s，证明“平均速度＝速度的平均值”是错的。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388559"/>
            <a:ext cx="10971886" cy="749808"/>
          </a:xfrm>
          <a:prstGeom prst="roundRect">
            <a:avLst>
              <a:gd name="adj" fmla="val 6098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452567"/>
            <a:ext cx="1056955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0.6 m/s，上半段 0.4 m/s，下半段 1.2 m/s；平均速度必须用这段的总路程除以总时间。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17 / 346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　测量平均速度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小明从家门到校门共 600 m，停表记录用时 8 min。全程平均速度多大？若前 300 m 用了 5 min，后 300 m 的平均速度多大？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 / 346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机械运动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测量要有统一单位；刻度尺读数估到分度值下一位，多次测量求平均只能减小误差、不能消除误差。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判断物体是否运动，先选参照物再看相对位置变没变；参照物不同，运动和静止的结论可以不同。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速度等于路程除以时间，1 m/s=3.6 km/h；s-t 图像过原点的直线是匀速运动，水…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平均速度等于这段的总路程除以总时间；各段平均速度一般不同，不能把速度取算术平均。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用分度值 1 mm 的刻度尺测得课本宽 184.2 mm，指出估读位；汽车以 72 km/h 行驶 5 min 通过多少路程？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19 / 346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声与光 ｜ 考查：产生与传播条件、三特性的波形图判断、超声次声应用与噪声控制途径。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　声现象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围绕“声由振动产生、靠介质传播”主线，把音调、响度、音色三特性与控噪三环节一一对应讲清。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声音的产生与传播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声音的特性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声的利用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噪声的危害和控制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声音的产生与传播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敲响的音叉靠近水面，水花溅起来了——声音和这朵水花有什么关系？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正在发声的音叉接触水面溅出水花，悬吊的乒乓球贴向音叉被反复弹开。两个现象把“看不见的振动”变成看得见的证据：声音是由物体振动产生的，振动停止，发声停止。注意纠正：振动停止只是不再产生新声音，已经传出去的声音还在介质中继续传播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声音的传播需要介质：把正在响铃的电铃放进玻璃罩抽气，铃声越来越弱，由此推理真空不能传声——这是“实验加推理”的方法，因为绝对真空抽不出来。15 ℃ 空气中声速约 340 m/s，比光速小得多，所以先看到闪电后听到雷声。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振动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介质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声速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回声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认为真空能传声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把“振动停止”误解为“声音立即消失”（介质中已传出的声音还在）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21 / 346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声音的产生与传播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看到远处的烟花绽放，约 2 s 后才听到响声。烟花燃放处离你大约多远？（声速取 340 m/s）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光速远大于声速，光传播的时间可忽略，2 s 就是声音传过来的时间。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v=s/t 变形得 s=vt，代入 s=340 m/s×2 s=680 m。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检验：约 0.7 km，与“看到烟花隔一两秒才听到”的生活经验相符。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烟花燃放处约 680 m 远。若题目给的是回声，距离还要除以 2，两种情形不要混。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 / 346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声音的产生与传播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对着山崖喊一声，2 s 后听到回声，人到山崖多远？（声速取 340 m/s）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23 / 346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声音的产生与传播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799" y="1876806"/>
            <a:ext cx="620285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真空罩中的闹铃实验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画玻璃钟罩，罩内悬挂正在响的小电铃，罩底橡胶塞接抽气机；钟罩外画声波弧线随抽气由密变疏；标签：抽气中→铃声变弱、推理：真空不能传声；右下角文字注明“实验+理想推理”。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 / 346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声音的特性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同一把钢尺，伸出桌外长一点和短一点各拨一次，声音哪里不一样？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控制变量：钢尺伸出桌外越短，拨动时振动越快，音调越高——振动的快慢用频率表示，单位赫兹（Hz），音调由频率决定；再用同样大的力拨伸出长度相同的钢尺，拨得越重振幅越大、响度越大——响度由振幅决定。两次实验各只改一个量，这就是控制变量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乐器奏同一个音仍能分辨，靠的是音色，它由发声体的材料和结构决定。看波形图三步走：比较波形的疏密定音调，比较波峰的高低定响度，比较曲线的形状定音色。特别提醒：“声音大”说响度，“声音尖”说音调，两者不能混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音调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响度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音色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频率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把“声音大”当“声音尖”，响度与音调混为一谈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认为音色只由乐器种类决定，忽略材料结构的影响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25 / 346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声音的特性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男低音放声歌唱，女高音轻声伴唱。谁的音调高？谁的响度大？请说明依据。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音调由频率决定，“高音”说明女声基音频率高，故女高音音调高。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响度由振幅决定，“放声”说明男声振幅大，故男低音响度大。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两个结论合起来看：音调与响度互相独立，“低而响”完全可能。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女高音音调高，男低音响度大。判断只看频率与振幅，不看“男女”“高低”的日常字面义。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26 / 346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声音的特性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波形图上，甲、乙两列声波在相同时间内甲出现 8 个完整波、乙出现 4 个，两列波峰高度相同。哪列音调高？哪列响度大？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 / 346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声音的特性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2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432" y="1876806"/>
            <a:ext cx="5963586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三组波形对比判音调、响度、音色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同一横轴 t/ms 画三行波形：第一行甲与乙振幅相同、疏密不同（f乙=2f甲），标“音调不同”；第二行丙与甲同频率但振幅更大，标“响度不同”；第三行丁与甲同频同幅但曲线形状不同（钢琴与长笛对比），标“音色不同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28 / 346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声的利用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超能看清胎儿，超声波还能击碎结石——一个“看”、一个“碎”，声分别在干什么？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把声的利用分成两类列表：传递信息的，如 B 超诊断、声呐探测海深、蝙蝠回声定位；传递能量的，如超声清洗眼镜、超声波击碎结石。分类标准是声有没有对物体做功——只告诉我们情况的是信息，把物体“打”变了样的是能量。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回声测距用 s=vt/2：声速乘总时间是一来一回的总路程，除以 2 才是目标距离。频率高于 20000 Hz 的叫超声波，低于 20 Hz 的叫次声波，两个界限要记牢：超声定向性好，次声传播中能量损耗小、能传很远，地震、海啸常伴随次声。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超声波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次声波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回声定位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超声（高于 20000 Hz）与次声（低于 20 Hz）的频率界限记混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29 / 346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声的利用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声呐向海底发出超声波，4 s 后收到回声。海水中声速取 1500 m/s，此处海深多少？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先写依据：回声测距 s=vt/2，因为声音往返共走了两倍海深。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声音总路程 s总=1500 m/s×4 s=6000 m。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海深 h=6000 m÷2=3000 m。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海深 3000 m。检验：4 s 往返对应公里级深度，合理；忘记除以 2 是本类题最高频错误。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 / 346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　声的利用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把下列应用按“传递信息／传递能量”分类：①B 超查体 ②超声碎石 ③声呐探鱼群 ④超声清洗精密仪器。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31 / 346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　噪声的危害和控制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深夜邻居家优美的钢琴声，对备考的你算什么声音？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从这个情境出发：从物理角度，无规则振动产生的是噪声；从环保角度，凡是妨碍人们正常休息、学习和工作的声音都是噪声——所以乐器声也可能成为噪声。两种定义都要会写，判断题常考环保角度。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控制噪声在三个环节下手，各举一例：在声源处消声——摩托车安装消声器；在传播过程中隔声、吸声——高架桥两侧装隔音墙、道路两旁植树；在人耳处隔声——戴防噪声耳罩。0 dB 是人耳刚能听到的最弱声音，不是“没有声音”。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噪声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认为乐器的声音一定不是噪声（干扰他人即噪声）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32 / 346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　噪声的危害和控制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下列措施分别在哪个环节控制噪声：①市区禁鸣喇叭 ②教室临街窗户装双层玻璃 ③射击运动员戴耳罩？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禁鸣喇叭是不让发声体发声，属于在声源处减弱。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双层玻璃阻断声音进入室内，属于在传播过程中减弱。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耳罩阻止声音进入人耳，属于在人耳处减弱。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620006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620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491990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检验分类标准：三条措施恰好对应“声源—传播路径—人耳”三个环节。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20522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269230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①声源处 ②传播过程中 ③人耳处。答题先写环节名称，再对应原措施，两者必须匹配。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 / 346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　噪声的危害和控制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dB 表示什么？有人认为“乐器演奏的一定不是噪声”，你怎么看？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34 / 346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声现象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声音由振动产生，靠介质传播，真空不能传声；15 ℃ 空气中声速约 340 m/s，回声测距…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音调看频率，响度看振幅，音色看波形形状；“声音大”是响度、“声音尖”是音调。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声可传递信息也可传递能量；回声测距 s=vt/2；高于 20000 Hz 是超声，低于 2…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噪声控制三环节：声源处消声、传播中隔声吸声、人耳处隔声；0 dB 是刚能听到的最弱声。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男低音放声歌唱、女高音轻声伴唱，谁的音调高、谁的响度大？用手按住锣面，声音为何立刻停止？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35 / 346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物质 ｜ 考查：温度计使用与读数、晶体熔化图像分析、蒸发沸腾对比、物态变化归类与吸放热判断。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　物态变化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用温度计规范测量贯穿六大物态变化，靠“吸热/放热”把熔化、汽化、升华及其逆过程串成一张表。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温度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熔化和凝固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汽化和液化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升华和凝华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温度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摸一摸铁栏杆和木栏杆，哪个更凉？再用温度计量一量——感觉可靠吗？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摸后测：冬天铁栏杆摸着比木栏杆凉，但温度计显示两者温度相同——感觉不可靠，温度要靠温度计测量，它的原理是液体的热胀冷缩。使用按“估、选、读”三步：先估被测温度选合适量程；玻璃泡完全浸入被测液体，不碰容器底和壁；示数稳定后再读数，读数时玻璃泡留在液体里，视线与液柱上表面相平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计特殊在缩口：水银只能上、不能自动下，所以可以离开人体读数，但下次使用前必须用力甩回去。与普通温度计对比：普通温度计不能离开被测物读数，也不能甩。纠正两个典型错误：把温度计拿出液体再读数（示数会变）、体温计不甩就测下一个人（示数只升不降会误判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摄氏度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温度计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量程与分度值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把温度计拿出液体再读数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体温计不甩就直接测下一个人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37 / 346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温度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一支体温计示数为 38.0 ℃，没有甩就直接去测体温实际是 37.5 ℃ 的人，体温计显示多少？若去测体温 39 ℃ 的人呢？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依据体温计缩口的结构：水银柱遇冷不会自动退回玻璃泡。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 37.5 ℃ 的人：温度低于原示数，水银不升也不降，示数仍是 38.0 ℃。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 39 ℃ 的人：温度高于原示数，水银能继续膨胀上升，示数为 39 ℃。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 37.5 ℃ 的人示数仍为 38.0 ℃，测 39 ℃ 的人示数为 39 ℃。关键依据是缩口“只升不自动降”。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38 / 346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温度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用普通实验温度计测热水温度：①刚插入就读数 ②玻璃泡碰到杯底 ③示数稳定后拿出液面读数。指出错误并说明后果。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39 / 346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熔化和凝固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同时给冰和蜡加热，一个在 0 ℃ 磨蹭半天，一个越热越稀——差别在哪？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对比实验：冰（晶体）加热到 0 ℃ 开始熔化，熔化过程中虽然持续吸热，温度计示数保持 0 ℃ 不变，直到全部化成水；蜡（非晶体）熔化时边吸热边变软变稀，温度一直上升。有无固定的熔化温度（熔点）是晶体与非晶体的根本区别。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晶体熔化图像分段读：固段吸热升温、平台段熔化（固液共存、温度不变、持续吸热）、液段升温，平台对应的温度就是熔点。冰水混合物始终保持 0 ℃ 正是平台段。纠正两个误区：晶体熔化过程中温度不升高；0 ℃ 的冰和 0 ℃ 的水冷热程度相同，只是冰熔化还要大量吸热。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熔化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凝固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熔点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晶体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认为晶体熔化过程中温度持续升高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认为“0 ℃ 的冰比 0 ℃ 的水冷”（温度相同，冰熔化吸热多）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40 / 346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熔化和凝固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冰的熔化图像中，第 2 到第 5 min 温度保持在 0 ℃。第 3 min 时烧杯里的物质处于什么状态？这段时间温度为什么不升？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由图像平台段判定：2–5 min 是熔化过程，第 3 min 物质处于固液共存状态。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依据晶体熔化特点：熔化时持续吸热，吸收的热量用于破坏晶体结构，温度保持在熔点 0 ℃ 不变。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对应后续：5 min 后冰全部化完，进入液态升温段。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min 为固液共存态；平台段吸热但温度不变，这是晶体熔化的特征，平台对应的温度就是熔点。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41 / 346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熔化和凝固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海波熔点 48 ℃。温度刚升到 48 ℃ 时，海波是固态、液态还是固液共存？要使它继续熔化必须怎样？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42 / 346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熔化和凝固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669" y="1876806"/>
            <a:ext cx="591511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晶体熔化图像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晶体（冰）熔化图像：横轴 t/min 0–8，纵轴 T/℃ −20~30；数据 t=[0,1,2,3,4,5,6,7,8]，T=[-20,-10,0,0,0,0,10,20,30]；标注：0–2 min 固态吸热升温，2–5 min 熔…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43 / 346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汽化和液化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湿衣服晾干是悄悄进行的，水烧开是翻腾可见的——都是汽化，差别在哪？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发与沸腾列表比三行：发生温度——蒸发任何温度下都能进行，沸腾要达到沸点并继续吸热；发生部位——蒸发只在液体表面，沸腾在表面和内部同时进行；剧烈程度——蒸发缓慢，沸腾剧烈。影响蒸发快慢的三个因素是温度、表面积、表面空气流动，晒衣服“向阳、摊开、通风”三招正好对号入座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沸腾图像上有平台：水沸腾时吸热但温度保持在沸点不变，本地气压低于标准大气压时沸点低于 100 ℃。液化的两条途径：降低温度、压缩体积。纠正高频错误：“白气”不是水蒸气，是水蒸气遇冷液化成的小水滴，真正的水蒸气无色透明看不见。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蒸发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沸腾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沸点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液化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把“白气”当成水蒸气（实为液化成的小水滴）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认为蒸发只在高温下发生（任何温度都可蒸发）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44 / 346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汽化和液化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冬天说话嘴里呼出“白气”，夏天揭开冰棍纸也冒“白气”。这两处“白气”是怎么形成的？是水蒸气吗？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先纠正概念：水蒸气无色透明看不见，能看见的“白气”一定不是水蒸气。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依据液化条件（遇冷放热）：呼出的水蒸气遇到冷空气液化成小水滴；空气中的水蒸气遇到冷的冰棍液化成小水滴。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归类：两处“白气”都是液化现象，本质是悬浮的小水滴。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都是水蒸气遇冷液化成的小水滴，不是水蒸气本身。判断“白气”类问题先问“谁遇冷了”。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45 / 346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汽化和液化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 100 ℃ 的水蒸气烫伤往往比被 100 ℃ 的开水烫伤更严重，为什么？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46 / 346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　汽化和液化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3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658" y="1876806"/>
            <a:ext cx="5947134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水沸腾图像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水沸腾图像：横轴 t/min 0–9，纵轴 T/℃ 80~105；数据 t=[0,1,2,3,4,5,6,7,8,9]，T=[85,88,92,95,97,98,98,98,98,98]；标注：沸腾前吸热升温（旁画小图：气泡上升变小），…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47 / 346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　升华和凝华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衣柜里的樟脑丸放一学期“不翼而飞”，冰冻的衣服也能直接晾干——固体去哪了？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给烧瓶里的碘粒微微加热，固态碘直接变成紫色碘蒸气，中间没有出现液态；在瓶口放冷玻璃片，紫色蒸气又直接凝回固态碘粒。一次实验讲全两个过程：升华是固态直接变气态、吸热；凝华是气态直接变固态、放热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对号入座：干冰造雾降雨、樟脑丸变小、冻衣服变干、白炽灯钨丝变细——升华，吸热；霜、雪、雾凇、冬天窗内侧的窗花——凝华，放热。纠正高频错误：霜和雾凇不是“露冻成的”，露是液化，霜是水蒸气直接凝华，归类错了，吸放热的判断也跟着错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升华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凝华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把霜、雾凇当成“露冻成的”，物态变化归类错误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48 / 346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　升华和凝华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舞台上用干冰（固态二氧化碳）制造白雾。说明白雾的形成过程，并指出干冰发生了什么物态变化、吸热还是放热。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干冰从固态直接变为气态，是升华现象，升华吸热。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依据升华吸热降温：干冰升华使周围空气温度急剧下降。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空气中的水蒸气遇冷液化成小水滴，形成“白雾”。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干冰升华吸热降温，空气中水蒸气液化成小水滴形成白雾。注意“白雾”是液化、干冰本身是升华，两个物态变化要分开答。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49 / 346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　升华和凝华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霜、露、雾分别属于什么物态变化？是吸热还是放热？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50 / 346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物态变化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感觉不可靠，温度要测量；温度计玻璃泡全浸入、稳定后读、不离液读；体温计有缩口、用前要甩。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晶体有熔点，熔化时吸热温度不变、固液共存；非晶体没有熔点，边吸热边升温变软。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蒸发任何温度都能发生，沸腾需达沸点且吸热；“白气”是液化成的小水滴；液化靠降温或压缩体积。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升华固变气吸热，凝华气变固放热；霜是凝华、露雾是液化，“白气白雾”一律先想液化。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说出雾、露、霜各自的形成物态变化并判断吸放热；晶体熔化图像中水平段说明什么？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51 / 346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声与光 ｜ 考查：反射定律作图与镜面/漫反射区分、平面镜成像特点与作图、折射规律与光的色散。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　光现象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以“光沿直线传播→遇界面反射→进介质折射”为传播路线主线，配平面镜成像与色散收尾。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光的直线传播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光的反射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平面镜成像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光的折射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2785" y="473659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光的色散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5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光的直线传播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打开教室里两盏灯，地上出现两团互不相干的影子——影子是怎么来的？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用激光笔穿过喷有水雾的空气或滴了几滴牛奶的水，能清楚看到一条笔直的光路。结论必须带条件：光在同种、均匀介质中沿直线传播，两个条件缺一不可——光从空气斜射入水中时就不再沿直线走。影子、日食月食、小孔成像、排队看齐、激光准直，都统一归到直线传播一条线上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光线是带箭头的直线，表示光的传播路径和方向，是人为建立的模型。真空中的光速 c=3×10⁸ m/s，远大于声速 340 m/s，所以先看到闪电后听到雷声；短距离内光的传播时间通常忽略不计。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光源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光线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光速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漏掉“同种均匀介质”条件，认为光永远沿直线传播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53 / 346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光的直线传播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雷雨天总是先看到闪电后听到雷声。若看到闪电 3 s 后听到雷声，打雷处大约离你多远？（光传播时间忽略）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依据光速远大于声速，看到闪电的时刻可视为雷声刚发出的时刻，3 s 就是声音传播的时间。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v=s/t 变形得 s=vt=340 m/s×3 s=1020 m。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检验：3 s 对应约 1 km，符合生活经验；这类题只算声程、不算光程。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打雷处约 1020 m 远。判断依据：光速 3×10⁸ m/s，3 s 内光走过的距离大到完全可以忽略。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54 / 346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光的直线传播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民兵列队时，排头只要看不到第 2 个人以后的任何人，队伍就站直了。这里用到光的什么规律？说明道理。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55 / 346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光的反射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把激光射到平面镜上，墙上立刻出现一个亮点——光去了哪里？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边演示边作图：激光沿纸板射向镜面上的 O 点，纸板上同时看到入射光和反射光；把纸板的一半向后折，反射光消失——说明三线共面。垂直于镜面的虚线叫法线，入射角、反射角都是光线与法线的夹角。多次改变入射角测量，反射角总等于入射角，这就是反射定律：三线共面、法线居中、两角相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高频错误：把反射角当成光线与镜面的夹角。镜面反射把平行光仍射向同一方向，迎着看刺眼；漫反射把光射向四面八方，“各人看各人的”——但每条光线仍遵守反射定律，说漫反射不遵守反射定律是错的。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法线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入射角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反射角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漫反射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把反射角当成光线与镜面的夹角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认为漫反射不遵守反射定律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56 / 346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光的反射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一束光射向平面镜，入射光线与镜面的夹角为 30°。入射角多大？反射角多大？入射光线与反射光线的夹角多大？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依据定义，入射角是入射光线与法线的夹角：入射角=90°−30°=60°。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由反射定律，反射角等于入射角，反射角=60°。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两光线夹角=入射角+反射角=60°+60°=120°。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入射角 60°、反射角 60°、两光线夹角 120°。检验：与镜面夹角 30° 的两倍加 60° 与 60° 的两倍自洽。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57 / 346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光的反射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入射角增大 10°，入射光线与反射光线的夹角增大多少？光垂直射向镜面时入射角多大？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58 / 346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光的反射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671" y="1876806"/>
            <a:ext cx="580710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光的反射定律光路图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画水平镜面 MN，O 为入射点，法线 NO 用虚线竖直画出；入射光线 AO 与法线成 40°，反射光线 OB 与法线成 40°，两光线画箭头标传播方向；标注：入射角 i=40°、反射角 r=40°、i=r；文字注“三线共面、法线居中、两…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59 / 346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平面镜成像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用玻璃板代替平面镜，把一支没点燃的蜡烛放到玻璃板后面——能找到像的确切位置吗？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用薄玻璃板做镜面，它既能反光成像又能透光，看到后面未点燃的蜡烛与前面点燃蜡烛的像完全重合；用刻度尺量物、像到玻璃板的距离——相等，连线与镜面垂直。这样“等大、等距、垂直”都有实测证据；后面接不到光屏上的像，说明平面镜成的是虚像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像特点口诀：等大、等距、垂直、虚像。作图三步：找物点的对称点、镜后画像用虚线、垂足处标直角符号——虚像必须用虚线画。纠正：人远离镜子时像的大小不变，像始终与物等大，只是看起来变小，那是视角变小造成的错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虚像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玻璃板等效法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认为人远离镜子时像变小（像始终与物等大）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虚像用实线画，混淆虚实像的画法约定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60 / 346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平面镜成像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视力表挂在平面镜正对面的墙上，镜到视力表 3 m。小明站在镜前 1 m 处面对镜子测视力，他看到视力表的像离自己多远？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依据平面镜成像“等距”：像到镜的距离等于物到镜的距离 3 m，像在镜后 3 m 处。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人到像的距离=人到镜的距离+像到镜的距离=1 m+3 m=4 m。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检验：这正是小房间用平面镜“延长”视距测视力的原理。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像离小明 4 m。依据是等距对称；人后退时像大小不变，只是视角变小。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61 / 346</a:t>
            </a: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平面镜成像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在纸上画出点 A 经平面镜所成的像 A′，写出作图三步，并说明为什么 A′ 要用虚线画。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62 / 346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　平面镜成像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4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023" y="1876806"/>
            <a:ext cx="4636403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平面镜成像作图法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画竖直平面镜 MM'，镜前蜡烛 AB（A 在上）；过 A、B 分别向镜面作垂线并延长到镜后等距处得对称点 A'、B'，用虚线连接 A'B' 表示虚像；标注：AA'⊥MM'、AA'=A'A、像与物等大、像用虚线；垂足处画直角符号。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63 / 346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　光的折射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把筷子斜插入水，从侧面看筷子在水面处“折断”了——筷子真的断了吗？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图再下结论：画出水与空气的界面和法线，标出入射角、折射角，再比较大小。规律：光从空气斜射入水中，折射光线向法线靠拢，折射角小于入射角；从水斜射入空气则相反。判断口诀：“空气中总是大角”——不管光往哪个方向传，在空气中的那个角更大。垂直入射时角为零，传播方向不变，是特例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规律解释池水变浅：池底反射的光从水斜射入空气时远离法线，人眼逆着折射光线看去，看到的是池底升高了的虚像，所以觉得水浅。纠正：“空气中角大”记反是最常见的失分点；光从水斜射入空气时折射角应变大而不是变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折射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折射角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界面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把“空气中角大”记反，方向判断出错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认为光从水斜射入空气时折射角变小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64 / 346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　光的折射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光从水中斜射入空气，入射角为 40°。折射角可能是 30° 吗？可能比 40° 大吗？写出判断过程。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先定界面两侧介质：水中是入射侧，空气中是折射侧。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依据“空气中总是大角”，空气中的折射角必须大于水中的入射角 40°。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逐一判断：30°&lt;40°，不可能；大于 40° 的角才可能，如 55°。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折射角不可能是 30°，可能大于 40°（如 55°）。判断只依据“空气中总是大角”这一条。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65 / 346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　光的折射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渔民叉鱼时，应瞄准看到的鱼的上方还是下方？用光的折射解释。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66 / 346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　光的色散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一束白光通过三棱镜，白墙上铺开一条彩虹——白光里藏着什么？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白光经三棱镜折射后分解为红、橙、黄、绿、蓝、靛、紫七色光带，说明白光是复色光，这个现象叫色散。再问红光照到红布上会怎样：红布只反射红光、吸收其他色光，所以呈红色；白布反射所有色光；黑布全部吸收。不透明体的颜色由它反射的色光决定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体的颜色由它透过的色光决定：红玻璃只透过红光。纠正：说透明体颜色由反射光决定是错的。光谱两端延伸出看不见的辐射：红外线热效应强，应用有红外遥控、热成像；紫外线能使荧光物质发光，应用有验钞、杀菌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色散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红外线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紫外线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认为透明体颜色由反射光决定（应由透过的色光决定）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67 / 346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　光的色散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舞台上用绿光照射穿红上衣、白裙子的演员。观众看到的上衣和裙子各是什么颜色？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依据“不透明体颜色由反射的色光决定”，先分别看两种布料反射什么光。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红上衣只反射红光，绿光照上去被吸收，无光反射进入人眼，呈黑色。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白裙子反射所有色光，绿光被反射，呈绿色。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上衣呈黑色，裙子呈绿色。检验：“无光入眼即黑”与“白色反射一切色光”两条规则自洽。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68 / 346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　光的色散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隔着蓝色透明玻璃看白纸上的红字，字是什么颜色？为什么？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69 / 346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光现象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光在同种均匀介质中沿直线传播；c=3×10⁸ m/s 远大于声速，影子、日食、小孔成像都归…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反射定律：三线共面、法线居中、反射角等于入射角；角都是与法线的夹角，漫反射同样遵守定律。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平面镜成像：等大、等距、垂直、虚像；虚像在光屏上接不到，作图一律用虚线。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折射中“空气中总是大角”；垂直入射方向不变；池底变浅、叉鱼瞄下方都是折射造成的“假象”。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7065" y="3559302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白光经三棱镜色散成七色光；不透明体颜色看反射、透明体颜色看透过；红外线热效应、紫外线荧光验…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905" y="4034790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2" name="Text 10"/>
          <p:cNvSpPr/>
          <p:nvPr/>
        </p:nvSpPr>
        <p:spPr>
          <a:xfrm>
            <a:off x="811073" y="410794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1073" y="4382262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画出入射角 30° 的反射光路并标出两角；人站在穿衣镜前 2 m，像离人多远？人后退像大小如何变？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70 / 346</a:t>
            </a:r>
            <a:endParaRPr lang="en-US" sz="11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声与光 ｜ 考查：凸透镜成像规律（一倍焦距分虚实、二倍焦距分大小）、眼睛成像缺陷与矫正、动态变化判断。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　透镜及其应用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从透镜对光的作用到成像规律表，再到眼睛矫正与两种光学仪器，一条“会调焦、会判像”的主线。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透镜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生活中的透镜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凸透镜成像的规律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眼睛和眼镜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2785" y="473659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显微镜和望远镜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5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透镜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让太阳光分别通过凸透镜和凹透镜照到纸上，一个会把纸烧焦，一个只得到大光斑——为什么？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演示：太阳光（平行光）通过凸透镜后在纸上会聚成一个最小最亮的光斑，这个点就是焦点，焦点到光心的距离是焦距 f；凹透镜让光发散开来，它的“焦点”是发散光线反向延长线的交点，是虚焦点。透镜都折射光，凹透镜不是“不折光”，只是起发散作用。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三条特殊光线先画先记：过光心的光线不偏折；平行于主光轴的光线折射后过焦点；过焦点的光线折射后平行于主光轴。测凸透镜焦距的方法：正对太阳，纸上下移动到光斑最小最亮，量光斑到光心的距离。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焦点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焦距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会聚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发散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认为凹透镜不折光（仍折射，只是起发散作用）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72 / 346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透镜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把凸透镜正对太阳光，在透镜另一侧的纸上得到最小、最亮的光斑，光斑到透镜光心 10 cm。这个透镜的焦距是多少？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依据：平行于主光轴的光折射后过焦点，太阳光可视为平行光。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最小最亮的光斑就是焦点位置，光斑到光心的距离即焦距。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得出 f=10 cm，注意量的是到光心的距离。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焦距 f=10 cm。“光斑最小最亮”是焦点的标志，测量从光心起算。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73 / 346</a:t>
            </a:r>
            <a:endParaRPr lang="en-US" sz="11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透镜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画出并说明三条特殊光线经凸透镜后的去向；凹透镜的两条特殊光线折射后怎么走？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74 / 346</a:t>
            </a:r>
            <a:endParaRPr lang="en-US" sz="11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透镜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288" y="1876806"/>
            <a:ext cx="5569873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凸透镜与三条特殊光线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画凸透镜及水平主光轴，标光心 O；上方画平行主光轴的光束经透镜会聚于焦点 F，标 f；下方画三条特殊光线：过光心的直线不偏折、平行主光轴的折向焦点、过焦点的折后平行主光轴；标签：光心 O、焦点 F、焦距 f。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75 / 346</a:t>
            </a:r>
            <a:endParaRPr lang="en-US" sz="11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生活中的透镜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手机拍照、教室投影、水滴压在书页上——三件小事里各藏着一枚凸透镜。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三个实物再谈像：照相机拍到的像比人小得多且上下颠倒，镜头离景物远——倒立、缩小的实像；投影仪投出的字被放大且倒立，镜头离投影片较近——倒立、放大的实像；放大镜里的字正立且变大——正立、放大的虚像。实像由实际光线会聚而成，能在光屏上呈现；虚像不能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足直观，规律下节再填：这里只需记住“实像都是倒立的、能在光屏上接到；虚像是正立的、接不到”。纠正：不要先入为主认为“实像一定缩小、虚像一定放大”，投影仪的实像就是放大的，规律表下节学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实像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虚像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先入为主认为“实像必缩小、虚像必放大”，与后节规律表冲突时再修正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76 / 346</a:t>
            </a:r>
            <a:endParaRPr lang="en-US" sz="11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生活中的透镜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照相时景物到镜头的距离远大于焦距。底片上成的像有什么特点？水滴贴在书页上放大了字，水滴相当于什么透镜、成什么像？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照相机镜头相当于凸透镜，物距远大于二倍焦距，成倒立、缩小的实像。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水滴中间厚、边缘薄，相当于凸透镜，字紧贴水滴，物距小于焦距。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依据物距小于焦距的情形，成正立、放大的虚像。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照相机成倒立缩小的实像；水滴相当于凸透镜，成正立放大的虚像。判断实像先看“能否在光屏上接到”。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77 / 346</a:t>
            </a:r>
            <a:endParaRPr lang="en-US" sz="11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生活中的透镜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投影仪投在屏幕上的字是放大的实像，老师却把投影片倒着放，为什么？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78 / 346</a:t>
            </a:r>
            <a:endParaRPr lang="en-US" sz="11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凸透镜成像的规律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光具座上把蜡烛从远处一步步移近凸透镜，像一会儿缩小、一会儿放大、一会儿消失——规律藏在哪两个点上？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分组实验设计：光具座上依次放蜡烛、凸透镜、光屏，凸透镜位置不变。控制变量分段做：u&gt;2f、u=2f、f&lt;u&lt;2f、u&lt;f，每段都移动光屏找到最清晰的像，记录像的正倒、大小、虚实，填成表格后找分界线：u=f 处是虚实的分界，u=2f 处是放大缩小的分界——口诀“一倍焦距分虚实、二倍焦距分大小”。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成实像时的动态规律：物近像远像变大——蜡烛靠近透镜，像远离透镜且变大，用表格再验证一遍。纠正两个高频错误：遮住透镜一半，像仍完整，只是变暗；u=2f 处成等大实像、u=f 处不成像，两个分界点的像况不能混。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物距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像距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分界线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u=2f 与 u=f 两个分界点处的成像特征记混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遮住透镜一半认为只能成半个像（像完整但变暗）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79 / 346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凸透镜成像的规律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凸透镜焦距 10 cm。蜡烛分别放在距透镜 30 cm、15 cm、8 cm 处，各成什么像？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先比物距与焦距：30 cm&gt;2f=20 cm，成倒立、缩小的实像，像距在 f 与 2f 之间。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cm 在 f 与 2f 之间，成倒立、放大的实像，像距大于 2f。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cm&lt;f，成同侧正立、放大的虚像，光屏接不到。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620006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620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491990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检验：两条分界线 u=10 cm、u=20 cm 把三种情形分开，没有漏段。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20522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269230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u=30 cm 倒立缩小实像；u=15 cm 倒立放大实像；u=8 cm 正立放大虚像。成像题第一步都是拿 u 与 f、2f 比大小。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80 / 346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　凸透镜成像的规律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烛焰经凸透镜在光屏上成清晰缩小的像后，用黑纸遮住透镜的上半部分，光屏上的像会怎样变化？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81 / 346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　眼睛和眼镜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看远和看近，照相机要拧镜头对焦，我们的眼睛却不用——眼球是怎么“调焦”的？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眼球当成会自动变焦的相机：角膜和晶状体相当于凸透镜，视网膜相当于光屏。看远近不同物体时，睫状体改变晶状体的厚度（焦距），使像恰好落在视网膜上——眼睛靠“改变透镜焦距”调焦，与照相机的“移动镜头”不同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近视眼看不清远处：晶状体太厚折光太强或眼球前后径太长，像成在视网膜前，需配凹透镜先发散再成像；远视眼相反，像成在视网膜后，配凸透镜，成对记忆。纠正：近视戴凸透镜是错的。眼镜度数=100/f（f 以 m 为单位），度数越高焦距越短。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近视眼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远视眼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矫正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近视戴凸透镜矫正（应为凹透镜）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82 / 346</a:t>
            </a:r>
            <a:endParaRPr lang="en-US" sz="11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　眼睛和眼镜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一副标称 500 度的近视眼镜，镜片焦距是多少？它是什么透镜？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依据度数与焦距的关系：度数=100/f（f 用米），f=100÷500=0.2 m。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 m=20 cm；“近视”标明这是凹透镜。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检验：度数越高焦距越短，500 度比 200 度（f=50 cm）焦距短，合理。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焦距 20 cm 的凹透镜。近视镜用凹透镜把像往后“推”到视网膜上。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83 / 346</a:t>
            </a:r>
            <a:endParaRPr lang="en-US" sz="11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　眼睛和眼镜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爷爷看书越来越吃力，要把书拿远才能看清。他的眼睛是什么缺陷？成像在视网膜前还是后？用什么透镜矫正？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84 / 346</a:t>
            </a:r>
            <a:endParaRPr lang="en-US" sz="11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　眼睛和眼镜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5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420406"/>
            <a:ext cx="6949440" cy="27601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近视眼的成因与矫正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画眼球剖面简图（晶状体等效凸透镜、后壁为视网膜弧线），平行光经晶状体会聚于视网膜前一点，标“近视：像成在视网膜前”；右侧同图在晶状体前加一个凹透镜，光线先发散后会聚点恰好落在视网膜上，标“配凹透镜矫正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85 / 346</a:t>
            </a:r>
            <a:endParaRPr lang="en-US" sz="11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　显微镜和望远镜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显微镜能看到细胞，望远镜能看到月球环形山——都是两片透镜，路数一样吗？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1844802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57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显微镜的两次放大：靠近物体的物镜，物距在 f 与 2f 之间，成倒立放大的实像；这个像落在目镜的焦点以内，目镜再成正立放大的虚像。望远镜不同：物镜面对远处物体（u&gt;2f），成倒立缩小的实像，把遥远的景物“拉近”；目镜同样把这个像放大。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关键区别在目的：显微镜放大微小物体本身；望远镜放大的是视角——物体看起来变大是因为视角变大，看到的天体并未真的变大。纠正：认为望远镜里的月亮真被放大到那般尺寸是误解。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物镜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目镜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视角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认为望远镜里看到的天体比实际大（只是视角变大）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86 / 346</a:t>
            </a:r>
            <a:endParaRPr lang="en-US" sz="11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　显微镜和望远镜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显微镜物镜和目镜各相当于一个凸透镜。说明两镜分别成什么像，并写出两次成像的物距范围。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物镜：被观察物放在略大于 f 处（f&lt;u&lt;2f），成倒立、放大的实像。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目镜：物镜的像落在目镜焦点以内（u&lt;f），成正立、放大的虚像。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合成：微小物体被连续放大两次，所以显微镜能看清细胞级别的小物。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物镜成倒立放大实像（f&lt;u&lt;2f），目镜成正立放大虚像（u&lt;f），两次放大是显微镜的核心。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87 / 346</a:t>
            </a:r>
            <a:endParaRPr lang="en-US" sz="11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　显微镜和望远镜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通过天文望远镜看到的月亮比肉眼看到的“大”，月亮真的被放大了吗？请用“视角”解释。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88 / 346</a:t>
            </a:r>
            <a:endParaRPr lang="en-US" sz="11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透镜及其应用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凸透镜会聚、凹透镜发散；焦点到光心是焦距；三条特殊光线是作图和解题的基本功。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照相机缩小实像、投影仪放大实像、放大镜放大虚像；实像倒立可呈现在光屏上，虚像正立接不到。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一倍焦距分虚实、二倍焦距分大小；成实像时物近像远像变大；遮半透镜像完整但变暗。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眼睛靠改变晶状体厚度调焦；近视像在视网膜前、配凹透镜；远视像在视网膜后、配凸透镜。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7065" y="3559302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显微镜两次放大微小物体；望远镜把远物拉近、放大视角；望远镜里的物体并没有真的变大。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905" y="4034790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2" name="Text 10"/>
          <p:cNvSpPr/>
          <p:nvPr/>
        </p:nvSpPr>
        <p:spPr>
          <a:xfrm>
            <a:off x="811073" y="410794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1073" y="4382262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物体从 3f 处向 f 处移动，像的大小与像距如何变化？近视眼成像在何处、用什么透镜矫正？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89 / 346</a:t>
            </a:r>
            <a:endParaRPr lang="en-US" sz="11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· 物质 ｜ 考查：天平与量筒读数、测固体液体密度的实验设计与误差分析、密度公式与图像综合计算。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　质量与密度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以天平规范操作与 m-V 图像为双抓手，把“质量是属性、密度是特性”落到测量与鉴别物质。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质量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密度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测量物质的密度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密度与社会生活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质量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一块冰化成水、一块橡皮捏成饼、一箱货从北京运到月球——有什么东西始终没变？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三个情境逐一排除：状态变了、形状变了、位置变了，但物体所含物质的多少没有变，这个不变的量叫质量，单位千克（kg），常用吨、克、毫克。质量是物体本身的属性，不随形状、状态、位置改变。纠正：1 kg 铁与 1 kg 棉花质量相同，说“铁重”是错的。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平按“放、调、测、读”四步用：放在水平桌面，游码归零后调平衡螺母使指针指中线；左物右码，砝码从大到小用镊子试加，最后移游码；读数=砝码总质量+游码左缘所对刻度。物码放反且用了游码时，m物=m码−m游，不能直接相加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质量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托盘天平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游码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物码放反又用游码时直接相加（应 m物=m码−m游）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 1 kg 铁比 1 kg 棉花“重”（质量相同）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91 / 346</a:t>
            </a:r>
            <a:endParaRPr lang="en-US" sz="11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质量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用托盘天平测石块质量：右盘放砝码 50 g、20 g、5 g 各一个，游码左缘对齐 2.4 g 刻线，指针指中线。石块质量是多少？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依据天平读数规则：物体质量=砝码总质量+游码读数。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砝码合计 50+20+5=75 g，游码读左缘刻度 2.4 g。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相加得 77.4 g；注意游码必须读左缘，结果不能丢单位。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石块质量 77.4 g。检验：读数规则“左物右码、游码读左缘”两条都用上即可。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92 / 346</a:t>
            </a:r>
            <a:endParaRPr lang="en-US" sz="11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质量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小马虎把物体放右盘、砝码放左盘，砝码共 60 g，游码读数 3.2 g，天平恰好平衡。物体实际质量多少？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93 / 346</a:t>
            </a:r>
            <a:endParaRPr lang="en-US" sz="11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质量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961423"/>
            <a:ext cx="6949440" cy="36781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托盘天平的结构与使用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画托盘天平：底座、横梁、左右托盘、两端平衡螺母、分度盘与指针、标尺和游码；标注使用要点：放水平桌面、游码归零后调平衡螺母、左物右码；旁附标尺放大图：量程 0–5 g、分度值 0.2 g、游码左缘对齐 2.4 g。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94 / 346</a:t>
            </a:r>
            <a:endParaRPr lang="en-US" sz="11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密度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同样大的瓶子里装满水和装满食用油，放到天平两端——哪端沉？说明了什么？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演示：相同体积的水和食用油质量不同，说明不同物质“单位体积的质量”不同，物理学用密度表示：ρ=m/V，单位千克每立方米（kg/m³），常用克每立方厘米（g/cm³），换算 1 g/cm³=1000 kg/m³。水密度 1.0×10³ kg/m³ 的含义：每立方米水质量为 1.0×10³ kg。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密度是物质的特性：一杯水与一滴水密度相同，m 变大 ρ 不跟着大——由 ρ=m/V 推出“ρ 与 m 成正比、与 V 成反比”是错的，比值定义的量不随分子分母变。特例要记：水结冰质量不变、体积变大，密度变小，所以冰能浮在水上。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密度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克每立方厘米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特性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由 ρ=m/V 推出“ρ 与 m 成正比、与 V 成反比”（比值是定值）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忽略水结冰质量不变、体积变大、密度变小这一状态特例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95 / 346</a:t>
            </a:r>
            <a:endParaRPr lang="en-US" sz="11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密度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一块铝质量 54 g、体积 20 cm³。它的密度是多少 g/cm³？合多少 kg/m³？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依据定义式 ρ=m/V：ρ=54 g÷20 cm³=2.7 g/cm³。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换算成国际单位：2.7 g/cm³=2.7×1000 kg/m³=2.7×10³ kg/m³，依据是 1 g/cm³=1000 kg/m³。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检验：2.7×10³ kg/m³ 正是铝的标准密度，数值合理。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铝的密度为 2.7 g/cm³，即 2.7×10³ kg/m³。单位换算 1 g/cm³=1000 kg/m³ 是第二问的得分点。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96 / 346</a:t>
            </a:r>
            <a:endParaRPr lang="en-US" sz="11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密度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一杯水倒掉一半，剩下的半杯质量、体积、密度各怎么变？冰的密度 0.9 g/cm³ 合多少 kg/m³？为什么冰能浮在水面？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97 / 346</a:t>
            </a:r>
            <a:endParaRPr lang="en-US" sz="11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密度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6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506" y="1876806"/>
            <a:ext cx="585543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m-V 图像与密度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m-V 图像：横轴 V/cm³ 0–30，纵轴 m/g 0–90；铝的数据 V=[10,20,30]，m=[27,54,81]，为过原点直线；另画水的直线 V=[10,20,30]，m=[10,20,30] 作对比；标注：同种物质 m/…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98 / 346</a:t>
            </a:r>
            <a:endParaRPr lang="en-US" sz="11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测量物质的密度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给你天平、量筒和一块不规则小石块，怎么把它的密度测出来？先画流程再动手。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器材与操作：托盘天平、量筒、烧杯、水、细线。顺序有讲究：先用天平测石块质量；量筒装适量水读 V₁，用细线吊石块缓慢浸没读 V₂，排水法得体积 V=V₂−V₁；最后 ρ=m/V。若顺序反过来先测体积，石块沾水使质量偏大、密度就偏大。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与误差：视线与凹液面最低处相平，俯视读大、仰视读小。测盐水改用“烧杯倒出一部分”的差值法：先测烧杯和盐水总质量，倒一部分入量筒后测剩余质量，两次相减就是倒入量筒那部分的质量，可减小杯壁残留带来的误差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量筒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排水法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误差分析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先测体积再测质量，质量偏大、密度偏大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量筒俯视读数使 V 偏大、密度偏小（视线应与凹液面最低处相平）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99 / 346</a:t>
            </a:r>
            <a:endParaRPr lang="en-US" sz="11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测量物质的密度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测小石块密度：天平测得质量 27 g；量筒中水的体积 30 mL，放入石块浸没后示数 40 mL。石块密度多大？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排水法求体积：V=V₂−V₁=40 mL−30 mL=10 mL=10 cm³，依据是浸没时排开水的体积等于石块体积。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依据密度定义式：ρ=m/V=27 g÷10 cm³=2.7 g/cm³。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检验：2.7 g/cm³ 接近铝的密度，结果合理；1 mL=1 cm³。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石块密度 2.7 g/cm³（即 2.7×10³ kg/m³）。顺序“先质量后体积”是为防止沾水使质量偏大。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100 / 346</a:t>
            </a:r>
            <a:endParaRPr lang="en-US" sz="11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　测量物质的密度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读量筒时俯视液面，测得石块体积偏大还是偏小？由此算出的密度偏大还是偏小？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101 / 346</a:t>
            </a:r>
            <a:endParaRPr lang="en-US" sz="11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　密度与社会生活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体育课用的铅球，密度和铅一样吗？切开一看未必——不切开怎么判断它空不空心？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判断空心的思路：假设它是实心的，用质量除以密度算出实心体积 V实=m/ρ，再与实际体积比较——V实 小于实际体积就是空心，两者之差即空心部分体积。同样的思路可以判材料真伪、算混合物配比，是密度鉴别物质的典型应用。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温度也影响密度：一般物质温度升高密度变小，但水在 4 ℃ 密度最大，温度再低反而膨胀，叫反常膨胀——冬天冰面下 4 ℃ 的水沉在底部，鱼能在冰下过冬。纠正：同密度不一定是同种物质，可能是空心或混合，用密度鉴别物质时结论要留余地。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空心判断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反常膨胀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用密度鉴别物质时忽略空心与混合的可能（同密度不一定是同种物质）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102 / 346</a:t>
            </a:r>
            <a:endParaRPr lang="en-US" sz="11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　密度与社会生活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一个质量 79 g 的“铁球”，体积 30 cm³，ρ铁=7.9 g/cm³。它空心吗？空心部分体积多大？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先假设实心，由 ρ=m/V 变形 V实=m/ρ铁=79 g÷7.9 g/cm³=10 cm³。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比较：实心所需体积 10 cm³ 小于实际体积 30 cm³，球是空心的。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空心部分体积=30 cm³−10 cm³=20 cm³。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空心，空心部分体积 20 cm³。检验：“算实心体积、比较、作差”是空心判断的固定三步。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103 / 346</a:t>
            </a:r>
            <a:endParaRPr lang="en-US" sz="11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　密度与社会生活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冬天河面结冰，冰面下接近冰的水温大约是多少？鱼为什么能存活？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104 / 346</a:t>
            </a:r>
            <a:endParaRPr lang="en-US" sz="11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· 质量与密度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质量不随形状、状态、位置变；天平“左物右码、游码读左缘”，放反了用砝码减游码。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密度 ρ=m/V 是物质的特性，不随 m、V 变；1 g/cm³=1000 kg/m³；水…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测密度：先称质量、排水法测体积、ρ=m/V；俯视读大体积、密度算小，读数视线平凹液面最低处。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空心判断：V实=m/ρ 与实际体积比较；水 4 ℃ 密度最大，解释冰下鱼过冬；同密度未必同…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写出测小石块密度的步骤与 ρ 表达式；m=79 g、V=15 cm³ 的“铁球”（ρ铁=7.9 g/cm³）是否空心？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105 / 346</a:t>
            </a:r>
            <a:endParaRPr lang="en-US" sz="11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运动与相互作用 ｜ 考查：力的三要素与示意图、弹簧测力计使用、G=mg 计算与重力方向的应用。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　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从“力是物体对物体的作用”起步，以弹力、重力两类具体力建立受力示意图的规范画法。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弹力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重力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　力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第七章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两个鸡蛋相碰往往两个都破——只碰了别人，自己为什么也疼？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从拍手、拉弓、鸡蛋相碰收集现象：一个物体对另一个物体施力时，同时受到对方的作用——力的作用是相互的，施力物体同时也是受力物体。力用符号 F 表示，单位牛顿（N）。力不能离开物体单独存在，说“一个力”必须能指出施力物体和受力物体。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作用效果有两类：改变物体的形状（捏橡皮泥）和改变物体的运动状态（踢球、接球）。力的三要素——大小、方向、作用点——都会影响力的作用效果；画力的示意图时作用点必须画在受力物体上，沿力的方向画箭头并标符号，把作用点画到施力物体上是常见错误。重力、磁力不接触也能作用，“不接触就没有力”是错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力的三要素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作用点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力的示意图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认为不接触就没有力（重力、磁力是非接触力）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把力的作用点画到施力物体上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107 / 346</a:t>
            </a:r>
            <a:endParaRPr lang="en-US" sz="11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　力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20 N 的水平力通过绳子拉木箱。画出拉力的示意图，并指出它的三要素分别是什么。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确定受力物体是木箱，作用点画在木箱与绳的连接处（或木箱重心），不能画在手上。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沿拉力方向（水平）画带箭头的线段，旁标 F=20 N——箭头表方向，线段长短示意大小。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核对三要素：大小 20 N、方向水平、作用点在木箱上，三者齐了示意图才完整。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在木箱上画一个水平方向的箭头，旁标 F=20 N。判定标准：作用点在受力物体上、方向明确、符号单位齐全。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108 / 346</a:t>
            </a:r>
            <a:endParaRPr lang="en-US" sz="11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　力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划船时桨向后划水，船却向前运动，为什么？请指出施力物体和受力物体。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109 / 346</a:t>
            </a:r>
            <a:endParaRPr lang="en-US" sz="11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　弹力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第七章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压弹簧、拉橡皮筋，松手后一个恢复、一个回不去——差别在哪？测力计凭什么能测力？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对比：撤去外力后弹簧恢复原状，是弹性形变；橡皮泥保持变形，是塑性形变。发生弹性形变的物体要恢复原状，对与它接触的物体产生的力叫弹力——推、拉、支持、压力的本质多是弹力。弹簧测力计的原理：在弹性限度内，弹簧的伸长量与拉力成正比，所以刻度是均匀的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测力计使用四步：使用前检查指针是否指零，不指零先调零；看清量程，被测力不许超过量程；测量时使力的方向沿弹簧轴线方向，斜着拉读数不准；读数时视线正对刻度并带上单位。纠正：斜着使用仍照读数、超量程硬拉都是典型错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弹性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塑性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弹簧测力计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斜着使用弹簧测力计仍照读数（须沿轴线方向）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超量程使用，读数失真甚至损坏测力计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110 / 346</a:t>
            </a:r>
            <a:endParaRPr lang="en-US" sz="11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　弹力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弹簧原长 10 cm，挂 1 N 重物时长 12 cm。在弹性限度内挂 3 N 重物时弹簧多长？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依据“限内伸长与拉力成正比”，先求每 1 N 拉力的伸长：挂 1 N 伸长 12−10=2 cm。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 3 N 时伸长 3×2 cm=6 cm。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弹簧总长=原长+伸长=10 cm+6 cm=16 cm。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弹簧长 16 cm。检验：3 N 是 1 N 的 3 倍，伸长也是 3 倍，正比关系自洽。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111 / 346</a:t>
            </a:r>
            <a:endParaRPr lang="en-US" sz="11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　弹力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测力时发现指针已超过最大刻度，应该怎么办？把弹簧测力计斜着向上拉物体，读数还等于拉力吗？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112 / 346</a:t>
            </a:r>
            <a:endParaRPr lang="en-US" sz="11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　弹力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7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886" y="1876806"/>
            <a:ext cx="437267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弹簧测力计的结构与读数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画弹簧测力计：吊环、外壳、刻度板、弹簧、指针、挂钩；刻度 0–5 N、分度值 0.2 N，指针指在 2.4 N；标注：使用前调零、读数时视线正对刻度、被测力沿轴线方向。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113 / 346</a:t>
            </a:r>
            <a:endParaRPr lang="en-US" sz="11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　重力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第七章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建筑工人把重锤线挂在墙边，看它静静垂着——这条线在告诉我们什么？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演示：重锤线始终竖直下垂，说明重力的方向是竖直向下——注意是“竖直向下”而不是“垂直向下”，垂直必须有参照面，竖直方向与水平面垂直、指向地心。物体由于地球吸引而受到的力叫重力，符号 G，方向竖直向下，作用点在重心。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重力与质量的关系 G=mg，g=9.8 N/kg，粗算取 10 N/kg，题目注明 9.8 就用 9.8；它的含义是质量 1 kg 的物体重 9.8 N。质地均匀、形状规则物体的重心在几何中心，重心不一定在物体上（圆环、空心球）。不倒翁底部装重物压低重心，所以推不倒。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重力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g=9.8 N/kg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把重力方向说成“垂直向下”（应为竖直向下）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认为重心一定在物体上（圆环、空心球的重心不在）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114 / 346</a:t>
            </a:r>
            <a:endParaRPr lang="en-US" sz="11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　重力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一名质量 50 kg 的中学生，他受到的重力多大？（g 取 10 N/kg）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依据重力公式 G=mg，代入前确认 g 的取值与题目一致。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G=50 kg×10 N/kg=500 N。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检验单位：kg 乘 N/kg 得 N；重力符号用 G，与质量 m 区分。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他受到的重力为 500 N。答题写“重力 G 为 500 N”，不能说“质量 500 N”。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115 / 346</a:t>
            </a:r>
            <a:endParaRPr lang="en-US" sz="11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　重力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一个物体受到的重力为 19.6 N（g 取 9.8 N/kg），它的质量是多少？若把它的重力方向画成“垂直于斜面向下”，错在哪里？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116 / 346</a:t>
            </a:r>
            <a:endParaRPr lang="en-US" sz="11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　重力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7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255" y="1876806"/>
            <a:ext cx="5899939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斜面上静止木块的受力示意图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 30° 斜面，其上木块为方块，从重心画三条带箭头线段：重力 G 竖直向下、支持力 F支 垂直斜面向外、摩擦力 f 沿斜面向上，三箭头共起点于重心；标注：G、F支、f 各力名称与符号；文字注“静止=三力平衡”。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117 / 346</a:t>
            </a:r>
            <a:endParaRPr lang="en-US" sz="11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力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力是物体对物体的作用，单位 N，作用相互；效果分改变形状与改变运动状态；示意图作用点画在受…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弹力源于弹性形变；测力计原理是限内伸长与拉力成正比；用前调零、不超量程、力沿轴线。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重力 G=mg 方向竖直向下；g=9.8 N/kg 粗算取 10；重心不一定在物体上，“垂…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画出水平地面上匀速推动的木箱受力示意图并标出各力；质量 50 kg 的人所受重力多大？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118 / 346</a:t>
            </a:r>
            <a:endParaRPr lang="en-US" sz="11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运动与相互作用 ｜ 考查：惯性现象解释、二力平衡条件的判断、摩擦力方向的确定与增减摩擦的方法。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　运动和力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由斜面实验加推理得牛顿第一定律，再把二力平衡与摩擦力落到“一重二弹三摩擦”的分析次序上。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牛顿第一定律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二力平衡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摩擦力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　牛顿第一定律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第八章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同一辆小车从斜面滑下，在毛巾上很快就停，在木板上却滑出老远——如果平面无限光滑呢？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面实验设计：让同一小车从斜面同一高度静止滑下，保证到达水平面时初速度相同，这是控制变量；分别在毛巾、棉布、木板上滑行，比较距离。现象：表面越光滑、阻力越小，滑得越远。在此基础上推理：若完全没有阻力，小车将永远匀速直线运动下去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牛顿第一定律：一切物体在不受力时总保持静止状态或匀速直线运动状态。注意它是“实验加推理”得出的，绝对光滑的平面做不出来。惯性是物体保持原有运动状态的性质，只与质量有关——“速度大惯性大”“受到惯性（力）作用”两种说法都错，惯性不是力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牛顿第一定律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惯性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说“受到惯性作用”“惯性力”（惯性不是力）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认为速度越大惯性越大（惯性只与质量有关）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120 / 346</a:t>
            </a:r>
            <a:endParaRPr lang="en-US" sz="11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　牛顿第一定律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行驶的汽车急刹车，乘客为什么向前倾？请用惯性知识解释，并说明为什么要系安全带。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刹车前人和车以相同速度运动；刹车时车受阻力减速。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乘客下半身随车减速，上半身由于惯性仍保持原来的速度前进，所以向前倾。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安全带对乘客施加拉力，改变其运动状态防止前冲，急刹车和碰撞时起保护作用。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乘客上半身因惯性保持原速度而前倾，安全带提供拉力防止前冲。表述中不能出现“受到惯性（力）的作用”。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121 / 346</a:t>
            </a:r>
            <a:endParaRPr lang="en-US" sz="115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　牛顿第一定律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判断并改正：①速度越大的物体惯性越大 ②拍打衣服，灰尘脱落是利用惯性 ③物体不受力时才会表现出惯性。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122 / 346</a:t>
            </a:r>
            <a:endParaRPr lang="en-US" sz="11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　牛顿第一定律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8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146684"/>
            <a:ext cx="6949440" cy="33075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阻力对物体运动的影响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同一斜面与三种水平面（毛巾、棉布、木板），小车三次都从斜面同一高度释放；用三条长短不同的虚线轨迹表示滑行距离：毛巾最短、木板最长；标注：初速度相同、表面越光滑阻力越小滑得越远、推理“无阻力则永远匀速运动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123 / 346</a:t>
            </a:r>
            <a:endParaRPr lang="en-US" sz="115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　二力平衡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第八章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吊灯静止在天花板下，它受到的力凭什么“打了个平手”？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的吊灯、匀速直线行驶的汽车都处于平衡状态。小卡片实验找条件：硬卡片两端各系一根线，跨过滑轮挂钩码，两边钩码相等时卡片静止——等大；把卡片扭转一个角度再松手，卡片转动——两力必须作用在同一直线上。归纳二力平衡四条件：同体、等大、反向、共线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按“一重二弹三摩擦”顺序画，不易漏力。区分平衡力与相互作用力只看一条：是否作用在同一物体上——灯受的重力与电线拉力都作用在灯上，是平衡力；灯拉电线与电线拉灯作用在两个物体上，是相互作用力。纠正：匀速运动的物体同样受力平衡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平衡状态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二力平衡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相互作用力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平衡力与相互作用力混淆（看是否作用在同一物体上）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认为运动的物体不可能受力平衡（匀速直线运动也是平衡状态）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124 / 346</a:t>
            </a:r>
            <a:endParaRPr lang="en-US" sz="11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　二力平衡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2 kg 的吊灯静止悬挂。电线对它的拉力多大？灯拉电线的力与电线拉灯的力是什么关系？（g 取 10 N/kg）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灯静止处于平衡状态，依据二力平衡条件，拉力与重力等大反向。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G=mg=2 kg×10 N/kg=20 N，故拉力 F=G=20 N。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灯拉电线与电线拉灯作用在两个物体上，是一对相互作用力：等大、反向、共线但不同体。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拉力 20 N；灯与电线之间的两个力是相互作用力（不同体）。判断“同体还是异体”是区分两类力的唯一标准。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125 / 346</a:t>
            </a:r>
            <a:endParaRPr lang="en-US" sz="11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　二力平衡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水平匀速直线行驶的汽车牵引力 2000 N，它受到的阻力多大？有人说“车对地面的压力与地面对车的支持力是平衡力”，对吗？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126 / 346</a:t>
            </a:r>
            <a:endParaRPr lang="en-US" sz="11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　二力平衡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8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456" y="1876806"/>
            <a:ext cx="483753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静止吊灯的二力平衡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画天花板—电线—吊灯：灯的重心上画 G 竖直向下、电线拉力 F 沿线向上，两箭头等长、共线、反向；标注：G=F、二力平衡、同体等大反向共线。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127 / 346</a:t>
            </a:r>
            <a:endParaRPr lang="en-US" sz="11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　摩擦力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第八章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手掌压在桌面上向前推，感受到的阻碍朝哪边？走路时脚向后蹬，地面给脚的摩擦力朝哪边？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方向：滑动摩擦力的方向与相对运动（趋势）的方向相反，不是与运动方向相反。走路时脚向后蹬地，脚相对地面有向后运动的趋势，地面给脚的摩擦力向前——正是这个力推人前进；“摩擦力总阻碍运动”是错的，它也可以是有用的动力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变量测滑动摩擦：用弹簧测力计沿水平方向匀速拉木块，由二力平衡知摩擦力等于拉力；只改压力或只改接触面粗糙程度，发现滑动摩擦力只与压力大小和接触面粗糙程度有关，与接触面积无关。增大摩擦：增大压力、增大粗糙程度（轮胎花纹）；减小摩擦：滚动代替滑动（轴承）、使接触面分离（润滑油、气垫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滑动摩擦力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滚动摩擦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增大与减小摩擦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认为摩擦力总与运动方向相反（人走路时地面给脚的摩擦向前）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认为滑动摩擦力与接触面积有关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128 / 346</a:t>
            </a:r>
            <a:endParaRPr lang="en-US" sz="11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　摩擦力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20 N 的水平拉力使木箱在水平地面上匀速前进，木箱受到的摩擦力多大？若拉力增大到 30 N，摩擦力变多大？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匀速前进时木箱处于平衡状态，依据二力平衡，水平方向拉力与摩擦力等大。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f=F拉=20 N。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拉力增至 30 N 时木箱加速，但滑动摩擦力只由压力和接触面粗糙程度决定，两者都没变，摩擦力仍为 20 N。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两种情况摩擦力都是 20 N。检验：滑动摩擦力与拉力大小无关，“拉得越快摩擦越大”是错觉。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129 / 346</a:t>
            </a:r>
            <a:endParaRPr lang="en-US" sz="11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　摩擦力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判别下列各例是增大还是减小摩擦，用了什么方法：①刹车时用力捏闸 ②轴承里装滚珠 ③鞋底做花纹 ④往锁孔里加铅笔芯粉末。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130 / 346</a:t>
            </a:r>
            <a:endParaRPr lang="en-US" sz="11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· 运动和力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牛顿第一定律由“实验＋推理”得出：不受力时保持静止或匀速直线运动；惯性只与质量有关，惯性不…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平衡条件：同体、等大、反向、共线；匀速直线运动也是平衡状态；同体看平衡力、异体是相互作用力。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摩擦力方向与相对运动（趋势）相反，可能与运动同向；只由压力与粗糙程度决定，与接触面积无关。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用惯性知识解释“拍打衣服灰尘脱落”；静止在水平桌面上的书受哪些力、是否平衡？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131 / 346</a:t>
            </a:r>
            <a:endParaRPr lang="en-US" sz="115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运动与相互作用 ｜ 考查：p=F/S 与 p=ρgh 计算（受力面积与深度是易错点）、连通器、托里拆利实验与大气…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　压强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由“压力的作用效果”立起 p=F/S，液体、大气、流体压强层层展开，实验证据贯穿全章。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压强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液体的压强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大气压强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流体压强与流速的关系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　压强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第九章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图钉尖一按就入墙，图钉帽顶手指却按不痛——同样的力，效果为何天差地别？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对比图钉帽与钉尖、宽书包带与细绳勒肩两组情境：压力的作用效果既跟压力大小有关，又跟受力面积有关。压强表示压力的作用效果，定义式 p=F/S，单位帕斯卡（Pa，1 Pa=1 N/m²）。受力面积 S 是接触面积，不是物体整个表面积——这是本节最高频错误。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纠正：压力不一定等于重力，只有物体自由静止在水平面上时 F=G 才成立，斜面上的压力小于重力。计算前统一单位，面积必须用 m²，1 m²=10⁴ cm²。增大压强：增大压力或减小受力面积（磨刀、图钉尖）；减小压强：减小压力或增大受力面积（坦克履带、滑雪板）。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压力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压强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帕斯卡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把压力当重力（只有物体水平放置时两者大小才相等）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受力面积误取物体整个表面积而非接触面积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133 / 346</a:t>
            </a:r>
            <a:endParaRPr lang="en-US" sz="115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　压强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20 N 的力按图钉，钉尖与墙的接触面积为 0.05 mm²。钉尖对墙的压强多大？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统一单位：S=0.05 mm²=0.05×10⁻⁶ m²=5×10⁻⁸ m²，依据是 1 mm²=10⁻⁶ m²。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依据定义式 p=F/S，代入 p=20 N÷5×10⁻⁸ m²=4×10⁸ Pa。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检验：钉尖压强达亿帕量级，与“一按入墙”相符；数量级检查能兜住单位换算错误。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压强约 4×10⁸ Pa。关键在 mm² 换 m²，换算错 10⁶ 倍是最常见的失分。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134 / 346</a:t>
            </a:r>
            <a:endParaRPr lang="en-US" sz="11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　压强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60 kg 的人双脚站立在水平地面上，每只鞋底与地面接触 150 cm²。人对地面的压强多大？（g 取 10 N/kg）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135 / 346</a:t>
            </a:r>
            <a:endParaRPr lang="en-US" sz="11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　液体的压强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第九章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潜水员下潜越深，耳膜越胀——水下的压力从哪来、怎么算？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实验器材是微小压强计：蒙橡皮膜的探头入水，U 形管两侧液面出现高度差，高度差越大压强越大。自下而上归纳：同一深度朝各个方向，高度差相同；深度越深，高度差越大；同一深度，液体密度越大高度差越大。规律：液体内部向各个方向都有压强，同种液体同一深度各方向压强相等，随深度和密度增大而增大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计算式 p=ρgh 中 h 是该点到自由液面的竖直深度，不是到容器底的距离——代入前先确认 h。连通器（茶壶、船闸、锅炉水位计）上端开口、底部连通，同种液体静止时各容器液面相平。纠正：液体压强与容器形状、液体总量无关。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液体压强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深度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连通器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 h 取成容器高度或到容器底的距离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认为液体压强与容器形状、液体总量有关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136 / 346</a:t>
            </a:r>
            <a:endParaRPr lang="en-US" sz="11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　液体的压强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游泳池水深 2 m，池底受到水的压强多大？（ρ水=1.0×10³ kg/m³，g 取 10 N/kg）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h：池底到水面（自由液面）的竖直深度 2 m。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依据液体压强公式 p=ρgh，代入 p=1.0×10³ kg/m³×10 N/kg×2 m=2×10⁴ Pa。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检验：2 m 深水的压强约 0.2 个大气压，与潜泳时耳膜发胀的体感相符。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池底压强 2×10⁴ Pa。h 必须量到自由液面，这是 p=ρgh 的第一检查项。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137 / 346</a:t>
            </a:r>
            <a:endParaRPr lang="en-US" sz="11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　液体的压强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拦河大坝为什么建成上窄下宽？水深 0.5 m 处水的压强多大？（ρ水=1.0×10³ kg/m³，g 取 10 N/kg）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138 / 346</a:t>
            </a:r>
            <a:endParaRPr lang="en-US" sz="11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　液体的压强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9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104090"/>
            <a:ext cx="6949440" cy="33927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微小压强计探究液体内部压强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画水槽与微小压强计：蒙橡皮膜的金属探头经橡胶管连 U 形管，两侧液面出现高度差 Δh；三幅小图对比：同深度朝向不同高度差相同、深度越深高度差越大；标注：高度差反映压强大小、同种液体同一深度各方向压强相等、深度越大压强越大。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139 / 346</a:t>
            </a:r>
            <a:endParaRPr lang="en-US" sz="115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　大气压强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第九章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杯口盖张纸片倒过来，水不洒纸不掉——是谁托住了这杯水？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覆杯实验和吸盘挂钩都指向同一个看不见的“推手”：大气压强，马德堡半球实验证明大气压不但存在而且很大。托里拆利实验定量测出大气压：管内水银柱竖直高度差 760 mm，对应 1.013×10⁵ Pa，这就是标准大气压。纠正两个错误：吸饮料不是嘴的“吸力”，是管内气压减小后大气压把饮料压上来；托里拆利管倾斜或加粗，水银柱竖直高度差仍是 760 mm。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大气压随海拔升高而减小，高原上水不到 100 ℃ 就沸腾，饭煮不熟要用高压锅——增压提高沸点。抽水机的最大吸程约 10 m：大气压最多只能托起约 10 m 高的水柱，超过这个高度大气压就“抬”不动了。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大气压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标准大气压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气压计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认为吸饮料靠“吸力”（实为管内气压减小、大气压把液压上来）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认为托里拆利管倾斜或加粗后高度差会改变（竖直高度差不变）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140 / 346</a:t>
            </a:r>
            <a:endParaRPr lang="en-US" sz="115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　大气压强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标准大气压约 1.013×10⁵ Pa。它最多能支持多高的水柱？（ρ水=1.0×10³ kg/m³，g 取 10 N/kg）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依据液柱平衡：大气压等于水柱产生的压强，p₀=ρ水gh。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 h=p₀/(ρ水g)=1.013×10⁵ Pa÷(1.0×10³ kg/m³×10 N/kg)≈10.1 m。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检验：760 mm 水银柱与 10 m 多的水柱对应同一压强，比值恰为水银与水的密度比（13.6 倍），自洽。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10.1 m（通常说约 10 m）。这解释了活塞式抽水机吸程不能超过约 10 m 的原因。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141 / 346</a:t>
            </a:r>
            <a:endParaRPr lang="en-US" sz="115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　大气压强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把托里拆利玻璃管倾斜 30°，管内水银柱长度怎么变？竖直高度差变吗？管顶若不小心破了个孔，会看到什么？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142 / 346</a:t>
            </a:r>
            <a:endParaRPr lang="en-US" sz="11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　大气压强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9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06" y="1876806"/>
            <a:ext cx="670803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托里拆利实验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画水银槽与竖直玻璃管：管内水银柱上方标“真空”，槽内液面到管内水银面的高度差标 760 mm；标注：p₀=760 mm 水银柱=1.013×10⁵ Pa；旁画对比小图：玻璃管倾斜时水银柱变长但竖直高度差仍为 760 mm。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143 / 346</a:t>
            </a:r>
            <a:endParaRPr lang="en-US" sz="115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　流体压强与流速的关系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第九章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拿两张纸平行提着，向中间吹气——纸会被吹开吗？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再做：向两张纸中间吹气，纸不但不分开反而向中间靠拢。结论要完整：在气体和液体中，流速越大的位置压强越小。两纸外侧大气压大于中间的压强，压强差把纸压向中间——先做后讲，先破除“吹开”的直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原理管多件事：飞机机翼上凸下平，上方空气流速大压强小，下方流速小压强大，压强差产生升力；两船并排航行，两船间水流速大压强小，被外侧水压推得相撞；火车站台画安全线，列车驶过时车旁空气流速大，人靠太近会被“压”向列车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流体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升力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认为向两纸间吹气会把纸吹开（实际靠拢）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144 / 346</a:t>
            </a:r>
            <a:endParaRPr lang="en-US" sz="115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　流体压强与流速的关系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用“流速与压强的关系”解释：等地铁时为什么必须站在安全线以外？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列车高速驶过时，带动车身附近的空气流速很大。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依据“流速大的位置压强小”，人与车之间的空气压强小于人身后的气压。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前后压强差把人推向列车，距离越近压强差越大，所以要在安全线以外候车。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车旁流速大压强小，压强差把人推向列车，故须站安全线外。同类解释题先指认“哪里流速大、哪里压强小”。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145 / 346</a:t>
            </a:r>
            <a:endParaRPr lang="en-US" sz="115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　流体压强与流速的关系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对着漏斗口的乒乓球下方吹气，球不但不掉反而贴在漏斗里，为什么？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146 / 346</a:t>
            </a:r>
            <a:endParaRPr lang="en-US" sz="115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· 压强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p=F/S，单位 Pa；S 取接触面积，水平静止时 F 才等于 G；磨刀增压、履带减压。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液体压强 p=ρgh，h 是到自由液面的竖直深度；连通器液面相平；压强与容器形状无关。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大气压真实存在且约 1.013×10⁵ Pa，随海拔升高减小；托里拆利高度差只看竖直距离；…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流体中流速越大压强越小；机翼升力、船吸、站台安全线都是同一个压强差的化身。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60 kg 的人双脚站立（每只鞋底 150 cm²），对地面的压强多大？用连通器说明船闸如何让船过坝。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147 / 346</a:t>
            </a:r>
            <a:endParaRPr lang="en-US" sz="115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运动与相互作用 ｜ 考查：阿基米德原理 F浮=ρ液gV排 的计算（V排 是易错点）、浮沉条件判断、密度计与轮船应…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　浮力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称重法引入浮力，阿基米德原理解析“浮力=排开液重”，浮沉条件统一用受力比较来判。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浮力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阿基米德原理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物体的浮沉条件及应用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　浮力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弹簧测力计吊着石块，缓缓浸入水中——示数怎么变了？石头变轻了，还是被谁托了一把？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演示边记录：石块在空气中示数稳定，浸入水后示数明显变小，且浸入越多示数越小。示数变小说明受到向上的托力——浸在液体中的物体受到液体竖直向上的托力叫浮力，方向竖直向上，施力物体是液体，气体同样提供浮力。纠正：下沉的物体也受浮力，示数变小就是证据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称重法测浮力：F浮=G−F示，两次示数之差就是浮力。再纠正第二个错误：浸入后的测力计示数是“视重”，不是浮力本身；浮力等于差值。浮力的有无与物体沉浮无关，决定沉浮的是浮力与重力的大小关系。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浮力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称重法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认为下沉的物体不受浮力（示数变小证明受浮力）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把浸入液体后的测力计示数当成浮力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149 / 346</a:t>
            </a:r>
            <a:endParaRPr lang="en-US" sz="115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　浮力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石块在空气中用弹簧测力计称得 4 N，浸没在水中时示数 3 N。石块受到的浮力多大？放手后它上浮、下沉还是悬浮？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依据称重法 F浮=G−F示：F浮=4 N−3 N=1 N。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比较浮力与重力：F浮=1 N&lt;G=4 N。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依据浮沉条件，浮力小于重力的物体下沉，放手后石块下沉。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浮力 1 N，石块下沉。检验：示数变小证明了浮力，但“3 N”是视重不是浮力，别把视重当浮力。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150 / 346</a:t>
            </a:r>
            <a:endParaRPr lang="en-US" sz="115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　浮力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金属块在空气中称重 2.7 N，浸没在水中称重 1.7 N。它受到的浮力多大？方向如何？施力物体是谁？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151 / 346</a:t>
            </a:r>
            <a:endParaRPr lang="en-US" sz="115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　阿基米德原理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把石块按进装满水的溢水杯，把溢出的水接住称一称——它和浮力有什么关系？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溢水杯实验当堂记数：石块浸没时测力计示数减小 1.5 N，同时溢出的水重恰好也是 1.5 N。换液体、换深度多次重复，结论不变——阿基米德原理：浸在液体中的物体受到的浮力等于它排开的液体所受的重力，F浮=G排=ρ液gV排。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公式里三个量要认清：ρ液 是液体的密度不是物体的；V排 是排开液体的体积，只有浸没时才等于物体体积，漂浮时 V排&lt;V物。高频错误：把 V排 与 V物 混用；认为物体浸得越深浮力越大——浸没后 V排 不再变化，浮力与深度无关。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阿基米德原理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V排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V排 与 V物 混用（漂浮时 V排&lt;V物）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认为物体越深浮力越大（浸没后与深度无关）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152 / 346</a:t>
            </a:r>
            <a:endParaRPr lang="en-US" sz="115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　阿基米德原理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木块体积 500 cm³，静止漂浮在水面上，排开水的体积 300 cm³。它受到的浮力多大？（ρ水=1.0×10³ kg/m³，g 取 10 N/kg）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本题应代 V排=300 cm³=3×10⁻⁴ m³，不是木块体积 500 cm³——漂浮时只排开一部分水。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依据阿基米德原理 F浮=ρ液gV排：F浮=1.0×10³ kg/m³×10 N/kg×3×10⁻⁴ m³=3 N。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检验：漂浮时浮力应等于重力，可反推木块重 3 N，合理。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浮力 3 N。漂浮物体的浮力大小只由 V排 决定，先想清楚排开多少水再代公式。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153 / 346</a:t>
            </a:r>
            <a:endParaRPr lang="en-US" sz="115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　阿基米德原理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 200 cm³ 的实心铁块浸没在水中，所受浮力多大？若它继续下沉 0.5 m，浮力变吗？（ρ水=1.0×10³ kg/m³，g 取 10 N/kg）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154 / 346</a:t>
            </a:r>
            <a:endParaRPr lang="en-US" sz="11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　阿基米德原理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10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46" y="1876806"/>
            <a:ext cx="676315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称重法与阿基米德原理验证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画弹簧测力计吊石块：空气中示数 G=4 N；下方溢水杯装满水，石块浸没后测力计示数 F=2.5 N，溢出的水流入旁边小烧杯；标注：F浮=G−F示=1.5 N、称出排开的水 G排=1.5 N、F浮=G排，验证阿基米德原理。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155 / 346</a:t>
            </a:r>
            <a:endParaRPr lang="en-US" sz="115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　物体的浮沉条件及应用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同是铁做的，铁块沉底、轮船却在海上跑——铁什么时候沉、什么时候浮？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先把四种状态列表讲全：上浮 F浮&gt;G（最终漂浮）；悬浮 F浮=G（可停在液体中任意深度）；漂浮 F浮=G（静止在液面）；下沉 F浮&lt;G。也可以用密度判断：ρ物&lt;ρ液 漂浮，ρ物=ρ液 悬浮，ρ物&gt;ρ液 下沉。所以沉浮看密度与浮重比较，不看“轻重”——大轮船比小铁块重得多，照样浮着。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三个应用对号入座：轮船做成空心，增大 V排 使 F浮=G，排水量指排开水的质量；潜水艇靠水舱充放水改变自重；气球靠加热或充放气改变自身体积。密度计始终漂浮，F浮=G 不变，刻度值上小下大。纠正：轮船从长江驶入大海浮力不变，仍等于重力，只是海水密度大、V排 变小、吃水线上升。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漂浮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悬浮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排水量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认为重的物体一定下沉、轻的物体一定上浮（取决于密度比较）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认为轮船从长江驶入大海浮力变小（浮力仍等于重力，吃水线变浅）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156 / 346</a:t>
            </a:r>
            <a:endParaRPr lang="en-US" sz="115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　物体的浮沉条件及应用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一艘排水量 1000 t 的轮船满载时受到的浮力多大？它从长江驶入东海，浮力和吃水线怎么变？（g 取 10 N/kg）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排水量是排开水的质量，依据阿基米德原理 F浮=G排=m排g=1.0×10⁶ kg×10 N/kg=1×10⁷ N。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船始终漂浮，依据漂浮条件浮力始终等于重力，江海中浮力都不变。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海水密度大于江水，由 F浮=ρ液gV排 知 V排 变小，船身上浮一些，吃水线上升。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浮力 1×10⁷ N；江入海浮力不变、吃水线上升。漂浮问题先把“浮力=重力”立起来，再讨论密度变化。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157 / 346</a:t>
            </a:r>
            <a:endParaRPr lang="en-US" sz="11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　物体的浮沉条件及应用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鸡蛋在盐水中恰好悬浮。缓缓加入清水后，鸡蛋将怎样运动？为什么？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158 / 346</a:t>
            </a:r>
            <a:endParaRPr lang="en-US" sz="11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　物体的浮沉条件及应用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10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012" y="1876806"/>
            <a:ext cx="6550425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漂浮与悬浮的受力对比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左图：木块漂浮在水面（一部分露出液面），重心画 F浮 竖直向上、G 竖直向下，两箭头等长，标 F浮=G、V排&lt;V物；右图：小球悬浮在盐水中（完全浸没静止），F浮=G、V排=V物；文字注：静止时浮力都等于重力，差别在排开液体的体积。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159 / 346</a:t>
            </a:r>
            <a:endParaRPr lang="en-US" sz="115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· 浮力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浸在液体（气体）中的物体受竖直向上的浮力；称重法 F浮=G−F示；示数变小不代表不受浮力。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F浮=ρ液gV排=G排；漂浮时 V排&lt;V物，浸没后浮力与深度无关；ρ液 与 V排 两个量都…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沉浮看 F浮 与 G（或 ρ物 与 ρ液）：漂浮、悬浮都等重；轮船空心增大 V排，潜水艇变…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 100 cm³ 的实心铁块浸没在水中受多大浮力、浮沉如何？轮船从长江驶入大海吃水线怎么变？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160 / 346</a:t>
            </a:r>
            <a:endParaRPr lang="en-US" sz="115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能量 ｜ 考查：做功判断与 W=Fs 计算、P=W/t 及 P=Fv、动能势能影响因素实验、机械能转化…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　功和机械能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先立“做功两要素”再谈功率快慢，动能势能的影响因素与相互转化用滚摆、过山车一线贯通。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功率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动能和势能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机械能及其转化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　功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提着行李在平路上走了一路，胳膊都酸了——物理上你做功了吗？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三种情形：①推箱子没推动——有力无距离，不做功；②踢出去的足球在草地上滚动——有距离无力（脚已离开），不做功；③提着箱子水平走——拉力竖直向上、移动水平，力与距离垂直，不做功。做功必须同时满足两个要素：作用在物体上的力，以及物体沿力的方向通过的距离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功的公式 W=Fs，单位焦耳（J，1 J=1 N·m）。s 必须是沿力方向移动的距离，代入前先统一单位。纠正：“只要出力就算做功”“累了就算做功”都不对，物理中的功看力和沿力方向的距离，不看主观感受。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功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焦耳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认为只要有力就做了功（必须在力的方向上移动距离）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提着箱子水平匀速走也算做功（支持力与移动方向垂直不做功）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162 / 346</a:t>
            </a:r>
            <a:endParaRPr lang="en-US" sz="11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　功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50 N 的水平拉力把箱子沿水平地面拉动 4 m，拉力做功多少？此过程中箱子受到的重力做功多少？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拉力水平、位移水平且沿拉力方向，依据 W=Fs：W拉=50 N×4 m=200 J。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重力竖直向下，箱子没有沿竖直方向移动距离，重力不做功。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检验：判断做功先问“力沿什么方向、沿这个方向动了没有”，两问正好一正一反。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拉力做功 200 J，重力做功为 0（力与移动方向垂直）。“劳而无功”的三种情形要能对号入座。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163 / 346</a:t>
            </a:r>
            <a:endParaRPr lang="en-US" sz="115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　功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举重运动员把质量 150 kg 的杠铃举高 2 m，他对杠铃做了多少功？（g 取 10 N/kg）举着杠铃在空中静止 3 s，这 3 s 内做功吗？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164 / 346</a:t>
            </a:r>
            <a:endParaRPr lang="en-US" sz="115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　功率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同样把一车砖搬上楼，一个人搬半天，吊车几秒钟——做功一样多，谁“更快”？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做功有快慢之分，功率表示做功的快慢：单位时间内所做的功，P=W/t，单位瓦特（W，1 W=1 J/s），常用千瓦（kW）。与速度类比记忆：速度是位置变化的快慢，功率是做功的快慢——功率大只说明做功快，不等于做功多，还要看时间。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P=W/t=Fs/t=Fv 得 P=Fv，适用于匀速情形：机车匀速行驶时牵引力的功率等于牵引力乘速度。注意符号：功率的单位符号是 W（瓦特），功的物理量符号也是 W（work），一个带单位、一个是物理量，不要混。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功率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瓦特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认为功率大做功一定多（还要看时间长短）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把功率的单位 W 与功的符号 W 混淆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165 / 346</a:t>
            </a:r>
            <a:endParaRPr lang="en-US" sz="115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　功率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一台机器 1 min 内做功 6000 J，它的功率多大？若它以 10 m/s 匀速行进，牵引力多大？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P=W/t，先统一时间：t=1 min=60 s，P=6000 J÷60 s=100 W。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依据推导式 P=Fv 变形 F=P/v=100 W÷10 m/s=10 N。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检验：W 除以 m/s 得 N，单位自洽；数量级与小型机械相符。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 100 W，匀速行进时牵引力 10 N。先统一时间单位再代 P=W/t 是第一步的得分点。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166 / 346</a:t>
            </a:r>
            <a:endParaRPr lang="en-US" sz="115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　功率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体重 500 N 的同学用 4 s 从一楼跑到高 8 m 的二楼平台。他克服重力做功的功率多大？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167 / 346</a:t>
            </a:r>
            <a:endParaRPr lang="en-US" sz="11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　动能和势能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斜面上滚下的钢球撞飞木块，球越高、越重，木块被撞得越远——“撞得多狠”用什么量描述？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能对外做功，它就具有能量。动能与质量和速度有关，重力势能与质量和高度有关，弹性势能与弹性形变程度有关。实验用控制变量：同一钢球从不同高度滚下（速度不同、质量相同），比较木块被撞距离；不同质量的球从同一高度滚下（速度相同、质量不同）再比。木块被撞得越远，钢球动能越大——用做功多少“显示”能量大小，这是转换法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数据归纳：质量相同时速度越大动能越大；速度相同时质量越大动能越大。纠正：说“速度大的物体动能一定大”不严谨——没控制质量；判断动能变化要同时看质量和速度，如匀速洒水的洒水车，速度不变、质量减小，动能减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动能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重力势能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弹性势能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认为速度大的物体动能一定大（还要比较质量，注意控制变量）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168 / 346</a:t>
            </a:r>
            <a:endParaRPr lang="en-US" sz="115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　动能和势能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同一辆汽车从静止加速到 60 km/h，再减速到 20 km/h，它的动能怎么变化？满载的洒水车在平直路面匀速洒水，动能怎么变？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加速阶段质量不变、速度增大，依据动能与速度的关系，动能增大。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减速阶段速度减小，动能减小。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洒水车速度不变但不断洒水、质量减小，动能减小——两个影响因素有一个减小、另一个不变，能就减小。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加速时动能增大，减速时减小；匀速洒水车动能减小。判断动能必须同时盯住质量和速度两个量。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169 / 346</a:t>
            </a:r>
            <a:endParaRPr lang="en-US" sz="115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　动能和势能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探究动能的实验中，让不同质量的钢球从斜面同一高度滚下，目的是控制什么相同？木块被撞距离的长短代表什么？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170 / 346</a:t>
            </a:r>
            <a:endParaRPr lang="en-US" sz="115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　动能和势能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1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829" y="1876806"/>
            <a:ext cx="6814792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探究动能大小的影响因素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画斜面与水平面：钢球从高度 h 处释放滑下，撞击水平面上的木块使其移动距离 s；两幅对比小图：同一钢球从不同高度释放、质量不同的钢球从同一高度释放；标注：木块被撞得越远钢球动能越大、控制变量法。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171 / 346</a:t>
            </a:r>
            <a:endParaRPr lang="en-US" sz="115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　机械能及其转化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滚摆上下翻飞：到最高点慢下来，到最低点冲得最快——动能在哪里悄悄换了主角？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滚摆：下降时高度减小、速度增大，重力势能转化为动能；上升时相反。标出两个特殊位置：最高点重力势能最大、动能为零；最低点动能最大、重力势能最小。单摆、过山车、人造卫星从远地点到近地点，都是同一条“势能↔动能”的转化链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能与势能统称机械能。守恒有条件：只有重力（或弹力）做功、不计空气阻力和摩擦时，机械能总量保持不变；实际摆动最终停下来，说明存在阻力时机械能逐渐转化为内能。纠正：“摆动的球机械能永不减少”只在理想条件下成立，答题要写清条件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机械能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动能与势能的转化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认为摆动的球机械能永不减少（实际有阻力会逐渐减小）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172 / 346</a:t>
            </a:r>
            <a:endParaRPr lang="en-US" sz="115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　机械能及其转化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单摆小球从最高点摆到最低点，能量怎么转化？实际摆动中为什么幅度越来越小、最后停下？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从最高点到最低点，高度减小、重力势能减小，速度增大、动能增大，势能转化为动能。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最低点动能最大、重力势能最小。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摆动中不断克服空气阻力做功，一部分机械能转化为内能，机械能减少，所以摆幅变小直到停止。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下摆时势能转动能，最低点动能最大；存在阻力时机械能逐渐转化为内能，故最终停下。答题先说转化，再补“不计阻力守恒、有阻力减小”的条件。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173 / 346</a:t>
            </a:r>
            <a:endParaRPr lang="en-US" sz="115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　机械能及其转化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人造地球卫星从远地点向近地点运动，能量如何转化？在近地点它的动能最大还是势能最大？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174 / 346</a:t>
            </a:r>
            <a:endParaRPr lang="en-US" sz="11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　机械能及其转化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11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131" y="1876806"/>
            <a:ext cx="55801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滚摆的机械能转化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滚摆两个位置：最高点（悬线缠绕最长，标“重力势能最大、动能为零”）与最低点（标“动能最大、重力势能最小”），两侧用箭头标下降与上升；标注：下降时重力势能转化为动能、上升相反；注“实际存在空气阻力，机械能逐渐减小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175 / 346</a:t>
            </a:r>
            <a:endParaRPr lang="en-US" sz="115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· 功和机械能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做功两要素：力＋沿力方向移动距离；W=Fs 单位 J；有力无距离、力距垂直都不做功。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功率 P=W/t 表示做功快慢，单位 W；匀速时 P=Fv；功率大不等于做功多。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动能看质量与速度，重力势能看质量与高度，弹性势能看形变；比大小时必须控制变量。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动能与势能相互转化，不计阻力机械能守恒；滚摆最高点势能大、最低点动能大；有阻力时机械能转化…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举重运动员举着杠铃静止不动，做功了吗？滚摆从最高点到最低点能量如何转化？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176 / 346</a:t>
            </a:r>
            <a:endParaRPr lang="en-US" sz="115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· 运动与相互作用 ｜ 考查：杠杆平衡条件与最小动力问题、滑轮组 F=(G+G动)/n 与绕绳判断、机械效率的计算与…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　简单机械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杠杆平衡条件与滑轮组省力计算并重，机械效率用“有用、额外、总功”三分法把问题算活。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杠杆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滑轮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机械效率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　杠杆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一瓶汽水用手拧不开，起子一撬就开——起子凭什么比手劲大？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撬棒绕着转动的固定点叫支点 O，使杠杆转动的力叫动力 F₁，阻碍转动的力叫阻力 F₂。关键概念是力臂：支点到力的作用线的垂直距离，不是支点到作用点的连线——画力臂先把力的作用线延长（虚线），再从支点作垂线并标直角符号。把力臂画成“支点到作用点的连线”是最常见错误。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实验探究杠杆平衡条件：调水平平衡后两侧挂钩码，多组数据归纳出 F₁L₁=F₂L₂。杠杆分类：L₁&gt;L₂ 省力费距离（撬棒、瓶起子），L₁&lt;L₂ 费力省距离（钓鱼竿、镊子），等臂不省不费（天平）。纠正：省力杠杆一定费距离，“又省力又省距离”的杠杆不存在。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力臂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杠杆平衡条件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把力臂画成支点到力作用点的连线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认为省力杠杆同时省距离（省力必费距离）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178 / 346</a:t>
            </a:r>
            <a:endParaRPr lang="en-US" sz="115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　杠杆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水平平衡的杠杆，左侧距支点 20 cm 处挂 3 个钩码（每个 0.5 N）。右侧距支点 30 cm 处应挂几个同样的钩码？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依据杠杆平衡条件 F₁L₁=F₂L₂，先算左边：F₁L₁=1.5 N×0.2 m=0.3 N·m。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右边需要 F₂=0.3 N·m÷0.3 m=1 N。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N÷0.5 N／个=2 个，右端距支点 30 cm 处挂 2 个钩码。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 2 个钩码。检验：1 N×30 cm=1.5 N×20 cm，两边力矩相等；“最小动力”类作图题找最长力臂（连接支点与最远作用点）。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179 / 346</a:t>
            </a:r>
            <a:endParaRPr lang="en-US" sz="115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　杠杆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钓鱼时一只手握在鱼竿后端，另一只手在前端用力。鱼竿是省力杠杆还是费力杠杆？为什么还用它？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180 / 346</a:t>
            </a:r>
            <a:endParaRPr lang="en-US" sz="115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　杠杆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1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093546"/>
            <a:ext cx="6949440" cy="34138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杠杆平衡与力臂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画水平杠杆，支点 O；左侧距 O 20 cm 处挂 2 个钩码（各 0.5 N），右侧距 O 40 cm 处挂 1 个钩码恰好平衡；标注：F1=1 N、L1=20 cm，F2=0.5 N、L2=40 cm，F1L1=F2L2；力臂用支点…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181 / 346</a:t>
            </a:r>
            <a:endParaRPr lang="en-US" sz="115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　滑轮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旗杆顶的小轮子不能省力，为什么还非装不可？工地上的滑轮组凭什么一人吊起几百斤？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定滑轮实质是等臂杠杆：只能改变力的方向、不省力；动滑轮实质是动力臂为阻力臂二倍的杠杆：省一半力、费一倍距离，但不能改变方向。滑轮组两者兼得。绕绳口诀“奇动偶定”：绳段数 n 为奇数时绳从动滑轮起绕，偶数从定滑轮起绕。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计数方法：n 等于拉着动滑轮（连同重物）的绳段数，只数与动滑轮直接相连的绳，固定端和只绕过定滑轮的段不算。不计摩擦和绳重时 F=(G+G动)/n，绳端移动 s=nh。纠正：计动滑轮重后省力不到一半，说“动滑轮一定省一半力”不严谨；数段漏数或把定滑轮上的段数进去是高频错误。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定滑轮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动滑轮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滑轮组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认为动滑轮一定省一半力（计动滑轮重与摩擦则大于一半）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绳段数 n 数错（把固定端或绕定滑轮的段也算进去）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182 / 346</a:t>
            </a:r>
            <a:endParaRPr lang="en-US" sz="115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　滑轮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n=3 的滑轮组匀速提升重 300 N 的货物，动滑轮重 30 N，不计摩擦和绳重。拉力多大？货物升高 1 m，绳端移动多远？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先数绳段：与动滑轮相连的绳有 3 段，n=3，并用“奇动偶定”核对绕法。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F=(G+G动)/n：F=(300 N+30 N)÷3=110 N。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s=nh：绳端移动 s=3×1 m=3 m。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拉力 110 N，绳端移动 3 m。检验：费三倍距离对应省三分之一的力，公式自洽。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183 / 346</a:t>
            </a:r>
            <a:endParaRPr lang="en-US" sz="115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　滑轮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n=2 的滑轮组把重 100 N 的物体匀速提升，动滑轮重 20 N（不计摩擦和绳重）。拉力多大？物体升高 0.5 m，绳端移动多远？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184 / 346</a:t>
            </a:r>
            <a:endParaRPr lang="en-US" sz="115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　滑轮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12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928" y="1876806"/>
            <a:ext cx="4806594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滑轮组的绕绳与省力计算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画一个定滑轮与一个动滑轮组成的滑轮组，绳的固定端系在定滑轮的挂钩上，依次绕过动滑轮、定滑轮，自由端向上拉，承担重物的绳段 n=3（用三条箭头逐段清点）；标注：F=(G+G动)/3、s=3h、物重 G 与动滑轮重 G动 分别标出。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185 / 346</a:t>
            </a:r>
            <a:endParaRPr lang="en-US" sz="115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　机械效率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用水桶从井里打水，你提上来的功都用在“水”身上了吗？桶呢？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把提水拆开算：对水做的功是有用功 W有，对桶和绳做的功是不得不做的额外功 W额，两者之和是总功 W总=W有+W额。机械效率 η=W有/W总，因为额外功不可能为零，η 恒小于 1，通常用百分数表示。纠正：η 不可能达到 100%；越省力的机械效率不一定越高，省力与效率没有必然联系。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实验测滑轮组效率：器材是弹簧测力计和刻度尺，沿竖直方向匀速拉绳端读 F，量出 h 和 s，η=Gh/(Fs)。提效两条思路：减小额外功（减轻动滑轮重、减小摩擦）或同一装置增大提升物重以提高有用功占比。误差主要来自不在匀速时读数和只测一次。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有用功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额外功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机械效率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认为机械效率可以达到 100%（额外功不可能为零）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认为越省力的机械效率越高（两者没有必然联系）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186 / 346</a:t>
            </a:r>
            <a:endParaRPr lang="en-US" sz="115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　机械效率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用滑轮组把重 200 N 的物体匀速提升 2 m，绳端拉力 125 N，绳端移动 4 m。有用功、总功、机械效率各是多少？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有用功是对重物做的功：W有=Gh=200 N×2 m=400 J。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总功是拉力做的功：W总=Fs=125 N×4 m=500 J。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η=W有/W总：η=400 J÷500 J=80%，小于 1 合理。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W有=400 J，W总=500 J，η=80%。检验：η 必须小于 100%，否则说明测量或计算有误。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187 / 346</a:t>
            </a:r>
            <a:endParaRPr lang="en-US" sz="115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　机械效率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同一滑轮组，分别提升 100 N 和 200 N 的物体，哪种情况机械效率高？为什么？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188 / 346</a:t>
            </a:r>
            <a:endParaRPr lang="en-US" sz="115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· 简单机械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杠杆平衡 F₁L₁=F₂L₂；力臂是支点到作用线的垂线段；省力必费距离，最小动力沿最长力臂。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定滑轮变向、动滑轮省半力；滑轮组 F=(G+G动)/n、s=nh，n 只数拉动滑轮的绳段。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η=W有/W总=W有/(W有+W额)，恒小于 1；提效靠减额外功或增有用功占比，省力与效率…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n=3 的滑轮组匀速提升 300 N 重物（G动=30 N，不计摩擦绳重），拉力多大？h=1 m 时绳端移动多远？为什么 η&lt;1？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189 / 346</a:t>
            </a:r>
            <a:endParaRPr lang="en-US" sz="115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能量 ｜ 考查：扩散现象与分子动理论、改变内能的两种途径、热量计算 Q=cmΔt。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　内能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从分子动理论三要点进入内能概念，比热容用“同热源升温对比”立起对热量的量感。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分子热运动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内能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比热容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　分子热运动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第十三章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一杯清水滴入红墨水，什么都没搅拌，红色却自己慢慢散开——是谁在“搬运”？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散实验：相同质量的热水和冷水中各滴一滴红墨水，热水整杯变红明显更快。结论：不同物质相互接触时彼此进入对方的现象叫扩散，它证明分子在不停地做无规则运动，且温度越高运动越剧烈——所以叫分子热运动。纠正：扫地扬起的灰尘、飘动的烟雾是肉眼可见的颗粒运动，不是分子运动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个演示区分“引力”：两个铅柱底面削平压紧，下端能挂起重物——分子间存在引力。分子间同时存在引力和斥力：压缩物体费力显斥力，拉伸物体费力显引力。固、液、气三态用分子模型对比：固态分子间距小、作用力大、只在原位振动；气态间距大、作用力几乎为零、自由运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扩散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分子热运动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分子间作用力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认为扩散只是液体现象（气体、固体也能扩散）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把灰尘、烟雾的飞舞当成分子运动（分子肉眼不可见）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191 / 346</a:t>
            </a:r>
            <a:endParaRPr lang="en-US" sz="115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　分子热运动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腌咸鸭蛋时，盐分能进入蛋内使蛋变咸；堆在墙角的煤，几年后挖开墙皮也发黑。两个例子分别说明什么？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盐进入蛋内是盐分子运动到蛋中的扩散现象，说明分子在不停地做无规则运动。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煤分子进入墙皮是固体间的扩散，说明固体也能扩散，只是慢得多。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归纳：扩散在气体、液体、固体中都能发生，温度越高越明显。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两个都是扩散现象，证明分子在不停运动；固体的扩散很慢，需要很长时间才明显。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192 / 346</a:t>
            </a:r>
            <a:endParaRPr lang="en-US" sz="115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　分子热运动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判断并说明理由：①闻到花香说明分子在运动 ②看到灰尘在阳光下飞舞说明分子在运动 ③两铅柱压紧能吊起重物说明分子间有引力。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193 / 346</a:t>
            </a:r>
            <a:endParaRPr lang="en-US" sz="115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　分子热运动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060215"/>
            <a:ext cx="6949440" cy="34805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扩散现象演示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两只烧杯清水各滴入一滴红墨水，一杯热水一杯冷水：热水杯中红色扩散均匀更快；标注：温度越高分子热运动越剧烈、扩散现象证明分子在不停运动；旁画气体扩散小图：上瓶空气、下瓶红棕色二氧化氮（密度大的放下方），抽去玻璃板后颜色混合，说明不是重力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194 / 346</a:t>
            </a:r>
            <a:endParaRPr lang="en-US" sz="115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13.2　内能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第十三章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冬天搓手取暖、烤火取暖，两条路都能暖——身体“变热”的物理实质是什么？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内能是物体内所有分子动能与分子势能的总和，任何物体都有内能——0 ℃ 的冰分子仍在振动，内能不为零。改变内能的两条等效途径：做功（搓手，机械能转化为内能）和热传递（烤火，内能从高温物体转移到低温物体），两者改变内能的效果相同。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传递发生的条件是温度差，方向从高温到低温，传递的是内能而不是“温度”。热量是热传递过程中转移内能的多少，是过程量——只能说“吸收”“放出”多少热量，不能说“物体含有多少热量”；内能增加既可以靠吸收热量，也可以靠外界做功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内能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热传递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热量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 0 ℃ 的物体没有内能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说“物体含有多少热量”（热量只对应传热过程）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195 / 346</a:t>
            </a:r>
            <a:endParaRPr lang="en-US" sz="115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13.2　内能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下列改变内能的方式分别是什么：①反复弯折铁丝，弯折处发热 ②冰镇饮料 ③给自行车打气，筒壁变热 ④晒太阳。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弯折铁丝是人对铁丝做功，机械能转化为内能——做功。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饮料放热给冰，内能发生转移——热传递。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打气时压缩气体并克服摩擦做功——做功。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620006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620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491990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太阳辐射把热量传给人体——热传递。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20522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269230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①做功 ②热传递 ③做功 ④热传递。判断标准：看内能是“转移”来的（有温差、能量形式不变）还是“转化”来的（伴随能量形式改变）。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196 / 346</a:t>
            </a:r>
            <a:endParaRPr lang="en-US" sz="115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13.2　内能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判断正误并改正：①0 ℃ 的物体没有内能 ②这杯热水含有 500 J 热量 ③热传递是把温度传给低温物体。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197 / 346</a:t>
            </a:r>
            <a:endParaRPr lang="en-US" sz="115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　比热容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第十三章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同样晒一上午太阳，沙子烫脚、海水温和——同样的“热”，温度怎么不一样？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对比实验：相同质量的水和煤油用同一热源加热相同时间（吸热相同），煤油升温明显更快。物理学用比热容表示这种差异：单位质量的某种物质温度升高 1 ℃ 所吸收的热量，符号 c，单位 J/(kg·℃)。水的比热容 4.2×10³ J/(kg·℃)，在常见物质中很大。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大意味着“温度难升也难降”：沿海地区水多，吸收或放出相同热量时温度变化小，所以昼夜温差小；暖气用水做介质、发动机用水冷却，都利用水的比热容大。热量计算 Q=cmΔt，Δt=t末−t初。纠正：吸热多温度不一定升得多，还要看质量和比热容。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比热容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热量计算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认为吸热多温度一定升得多（还取决于比热容与质量）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Δt 与末温、初温关系弄混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198 / 346</a:t>
            </a:r>
            <a:endParaRPr lang="en-US" sz="115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　比热容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把质量 2 kg 的水从 20 ℃ 加热到 70 ℃，水吸收多少热量？[c水=4.2×10³ J/(kg·℃)]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先算温度变化量 Δt=t末−t初=70 ℃−20 ℃=50 ℃，依据公式 Q=cmΔt。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 Q=c水mΔt=4.2×10³ J/(kg·℃)×2 kg×50 ℃=4.2×10⁵ J。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检验：数量级为 10⁵ J，与烧 2 kg 水的日常感受相符。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吸收热量 4.2×10⁵ J。先写公式再代数，Δt 用“末温减初温”，单位随写随查。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199 / 346</a:t>
            </a:r>
            <a:endParaRPr lang="en-US" sz="115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　比热容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1 kg 的水吸收 8.4×10⁴ J 热量，温度升高多少？若这些热量被相同质量的沙石（比热容约为水的五分之一）吸收，升温大约多少？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200 / 346</a:t>
            </a:r>
            <a:endParaRPr lang="en-US" sz="115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　比热容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3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828" y="1876806"/>
            <a:ext cx="5786793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水与煤油吸热升温对比图像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升温图像：横轴 t/min 0–8，纵轴 T/℃ 20~40；相同质量的水：t=[0,2,4,6,8]，T=[20,22,24,26,28]；相同质量的煤油：t=[0,2,4,6,8]，T=[20,24,28,32,36]；标注：相同加…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201 / 346</a:t>
            </a:r>
            <a:endParaRPr lang="en-US" sz="115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 · 内能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扩散证明分子不停做无规则运动且温度越高越剧烈；分子间同时有引力和斥力；灰尘烟雾不是分子运动。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一切物体都有内能；做功和热传递都能改变内能；热量是过程量，只谈吸收放出、不谈含有。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比热容 c 反映物质吸放热时“温度的惰性”，水最大；Q=cmΔt，Δt=末温−初温；沿海温…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解释“沿海地区昼夜温差比内陆小”；把 1 kg 水从 20 ℃ 加热到 70 ℃ 吸收多少热量？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202 / 346</a:t>
            </a:r>
            <a:endParaRPr lang="en-US" sz="115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能量 ｜ 考查：四冲程的识别与能量转化、热机效率相关计算、能量守恒定律的表述与应用。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第十四章　内能的利用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热机把内能转化为机械能，四冲程顺序与能量流向图把“效率为什么低”讲透。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热机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热机的效率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能量的转化和守恒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　热机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第十四章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试管里的水蒸气“砰”地把塞子冲出去——这一下里藏着汽车发动机的全部秘密。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试管中水沸腾后，水蒸气把塞子冲出，管口出现“白气”——燃气对塞子做功，内能转化为机械能，这就是热机的原型：把内能转化为机械能的机器。汽油机一个工作循环四个冲程：吸气、压缩、做功、排气；活塞往复两次、曲轴转两圈，完成一个循环、对外做功一次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能量转化的节点要标红：压缩冲程机械能转化为内能（活塞上行压缩燃气）；做功冲程内能转化为机械能（火花塞点火，燃气推活塞下行）。纠正：四个冲程中只有做功冲程点火；判断冲程看气门开闭和活塞方向——两门关闭活塞上行是压缩，两门关闭活塞下行且点火是做功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热机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冲程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做功冲程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认为四个冲程都点火（只有做功冲程火花塞点火）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气门开闭与活塞方向对应关系记错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204 / 346</a:t>
            </a:r>
            <a:endParaRPr lang="en-US" sz="115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　热机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某时刻汽油机气缸内两个气门都关闭，活塞向上运动。这是哪个冲程？能量如何转化？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两气门全闭，说明不是吸气（进气门开）也不是排气（排气门开）。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活塞上行压缩燃气，判定为压缩冲程。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压缩冲程中活塞对燃气做功，机械能转化为内能，燃气温度升高。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压缩冲程，机械能转化为内能。判断冲程的顺序：先看气门、再看活塞方向、最后想点火。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205 / 346</a:t>
            </a:r>
            <a:endParaRPr lang="en-US" sz="115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　热机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四冲程汽油机曲轴转速 1800 r/min，每秒对外做功多少次？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206 / 346</a:t>
            </a:r>
            <a:endParaRPr lang="en-US" sz="115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　热机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908618"/>
            <a:ext cx="6949440" cy="3783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汽油机四冲程示意图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四联剖面图，每幅含气缸、活塞（标上/下行箭头）、进气门、排气门、火花塞：①吸气冲程（进气门开、活塞下行）②压缩冲程（两门关闭、活塞上行）③做功冲程（两门关闭、火花塞点火、活塞下行）④排气冲程（排气门开、活塞上行）；标注：压缩冲程机械能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207 / 346</a:t>
            </a:r>
            <a:endParaRPr lang="en-US" sz="115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　热机的效率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第十四章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汽油烧掉带来的能量，真正推动汽车的可能还不到三成——剩下的去哪了？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画能量流向带：燃料完全燃烧放出的能量是总量，其中有用机械功只占一小角，其余被废气带走（最大头）、缸体散热、机械摩擦消耗掉。热机效率 η=W有用/Q放，即有用功与燃料完全燃烧放出热量之比。汽油机效率一般只有 20%–30%，说热机效率能到 90% 是错的。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用数据算一笔账：燃料放出 5×10⁷ J，只有 1.25×10⁷ J 变成有用功，效率 25%，四分之三的能量白白流走，这就是“为什么低”。提高效率的途径：减少各项损失——利用废气余热（热电联产）、减小摩擦、保证良好燃烧与保养。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热机效率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能量损耗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认为热机效率能达到 90%（汽油机一般只有 20%–30%）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208 / 346</a:t>
            </a:r>
            <a:endParaRPr lang="en-US" sz="115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　热机的效率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某汽油机在一个工作循环中消耗汽油完全燃烧放出 5×10⁷ J 热量，对外做有用功 1.25×10⁷ J。这台汽油机的效率是多少？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依据热机效率定义 η=W有用/Q放，先分清分子分母。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 η=1.25×10⁷ J÷5×10⁷ J=0.25=25%。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检验：25% 落在汽油机 20%–30% 的常见范围，合理。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效率为 25%。答题写出定义式再代数；把结论与常见效率范围对照可以自检。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209 / 346</a:t>
            </a:r>
            <a:endParaRPr lang="en-US" sz="115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　热机的效率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柴油机的效率一般比汽油机高一些。据此说明：同样多做 1 J 有用功，谁消耗的燃料化学能更少？提高热机效率对节约能源有什么意义？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210 / 346</a:t>
            </a:r>
            <a:endParaRPr lang="en-US" sz="115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　热机的效率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4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226168"/>
            <a:ext cx="6949440" cy="31486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内燃机的能量流向图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画从左到右的能量流带图：输入端“燃料化学能 100%”，向右分为四条宽度不等的流带：有用机械功 25%、废气带走 40%、缸体散热 25%、机械摩擦 10%；标注：η=W有用/Q放=25%，流带宽度按百分比示意。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211 / 346</a:t>
            </a:r>
            <a:endParaRPr lang="en-US" sz="115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14.3　能量的转化和守恒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第十四章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滚摆越摆越低，能量少了吗？发电机没烧燃料却能源源不断发电——能量从哪来？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摆越摆越低不是能量消失，而是机械能逐渐转化为内能散到环境中；发电机发电必须消耗机械能。大量事实归纳出能量守恒定律：能量既不会凭空消灭，也不会凭空产生，只会从一种形式转化为其他形式，或者从一个物体转移到其他物体，而在转化和转移的过程中总量保持不变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“转移”与“转化”：热传递中内能从一个物体到另一个物体，形式不变，是转移；摩擦生热、电动机把电能变成机械能，形式改变，是转化。据此判断“不消耗任何能量、永远运转的永动机”必然失败——它违背能量守恒定律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能量守恒定律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02345" y="259003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866937" y="26631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6937" y="293751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认为不消耗能量的永动机可以造出来（违背能量守恒）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212 / 346</a:t>
            </a:r>
            <a:endParaRPr lang="en-US" sz="115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14.3　能量的转化和守恒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指出下列过程中能量的转化或转移：①摩擦双手变暖 ②牛奶在热锅里被加热 ③电风扇转动 ④蓄电池充电。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摩擦生热，机械能转化为内能——转化。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火焰的内能传给牛奶，能量形式不变——转移。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电能转化为机械能——转化。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620006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620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491990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电能转化为化学能储存起来——转化。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20522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269230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①机械能→内能 ②内能转移 ③电能→机械能 ④电能→化学能。先问“能量形式变没变”，再答转化或转移。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213 / 346</a:t>
            </a:r>
            <a:endParaRPr lang="en-US" sz="115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14.3　能量的转化和守恒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有人设计“不用电、不上发条，靠自身摆动永远走下去的钟”。用能量守恒定律分析它能否实现。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214 / 346</a:t>
            </a:r>
            <a:endParaRPr lang="en-US" sz="115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第十四章 · 内能的利用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热机把内能转化为机械能；四冲程顺序吸气压缩做功排气；压缩冲程机械能转内能、做功冲程内能转机…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η=W有用/Q放，汽油机仅 20%–30%；损失大头是废气；提效靠减损失、用余热。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能量守恒定律：能量只转化或转移、总量不变；先问形式变没变；永动机违背守恒必然失败。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汽油机哪个冲程把内能转化为机械能，判断依据是什么？为什么热机效率总小于 1？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215 / 346</a:t>
            </a:r>
            <a:endParaRPr lang="en-US" sz="115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能量 ｜ 考查：电路识别与三种状态、串并联电路电流规律、电流表的规范使用与读数。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第十五章　电流和电路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从摩擦起电到电路三状态、串并联识别，把“电流的路径”当作一切电路分析的主线。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两种电荷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电流和电路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串联和并联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电流的测量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2785" y="473659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串、并联电路中电流的规律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5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15.1　两种电荷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塑料梳子梳完头发能吸起碎纸屑——梳子怎么了？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摩擦过的梳子吸引纸屑，物体有了吸引轻小物体的性质就说它带了电（荷）。两种电荷的规定：用丝绸摩擦过的玻璃棒带正电，用毛皮摩擦过的橡胶棒带负电；同种电荷相互排斥、异种电荷相互吸引。验电器利用“同种电荷相斥”：带电体接触金属球后两片金属箔带同种电荷而张开，张角越大带电越多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起电的实质不是创造电荷，而是电子从一个物体转移到另一个物体：得电子的带负电、失电子的带正电，电荷总量不变。导体容易导电（金属、人体、大地、酸碱盐溶液），绝缘体不容易导电（橡胶、玻璃、塑料）；两者没有绝对界限，条件变化时（如玻璃加热到红炽状态）绝缘体也能导电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摩擦起电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正电荷与负电荷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导体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认为摩擦“创造”了电荷（实为电子从一个物体转移到另一物体）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把“绝缘体绝不导电、导体处处导电”绝对化（条件变化时可能转变）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217 / 346</a:t>
            </a:r>
            <a:endParaRPr lang="en-US" sz="115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15.1　两种电荷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用丝绸摩擦玻璃棒后，玻璃棒带什么电？丝绸带什么电？摩擦过程中发生了什么？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依据规定，丝绸摩擦过的玻璃棒带正电。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原因：摩擦使玻璃棒上的一部分电子转移到了丝绸上。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玻璃棒失电子带正电，丝绸得电子带等量负电，电荷总量不变。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玻璃棒带正电、丝绸带等量负电；实质是电子转移，不是创造了电荷。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218 / 346</a:t>
            </a:r>
            <a:endParaRPr lang="en-US" sz="115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15.1　两种电荷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带电体接触验电器金属球后金属箔张开。再用另一个带同种电荷的物体接触金属球，张角怎么变？换带异种电荷的呢？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219 / 346</a:t>
            </a:r>
            <a:endParaRPr lang="en-US" sz="115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15.2　电流和电路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合上开关灯亮，打开灯灭——电线里到底“流”的是什么？电路由哪几件东西撑起来？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四元件对号入座：电源提供电能（干电池、蓄电池），用电器消耗电能（灯、电动机），开关控制通断，导线输送电能。三种状态：通路——处处连通、用电器工作；断路（开路）——某处断开、无电流；短路——不经过用电器用导线直接连接电源两极，电流过大，极易烧坏电源甚至引发火灾，绝对不允许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电流用 I 表示，单位安培（A）。电流方向的规定：正电荷定向移动的方向为电流方向。金属导体中自由移动的是带负电的电子，电子定向移动的方向与电流方向相反——说“电流方向就是电子移动方向”是错的。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通路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断路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短路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电流方向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把金属导线中的电流方向当成电子移动方向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把电源短路当成正常连接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220 / 346</a:t>
            </a:r>
            <a:endParaRPr lang="en-US" sz="115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15.2　电流和电路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金属导线中自由电子从 A 向 B 定向移动，导线中的电流方向如何？为什么？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先明确导电载体：金属中自由移动的是带负电的电子。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依据规定，电流方向与负电荷定向移动的方向相反。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电子从 A 向 B，故电流方向为由 B 向 A。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电流方向从 B 到 A。记忆点：正电荷定向移动的方向即电流方向，负电荷则相反。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221 / 346</a:t>
            </a:r>
            <a:endParaRPr lang="en-US" sz="115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15.2　电流和电路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指出下列电路状态的类型：①开关断开灯不亮 ②用一根导线直接连在电池两极 ③闭合开关灯正常发光。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222 / 346</a:t>
            </a:r>
            <a:endParaRPr lang="en-US" sz="115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　串联和并联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教室一盏灯坏了，其余灯照常亮；一串彩灯一颗坏了整串熄灭——两种接法差在哪？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情境对应两种基本连接：串联——用电器逐个顺次连接，电流只有一条路径，一处断则全断，开关位置不影响控制作用；并联——用电器并列连接，有干路和支路，各支路互不影响，干路开关管全部、支路开关只管本支路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用“电流路径法”：从电源正极出发走一遍，路径只有一条是串联，有分支、有汇合的是并联。更快的判据：拆掉一个用电器，另一个还能工作就是并联。纠正：不能只看“排成一排”就断定串联，要看电流路径是否只有一条；画并联图先画干路再补支路，别把干路开关画进支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串联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并联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干路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支路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把干路开关画到某条支路上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只凭“两灯排成一排”判断串联（要看电流路径是否只有一条）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223 / 346</a:t>
            </a:r>
            <a:endParaRPr lang="en-US" sz="115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　串联和并联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马路两旁的路灯同时亮、同时灭。有同学据此说路灯是串联的，对吗？怎样判断？用什么方法验证？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先指出“同时亮灭”不能证明串联——开关装在干路上，并联也能同时控制。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判据：看一盏灯坏了其余是否还亮；实际观察发现某盏路灯损坏时其余仍亮。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结论是并联；验证方法：断开（取下）任意一盏灯，观察其余灯是否熄灭。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并联。依据“互不影响”这一本质特征，同时亮灭只是干路开关的效果；“取下看另一只”是标准验证法。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224 / 346</a:t>
            </a:r>
            <a:endParaRPr lang="en-US" sz="115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　串联和并联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家里的电灯、电视、冰箱能各自独立开关、互不影响。家庭电路的用电器是串联还是并联？说明判断依据。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225 / 346</a:t>
            </a:r>
            <a:endParaRPr lang="en-US" sz="115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15.4　电流的测量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电路里的电流看不见，怎么把它读出来？电流表接错了会烧表——规矩有哪些？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表使用三步规范：①必须串联接入被测电路，电流从正接线柱流入、负接线柱流出；②接入前估测或用大量程试触——指针迅速超过满偏就换大量程，偏转太小换小量程；③绝不允许不经过用电器把电流表直接接到电源两极，相当于短路会烧表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读数三步：先看接线柱确定量程，再算分度值，最后读指针位置。实验室电流表两个量程：0–0.6 A 分度值 0.02 A，0–3 A 分度值 0.1 A。高频错误：把 0.6 A 量程的分度值看成 0.2 A，或读数不带单位。纠正：先定量程再读数，顺序不能反。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电流表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量程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把电流表直接接在电源两端（相当于短路，会烧表）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0.6 A 量程的分度值 0.02 A 看成 0.2 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226 / 346</a:t>
            </a:r>
            <a:endParaRPr lang="en-US" sz="115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15.4　电流的测量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0–3 A 量程测得电流 2.4 A。改接 0–0.6 A 量程后指针指在同一位置，读数应是多少？说明理由。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依据电流表结构：两个量程共用同一套刻度，大量程示数是小量程的 5 倍。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同一指针位置，小量程读数=2.4 A÷5=0.48 A。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检验：0.48 A&lt;0.6 A，在大量程范围内换小量程读数更精确，操作合理。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0.48 A。指针位置相同、量程不同时读数差 5 倍，这是两个量程共用刻度的必然结果。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227 / 346</a:t>
            </a:r>
            <a:endParaRPr lang="en-US" sz="115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15.4　电流的测量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要测约 0.3 A 的电流：①直接选 0–3 A 量程可行吗？②若不小心把电流表并联在灯两端，会发生什么？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228 / 346</a:t>
            </a:r>
            <a:endParaRPr lang="en-US" sz="115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　串、并联电路中电流的规律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串联电路里，靠近电源正极的电流会不会“先到先得”更大一些？动手测一测。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分组实验与数据：串联电路在灯前、两灯之间、灯后三点各测一次电流；并联电路分别测干路和两条支路。填表归纳：串联 I=I₁=I₂，电流处处相等；并联 I干=I₁+I₂，干路电流等于各支路电流之和。用“水流”类比巩固：一条水管不分流处处流量相同，分流后总管流量等于各分管之和。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各组测出的数据不完全相同（如 0.28 A、0.30 A）是正常的测量误差，要保留原始数据如实记录，分析误差来源（读数估读、接触电阻），不允许凑数改数据。纠正：“离电源近电流更大”是错的，串联电流处处相等；“干路电流可能小于支路电流”也是错的，支路之和才等于干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串联电流规律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并联电流规律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认为串联中离电源近的电流更大（电流处处相等）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认为并联干路电流可能小于支路电流（干路等于支路之和）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229 / 346</a:t>
            </a:r>
            <a:endParaRPr lang="en-US" sz="115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　串、并联电路中电流的规律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并联电路中干路电流表读 0.5 A，支路 L₁ 的电流表读 0.2 A。通过 L₂ 的电流多大？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依据并联电流规律 I干=I₁+I₂，先确认哪个读数是干路、哪个是支路。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 I₂=I干−I₁=0.5 A−0.2 A=0.3 A。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检验：两支路之和 0.2 A+0.3 A=0.5 A 等于干路读数，自洽。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L₂ 的电流为 0.3 A。串联处处相等、并联支路相加，两条规律先认电路再套用。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230 / 346</a:t>
            </a:r>
            <a:endParaRPr lang="en-US" sz="115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　串、并联电路中电流的规律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串联电路中 A 点电流 0.3 A，B 点电流多大？并联电路两条支路电流分别为 0.3 A、0.2 A，干路电流表读 0.8 A，第三条支路的电流多大？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231 / 346</a:t>
            </a:r>
            <a:endParaRPr lang="en-US" sz="115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　串、并联电路中电流的规律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5889" y="1876806"/>
            <a:ext cx="2840272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串联电路与电流表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电路图元件：电源（电池组符号）、开关 S、灯 L1、电流表 A、灯 L2 依次首尾相连成一个回路；标注：只有一条电流路径、I=IA=I1=I2、取下 L1 则 L2 熄灭；电流表画在 L1 与 L2 之间并标“A”。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9a-15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197" y="4089654"/>
            <a:ext cx="240765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并联电路与干支路电流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电路图元件：电源、干路开关 S、干路电流表 A；两条支路分别为开关 S1 串灯 L1（支路电流表 A1 串入）与开关 S2 串灯 L2；标注节点分流位置：IA=IA1+IL2 支路之和，取下 L1 则 L2 仍亮；文字注“干路电流等于各…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232 / 346</a:t>
            </a:r>
            <a:endParaRPr lang="en-US" sz="115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第十五章 · 电流和电路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两种电荷：丝绸摩玻璃棒为正、毛皮摩橡胶棒为负；摩擦起电是电子转移；导体绝缘体无绝对界限。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电路=电源＋用电器＋开关＋导线；通路、断路、短路三种状态；电流方向与电子移动方向相反。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串联一条路径一断全断，并联干支路互不影响；识别用电流路径法或“拆一看一”。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电流表串联接入、正进负出、先大后小试触选量程；0.6 A 量程分度值 0.02 A；严禁直…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7065" y="3559302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串联电流处处相等，并联干路电流等于支路之和；数据有偏差是误差，保留原始值不凑数。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905" y="4034790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2" name="Text 10"/>
          <p:cNvSpPr/>
          <p:nvPr/>
        </p:nvSpPr>
        <p:spPr>
          <a:xfrm>
            <a:off x="811073" y="410794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1073" y="4382262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马路两旁的路灯同时亮、同时灭，怎样判断它们是串联还是并联？说明理由和验证方法。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233 / 346</a:t>
            </a:r>
            <a:endParaRPr lang="en-US" sz="115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能量 ｜ 考查：电压表使用与读数、串并联电压规律、影响电阻大小的因素与滑动变阻器接法。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第十六章　电压 电阻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电压表并联测“压”、串并联电压规律成对给出，电阻概念与变阻器“改变接入长度”落到实处。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串、并联电路中电压的规律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变阻器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　电压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第十六章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水流要靠水压推动，电荷的定向移动靠什么推？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用抽水机与水流类比：水压驱动水流，电压驱动电荷定向移动——电压是使电路中形成电流的原因，符号 U，单位伏特（V）。常用值记牢：一节干电池 1.5 V，一节铅蓄电池 2 V，家庭电路 220 V，对人体安全的电压不高于 36 V。有电压还不一定有电流，电路还必须处处连通。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电压表要并联在被测用电器两端：电流从正接线柱流入、负接线柱流出，量程先大后小试触选择。量程 0–3 V 分度值 0.1 V，0–15 V 分度值 0.5 V。纠正：电压表内阻很大，若误串联接入电路，电路近似断路，灯不亮而电压表示数约等于电源电压——这只说明接错了，不是“测到了什么”。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伏特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电压表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把电压表串联接入电路（近似断路，示数约等于电源电压）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认为有电压就一定有电流（电路还必须是通路）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235 / 346</a:t>
            </a:r>
            <a:endParaRPr lang="en-US" sz="115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　电压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读电压表：接 0–3 V 量程时指针正好指在刻度盘正中央，示数多大？若接的是 0–15 V 量程呢？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先定分度值：0–3 V 量程分度值 0.1 V，正中央对应量程的一半。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示数=3 V÷2=1.5 V。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 0–15 V 量程时同一位置示数=15 V÷2=7.5 V，两个量程读数仍是 5 倍关系。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0–3 V 量程读 1.5 V，0–15 V 量程读 7.5 V。先看量程再定分度值，读数顺序不能乱。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236 / 346</a:t>
            </a:r>
            <a:endParaRPr lang="en-US" sz="115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　电压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一节干电池电压 1.5 V，两节干电池串联后总电压多大？某电压表误与灯串联接入电路，会看到什么现象？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237 / 346</a:t>
            </a:r>
            <a:endParaRPr lang="en-US" sz="115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　电压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541" y="1876806"/>
            <a:ext cx="622936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电压表测量灯泡两端电压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电路图元件：电源、开关 S、灯 L1、灯 L2 串联；电压表 V 的两根引线分别接在 L1 左右两端（并联），表盘标“V”；标注：电压表并联在被测用电器两端、U总=U1+U2；旁注：若电压表并在电源两端则读数为总电压。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238 / 346</a:t>
            </a:r>
            <a:endParaRPr lang="en-US" sz="115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16.2　串、并联电路中电压的规律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第十六章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串联的几节电池电压能“叠”起来，串联的几盏灯电压怎么分？并联呢？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分组实验测量：串联电路分别测 L₁、L₂ 两端和电源电压，多组数据归纳 U=U₁+U₂，串联电路总电压等于各部分电压之和；并联电路测各支路与电源电压，归纳 U=U₁=U₂，并联各支路电压相等且等于电源电压。类比巩固：串联像水路分段降压、各段压降相加，并联像各支路接在同一水位差上。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电流规律对照记忆：串联电流相同、电压相加；并联电压相同、电流相加——两条规律对偶。纠正：并联各支路电压之和等于电源电压是错的，各支路电压相等；串联两盏不同规格的灯电压也不一定平分，按什么分配下章由电阻决定，先存个疑问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串联电压规律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并联电压规律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认为并联各支路电压之和等于电源电压（各支路电压相等）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认为串联的两盏不同规格灯平分电压（按电阻比例分配）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239 / 346</a:t>
            </a:r>
            <a:endParaRPr lang="en-US" sz="115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16.2　串、并联电路中电压的规律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两灯串联接在 3 V 电源上，电压表测得 L₁ 两端电压 1.8 V。L₂ 两端电压多大？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依据串联电压规律 U=U₁+U₂，总电压 3 V 已知。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 U₂=U−U₁=3 V−1.8 V=1.2 V。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检验：1.8 V+1.2 V=3 V，等于电源电压，自洽。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L₂ 两端电压 1.2 V。串联电压“相加”与并联电压“相等”，两条规律不要互相串门。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240 / 346</a:t>
            </a:r>
            <a:endParaRPr lang="en-US" sz="115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16.2　串、并联电路中电压的规律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三只灯串联接在 6 V 电源上，L₁ 两端 2.5 V、L₂ 两端 1.5 V，L₃ 两端多大？若把三灯改为并联在原电源上，各灯两端电压多大？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241 / 346</a:t>
            </a:r>
            <a:endParaRPr lang="en-US" sz="115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16.3　电阻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第十六章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同样粗细的铜线和镍铬合金线，接同一电源，一个电流大一个电流小——导体在“拦”什么？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演示控制变量：把长短、粗细不同的镍铬合金线分别接入电路，观察小灯亮度或电流表示数——导线越长、越细，对电流的阻碍越大。电阻表示导体对电流的阻碍作用，符号 R，单位欧姆（Ω），常用 kΩ、MΩ。影响电阻大小的因素：材料、长度、横截面积，还有温度。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电阻是导体本身的性质，与是否接电源、有无电流无关——用 R=U/I 计算不代表 R 随 U 增大。温度的影响单独记：金属导体温度越高电阻越大，灯丝常温电阻远小于正常发光时。纠正：“R 与 U 成正比、与 I 成反比”是把计算式当定义的典型错误。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电阻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欧姆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控制变量法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由 R=U/I 推出“R 与 U 成正比”（R 是比值定义的定值）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忽略温度对电阻的影响（灯丝电阻随温度明显变化）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242 / 346</a:t>
            </a:r>
            <a:endParaRPr lang="en-US" sz="115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16.3　电阻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两根镍铬合金线粗细相同，一根长 1 m、一根长 2 m，哪根电阻大？若把同材料同粗细的导线对折后使用，电阻怎么变？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依据实验规律：材料、横截面积相同时，电阻与长度成正比，2 m 的电阻大。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对折相当于长度减半、横截面积加倍，两个因素都使电阻减小。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结论：对折后电阻约为原来的四分之一（长度减半减一半，截面加倍再减一半）。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m 的电阻大；对折后电阻明显减小（约为原来的 1/4）。判断电阻只看材料、长度、横截面积、温度四要素。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243 / 346</a:t>
            </a:r>
            <a:endParaRPr lang="en-US" sz="115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16.3　电阻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白炽灯灯丝不发光时测得电阻小，正常发光时电阻大得多，为什么？由此说明用 R=U/I 计算电阻要注意什么？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244 / 346</a:t>
            </a:r>
            <a:endParaRPr lang="en-US" sz="115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16.4　变阻器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第十六章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调光台灯、调音量的旋钮，背后都是一个“可调的电阻”。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结构与接法：滑动变阻器的瓷筒上绕电阻线，上方金属杆带滑片 P，下端两个接线柱 A、B，上端两个 C、D。必须“一上一下”接入：接入电路的是“下端接线柱到滑片”那一段电阻线，移动滑片改变接入长度，从而改变电阻。铭牌“50 Ω 1.5 A”的含义：最大阻值 50 Ω，允许通过的最大电流 1.5 A。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操作与保护：接 A、C 时接入的是 A 到 P 段，滑片向 B 端（远离 A）移动，接入长度变长、电阻变大。闭合开关前必须把滑片移到阻值最大端，让初始电流最小，保护电路——这是实验操作规程的必答点。纠正：接同侧两个下柱相当于定值电阻，滑片无效；接同侧两个上柱相当于导线，短路危险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滑动变阻器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一上一下接法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接下面两个接线柱相当于定值电阻，滑片移动无效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闭合开关前滑片不在最大阻值处，电路失去保护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245 / 346</a:t>
            </a:r>
            <a:endParaRPr lang="en-US" sz="115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16.4　变阻器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滑动变阻器按下端 A、上端 C 接入电路。要使灯变暗，滑片应向哪端移动？写出完整的判断链。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灯变暗需要电流变小，则电路中的电阻要变大。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 A、C 时接入的是 A 到 P 段电阻线，电阻变大应使该段变长。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滑片向 B 端（远离 A）移动：接入长度变长→电阻变大→电流变小→灯变暗。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滑片向 B 端移动。判断链：亮度→电流→电阻→接入长度→滑片方向，五环相扣。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246 / 346</a:t>
            </a:r>
            <a:endParaRPr lang="en-US" sz="115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16.4　变阻器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某同学把变阻器 A、B 两个下接线柱接入电路。移动滑片灯的亮度会变吗？闭合开关前滑片应放在什么位置？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247 / 346</a:t>
            </a:r>
            <a:endParaRPr lang="en-US" sz="115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16.4　变阻器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6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298170"/>
            <a:ext cx="6949440" cy="30046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滑动变阻器的结构与接法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画滑动变阻器：瓷筒上绕电阻线、上方金属杆带滑片 P、四个接线柱（下 A、B，上 C、D）；标注：一上一下接入才有效，接 A、C 时滑片右移电阻变大；铭牌“50 Ω 1.5 A”含义用文字标注。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248 / 346</a:t>
            </a:r>
            <a:endParaRPr lang="en-US" sz="115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第十六章 · 电压 电阻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电压 U 是形成电流的原因，单位 V；电压表并联测量、先大后小选量程；记住 1.5 V、2…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串联 U总=U₁+U₂，并联各支路电压相等且等于电源电压；串联分压不平均，与下节电阻挂钩。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电阻 R 是导体本身的性质，单位 Ω，由材料、长度、横截面积、温度决定；金属温度越高电阻越…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滑动变阻器“一上一下”才有效，靠改变接入电阻线长度变阻；开关闭合前滑片置最大阻值端保护电路。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两灯串联，V 测 L1 得 2 V，电源电压 6 V，L2 两端电压多大？电压表为什么不能当电流表串联使用？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249 / 346</a:t>
            </a:r>
            <a:endParaRPr lang="en-US" sz="115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· 能量 ｜ 考查：探究 I 与 U、R 关系的实验设计、欧姆定律及串并联应用、伏安法测电阻与电路故障分析。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第十七章　欧姆定律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控制变量探得电流与电压、电阻的关系后合成欧姆定律，伏安法测电阻把定律变成工具。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电流与电压和电阻的关系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欧姆定律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电阻的测量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欧姆定律在串并联电路中的应用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　电流与电压和电阻的关系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第十七章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电压推电流、电阻拦电流——两个因素一起变就说不清，怎么把它们分开研究？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控制变量设计两次实验：①研究 I 与 U——保持定值电阻 R 不变（如 10 Ω），调节滑动变阻器改变 R 两端电压，多次记录 U 和 I；②研究 I 与 R——保持电阻两端电压不变，换用不同阻值的定值电阻，每次换上后调滑片使电压回到原值再记 I。滑动变阻器的双重作用要点明：改变定值电阻两端的电压＋保护电路。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数据先列表再画 I-U 图：定值电阻的 I-U 图是过原点的直线——I 与 U 成正比；U 一定时 I 与 R 成反比，特征是乘积 U=IR 不变。结论的边界要讲清：反比说的是乘积不变，不是“I 与 R 的比值不变”；过原点的直线只对温度不变的定值电阻成立，灯丝电阻随温度变，图像是弯曲的。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控制变量法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正比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反比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不做多次测量、不调节变阻器就下结论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把“I 与 R 成反比”说成“I 与 R 的比值不变”（反比是乘积不变）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251 / 346</a:t>
            </a:r>
            <a:endParaRPr lang="en-US" sz="115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　电流与电压和电阻的关系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R=10 Ω，电压调到 2 V 时电流多大？电压调到 4 V 呢？改保持 U=3 V，换用 5 Ω 和 15 Ω 的电阻，电流各多大？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第一组控制 R=10 Ω 不变：I₁=U/R=2 V÷10 Ω=0.2 A。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加倍到 4 V：I₂=4 V÷10 Ω=0.4 A，正好翻倍，验证正比。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第二组控制 U=3 V：I=3 V÷5 Ω=0.6 A；I=3 V÷15 Ω=0.2 A，R 变为 3 倍、I 变为三分之一，乘积 3 V 不变，验证反比。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V 时 0.2 A，4 V 时 0.4 A；U=3 V 时 5 Ω 得 0.6 A、15 Ω 得 0.2 A。正比看图像过原点，反比看 U=IR 乘积不变。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252 / 346</a:t>
            </a:r>
            <a:endParaRPr lang="en-US" sz="115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　电流与电压和电阻的关系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做“探究 I 与 U 关系”实验时，滑动变阻器起什么作用？若探究“I 与 R”时换电阻后不重新调滑片，数据会怎样、结论还成立吗？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253 / 346</a:t>
            </a:r>
            <a:endParaRPr lang="en-US" sz="115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　电流与电压和电阻的关系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7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244" y="1876806"/>
            <a:ext cx="590596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定值电阻与小灯泡的 I-U 图像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I-U 图像：横轴 U/V 0–3，纵轴 I/A 0–0.6；定值电阻（R=5 Ω）数据 U=[0,1,2,3]，I=[0,0.2,0.4,0.6]，为过原点直线；小灯泡数据 U=[0,0.5,1,1.5,2,2.5,3]，I=[0,0…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254 / 346</a:t>
            </a:r>
            <a:endParaRPr lang="en-US" sz="115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17.2　欧姆定律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第十七章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把两条实验规律合起来，就是电学里最常用的定律——一条公式管所有纯电阻电路。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欧姆定律：导体中的电流，跟导体两端的电压成正比，跟导体的电阻成反比，公式 I=U/R。单位配套：U 用伏（V）、I 用安（A）、R 用欧（Ω）。“同一导体、同一时刻”是使用前提——两次不同状态的测量值不能混着代。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公式的三个变形各有用途：I=U/R 求电流，U=IR 求电压，R=U/I 由伏安数据求电阻。由 R=U/I 不能说“R 与 U 成正比”——R 是导体本身的性质，该式只是测量计算式。规范动作：写公式、统一单位、代数带单位、结果带单位。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欧姆定律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02345" y="259003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866937" y="26631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6937" y="293751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跨电路、跨状态套用公式（前后两次测量的量混用）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不同电压情境下仍用“I 与 R 成反比”乱套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255 / 346</a:t>
            </a:r>
            <a:endParaRPr lang="en-US" sz="115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17.2　欧姆定律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定值电阻 R=20 Ω，两端电压 6 V，电流多大？若某导体通过 0.5 A 电流时两端电压 20 V，它的电阻多大？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第一问求电流，依据 I=U/R：I=6 V÷20 Ω=0.3 A。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第二问求电阻，依据变形 R=U/I：R=20 V÷0.5 A=40 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检验：V÷Ω 得 A、V÷A 得 Ω，两次代入都是同一导体的同一状态。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 0.3 A；电阻 40 Ω。先写公式、代数带单位、最后答数带单位，三步不能省。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256 / 346</a:t>
            </a:r>
            <a:endParaRPr lang="en-US" sz="115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17.2　欧姆定律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某电阻两端加 4 V 电压时电流 0.2 A。电阻多大？若电压增大到 8 V，电阻和电流各多大？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257 / 346</a:t>
            </a:r>
            <a:endParaRPr lang="en-US" sz="115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　电阻的测量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第十七章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手头只有电压表、电流表和一个待测电阻，怎么把它的阻值“称”出来？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器材与电路：伏安法电路按“串安并伏”连接——电源、开关、滑动变阻器、电流表、待测电阻 Rx 依次串联，电压表并联在 Rx 两端。先画电路图再接线，接线时开关断开；闭合开关前滑片移到阻值最大端。多次测量：移动滑片取三组 U、I，分别算 R 再取平均值，减小偶然误差。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与误差：测小灯泡电阻时不取平均——灯丝电阻随温度明显变化，不同电压下测得的不是同一个量，取平均无意义，这与测定值电阻的目的不同。故障排查套路：电压表有示数、电流表几乎无示数，说明与电压表并联的 Rx 断路（电压表经变阻器串联进了电路）；两表都无示数查干路断路或接触不良。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伏安法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多次测量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滑动变阻器接成同上或同下，滑片失效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把小灯泡几次测得的电阻取平均当作“定值”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258 / 346</a:t>
            </a:r>
            <a:endParaRPr lang="en-US" sz="115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　电阻的测量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测某定值电阻：三次读数 U=2.0 V、I=0.40 A；U=2.5 V、I=0.50 A；U=3.0 V、I=0.60 A。求电阻的测量值。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R=U/I 分别求三次值：2.0÷0.40=5.0 Ω；2.5÷0.50=5.0 Ω；3.0÷0.60=5.0 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依据多次测量求平均减小偶然误差：R平均=(5.0+5.0+5.0)÷3=5.0 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检验：三次数值几乎相同，说明确为定值电阻，取平均合理。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电阻测量值 5.0 Ω。若是小灯泡，三次阻值会明显不同，此时应分别记录、不取平均。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259 / 346</a:t>
            </a:r>
            <a:endParaRPr lang="en-US" sz="115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　电阻的测量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闭合开关后发现电流表无示数、电压表示数接近电源电压。电路可能哪里出故障？判断依据是什么？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260 / 346</a:t>
            </a:r>
            <a:endParaRPr lang="en-US" sz="115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　电阻的测量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7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109" y="1876806"/>
            <a:ext cx="6490232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伏安法测电阻电路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电路图元件：电源、开关 S、滑动变阻器 R′、电流表 A、待测电阻 Rx 依次串联；电压表 V 并联在 Rx 两端；标注：电流表串联读 I、电压表并联读 U、Rx=U/I；滑片初始位于阻值最大端，文字注“变阻器：保护电路+多次测量”。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261 / 346</a:t>
            </a:r>
            <a:endParaRPr lang="en-US" sz="115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17.4　欧姆定律在串并联电路中的应用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第十七章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串联时电压怎么分？并联时电流怎么分？两个比例关系一推出来，综合题就有了钥匙。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推导串联分压：串联电流相等，I=U₁/R₁=U₂/R₂，得 U₁/U₂=R₁/R₂——电压按电阻正比分。推导并联分流：并联电压相等，U=I₁R₁=I₂R₂，得 I₁/I₂=R₂/R₁——电流按电阻反比分。两条成对记：串分压、并分流，大电阻分大电压、小电阻走大电流。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通断、滑片移动类综合题的规矩：状态一变先重画等效电路，标清每个量属于哪个状态，再列式——新旧状态的数据混用是最大失分点。纠正：电源电压不变时，并联电路一条支路的电阻变化不影响另一条支路的电流（各支路电压仍等于电源电压），变化的只是干路电流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等效电路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开关状态改变后不重画等效电路，新旧数据混用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认为并联一条支路电阻变化会影响另一支路的电压（电源电压不变时各支路电压不变）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262 / 346</a:t>
            </a:r>
            <a:endParaRPr lang="en-US" sz="115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17.4　欧姆定律在串并联电路中的应用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R₁=10 Ω、R₂=20 Ω 串联接在 6 V 电源上。电路电流多大？两电阻各自分得多大电压？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依据串联电阻规律，总电阻 R=R₁+R₂=10 Ω+20 Ω=30 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依据欧姆定律 I=U/R：I=6 V÷30 Ω=0.2 A。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U=IR 分别求：U₁=0.2 A×10 Ω=2 V，U₂=0.2 A×20 Ω=4 V。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620006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620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491990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检验：2 V+4 V=6 V 等于电源电压；U₁/U₂=1/2=R₁/R₂，符合分压关系。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20522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269230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 0.2 A，U₁=2 V、U₂=4 V。分压按电阻正比，总电压恰好分完，两条都核上才算稳。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263 / 346</a:t>
            </a:r>
            <a:endParaRPr lang="en-US" sz="115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17.4　欧姆定律在串并联电路中的应用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R₁=10 Ω、R₂=20 Ω 并联接在 4 V 电源上。各支路电流多大？干路电流多大？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264 / 346</a:t>
            </a:r>
            <a:endParaRPr lang="en-US" sz="115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第十七章 · 欧姆定律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控制变量分两次探究：R 定则 I 与 U 成正比，U 定则 I 与 R 成反比（乘积不变）…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欧姆定律 I=U/R，前提“同一导体、同一时刻”；R=U/I 只是计算式，电阻不由电压电流…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伏安法测电阻：串安并伏、滑片初始最大、多次测量取平均；灯泡电阻随温度变、不取平均；断路故障…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串联分压 U₁/U₂=R₁/R₂，并联分流 I₁/I₂=R₂/R₁；综合题先重画等效电路，…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画出伏安法测电阻的电路图并说明滑动变阻器的作用；R1=10 Ω、R2=20 Ω 串联接在 6 V 电源上，各自电压多大？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265 / 346</a:t>
            </a:r>
            <a:endParaRPr lang="en-US" sz="115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能量 ｜ 考查：电能表读数与电费计算、额定功率与实际功率、伏安法测功率、焦耳定律 Q=I²Rt。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第十八章　电功率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从电能表读起，W=UIt 与 P=UI 分层建立，测灯泡功率实验与焦耳定律收口。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电能 电功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电功率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测量小灯泡的电功率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焦耳定律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　电能 电功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第十八章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家里每月的电费单上，那个数字是怎么算出来的？先学会读电能表。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电能表测用电器消耗的电能：读数窗最后一位（红框）是小数位，单位 kW·h（度）。铭牌“3000 r/kW·h”表示每消耗 1 kW·h 电能转盘转 3000 转——反过来数转数就能算电能，这是实验题常考的测法。纠正：kW·h 是电能（电功）的单位，不是功率的单位；读数别漏小数位。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电功用 W 表示：电流做功的过程就是电能转化为其他形式能的过程，W=UIt，单位焦耳（J）；换算 1 kW·h=1000 W×3600 s=3.6×10⁶ J。电功与机械功本质都是功，W=UIt 与 W=Fs 对应不同来源的“力”。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电能表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千瓦时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 kW·h 当成功率单位（它是电能/电功的单位）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电能表最后一位红色框内是小数，读数时漏看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267 / 346</a:t>
            </a:r>
            <a:endParaRPr lang="en-US" sz="115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　电能 电功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某用电器工作时电能表转盘转过 150 转，电能表铭牌标“3000 r/kW·h”。它消耗了多少电能？合多少焦？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依据铭牌含义（每消耗 1 kW·h 转盘转 3000 转）：W=150÷3000=0.05 kW·h。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换算：1 kW·h=3.6×10⁶ J，W=0.05×3.6×10⁶ J=1.8×10⁵ J。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检验：0.05 度即 50 W 的用电器工作 1 h，量级合理。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消耗电能 0.05 kW·h，即 1.8×10⁵ J。转数除以常数得度数，再乘 3.6×10⁶ 换焦耳，两步换算别跳步。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268 / 346</a:t>
            </a:r>
            <a:endParaRPr lang="en-US" sz="115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　电能 电功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小明家月初电能表读数 4318.5 kW·h，月底 4328.5 kW·h，电价 0.55 元/kW·h。本月用电多少？应付电费多少？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269 / 346</a:t>
            </a:r>
            <a:endParaRPr lang="en-US" sz="115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　电能 电功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18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109930"/>
            <a:ext cx="6949440" cy="33810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电能表铭牌与读数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画电能表面板：五位读数窗显示 04328（最后一位用红框标出，表示 0.8 kW·h 的小数位）、转盘小窗、铭牌“220 V 10(40) A 3000 r/kW·h”；标注：读数 432.8 kW·h、每转 3000 转消耗 1 kW…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270 / 346</a:t>
            </a:r>
            <a:endParaRPr lang="en-US" sz="115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　电功率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第十八章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W 的灯比 40 W 的灯亮——这个数字说的是用电的“快慢”。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电功率表示电流做功的快慢：P=W/t=UI，单位瓦特（W），常用千瓦（kW）。两套公式按已知量选用：知道 W、t 用 P=W/t，知道 U、I 用 P=UI。与额定值区分：用电器正常工作时的电压、功率叫额定电压、额定功率，如“220 V 40 W”；实际电压偏低时实际功率小于额定功率——灯的亮度由实际功率决定，不是铭牌上的额定功率。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P=UI=U²/R 可从铭牌求电阻：R=U额²/P额，如“220 V 40 W”的灯 R=48400÷40=1210 Ω。把电阻视为不变，就能推算非额定电压下的实际功率。纠正：把 kW·h 当功率单位、“灯一定按铭牌功率发光”（不看实际电压）都是错的。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电功率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额定功率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实际功率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认为灯的亮度由额定功率决定（由实际功率决定）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看到“220 V 100 W”不会换算出电阻 R=U²/P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271 / 346</a:t>
            </a:r>
            <a:endParaRPr lang="en-US" sz="115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　电功率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一盏标有“220 V 40 W”的白炽灯。正常发光时电流多大？灯丝电阻多大？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正常发光即实际电压等于额定电压、实际功率等于额定功率 40 W。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P=UI 变形：I=P/U=40 W÷220 V≈0.18 A。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P=U²/R 变形：R=U²/P=220²÷40=48400÷40=1210 Ω。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电流约 0.18 A，电阻 1210 Ω。从铭牌读出 U额、P额，再按 P=UI、R=U²/P 两条路各算一次。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272 / 346</a:t>
            </a:r>
            <a:endParaRPr lang="en-US" sz="115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　电功率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把“220 V 100 W”的灯接到 110 V 电路中（灯丝电阻不变），实际功率多大？灯会怎样？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273 / 346</a:t>
            </a:r>
            <a:endParaRPr lang="en-US" sz="115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18.3　测量小灯泡的电功率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第十八章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手中有电压表、电流表、滑动变阻器——怎么让灯泡“正当额”地亮起来并测出它的功率？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器材与操作：电源、开关、滑动变阻器、电流表、小灯泡串联，电压表并联在灯两端，滑片初始置最大阻值端。操作核心：调节滑动变阻器使电压表示数等于灯的额定电压（如 2.5 V），此时读电流表，P额=U额I；再调到低于和稍高于额定电压各测一组，得到不同电压下的实际功率。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与目的：与测电阻实验的关键区别——多次测量不是为了取平均，小灯泡在不同电压下功率本就不同，应分别记录实际功率并比较亮度。常见错误：把几次功率取平均当“额定功率”；电压表误并在滑动变阻器两端，把变阻器的分压当灯的电压，P 就算错了。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伏安法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额定电压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把几次测得的功率取平均当作额定功率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电压表误并在滑动变阻器两端，读数当成灯泡电压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274 / 346</a:t>
            </a:r>
            <a:endParaRPr lang="en-US" sz="115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18.3　测量小灯泡的电功率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额定电压 2.5 V 的小灯泡：调变阻器使电压表读 2.5 V 时电流表读 0.3 A；又测得电压 1.5 V 时电流 0.22 A。两种情况的功率各多大？哪种更亮？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P=UI：额定电压下 P额=2.5 V×0.3 A=0.75 W。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V 时 P实=1.5 V×0.22 A=0.33 W。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比较：0.33 W&lt;0.75 W，实际功率小则灯暗；两个状态分别记录，不取平均。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额定功率 0.75 W，1.5 V 时实际功率 0.33 W，前者更亮。这里的“多次测量”是为了对比不同电压下的实际功率，不是为了平均。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275 / 346</a:t>
            </a:r>
            <a:endParaRPr lang="en-US" sz="115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18.3　测量小灯泡的电功率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测灯泡功率实验中，电压表应并在哪两端？若误并在滑动变阻器两端并按其示数计算，结果是什么？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276 / 346</a:t>
            </a:r>
            <a:endParaRPr lang="en-US" sz="115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18.3　测量小灯泡的电功率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18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109" y="1876806"/>
            <a:ext cx="6490232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伏安法测小灯泡电功率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电路图元件：电源、开关 S、滑动变阻器 R′、电流表 A、小灯泡 L 依次串联；电压表 V 并联在 L 两端；标注：调节滑片使 V 读数等于灯的额定电压（如 2.5 V），读电流 I，P=UI；滑片初始位于阻值最大端。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277 / 346</a:t>
            </a:r>
            <a:endParaRPr lang="en-US" sz="115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　焦耳定律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第十八章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电炉丝和导线流着同样的电流，为什么电炉丝烧得通红，导线却几乎不热？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现象说明发热多少与电阻有关。焦耳定律：电流通过导体产生的热量跟电流的二次方成正比，跟导体的电阻成正比，跟通电时间成正比，Q=I²Rt。电炉丝与导线串联、电流相同，电炉丝电阻远大于导线电阻，所以电炉丝发红、导线不热——同流不同热，差别卡在 R 上。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纯电阻电路（电炉、电烙铁）中电能全部转化为内能，W=Q=UIt=I²Rt；非纯电阻电路（电动机、充电中的电池）电能还转化为机械能或化学能，W&gt;Q，发热只能用 Q=I²Rt 算。纠正：任何电路都用 Q=W=UIt 求热量是错的；“电流大发热一定多”也忽略了电阻与时间。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焦耳定律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纯电阻电路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任何电路都用 Q=W=UIt 计算热量（非纯电阻电路不成立）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认为电流大发热一定多（还取决于电阻与时间）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278 / 346</a:t>
            </a:r>
            <a:endParaRPr lang="en-US" sz="115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　焦耳定律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电炉的电阻丝 R=44 Ω，通过的电流 5 A，工作 1 min 产生多少热量？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依据焦耳定律 Q=I²Rt，先统一时间单位：t=1 min=60 s。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 Q=5²×44×60=25×44×60=6.6×10⁴ J。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检验：电炉是纯电阻电路，也可用 W=UIt 交叉验证；数量级与家用电炉相符。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min 产生热量 6.6×10⁴ J。电流是平方项，代入最易算错；先确认电路是不是纯电阻再选公式。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279 / 346</a:t>
            </a:r>
            <a:endParaRPr lang="en-US" sz="115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　焦耳定律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电动机线圈电阻 1 Ω，工作电流 2 A，两端电压 220 V。1 s 内电流做的功和产生的热量各多大？两者为什么不相等？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280 / 346</a:t>
            </a:r>
            <a:endParaRPr lang="en-US" sz="115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第十八章 · 电功率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电能表读数末位是小数，3000 r/kW·h 可由转数算电能；W=UIt，1 kW·h=3…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P=W/t=UI，单位 W；铭牌可求 R=U额²/P额；亮度看实际功率，电压减半实际功率只…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调变阻器使 U=U额 再读 I，P=UI；多次测量是为了对比不同电压的实际功率，不取平均。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Q=I²Rt，串联同流时电阻大者发热多；纯电阻 W=Q，电动机 W&gt;Q，发热一律用焦耳定律…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“220 V 100 W”的灯正常发光时电流与电阻多大？接到 110 V 电路中实际功率多大？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281 / 346</a:t>
            </a:r>
            <a:endParaRPr lang="en-US" sz="1150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能量 ｜ 考查：家庭电路连接规范（开关接火线）、测电笔使用、电流过大原因分析与安全用电原则。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第十九章　生活用电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沿家庭电路“进户→电能表→总开关→保险→用电器”走线，用触电路径与短路讲安全用电。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家庭电路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家庭电路中电流过大的原因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安全用电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19.1　家庭电路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第十九章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家里墙上的插座三个孔、电灯一个开关——这一套是怎么接进户的？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沿电流走一遍家庭电路：进户线（火线 L、零线 N，两线间 220 V）→电能表→总开关→保险装置→并联的用电器和插座。辨别火线用测电笔：笔尖触线、手指压住笔尾金属体，氖管发光是火线、不亮是零线；握笔手势必须示范——手绝不能碰笔尖金属体。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规范三句话必记：控制灯的开关必须接在火线上——断开后灯座不带电，检修安全；螺口灯座的螺旋套只准接零线；三孔插座的第三个孔接地线，把洗衣机、电冰箱等电器的金属外壳接地，漏电时电流走地线入地保护人体。纠正：开关接零线、认为地线可有可无，都是危险接法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火线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零线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地线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测电笔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把开关接在零线上（断开后灯座仍带电，检修危险）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认为三孔插座的地线可有可无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283 / 346</a:t>
            </a:r>
            <a:endParaRPr lang="en-US" sz="115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19.1　家庭电路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检修台灯时发现：断开开关后灯座仍“带电”（测电笔氖管发亮）。最可能的原因是什么？为什么危险？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开关断开后灯座仍带电，说明开关没有接在火线上，而是接在了零线上。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开关在零线上时，断开只切断零线，火线仍直接连到灯座。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危险在于：人以为已断电去触碰灯座金属部分，火线—人体—大地构成回路，发生触电。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开关误接在零线上。规范接法是开关接火线，保证断开后灯座不带电。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284 / 346</a:t>
            </a:r>
            <a:endParaRPr lang="en-US" sz="115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19.1　家庭电路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测电笔为什么不能像普通钢笔那样满手握住？用三孔插座接电热水壶，地线孔起什么作用？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285 / 346</a:t>
            </a:r>
            <a:endParaRPr lang="en-US" sz="115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19.1　家庭电路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19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368410"/>
            <a:ext cx="6949440" cy="28641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家庭电路的组成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画家庭电路组成：进户线（火线 L、零线 N）→电能表→总开关→保险装置→并联的用电器支路；其中灯支路：开关 S 接在火线上、螺口灯座螺旋套接零线；插座支路：三孔插座（上孔 E 接地线、左孔 N、右孔 L）；标注：各用电器并联、火零之间 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286 / 346</a:t>
            </a:r>
            <a:endParaRPr lang="en-US" sz="115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19.2　家庭电路中电流过大的原因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第十九章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保险丝熔断、空气开关跳闸之前，电路里发生了什么？原因其实只有两大类。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原因一：短路。火线零线不经用电器直接接触，电阻极小，由 I=U/R，电流远超正常值急剧发热。原因二：用电器总功率过大。并联电路干路电流等于各支路电流之和，接入的用电器越多、总功率越大，由 I=P/U 干路电流越大。两个原因殊途同归：电流过大，超过线路允许值。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装置：保险丝选电阻率大、熔点低的铅锑合金，电流过大时先熔断切断电路；严禁用铜丝铁丝代替——熔不断就起不了保护作用。空气开关靠电磁原理自动跳闸，排除故障后复位即可。纠正：“并联的用电器越多总电流越小”恰好说反，支路电流相加只会越大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短路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保险丝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空气开关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用铜丝、铁丝代替保险丝（电流过大时熔不断）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认为并联的用电器越多总电流越小（支路电流相加，越大）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287 / 346</a:t>
            </a:r>
            <a:endParaRPr lang="en-US" sz="1150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19.2　家庭电路中电流过大的原因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家庭电路电压 220 V。已有用电器的总电流 10 A，再接入一台 220 V、2200 W 的电磁炉，干路电流多大？若线路允许最大 20 A，是否安全？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I=P/U：电磁炉的电流 I₁=2200 W÷220 V=10 A。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并联电路干路电流等于支路之和：I总=10 A+10 A=20 A。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比较：20 A 恰好达到线路允许上限，已无余量，不宜再接入其他大功率电器。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干路电流达 20 A，已达允许上限，不宜再增负载。总功率过大是家庭电路电流过大的两大原因之一。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288 / 346</a:t>
            </a:r>
            <a:endParaRPr lang="en-US" sz="1150" dirty="0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19.2　家庭电路中电流过大的原因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为什么保险丝要用“电阻率大、熔点低”的材料？用铜丝代替行不行？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289 / 346</a:t>
            </a:r>
            <a:endParaRPr lang="en-US" sz="1150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19.3　安全用电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第十九章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 V 的家用电压危不危险？触电到底是怎么发生的？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电都是有电流通过人体。家庭触电两条路径：单线触电——手触火线、脚踩大地，电流经火线—人体—大地；双线触电——两手分别触火线和零线，电流通过人体。安全用电原则：不接触低压带电体、不靠近高压带电体；换灯泡先断总开关；湿手不碰开关电器——水使人体电阻变小，同样电压下通过的电流更大更危险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高压触电有电弧触电和跨步电压触电两种：高压线落地时不能走近查看，应双脚并拢跳或单脚跳离。纠正：“只有高压电才危险”是错的，220 V 家庭电压足以致命；发现有人触电，第一步是断开电源或用干燥木棒挑开电线，绝不能直接用手拉。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触电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安全电压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跨步电压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认为只有高压电才危险（220 V 足以致命）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高压线落地后靠近查看（跨步电压触电）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290 / 346</a:t>
            </a:r>
            <a:endParaRPr lang="en-US" sz="1150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19.3　安全用电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雷雨后一根高压线落在路边，同学想跑过去查看。应该怎么办？为什么？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高压线落地会在附近地面形成跨步电压，人两脚间可能有致命的电压差。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依据“不靠近高压带电体”的原则，绝不能走近查看，应远离并报告有关部门。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若已处在危险区内，应双脚并拢跳或单脚跳离开，避免两脚间产生大的电压差。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不能靠近，防止跨步电压触电；离开时并脚跳或单脚跳。安全用电原则第二条就是不靠近高压带电体。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291 / 346</a:t>
            </a:r>
            <a:endParaRPr lang="en-US" sz="1150" dirty="0"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19.3　安全用电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为什么湿手操作电器更危险？发现有人触电，第一步应该做什么？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292 / 346</a:t>
            </a:r>
            <a:endParaRPr lang="en-US" sz="1150" dirty="0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19.3　安全用电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19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041" y="1876806"/>
            <a:ext cx="678436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三孔插座与外壳接地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画三孔插座正面与三脚插头：插座上孔 E 接地线、左孔 N 接零线、右孔 L 接火线（口诀“左零右火上接地”）；插头三脚与之一一对应，金属外壳电器的地线脚连接外壳；标注：外壳漏电时电流经地线导入大地，保护人体。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293 / 346</a:t>
            </a:r>
            <a:endParaRPr lang="en-US" sz="1150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第十九章 · 生活用电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家庭电路进户→电能表→总开关→保险→并联用电器；开关接火线、螺旋套接零线、三孔插座必接地线。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电流过大两个原因：短路、总功率过大；保险丝电阻率大熔点低，铜丝铁丝严禁代替。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触电本质是电流通过人体；单线双线两条路径；不接触低压、不靠近高压；施救先断电，落地高压线并…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为什么控制电灯的开关必须接在火线上？家庭电路电流过大的两个原因各举一例。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294 / 346</a:t>
            </a:r>
            <a:endParaRPr lang="en-US" sz="1150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运动与相互作用 ｜ 考查：安培定则判断 N/S 极、电磁继电器应用、感应电流产生条件与电机类的能量转化方向。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第二十章　电与磁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磁场→电生磁→磁生电一条链，安培定则与电磁感应条件是解开全章的两把钥匙。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磁现象 磁场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电生磁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电磁铁 电磁继电器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电动机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2785" y="473659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20.5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磁生电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5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20.1　磁现象 磁场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条形磁铁吸一串回形针，两端挂得多、中间挂得少——磁性藏在哪里最强？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演示：磁铁两端吸引回形针最多，磁性最强的两端叫磁极（N 极、S 极）；任何磁体都有两个磁极，把它锯成两段，每段仍各有 N、S——不存在单磁极。同名磁极相互排斥、异名磁极相互吸引。使原来没有磁性的物体获得磁性的过程叫磁化。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磁体周围存在磁场，磁极间的相互作用通过磁场发生。描述磁场用磁感线：从 N 极出发回到 S 极、永不相交，磁感线越密处磁场越强，小磁针静止时 N 极所指方向与该点磁感线方向一致。纠正：磁感线是理想模型、实际不存在，真实存在的是磁场。地磁场使指南针指南北，地理两极与地磁两极并不重合，存在磁偏角。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磁极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磁化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磁感线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认为磁感线是真实存在的线（它是理想模型）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认为磁铁分割后可以得到单一磁极（每段仍有 N、S 两极）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296 / 346</a:t>
            </a:r>
            <a:endParaRPr lang="en-US" sz="1150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20.1　磁现象 磁场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条形磁铁旁小磁针静止时 N 极指向左。该点的磁场方向向哪边？画经过该点的磁感线时应注意什么？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依据规定：磁场中某点的磁场方向就是小磁针静止时 N 极的指向，故该点磁场方向向左。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磁感线应从磁铁 N 极出来、回到 S 极，且经过该点时方向向左。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注意：磁感线是假想曲线，疏密表示强弱，不能画成交叉线。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该点磁场方向向左。作图三查：出 N 入 S、方向与小磁针 N 极指向一致、永不相交。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297 / 346</a:t>
            </a:r>
            <a:endParaRPr lang="en-US" sz="1150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20.1　磁现象 磁场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把条形磁铁从中间锯断，每一段各有几个磁极？有人说“磁感线是真实存在的曲线”，对吗？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298 / 346</a:t>
            </a:r>
            <a:endParaRPr lang="en-US" sz="1150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20.2　电生磁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1820 年奥斯特把通电导线放在小磁针上方——磁针竟然偏了！这说明什么？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重做奥斯特实验：直导线下方平行放置小磁针，通电瞬间磁针偏转，断电复位——通电导线周围存在磁场，电流的磁效应第一次证明电与磁有联系。通电螺线管外部的磁场与条形磁铁相似，也有 N、S 两极。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 N 极用安培定则（右手）：右手握住螺线管，让四指弯向电流方向，大拇指所指的一端就是 N 极。注意必须用右手——用左手判断是高频错误。电磁铁是带铁芯的螺线管，磁性强弱三个因素用控制变量演示：电流越大磁性越强、匝数越多磁性越强、有铁芯远强于无铁芯；“匝数多磁性一定强”不严谨，还要看电流大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奥斯特实验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安培定则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电磁铁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用左手判断螺线管 N 极（安培定则用右手）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认为匝数多磁性一定强（还取决于电流大小）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299 / 346</a:t>
            </a:r>
            <a:endParaRPr lang="en-US" sz="1150" dirty="0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20.2　电生磁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一个螺线管的绕向和电流方向已知：正面导线中电流方向向上。怎样用安培定则判断它的 N 极？写出判断步骤。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伸出右手，让弯曲的四指沿螺线管正面导线的电流方向（在管前向上弯）。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大拇指所指的一端就是螺线管的 N 极。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核对：管外磁感线从 N 出、S 入，可再用小磁针放在管旁验证判断结果。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右手四指顺电流环绕方向，拇指指向即 N 极。判断后用小磁针指向复核，是检验绕向判断的可靠办法。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300 / 346</a:t>
            </a:r>
            <a:endParaRPr lang="en-US" sz="1150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20.2　电生磁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探究“电磁铁磁性强弱与匝数的关系”：应控制什么相同？怎么显示磁性的强弱？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301 / 346</a:t>
            </a:r>
            <a:endParaRPr lang="en-US" sz="1150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20.2　电生磁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20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946136"/>
            <a:ext cx="6949440" cy="37086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通电螺线管与安培定则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画通电螺线管，绕线方向画清（正面导线电流方向向上，用箭头标出），管旁画一只右手示意：四指弯曲方向顺电流、拇指指向标 N 极；标注：外部磁感线从 N 出 S 入、管内磁场由 S 指 N；旁画管旁小磁针静止时 N 极指向与磁感线一致。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302 / 346</a:t>
            </a:r>
            <a:endParaRPr lang="en-US" sz="1150" dirty="0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20.3　电磁铁 电磁继电器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工厂里几十千瓦的电机，靠一个按钮的小电流就能启停——中间谁在“放大”手劲？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继电器由电磁铁、衔铁、弹簧、触点组成，核心思路是“低电压小电流控制高电压大电流”：控制电路（低压）通电，电磁铁产生磁性吸引衔铁，带动触点闭合，工作电路（高压）接通；控制电路断电，弹簧把衔铁拉回，工作电路断开。两套电路必须分清，画图时元件不能互相串门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对号：电铃（通电吸衔铁敲铃、断电回位循环）、水位自动报警器、电磁阀车门。判断题常给继电器实物图问“通电后哪个灯亮”——顺着“控制电路→电磁铁→衔铁→触点→工作电路”的动作链一步步推，不凭感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电磁继电器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控制电路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工作电路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把控制电路与工作电路的元件画混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303 / 346</a:t>
            </a:r>
            <a:endParaRPr lang="en-US" sz="1150" dirty="0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20.3　电磁铁 电磁继电器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水位自动报警器：水位到达金属块 A 时警报灯亮。说明它的工作过程，并指出控制电路与工作电路各包含什么。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水是导体，水位涨到 A 时，控制电路（电源、电磁铁、金属块、水）被接通。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电磁铁产生磁性吸引衔铁，使工作电路的触点闭合。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工作电路（电源、警报灯、触点）接通，灯亮报警；水位下降则控制电路断开、衔铁弹回、灯灭。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水接通控制电路→电磁铁吸衔铁→工作电路闭合→报警。两套电路以触点为界，动作链条一步不缺。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304 / 346</a:t>
            </a:r>
            <a:endParaRPr lang="en-US" sz="1150" dirty="0"/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20.3　电磁铁 电磁继电器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继电器工作电路的高电压会不会窜到控制电路危及操作者？说明原因。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305 / 346</a:t>
            </a:r>
            <a:endParaRPr lang="en-US" sz="1150" dirty="0"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20.4　电动机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玩具车一装电池就跑——里面那个小马达凭什么一通电就转？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磁场中的通电线圈（导线）会受力转动——磁场对电流有力的作用，这是电动机的原理，能量转化是电能→机械能。受力（转动）方向与电流方向和磁场方向都有关：只改电流方向或只改磁场方向，转向改变；两个同时改变，转向不变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圈转过平衡位置后若电流方向不变，磁场力会让它反转回来，所以需要换向器：每转过半圈自动改变线圈中的电流方向，使线圈持续朝一个方向转动。纠正：电动机的原理是“磁场对电流的作用”，说成电磁感应就与发电机混淆了——电动机先有电后转动，发电机先动后发电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磁场对电流的作用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换向器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把电动机的原理说成电磁感应（那是发电机的原理）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306 / 346</a:t>
            </a:r>
            <a:endParaRPr lang="en-US" sz="1150" dirty="0"/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20.4　电动机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直流电动机线圈能持续转动，换向器起了什么作用？若把电源两极对调、同时把磁极对调，转动方向怎么变？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换向器在线圈刚过平衡位置时自动改变线圈中的电流方向，使两边导线的受力方向保持不变。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依据是受力方向取决于电流方向和磁场方向：电流反向则受力反向，换向器正好抵消这个反向。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电流、磁场两个方向同时改变时，受力方向不变，转向不变。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换向器每半周换一次线圈电流方向维持持续转动；电流与磁场同时反向，转向不变。判转向只看电流、磁场两个因素改了几个。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307 / 346</a:t>
            </a:r>
            <a:endParaRPr lang="en-US" sz="1150" dirty="0"/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20.4　电动机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电动机通电后不转，排查思路是什么？电动机与发电机在能量转化上的区别是什么？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308 / 346</a:t>
            </a:r>
            <a:endParaRPr lang="en-US" sz="1150" dirty="0"/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20.5　磁生电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导体棒在磁场里左右一挥，电流计指针动了；上下平移却不动——“发电”的条件藏在动作里。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实验：蹄形磁铁中的导体棒 ab 与灵敏电流计连成闭合电路。ab 向右运动（切割磁感线）指针偏转；向上运动（平行磁感线）不偏转；电路断开时怎么动都不偏转。归纳产生感应电流的三个条件：电路闭合、一部分导体、做切割磁感线运动，缺一不可——这就是电磁感应现象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电磁感应把机械能转化为电能，发电机据此工作。我国交流电频率 50 Hz，每秒 50 个周期，电流方向每秒变化 100 次。纠正：导体平行磁感线运动没有感应电流；发电机与电动机的能量转化方向不能记反——发电机“动生电”，电动机“电生动”。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电磁感应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感应电流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交流电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导体平行磁感线运动也认为有感应电流（必须切割）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发电机与电动机的能量转化方向记反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309 / 346</a:t>
            </a:r>
            <a:endParaRPr lang="en-US" sz="1150" dirty="0"/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20.5　磁生电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闭合电路的一部分导体在磁场中做下列运动，哪些能产生感应电流：①向右平移切割磁感线 ②向上平行磁感线移动 ③静止不动 ④向斜下方运动且穿过磁感线？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逐条对照三条件：电路闭合（前提已给）、一部分导体、做切割磁感线运动。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①有切割，产生；②平行不切割，不产生；③静止不切割，不产生。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④运动方向与磁感线相交、有切割分量，产生感应电流。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①④产生感应电流，②③不产生。判断只抓一条硬标准：导体相对磁场有没有“切”的动作。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310 / 346</a:t>
            </a:r>
            <a:endParaRPr lang="en-US" sz="1150" dirty="0"/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20.5　磁生电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我国民用电频率 50 Hz，电流方向每秒变化多少次？发电机工作时的能量转化是什么？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311 / 346</a:t>
            </a:r>
            <a:endParaRPr lang="en-US" sz="1150" dirty="0"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20.5　磁生电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20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915" y="1876806"/>
            <a:ext cx="6804620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电磁感应实验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画蹄形磁铁（N 极在上、S 极在下），导体棒 ab 水平置于磁极之间，ab 两端经导线与灵敏电流计连成闭合回路；箭头标 ab 向右运动切割磁感线，电流计指针偏转；标注：产生感应电流的三个条件——电路闭合、一部分导体、做切割磁感线运动；旁…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312 / 346</a:t>
            </a:r>
            <a:endParaRPr lang="en-US" sz="1150" dirty="0"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第二十章 · 电与磁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磁体两极不可分、同名相斥异名相吸；磁感线出 N 入 S 是理想模型；指南针靠地磁场，有磁偏…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奥斯特实验证明电流周围有磁场；安培定则（右手）判螺线管 N 极；电磁铁磁性强弱看电流、匝数…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继电器用低压小电流控制高压大电流；控制电路通断→电磁铁吸放衔铁→工作电路通断，两套电路分清。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电动机原理是磁场对电流的作用，电能转机械能；换向器每半圈换流维持转向；转向由电流与磁场方向…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7065" y="3559302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20.5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感应电流三条件：闭合电路、一部分导体、切割磁感线；发电机动生电（机械能→电能），交流 50…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905" y="4034790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2" name="Text 10"/>
          <p:cNvSpPr/>
          <p:nvPr/>
        </p:nvSpPr>
        <p:spPr>
          <a:xfrm>
            <a:off x="811073" y="410794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1073" y="4382262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给绕向和电流方向已知的通电螺线管标出 N/S 极；发电机与电动机的能量转化各是什么？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313 / 346</a:t>
            </a:r>
            <a:endParaRPr lang="en-US" sz="1150" dirty="0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运动与相互作用 ｜ 考查：电磁波的产生与传播（可在真空中传播）、c=λf 的计算、常见通信方式的比较。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第二十一章　信息的传递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从固定电话到光纤卫星，用 c=λf 一条公式把电磁波与通信方式的演进串起来。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现代顺风耳——电话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电磁波的海洋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广播、电视和移动通信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越来越宽的信息之路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21.1　现代顺风耳——电话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对着话筒说话，几千里外的听筒里传出声音——电线里跑的是什么？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两边互为逆过程：话筒把声音变成随声音变化的电流（声信号→电信号），听筒把变化的电流还原成声音（电信号→声信号）。所以电话线里传的不是声音本身，而是随声音变化的电流——认为“声音直接沿线传播”是错的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信号分两类：模拟信号把声音转换成连续变化的电流，长距离传输中失真会不断累积；数字信号用离散的符号（如二进制码）编码传递，抗干扰能力强、便于加密和计算机处理，现代通信以数字信号为主。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话筒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听筒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数字信号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认为电话线里传的是声音本身（传递的是随声音变化的电流）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315 / 346</a:t>
            </a:r>
            <a:endParaRPr lang="en-US" sz="1150" dirty="0"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21.1　现代顺风耳——电话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从“说话”到“听见”的全过程说明电话传递信息的路径，并指出哪里发生了信号转换。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说话时话筒振动膜随声音振动，把声音转换成随声音变化的电流——第一次转换。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变化的电流沿电话线传到对方。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听筒中变化的电流使电磁铁磁性变化、薄膜振动还原成声音——第二次转换。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声→（话筒）→变化的电流→线路→（听筒）→声，两次转换，线上传的是电信号而不是声音。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316 / 346</a:t>
            </a:r>
            <a:endParaRPr lang="en-US" sz="1150" dirty="0"/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21.1　现代顺风耳——电话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为什么远距离通信越来越多采用数字信号而不是模拟信号？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317 / 346</a:t>
            </a:r>
            <a:endParaRPr lang="en-US" sz="1150" dirty="0"/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21.2　电磁波的海洋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在开着的收音机旁让导线头与电池时断时通接触——收音机发出“咔咔”声，电磁波现形了。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演示：收音机旁导线时断时通，收音机“咔咔”响，说明迅速变化的电流能在周围空间产生电磁波。描述电磁波的三量在波形图上认读：波长 λ 是相邻两个波峰（或波谷）的距离，频率 f 是 1 s 内振动的次数，波速 c 是传播速度。真空中所有电磁波都以光速传播：c=3×10⁸ m/s。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三者关系 c=λf，两个量定了第三个就定。纠正：电磁波的传播不需要介质，可在真空中传播——这与声波相反；真空中不同频率的电磁波波速都等于 c，不随频率变化。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电磁波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波长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频率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认为电磁波传播需要介质（可在真空中传播）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认为真空中不同频率的电磁波波速不同（都等于 c）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318 / 346</a:t>
            </a:r>
            <a:endParaRPr lang="en-US" sz="1150" dirty="0"/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21.2　电磁波的海洋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某电磁波的波长为 3 m，它的频率是多少？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依据波速公式 c=λf，已知 c=3×10⁸ m/s、λ=3 m。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 f=c/λ=3×10⁸ m/s÷3 m=1×10⁸ Hz。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检验：米级波长对应 10⁸ Hz 量级（广播频段），合理。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频率为 1×10⁸ Hz。c=λf 三量知二求一，单位用 m 与 Hz 配套。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319 / 346</a:t>
            </a:r>
            <a:endParaRPr lang="en-US" sz="1150" dirty="0"/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21.2　电磁波的海洋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月球与地球之间没有空气，宇航员在月球上能靠喊话交流吗？应该怎么联络？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320 / 346</a:t>
            </a:r>
            <a:endParaRPr lang="en-US" sz="1150" dirty="0"/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21.2　电磁波的海洋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2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844" y="1876806"/>
            <a:ext cx="517276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电磁波波形与 c=λf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画一条连续正弦波（横轴为距离或时间，画约 3 个周期），相邻两波峰间距用双箭头标 λ；标注：波速 c=λf=3×10⁸ m/s、频率 f 为 1 s 内振动的次数；旁画两条波长不同的波对比：波形更密者波长更短、频率更高。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321 / 346</a:t>
            </a:r>
            <a:endParaRPr lang="en-US" sz="1150" dirty="0"/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21.3　广播、电视和移动通信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同一座城市里几万部手机同时通话互不串音——电磁波是怎么“分道”的？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线电广播的发射—接收流程对着框图讲：话筒把声音变成音频电信号，但音频信号频率低、传不远，要把它“装载”到高频电磁波上（调制），由天线发射出去；接收端天线收到各种电磁波，调谐电路从中选出需要的频率（选台），再把音频信号取下来（解调），由扬声器还原成声音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移动电话既是发射机又是接收机，但手机功率小、天线低，必须靠基站中继转接——“手机直接把信号发给对方手机”是错误认识。每路通话占用不同的频率（信道），所以几万部手机互不串音。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发射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接收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基站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认为手机间直接通话不需要电磁波（语音靠电磁波经基站传递）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322 / 346</a:t>
            </a:r>
            <a:endParaRPr lang="en-US" sz="1150" dirty="0"/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21.3　广播、电视和移动通信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用流程框图说明广播电台播出一首歌到收音机放出的全过程。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电台端：话筒把歌声变成音频电信号→调制器把它加载到高频载波上→天线发射电磁波。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空中传播：不同电台的电磁波同时在空间传播。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收音机端：天线接收→调谐选出该台频率→解调取出音频信号→扬声器还原成歌声。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声→音频信号→调制到高频载波→发射→调谐选台→解调→还原为声。“调制、调谐、解调”对应“装、选、卸”三个动作。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323 / 346</a:t>
            </a:r>
            <a:endParaRPr lang="en-US" sz="1150" dirty="0"/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21.3　广播、电视和移动通信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在电梯或隧道里手机信号常常很差，为什么？手机通话中基站起什么作用？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324 / 346</a:t>
            </a:r>
            <a:endParaRPr lang="en-US" sz="1150" dirty="0"/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21.4　越来越宽的信息之路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从写信到视频通话，信息之路为什么越走越宽？把四条“路”摆在一起比一比。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四条信息之路列表比较：微波通信——微波像光一样沿直线传播，地球是圆的，中继站约每 50 km 一个接力；卫星通信——用同步卫星做太空中的中继站，覆盖范围大；光纤通信——激光在光导纤维中靠全反射传到对端，光频率极高、容量大、损耗小；网络通信——计算机联网，信息数字化共享。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之路变宽的共同原因是载波频率越来越高——频率越高，可装载的信息量越大，光波频率远高于微波，所以光纤容量最大。纠正：光纤里传输的是携带信息的激光（光信号），不是电流；光纤利用的是光的全反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微波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光纤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卫星通信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认为光纤里传输的是电信号（是携带信息的激光/光信号）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325 / 346</a:t>
            </a:r>
            <a:endParaRPr lang="en-US" sz="1150" dirty="0"/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21.4　越来越宽的信息之路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微波中继站为什么要每隔约 50 km 建一个？光纤通信为什么信息容量特别大？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微波沿直线传播，而地球表面是圆弧，直线传播的微波传不远就被地面“挡”住。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所以每隔约 50 km（受地球曲率限制的视线距离）设中继站接力放大转发。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激光频率远高于无线电波，能携带的信息量大，且光纤全反射传输损耗小，故容量特别大。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因地球曲率限制直线传播距离，须设中继站接力；光纤靠高频激光与全反射，容量大损耗小。“频率高→容量大”是理解信息之路的钥匙。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326 / 346</a:t>
            </a:r>
            <a:endParaRPr lang="en-US" sz="1150" dirty="0"/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21.4　越来越宽的信息之路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卫星通信与地面微波中继通信相比有什么优点？光纤中传输的是什么信号？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327 / 346</a:t>
            </a:r>
            <a:endParaRPr lang="en-US" sz="1150" dirty="0"/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第二十一章 · 信息的传递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电话=话筒（声变电）＋听筒（电变声），线上传的是变化的电流；数字信号抗干扰，是现代通信的主…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变化的电流产生电磁波；c=λf=3×10⁸ m/s；电磁波可在真空中传播，声波不能。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发射端调制上载波、接收端调谐选台再解调；手机靠基站中继；不同频率互不干扰。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微波直线传播须中继，卫星覆盖广，光纤全反射容量大，网络数字化共享；载波频率越高路越宽。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某电磁波波长 3 m，频率多大？为什么光纤与卫星能传递海量信息？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328 / 346</a:t>
            </a:r>
            <a:endParaRPr lang="en-US" sz="1150" dirty="0"/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6175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· 能量 ｜ 考查：一次/二次与可再生/不可再生能源的分类、核裂变与聚变的区分、发电过程中的能量转化链。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第二十二章　能源与可持续发展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能源分类与能量转化链条并进，核裂变聚变与太阳能落到“可持续”的取舍判断上。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能源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核能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太阳能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2785" y="43525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22.4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能源与可持续发展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4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22.1　能源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烧开一壶水：烧煤、用电、用天然气——这些能量从哪里来、还能不能再生？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分两组交叉分类：按是否直接来自自然界，一次能源（煤、石油、天然气、风能、水能、太阳能、核能）与二次能源（电能、煤气、汽油——由一次能源加工转化而来）；按能否在短期内再生，可再生能源（风、水、太阳能、生物质能）与不可再生能源（煤、石油、天然气、核能）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填例是本节的基本功：煤——一次＋不可再生；电能——二次；太阳能——一次＋可再生。纠正：电能不是一次能源，它是二次能源；化石能源由古代生物遗骸经亿万年形成，短期内无法再生，把“能源”与所有“自然资源”混为一谈也是错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一次能源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二次能源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可再生能源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6937" y="3010662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化石能源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02345" y="368731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6937" y="376047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6937" y="403479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把电能当成一次能源（由一次能源转化而来，属二次能源）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把“能源”与所有“自然资源”混为一谈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330 / 346</a:t>
            </a:r>
            <a:endParaRPr lang="en-US" sz="1150" dirty="0"/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22.1　能源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把下列能源按要求归类：煤、电能、太阳能、天然气、风能。①一次能源有哪些？②可再生能源有哪些？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判断是否直接取自自然界：煤、太阳能、天然气、风能是一次能源；电能由一次能源转化而来，是二次能源。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判断能否短期再生：太阳能、风能可再生；煤、天然气属于化石能源，不可再生。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列表对照：煤（一次/不可再生）、电能（二次）、太阳能（一次/可再生）、天然气（一次/不可再生）、风能（一次/可再生）。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一次能源：煤、太阳能、天然气、风能；可再生能源：太阳能、风能。电能必属二次能源。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331 / 346</a:t>
            </a:r>
            <a:endParaRPr lang="en-US" sz="1150" dirty="0"/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22.1　能源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判断正误：①电能是一次能源 ②化石能源是可再生能源 ③核能是不可再生能源。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332 / 346</a:t>
            </a:r>
            <a:endParaRPr lang="en-US" sz="1150" dirty="0"/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22.2　核能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一克铀裂变释放的能量相当于两吨多煤的燃烧——原子核里为什么藏着这么大能量？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29743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02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获取核能的路径对比图讲清：裂变——中子轰击重核（铀核），重核分裂成两个中等核并放出能量，同时放出新的中子继续轰击别的核，形成链式反应；聚变——轻核（如氘、氚）在超高温下聚合成较重的核，释放更大能量，太阳内部和氢弹就是聚变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站利用可控的链式反应：控制棒吸收中子调节反应速率，能量沿反应堆→汽轮机→发电机转化，链条是核能→内能→机械能→电能；聚变目前尚不能可控地和平利用。两面都要讲：核能能量密度大、不排温室气体，但乏料处理与安全是代价。纠正：核电站事故不等于核弹爆炸——反应堆燃料浓度低、反应可控，不会发生核爆炸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裂变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聚变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链式反应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认为核电站事故等于核弹爆炸（核电站不发生核爆炸）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裂变与聚变的原料和过程混为一谈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333 / 346</a:t>
            </a:r>
            <a:endParaRPr lang="en-US" sz="1150" dirty="0"/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22.2　核能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写出核电站发电过程的能量转化链，并说明“可控链式反应”中控制棒的作用。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转化链：核反应堆内核裂变，核能→内能；高温高压蒸汽推动汽轮机，内能→机械能；发电机把机械能→电能。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控制棒插入越深、吸收中子越多，链式反应越慢；提起则反应加快。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依据控制棒的调节，反应速率可控、能量平稳释放，这正是核电站与不可控链式反应的区别。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核能→内能→机械能→电能；控制棒靠吸收中子调节链式反应速率。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334 / 346</a:t>
            </a:r>
            <a:endParaRPr lang="en-US" sz="1150" dirty="0"/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22.2　核能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判断并说明理由：①核电站可能像原子弹一样爆炸 ②太阳内部进行的是聚变反应 ③目前人类已能可控利用聚变发电。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335 / 346</a:t>
            </a:r>
            <a:endParaRPr lang="en-US" sz="1150" dirty="0"/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22.2　核能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2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067255"/>
            <a:ext cx="6949440" cy="3466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核电站能量转化流程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核电站流程框图：核反应堆（可控链式裂变，核能→内能）→蒸汽发生器与管道→汽轮机（内能→机械能）→发电机（机械能→电能）→输电；冷凝器画循环水回路；标注：控制棒调节反应速率、反应堆与汽水回路隔离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336 / 346</a:t>
            </a:r>
            <a:endParaRPr lang="en-US" sz="1150" dirty="0"/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22.3　太阳能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晒太阳的暖、光伏板发的电、去年的煤——它们的“老祖宗”其实是同一个。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能的直接利用两条路径：光热转换——集热器把辐射能转为内能，如太阳能热水器；光电转换——光伏电池把光能直接转为电能，如光伏电站。间接路径更庞大：风能、水能来自太阳驱动的大气与水循环，煤、石油、天然气是远古生物固定的太阳能——画成能量谱系图一目了然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太阳能优点：巨大、清洁、可再生；瓶颈也要如实讲：能量分散、受昼夜天气影响、转化效率与储能成本仍是难题，“取之不尽”不等于“没有成本”。两面都摆，为下一节的能源决策做铺垫。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光热转换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光电转换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认为太阳能“取之不尽”就没有成本（转化效率与储能仍是瓶颈）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337 / 346</a:t>
            </a:r>
            <a:endParaRPr lang="en-US" sz="1150" dirty="0"/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22.3　太阳能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按“能量最终来源于太阳辐射”给下列能源溯源：水能、风能、煤、生物质能。并指出哪一种是直接利用太阳能。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水能——太阳驱动水循环（蒸发、降水），能量源于太阳辐射。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风能——太阳加热不均引起大气流动；生物质能——植物光合作用固定太阳能。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煤——古代植物固定的太阳能经地质作用形成，间接源于太阳；太阳能热水器属光热转换，是直接利用。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水能、风能、煤、生物质能都间接来自太阳辐射；太阳能热水器的光热转换是直接利用。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338 / 346</a:t>
            </a:r>
            <a:endParaRPr lang="en-US" sz="1150" dirty="0"/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22.3　太阳能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家用太阳能热水器和光伏扶贫电站分别属于哪条利用路径？说出太阳能利用的一个现实瓶颈。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339 / 346</a:t>
            </a:r>
            <a:endParaRPr lang="en-US" sz="1150" dirty="0"/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22.4　能源与可持续发展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能量守恒说能量不会消灭，那“能源危机”从何谈起？用数据说话。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071116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悖论进入：既然能量守恒，为什么还要节能？答案在“可用性”：能量在转化和转移中总量不变，但会从集中、易用的形式（燃料化学能、电能）退化为分散在环境中的低温内能，再难收集利用——能量品质退化，所以必须节约能源、提高能源利用效率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摆数据讨论：我国一次能源消费中煤炭约占 55%，化石能源合计约 83%，非化石能源约 17%。让学生依据数据说观点：提高非化石能源占比、发展可再生能源、提高利用效率、人人节能，都是结构调整的方向——结论要由数据支撑，不是喊口号。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节能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可持续发展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认为能量守恒就不会有能源危机（可用能源的品质在降低）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340 / 346</a:t>
            </a:r>
            <a:endParaRPr lang="en-US" sz="1150" dirty="0"/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22.4　能源与可持续发展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有人说“能量守恒定律告诉我们能量不会减少，所以不存在能源危机”。这种说法错在哪里？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先承认其前提：能量在转化和转移中总量确实守恒。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指出漏洞：可用的高品质能源（化石燃料、电能）被消耗后转化为分散的低温内能，难以再收集利用。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496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结论：能源危机的本质是“可用能源的品质与数量”问题，与能量总量守恒并不矛盾，节能和提高效率依然必要。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错在混淆了“能量总量守恒”与“可用能源有限”；能量品质退化使可利用的能源不断减少，必须节能。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341 / 346</a:t>
            </a:r>
            <a:endParaRPr lang="en-US" sz="1150" dirty="0"/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22.4　能源与可持续发展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结合能源消费结构数据，提出两条家庭或学校可行的节能措施，并说明它们各减少了哪类能源的消耗。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342 / 346</a:t>
            </a:r>
            <a:endParaRPr lang="en-US" sz="1150" dirty="0"/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22.4　能源与可持续发展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22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328" y="1876806"/>
            <a:ext cx="4901794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我国一次能源消费结构（示意数据）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画饼图并附数据数组：煤炭 55%、石油 18%、天然气 10%、非化石能源 17%（数据为教学示意）；标注：化石能源合计约 83%，引出“提高非化石能源占比”的讨论话题。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343 / 346</a:t>
            </a:r>
            <a:endParaRPr lang="en-US" sz="1150" dirty="0"/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第二十二章 · 能源与可持续发展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能源按来源分一次/二次，按再生分可再生/不可再生；电能是二次能源，化石能源不可再生。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裂变是重核分裂可控制（核电站），聚变是轻核聚合（太阳、氢弹）；核电站不会核爆炸；转化链核能…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太阳能两条直接利用路径：光热转换、光电转换；风、水、煤、生物质能都是间接太阳能，仍有效率与…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7065" y="3175254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22.4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能量守恒不等于能源不缺：能量品质在退化；看数据谈结构，节能提效、提高非化石能源占比。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5" y="3650742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1" name="Text 9"/>
          <p:cNvSpPr/>
          <p:nvPr/>
        </p:nvSpPr>
        <p:spPr>
          <a:xfrm>
            <a:off x="811073" y="372389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1073" y="3998214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把风能、电能、煤、太阳能按两种分类法归类；写出核电站发电的能量转化链。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344 / 346</a:t>
            </a:r>
            <a:endParaRPr lang="en-US" sz="1150" dirty="0"/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刻度尺读数与单位换算、参照物判断、v=s/t 计算…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产生与传播条件、三特性的波形图判断、超声次声应用与…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905" y="229743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温度计使用与读数、晶体熔化图像分析、蒸发沸腾对比、…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905" y="259003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反射定律作图与镜面/漫反射区分、平面镜成像特点与作…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288264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凸透镜成像规律（一倍焦距分虚实、二倍焦距分大小）、…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905" y="317525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天平与量筒读数、测固体液体密度的实验设计与误差分析…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346786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第七章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力的三要素与示意图、弹簧测力计使用、G=mg 计算…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5" y="376047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第八章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惯性现象解释、二力平衡条件的判断、摩擦力方向的确定…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405307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第九章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p=F/S 与 p=ρgh 计算（受力面积与深度是…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905" y="434568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阿基米德原理 F浮=ρ液gV排 的计算（V排 是易…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5" y="463829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第十一章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做功判断与 W=Fs 计算、P=W/t 及 P=F…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3008" y="171221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第十二章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杠杆平衡条件与最小动力问题、滑轮组 F=(G+G动…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3008" y="200482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第十三章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扩散现象与分子动理论、改变内能的两种途径、热量计算…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3008" y="229743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第十四章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四冲程的识别与能量转化、热机效率相关计算、能量守恒…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3008" y="259003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第十五章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电路识别与三种状态、串并联电路电流规律、电流表的规…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288264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第十六章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电压表使用与读数、串并联电压规律、影响电阻大小的因…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3008" y="317525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第十七章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探究 I 与 U、R 关系的实验设计、欧姆定律及串…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46786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第十八章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电能表读数与电费计算、额定功率与实际功率、伏安法测…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3008" y="376047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第十九章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家庭电路连接规范（开关接火线）、测电笔使用、电流过…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3008" y="405307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安培定则判断 N/S 极、电磁继电器应用、感应电流…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3008" y="434568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第二十一章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电磁波的产生与传播（可在真空中传播）、c=λf 的…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3008" y="463829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第二十二章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一次/二次与可再生/不可再生能源的分类、核裂变与聚…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节级精细课件 ｜ 九科教辅规范包 v1.0 ｜ 345 / 346</a:t>
            </a:r>
            <a:endParaRPr lang="en-US" sz="1150" dirty="0"/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96112"/>
          </a:xfrm>
          <a:prstGeom prst="roundRect">
            <a:avLst>
              <a:gd name="adj" fmla="val 61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38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说出雾、露、霜各自的形成物态变化并判断吸放热；晶体熔化图像中水平段说明什么？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807208"/>
            <a:ext cx="10971886" cy="896112"/>
          </a:xfrm>
          <a:prstGeom prst="roundRect">
            <a:avLst>
              <a:gd name="adj" fmla="val 61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98648"/>
            <a:ext cx="98288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60 kg 的人双脚站立（每只鞋底 150 cm²），对地面的压强多大？用连通器说明船闸如何让船过坝。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3831336"/>
            <a:ext cx="10971886" cy="896112"/>
          </a:xfrm>
          <a:prstGeom prst="roundRect">
            <a:avLst>
              <a:gd name="adj" fmla="val 61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9867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922776"/>
            <a:ext cx="98288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给绕向和电流方向已知的通电螺线管标出 N/S 极；发电机与电动机的能量转化各是什么？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85216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薄弱分支：讲解页回看对应节；例题卡壳 → 回例题页跟步骤重做；练习出错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346</Slides>
  <Notes>346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346</vt:i4>
      </vt:variant>
    </vt:vector>
  </HeadingPairs>
  <TitlesOfParts>
    <vt:vector size="3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物理·节级精细讲解课件</dc:title>
  <dc:subject>PptxGenJS Presentation</dc:subject>
  <dc:creator>Wilson</dc:creator>
  <cp:lastModifiedBy>Wilson</cp:lastModifiedBy>
  <cp:revision>1</cp:revision>
  <dcterms:created xsi:type="dcterms:W3CDTF">2026-09-16T17:41:23Z</dcterms:created>
  <dcterms:modified xsi:type="dcterms:W3CDTF">2026-09-16T17:41:23Z</dcterms:modified>
</cp:coreProperties>
</file>